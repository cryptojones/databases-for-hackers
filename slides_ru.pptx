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1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sldImg"/>
          </p:nvPr>
        </p:nvSpPr>
        <p:spPr>
          <a:xfrm>
            <a:off x="0" y="764280"/>
            <a:ext cx="0" cy="0"/>
          </a:xfrm>
          <a:prstGeom prst="rect">
            <a:avLst/>
          </a:prstGeom>
          <a:noFill/>
          <a:ln w="0">
            <a:noFill/>
          </a:ln>
        </p:spPr>
        <p:txBody>
          <a:bodyPr lIns="0" tIns="0" rIns="0" bIns="0" anchor="ctr">
            <a:noAutofit/>
          </a:bodyPr>
          <a:p>
            <a:pPr algn="ctr" defTabSz="457200"/>
            <a:r>
              <a:rPr lang="en-US" sz="4400" b="0" u="none" strike="noStrike">
                <a:solidFill>
                  <a:schemeClr val="dk1"/>
                </a:solidFill>
                <a:effectLst/>
                <a:uFillTx/>
                <a:latin typeface="Calibri"/>
              </a:rPr>
              <a:t>Click to move the slide</a:t>
            </a:r>
            <a:endParaRPr lang="en-US" sz="4400" b="0" u="none" strike="noStrike">
              <a:solidFill>
                <a:schemeClr val="dk1"/>
              </a:solidFill>
              <a:effectLst/>
              <a:uFillTx/>
              <a:latin typeface="Calibri"/>
            </a:endParaRPr>
          </a:p>
        </p:txBody>
      </p:sp>
      <p:sp>
        <p:nvSpPr>
          <p:cNvPr id="62"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64" name="PlaceHolder 4"/>
          <p:cNvSpPr>
            <a:spLocks noGrp="1"/>
          </p:cNvSpPr>
          <p:nvPr>
            <p:ph type="dt" idx="34"/>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65" name="PlaceHolder 5"/>
          <p:cNvSpPr>
            <a:spLocks noGrp="1"/>
          </p:cNvSpPr>
          <p:nvPr>
            <p:ph type="ftr" idx="35"/>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6" name="PlaceHolder 6"/>
          <p:cNvSpPr>
            <a:spLocks noGrp="1"/>
          </p:cNvSpPr>
          <p:nvPr>
            <p:ph type="sldNum" idx="36"/>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67D68741-070C-4AE3-AD19-11384171AC7E}"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2" name="PlaceHolder 1"/>
          <p:cNvSpPr>
            <a:spLocks noGrp="1"/>
          </p:cNvSpPr>
          <p:nvPr>
            <p:ph type="sldImg"/>
          </p:nvPr>
        </p:nvSpPr>
        <p:spPr>
          <a:xfrm>
            <a:off x="1143000" y="685800"/>
            <a:ext cx="4571640" cy="3428640"/>
          </a:xfrm>
          <a:prstGeom prst="rect">
            <a:avLst/>
          </a:prstGeom>
          <a:ln w="0">
            <a:noFill/>
          </a:ln>
        </p:spPr>
      </p:sp>
      <p:sp>
        <p:nvSpPr>
          <p:cNvPr id="67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Welcome. This is a 45-minute talk for new security analysts. No computer-science background required. There's a script, slides, and a recording — nothing to memorize.</a:t>
            </a:r>
            <a:endParaRPr lang="en-US" sz="2000" b="0" u="none" strike="noStrike">
              <a:solidFill>
                <a:srgbClr val="000000"/>
              </a:solidFill>
              <a:effectLst/>
              <a:uFillTx/>
              <a:latin typeface="Arial"/>
            </a:endParaRPr>
          </a:p>
        </p:txBody>
      </p:sp>
      <p:sp>
        <p:nvSpPr>
          <p:cNvPr id="674" name="PlaceHolder 3"/>
          <p:cNvSpPr>
            <a:spLocks noGrp="1"/>
          </p:cNvSpPr>
          <p:nvPr>
            <p:ph type="sldNum" idx="3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BE1352F-AE15-4FB6-9A2D-D4F624A0138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5" name="PlaceHolder 1"/>
          <p:cNvSpPr>
            <a:spLocks noGrp="1"/>
          </p:cNvSpPr>
          <p:nvPr>
            <p:ph type="sldImg"/>
          </p:nvPr>
        </p:nvSpPr>
        <p:spPr>
          <a:xfrm>
            <a:off x="1143000" y="685800"/>
            <a:ext cx="4571640" cy="3428640"/>
          </a:xfrm>
          <a:prstGeom prst="rect">
            <a:avLst/>
          </a:prstGeom>
          <a:ln w="0">
            <a:noFill/>
          </a:ln>
        </p:spPr>
      </p:sp>
      <p:sp>
        <p:nvSpPr>
          <p:cNvPr id="67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Introduce yourself. Aaron K. Clark, Ronin 48. Brief pause, let the audience settle.</a:t>
            </a:r>
            <a:endParaRPr lang="en-US" sz="2000" b="0" u="none" strike="noStrike">
              <a:solidFill>
                <a:srgbClr val="000000"/>
              </a:solidFill>
              <a:effectLst/>
              <a:uFillTx/>
              <a:latin typeface="Arial"/>
            </a:endParaRPr>
          </a:p>
        </p:txBody>
      </p:sp>
      <p:sp>
        <p:nvSpPr>
          <p:cNvPr id="677" name="PlaceHolder 3"/>
          <p:cNvSpPr>
            <a:spLocks noGrp="1"/>
          </p:cNvSpPr>
          <p:nvPr>
            <p:ph type="sldNum" idx="3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0EEF7A2-6551-4F71-83DA-1861A6CB79E0}"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8" name="PlaceHolder 1"/>
          <p:cNvSpPr>
            <a:spLocks noGrp="1"/>
          </p:cNvSpPr>
          <p:nvPr>
            <p:ph type="sldImg"/>
          </p:nvPr>
        </p:nvSpPr>
        <p:spPr>
          <a:xfrm>
            <a:off x="1143000" y="685800"/>
            <a:ext cx="4571640" cy="3428640"/>
          </a:xfrm>
          <a:prstGeom prst="rect">
            <a:avLst/>
          </a:prstGeom>
          <a:ln w="0">
            <a:noFill/>
          </a:ln>
        </p:spPr>
      </p:sp>
      <p:sp>
        <p:nvSpPr>
          <p:cNvPr id="67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Equifax, Capital One, MOVEit, SolarWinds, T-Mobile, LinkedIn, OPM, Marriott — every one of those breaches ended at a database. Attackers care about data, not architecture diagrams. </a:t>
            </a:r>
            <a:br>
              <a:rPr sz="2000"/>
            </a:br>
            <a:br>
              <a:rPr sz="2000"/>
            </a:br>
            <a:r>
              <a:rPr lang="en-US" sz="2000" b="0" u="none" strike="noStrike">
                <a:solidFill>
                  <a:srgbClr val="000000"/>
                </a:solidFill>
                <a:effectLst/>
                <a:uFillTx/>
                <a:latin typeface="Arial"/>
              </a:rPr>
              <a:t>* Except where it didn’t</a:t>
            </a:r>
            <a:endParaRPr lang="en-US" sz="2000" b="0" u="none" strike="noStrike">
              <a:solidFill>
                <a:srgbClr val="000000"/>
              </a:solidFill>
              <a:effectLst/>
              <a:uFillTx/>
              <a:latin typeface="Arial"/>
            </a:endParaRPr>
          </a:p>
        </p:txBody>
      </p:sp>
      <p:sp>
        <p:nvSpPr>
          <p:cNvPr id="680" name="PlaceHolder 3"/>
          <p:cNvSpPr>
            <a:spLocks noGrp="1"/>
          </p:cNvSpPr>
          <p:nvPr>
            <p:ph type="sldNum" idx="3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C63972C-0984-4E8A-A148-C8688852C7A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1" name="PlaceHolder 1"/>
          <p:cNvSpPr>
            <a:spLocks noGrp="1"/>
          </p:cNvSpPr>
          <p:nvPr>
            <p:ph type="sldImg"/>
          </p:nvPr>
        </p:nvSpPr>
        <p:spPr>
          <a:xfrm>
            <a:off x="1143000" y="685800"/>
            <a:ext cx="4571640" cy="3428640"/>
          </a:xfrm>
          <a:prstGeom prst="rect">
            <a:avLst/>
          </a:prstGeom>
          <a:ln w="0">
            <a:noFill/>
          </a:ln>
        </p:spPr>
      </p:sp>
      <p:sp>
        <p:nvSpPr>
          <p:cNvPr id="68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Attackers don't care about your beautiful SPA or your microservices diagram. They care about the data — the crown jewels — because that's what converts into money, leverage, or headlines.</a:t>
            </a:r>
            <a:endParaRPr lang="en-US" sz="2000" b="0" u="none" strike="noStrike">
              <a:solidFill>
                <a:srgbClr val="000000"/>
              </a:solidFill>
              <a:effectLst/>
              <a:uFillTx/>
              <a:latin typeface="Arial"/>
            </a:endParaRPr>
          </a:p>
        </p:txBody>
      </p:sp>
      <p:sp>
        <p:nvSpPr>
          <p:cNvPr id="683" name="PlaceHolder 3"/>
          <p:cNvSpPr>
            <a:spLocks noGrp="1"/>
          </p:cNvSpPr>
          <p:nvPr>
            <p:ph type="sldNum" idx="4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CA42F3E-B692-43D2-8F9A-E2F0F74411C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4" name="PlaceHolder 1"/>
          <p:cNvSpPr>
            <a:spLocks noGrp="1"/>
          </p:cNvSpPr>
          <p:nvPr>
            <p:ph type="sldImg"/>
          </p:nvPr>
        </p:nvSpPr>
        <p:spPr>
          <a:xfrm>
            <a:off x="1143000" y="685800"/>
            <a:ext cx="4571640" cy="3428640"/>
          </a:xfrm>
          <a:prstGeom prst="rect">
            <a:avLst/>
          </a:prstGeom>
          <a:ln w="0">
            <a:noFill/>
          </a:ln>
        </p:spPr>
      </p:sp>
      <p:sp>
        <p:nvSpPr>
          <p:cNvPr id="68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Strip the jargon: organized storage plus a query language. If you've used Ctrl-F in Excel, you've used a database. Real databases add scale, speed, concurrency, and a formal query language.</a:t>
            </a:r>
            <a:endParaRPr lang="en-US" sz="2000" b="0" u="none" strike="noStrike">
              <a:solidFill>
                <a:srgbClr val="000000"/>
              </a:solidFill>
              <a:effectLst/>
              <a:uFillTx/>
              <a:latin typeface="Arial"/>
            </a:endParaRPr>
          </a:p>
        </p:txBody>
      </p:sp>
      <p:sp>
        <p:nvSpPr>
          <p:cNvPr id="686" name="PlaceHolder 3"/>
          <p:cNvSpPr>
            <a:spLocks noGrp="1"/>
          </p:cNvSpPr>
          <p:nvPr>
            <p:ph type="sldNum" idx="4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93085B2-6AD0-4680-B019-05D1B1CA1C7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7" name="PlaceHolder 1"/>
          <p:cNvSpPr>
            <a:spLocks noGrp="1"/>
          </p:cNvSpPr>
          <p:nvPr>
            <p:ph type="sldImg"/>
          </p:nvPr>
        </p:nvSpPr>
        <p:spPr>
          <a:xfrm>
            <a:off x="1143000" y="685800"/>
            <a:ext cx="4571640" cy="3428640"/>
          </a:xfrm>
          <a:prstGeom prst="rect">
            <a:avLst/>
          </a:prstGeom>
          <a:ln w="0">
            <a:noFill/>
          </a:ln>
        </p:spPr>
      </p:sp>
      <p:sp>
        <p:nvSpPr>
          <p:cNvPr id="68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Memorize these six words and you can hold a real conversation with a DBA. Table is a tab, row is a record, column is an attribute, query is a question, schema is the shape, index is the bookmark. CRUD covers every action: create, read, update, delete.</a:t>
            </a:r>
            <a:endParaRPr lang="en-US" sz="2000" b="0" u="none" strike="noStrike">
              <a:solidFill>
                <a:srgbClr val="000000"/>
              </a:solidFill>
              <a:effectLst/>
              <a:uFillTx/>
              <a:latin typeface="Arial"/>
            </a:endParaRPr>
          </a:p>
        </p:txBody>
      </p:sp>
      <p:sp>
        <p:nvSpPr>
          <p:cNvPr id="689" name="PlaceHolder 3"/>
          <p:cNvSpPr>
            <a:spLocks noGrp="1"/>
          </p:cNvSpPr>
          <p:nvPr>
            <p:ph type="sldNum" idx="4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9D71965-AC47-4220-99FB-2E0429DD714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0" name="PlaceHolder 1"/>
          <p:cNvSpPr>
            <a:spLocks noGrp="1"/>
          </p:cNvSpPr>
          <p:nvPr>
            <p:ph type="sldImg"/>
          </p:nvPr>
        </p:nvSpPr>
        <p:spPr>
          <a:xfrm>
            <a:off x="1143000" y="685800"/>
            <a:ext cx="4571640" cy="3428640"/>
          </a:xfrm>
          <a:prstGeom prst="rect">
            <a:avLst/>
          </a:prstGeom>
          <a:ln w="0">
            <a:noFill/>
          </a:ln>
        </p:spPr>
      </p:sp>
      <p:sp>
        <p:nvSpPr>
          <p:cNvPr id="69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Every weird thing you'll see in a real environment is a fossil from one of these eras. Knowing which era something comes from is a real superpower in incident response and pentesting.</a:t>
            </a:r>
            <a:endParaRPr lang="en-US" sz="2000" b="0" u="none" strike="noStrike">
              <a:solidFill>
                <a:srgbClr val="000000"/>
              </a:solidFill>
              <a:effectLst/>
              <a:uFillTx/>
              <a:latin typeface="Arial"/>
            </a:endParaRPr>
          </a:p>
        </p:txBody>
      </p:sp>
      <p:sp>
        <p:nvSpPr>
          <p:cNvPr id="692" name="PlaceHolder 3"/>
          <p:cNvSpPr>
            <a:spLocks noGrp="1"/>
          </p:cNvSpPr>
          <p:nvPr>
            <p:ph type="sldNum" idx="4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6F4F706-402B-4506-8469-0C9D97D42C1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3" name="PlaceHolder 1"/>
          <p:cNvSpPr>
            <a:spLocks noGrp="1"/>
          </p:cNvSpPr>
          <p:nvPr>
            <p:ph type="sldImg"/>
          </p:nvPr>
        </p:nvSpPr>
        <p:spPr>
          <a:xfrm>
            <a:off x="1143000" y="685800"/>
            <a:ext cx="4571640" cy="3428640"/>
          </a:xfrm>
          <a:prstGeom prst="rect">
            <a:avLst/>
          </a:prstGeom>
          <a:ln w="0">
            <a:noFill/>
          </a:ln>
        </p:spPr>
      </p:sp>
      <p:sp>
        <p:nvSpPr>
          <p:cNvPr id="69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Ten families you'll meet in the wild. For each: what it stores, what it's for, key products, and the security gotcha.</a:t>
            </a:r>
            <a:endParaRPr lang="en-US" sz="2000" b="0" u="none" strike="noStrike">
              <a:solidFill>
                <a:srgbClr val="000000"/>
              </a:solidFill>
              <a:effectLst/>
              <a:uFillTx/>
              <a:latin typeface="Arial"/>
            </a:endParaRPr>
          </a:p>
        </p:txBody>
      </p:sp>
      <p:sp>
        <p:nvSpPr>
          <p:cNvPr id="695" name="PlaceHolder 3"/>
          <p:cNvSpPr>
            <a:spLocks noGrp="1"/>
          </p:cNvSpPr>
          <p:nvPr>
            <p:ph type="sldNum" idx="4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0B219C9-ED69-4663-B568-C458999B688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6" name="PlaceHolder 1"/>
          <p:cNvSpPr>
            <a:spLocks noGrp="1"/>
          </p:cNvSpPr>
          <p:nvPr>
            <p:ph type="sldImg"/>
          </p:nvPr>
        </p:nvSpPr>
        <p:spPr>
          <a:xfrm>
            <a:off x="1143000" y="685800"/>
            <a:ext cx="4571640" cy="3428640"/>
          </a:xfrm>
          <a:prstGeom prst="rect">
            <a:avLst/>
          </a:prstGeom>
          <a:ln w="0">
            <a:noFill/>
          </a:ln>
        </p:spPr>
      </p:sp>
      <p:sp>
        <p:nvSpPr>
          <p:cNvPr id="69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1: Relational / SQL. Products include PostgreSQL  •  MySQL/MariaDB  •  SQL Server  •  Oracle. Clear relationships, consistency required — finance, regulated data. Security gotcha: SQL injection when developers concatenate user input into queries.</a:t>
            </a:r>
            <a:endParaRPr lang="en-US" sz="2000" b="0" u="none" strike="noStrike">
              <a:solidFill>
                <a:srgbClr val="000000"/>
              </a:solidFill>
              <a:effectLst/>
              <a:uFillTx/>
              <a:latin typeface="Arial"/>
            </a:endParaRPr>
          </a:p>
        </p:txBody>
      </p:sp>
      <p:sp>
        <p:nvSpPr>
          <p:cNvPr id="698" name="PlaceHolder 3"/>
          <p:cNvSpPr>
            <a:spLocks noGrp="1"/>
          </p:cNvSpPr>
          <p:nvPr>
            <p:ph type="sldNum" idx="4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3F47FC2-2234-49D1-B8B2-6A98C648062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9" name="PlaceHolder 1"/>
          <p:cNvSpPr>
            <a:spLocks noGrp="1"/>
          </p:cNvSpPr>
          <p:nvPr>
            <p:ph type="sldImg"/>
          </p:nvPr>
        </p:nvSpPr>
        <p:spPr>
          <a:xfrm>
            <a:off x="1143000" y="685800"/>
            <a:ext cx="4571640" cy="3428640"/>
          </a:xfrm>
          <a:prstGeom prst="rect">
            <a:avLst/>
          </a:prstGeom>
          <a:ln w="0">
            <a:noFill/>
          </a:ln>
        </p:spPr>
      </p:sp>
      <p:sp>
        <p:nvSpPr>
          <p:cNvPr id="70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2: Document Stores. Products include MongoDB  •  Couchbase  •  Firestore. Naturally nested data; the shape changes over time. Security gotcha: NoSQL injection via query operators ($ne, $gt, $where). Default no-auth.</a:t>
            </a:r>
            <a:endParaRPr lang="en-US" sz="2000" b="0" u="none" strike="noStrike">
              <a:solidFill>
                <a:srgbClr val="000000"/>
              </a:solidFill>
              <a:effectLst/>
              <a:uFillTx/>
              <a:latin typeface="Arial"/>
            </a:endParaRPr>
          </a:p>
        </p:txBody>
      </p:sp>
      <p:sp>
        <p:nvSpPr>
          <p:cNvPr id="701" name="PlaceHolder 3"/>
          <p:cNvSpPr>
            <a:spLocks noGrp="1"/>
          </p:cNvSpPr>
          <p:nvPr>
            <p:ph type="sldNum" idx="4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5722488-A93E-41A1-8FBC-E82B81520A8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2" name="PlaceHolder 1"/>
          <p:cNvSpPr>
            <a:spLocks noGrp="1"/>
          </p:cNvSpPr>
          <p:nvPr>
            <p:ph type="sldImg"/>
          </p:nvPr>
        </p:nvSpPr>
        <p:spPr>
          <a:xfrm>
            <a:off x="1143000" y="685800"/>
            <a:ext cx="4571640" cy="3428640"/>
          </a:xfrm>
          <a:prstGeom prst="rect">
            <a:avLst/>
          </a:prstGeom>
          <a:ln w="0">
            <a:noFill/>
          </a:ln>
        </p:spPr>
      </p:sp>
      <p:sp>
        <p:nvSpPr>
          <p:cNvPr id="70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3: Key-Value Stores. Products include Redis  •  Memcached  •  DynamoDB. Caches, session stores, rate limiters, leaderboards. Security gotcha: Default no-auth Redis + CONFIG SET → writing SSH keys to disk.</a:t>
            </a:r>
            <a:endParaRPr lang="en-US" sz="2000" b="0" u="none" strike="noStrike">
              <a:solidFill>
                <a:srgbClr val="000000"/>
              </a:solidFill>
              <a:effectLst/>
              <a:uFillTx/>
              <a:latin typeface="Arial"/>
            </a:endParaRPr>
          </a:p>
        </p:txBody>
      </p:sp>
      <p:sp>
        <p:nvSpPr>
          <p:cNvPr id="704" name="PlaceHolder 3"/>
          <p:cNvSpPr>
            <a:spLocks noGrp="1"/>
          </p:cNvSpPr>
          <p:nvPr>
            <p:ph type="sldNum" idx="4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0A296E8-F0D1-499F-9EDD-8D848FA8A7C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5" name="PlaceHolder 1"/>
          <p:cNvSpPr>
            <a:spLocks noGrp="1"/>
          </p:cNvSpPr>
          <p:nvPr>
            <p:ph type="sldImg"/>
          </p:nvPr>
        </p:nvSpPr>
        <p:spPr>
          <a:xfrm>
            <a:off x="1143000" y="685800"/>
            <a:ext cx="4571640" cy="3428640"/>
          </a:xfrm>
          <a:prstGeom prst="rect">
            <a:avLst/>
          </a:prstGeom>
          <a:ln w="0">
            <a:noFill/>
          </a:ln>
        </p:spPr>
      </p:sp>
      <p:sp>
        <p:nvSpPr>
          <p:cNvPr id="70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4: Column-Family. Products include Apache Cassandra  •  HBase  •  ScyllaDB. Massive scale across many machines; no complex joins needed. Security gotcha: Clusters trust each other on gossip ports — mgmt network = root.</a:t>
            </a:r>
            <a:endParaRPr lang="en-US" sz="2000" b="0" u="none" strike="noStrike">
              <a:solidFill>
                <a:srgbClr val="000000"/>
              </a:solidFill>
              <a:effectLst/>
              <a:uFillTx/>
              <a:latin typeface="Arial"/>
            </a:endParaRPr>
          </a:p>
        </p:txBody>
      </p:sp>
      <p:sp>
        <p:nvSpPr>
          <p:cNvPr id="707" name="PlaceHolder 3"/>
          <p:cNvSpPr>
            <a:spLocks noGrp="1"/>
          </p:cNvSpPr>
          <p:nvPr>
            <p:ph type="sldNum" idx="4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7A863D0-B30E-4FEC-9A1D-B82090AD8A4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8" name="PlaceHolder 1"/>
          <p:cNvSpPr>
            <a:spLocks noGrp="1"/>
          </p:cNvSpPr>
          <p:nvPr>
            <p:ph type="sldImg"/>
          </p:nvPr>
        </p:nvSpPr>
        <p:spPr>
          <a:xfrm>
            <a:off x="1143000" y="685800"/>
            <a:ext cx="4571640" cy="3428640"/>
          </a:xfrm>
          <a:prstGeom prst="rect">
            <a:avLst/>
          </a:prstGeom>
          <a:ln w="0">
            <a:noFill/>
          </a:ln>
        </p:spPr>
      </p:sp>
      <p:sp>
        <p:nvSpPr>
          <p:cNvPr id="70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5: Graph Databases. Products include Neo4j  •  Amazon Neptune  •  ArangoDB. Social networks, fraud detection, IAM analysis (e.g. BloodHound). Security gotcha: Query languages like Cypher are injectable too. NoSQLi isn't just Mongo.</a:t>
            </a:r>
            <a:endParaRPr lang="en-US" sz="2000" b="0" u="none" strike="noStrike">
              <a:solidFill>
                <a:srgbClr val="000000"/>
              </a:solidFill>
              <a:effectLst/>
              <a:uFillTx/>
              <a:latin typeface="Arial"/>
            </a:endParaRPr>
          </a:p>
        </p:txBody>
      </p:sp>
      <p:sp>
        <p:nvSpPr>
          <p:cNvPr id="710" name="PlaceHolder 3"/>
          <p:cNvSpPr>
            <a:spLocks noGrp="1"/>
          </p:cNvSpPr>
          <p:nvPr>
            <p:ph type="sldNum" idx="4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DAECD6E-E4FB-4F3A-B4B8-D918A888D73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1" name="PlaceHolder 1"/>
          <p:cNvSpPr>
            <a:spLocks noGrp="1"/>
          </p:cNvSpPr>
          <p:nvPr>
            <p:ph type="sldImg"/>
          </p:nvPr>
        </p:nvSpPr>
        <p:spPr>
          <a:xfrm>
            <a:off x="1143000" y="685800"/>
            <a:ext cx="4571640" cy="3428640"/>
          </a:xfrm>
          <a:prstGeom prst="rect">
            <a:avLst/>
          </a:prstGeom>
          <a:ln w="0">
            <a:noFill/>
          </a:ln>
        </p:spPr>
      </p:sp>
      <p:sp>
        <p:nvSpPr>
          <p:cNvPr id="71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6: Search Engines. Products include Elasticsearch  •  OpenSearch  •  Solr. Log search, SIEM backbones, e-commerce site search. Security gotcha: No built-in auth historically — billions of records exposed on Shodan.</a:t>
            </a:r>
            <a:endParaRPr lang="en-US" sz="2000" b="0" u="none" strike="noStrike">
              <a:solidFill>
                <a:srgbClr val="000000"/>
              </a:solidFill>
              <a:effectLst/>
              <a:uFillTx/>
              <a:latin typeface="Arial"/>
            </a:endParaRPr>
          </a:p>
        </p:txBody>
      </p:sp>
      <p:sp>
        <p:nvSpPr>
          <p:cNvPr id="713" name="PlaceHolder 3"/>
          <p:cNvSpPr>
            <a:spLocks noGrp="1"/>
          </p:cNvSpPr>
          <p:nvPr>
            <p:ph type="sldNum" idx="5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665A6C1-FC86-46A8-B12C-80D3769A1EA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4" name="PlaceHolder 1"/>
          <p:cNvSpPr>
            <a:spLocks noGrp="1"/>
          </p:cNvSpPr>
          <p:nvPr>
            <p:ph type="sldImg"/>
          </p:nvPr>
        </p:nvSpPr>
        <p:spPr>
          <a:xfrm>
            <a:off x="1143000" y="685800"/>
            <a:ext cx="4571640" cy="3428640"/>
          </a:xfrm>
          <a:prstGeom prst="rect">
            <a:avLst/>
          </a:prstGeom>
          <a:ln w="0">
            <a:noFill/>
          </a:ln>
        </p:spPr>
      </p:sp>
      <p:sp>
        <p:nvSpPr>
          <p:cNvPr id="71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7: Time-Series. Products include InfluxDB  •  TimescaleDB  •  Prometheus. Metrics, observability, IoT telemetry. Security gotcha: Usually inside the perimeter, often unauthenticated.</a:t>
            </a:r>
            <a:endParaRPr lang="en-US" sz="2000" b="0" u="none" strike="noStrike">
              <a:solidFill>
                <a:srgbClr val="000000"/>
              </a:solidFill>
              <a:effectLst/>
              <a:uFillTx/>
              <a:latin typeface="Arial"/>
            </a:endParaRPr>
          </a:p>
        </p:txBody>
      </p:sp>
      <p:sp>
        <p:nvSpPr>
          <p:cNvPr id="716" name="PlaceHolder 3"/>
          <p:cNvSpPr>
            <a:spLocks noGrp="1"/>
          </p:cNvSpPr>
          <p:nvPr>
            <p:ph type="sldNum" idx="5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4500C33-800C-43BF-A9C0-CDCEEC11A37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7" name="PlaceHolder 1"/>
          <p:cNvSpPr>
            <a:spLocks noGrp="1"/>
          </p:cNvSpPr>
          <p:nvPr>
            <p:ph type="sldImg"/>
          </p:nvPr>
        </p:nvSpPr>
        <p:spPr>
          <a:xfrm>
            <a:off x="1143000" y="685800"/>
            <a:ext cx="4571640" cy="3428640"/>
          </a:xfrm>
          <a:prstGeom prst="rect">
            <a:avLst/>
          </a:prstGeom>
          <a:ln w="0">
            <a:noFill/>
          </a:ln>
        </p:spPr>
      </p:sp>
      <p:sp>
        <p:nvSpPr>
          <p:cNvPr id="71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8: Vector Databases. Products include Pinecone  •  Milvus  •  Weaviate  •  pgvector. RAG, recommendation engines, semantic search. Security gotcha: Data poisoning — sneak in a doc, the LLM quotes it as truth.</a:t>
            </a:r>
            <a:endParaRPr lang="en-US" sz="2000" b="0" u="none" strike="noStrike">
              <a:solidFill>
                <a:srgbClr val="000000"/>
              </a:solidFill>
              <a:effectLst/>
              <a:uFillTx/>
              <a:latin typeface="Arial"/>
            </a:endParaRPr>
          </a:p>
        </p:txBody>
      </p:sp>
      <p:sp>
        <p:nvSpPr>
          <p:cNvPr id="719" name="PlaceHolder 3"/>
          <p:cNvSpPr>
            <a:spLocks noGrp="1"/>
          </p:cNvSpPr>
          <p:nvPr>
            <p:ph type="sldNum" idx="5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87CBBC2-49BC-4CE4-9F20-2C89647A441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0" name="PlaceHolder 1"/>
          <p:cNvSpPr>
            <a:spLocks noGrp="1"/>
          </p:cNvSpPr>
          <p:nvPr>
            <p:ph type="sldImg"/>
          </p:nvPr>
        </p:nvSpPr>
        <p:spPr>
          <a:xfrm>
            <a:off x="1143000" y="685800"/>
            <a:ext cx="4571640" cy="3428640"/>
          </a:xfrm>
          <a:prstGeom prst="rect">
            <a:avLst/>
          </a:prstGeom>
          <a:ln w="0">
            <a:noFill/>
          </a:ln>
        </p:spPr>
      </p:sp>
      <p:sp>
        <p:nvSpPr>
          <p:cNvPr id="72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9: Embedded / Edge. Products include SQLite  •  DuckDB  •  LevelDB. In-app storage — browsers, phones, every modern airplane. Security gotcha: DB is a file — attack is 'steal the file'. Mobile pentest world.</a:t>
            </a:r>
            <a:endParaRPr lang="en-US" sz="2000" b="0" u="none" strike="noStrike">
              <a:solidFill>
                <a:srgbClr val="000000"/>
              </a:solidFill>
              <a:effectLst/>
              <a:uFillTx/>
              <a:latin typeface="Arial"/>
            </a:endParaRPr>
          </a:p>
        </p:txBody>
      </p:sp>
      <p:sp>
        <p:nvSpPr>
          <p:cNvPr id="722" name="PlaceHolder 3"/>
          <p:cNvSpPr>
            <a:spLocks noGrp="1"/>
          </p:cNvSpPr>
          <p:nvPr>
            <p:ph type="sldNum" idx="5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C818390-E5FA-4DE9-8805-1540285BAD5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3" name="PlaceHolder 1"/>
          <p:cNvSpPr>
            <a:spLocks noGrp="1"/>
          </p:cNvSpPr>
          <p:nvPr>
            <p:ph type="sldImg"/>
          </p:nvPr>
        </p:nvSpPr>
        <p:spPr>
          <a:xfrm>
            <a:off x="1143000" y="685800"/>
            <a:ext cx="4571640" cy="3428640"/>
          </a:xfrm>
          <a:prstGeom prst="rect">
            <a:avLst/>
          </a:prstGeom>
          <a:ln w="0">
            <a:noFill/>
          </a:ln>
        </p:spPr>
      </p:sp>
      <p:sp>
        <p:nvSpPr>
          <p:cNvPr id="72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10: Data Lakes / Lakehouses. Products include S3 + Athena  •  Delta Lake  •  Iceberg  •  Snowflake. Schema-on-read instead of schema-on-write. Dump now, query later. Security gotcha: Giant S3 pools + permissive IAM, no encryption-at-rest enforcement.</a:t>
            </a:r>
            <a:endParaRPr lang="en-US" sz="2000" b="0" u="none" strike="noStrike">
              <a:solidFill>
                <a:srgbClr val="000000"/>
              </a:solidFill>
              <a:effectLst/>
              <a:uFillTx/>
              <a:latin typeface="Arial"/>
            </a:endParaRPr>
          </a:p>
        </p:txBody>
      </p:sp>
      <p:sp>
        <p:nvSpPr>
          <p:cNvPr id="725" name="PlaceHolder 3"/>
          <p:cNvSpPr>
            <a:spLocks noGrp="1"/>
          </p:cNvSpPr>
          <p:nvPr>
            <p:ph type="sldNum" idx="5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2482BD9-25C3-445B-A76A-5B58C179018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6" name="PlaceHolder 1"/>
          <p:cNvSpPr>
            <a:spLocks noGrp="1"/>
          </p:cNvSpPr>
          <p:nvPr>
            <p:ph type="sldImg"/>
          </p:nvPr>
        </p:nvSpPr>
        <p:spPr>
          <a:xfrm>
            <a:off x="1143000" y="685800"/>
            <a:ext cx="4571640" cy="3428640"/>
          </a:xfrm>
          <a:prstGeom prst="rect">
            <a:avLst/>
          </a:prstGeom>
          <a:ln w="0">
            <a:noFill/>
          </a:ln>
        </p:spPr>
      </p:sp>
      <p:sp>
        <p:nvSpPr>
          <p:cNvPr id="72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Know the cloud vendor names — that's how databases appear in alerts, IAM policies, and incident response. AWS RDS/Aurora, GCP Cloud SQL, Azure SQL. Document side: DynamoDB, Firestore, Cosmos DB.</a:t>
            </a:r>
            <a:endParaRPr lang="en-US" sz="2000" b="0" u="none" strike="noStrike">
              <a:solidFill>
                <a:srgbClr val="000000"/>
              </a:solidFill>
              <a:effectLst/>
              <a:uFillTx/>
              <a:latin typeface="Arial"/>
            </a:endParaRPr>
          </a:p>
        </p:txBody>
      </p:sp>
      <p:sp>
        <p:nvSpPr>
          <p:cNvPr id="728" name="PlaceHolder 3"/>
          <p:cNvSpPr>
            <a:spLocks noGrp="1"/>
          </p:cNvSpPr>
          <p:nvPr>
            <p:ph type="sldNum" idx="5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051E937-AB40-4E5E-BC61-E8434BCF8030}"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9" name="PlaceHolder 1"/>
          <p:cNvSpPr>
            <a:spLocks noGrp="1"/>
          </p:cNvSpPr>
          <p:nvPr>
            <p:ph type="sldImg"/>
          </p:nvPr>
        </p:nvSpPr>
        <p:spPr>
          <a:xfrm>
            <a:off x="1143000" y="685800"/>
            <a:ext cx="4571640" cy="3428640"/>
          </a:xfrm>
          <a:prstGeom prst="rect">
            <a:avLst/>
          </a:prstGeom>
          <a:ln w="0">
            <a:noFill/>
          </a:ln>
        </p:spPr>
      </p:sp>
      <p:sp>
        <p:nvSpPr>
          <p:cNvPr id="73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Side-by-side table. Memorize the row labels — those are the categories. The vendor columns rotate with the market.</a:t>
            </a:r>
            <a:endParaRPr lang="en-US" sz="2000" b="0" u="none" strike="noStrike">
              <a:solidFill>
                <a:srgbClr val="000000"/>
              </a:solidFill>
              <a:effectLst/>
              <a:uFillTx/>
              <a:latin typeface="Arial"/>
            </a:endParaRPr>
          </a:p>
        </p:txBody>
      </p:sp>
      <p:sp>
        <p:nvSpPr>
          <p:cNvPr id="731" name="PlaceHolder 3"/>
          <p:cNvSpPr>
            <a:spLocks noGrp="1"/>
          </p:cNvSpPr>
          <p:nvPr>
            <p:ph type="sldNum" idx="5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314DDBB-53E0-469E-B433-5D45616EC05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2" name="PlaceHolder 1"/>
          <p:cNvSpPr>
            <a:spLocks noGrp="1"/>
          </p:cNvSpPr>
          <p:nvPr>
            <p:ph type="sldImg"/>
          </p:nvPr>
        </p:nvSpPr>
        <p:spPr>
          <a:xfrm>
            <a:off x="1143000" y="685800"/>
            <a:ext cx="4571640" cy="3428640"/>
          </a:xfrm>
          <a:prstGeom prst="rect">
            <a:avLst/>
          </a:prstGeom>
          <a:ln w="0">
            <a:noFill/>
          </a:ln>
        </p:spPr>
      </p:sp>
      <p:sp>
        <p:nvSpPr>
          <p:cNvPr id="73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Cloud vendor patches hypervisor and engine. You own config, IAM, and the data. Almost every cloud DB breach is a customer-side misconfiguration — public S3, wide security group, snapshot shared to wrong account.</a:t>
            </a:r>
            <a:endParaRPr lang="en-US" sz="2000" b="0" u="none" strike="noStrike">
              <a:solidFill>
                <a:srgbClr val="000000"/>
              </a:solidFill>
              <a:effectLst/>
              <a:uFillTx/>
              <a:latin typeface="Arial"/>
            </a:endParaRPr>
          </a:p>
        </p:txBody>
      </p:sp>
      <p:sp>
        <p:nvSpPr>
          <p:cNvPr id="734" name="PlaceHolder 3"/>
          <p:cNvSpPr>
            <a:spLocks noGrp="1"/>
          </p:cNvSpPr>
          <p:nvPr>
            <p:ph type="sldNum" idx="5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C78ED2F-D546-4142-950D-3EC2423A67D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5" name="PlaceHolder 1"/>
          <p:cNvSpPr>
            <a:spLocks noGrp="1"/>
          </p:cNvSpPr>
          <p:nvPr>
            <p:ph type="sldImg"/>
          </p:nvPr>
        </p:nvSpPr>
        <p:spPr>
          <a:xfrm>
            <a:off x="1143000" y="685800"/>
            <a:ext cx="4571640" cy="3428640"/>
          </a:xfrm>
          <a:prstGeom prst="rect">
            <a:avLst/>
          </a:prstGeom>
          <a:ln w="0">
            <a:noFill/>
          </a:ln>
        </p:spPr>
      </p:sp>
      <p:sp>
        <p:nvSpPr>
          <p:cNvPr id="73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SOC analysts use these every day. Pentesters scan for them every day. If you see any of these exposed to the internet in a real environment, that's a finding.</a:t>
            </a:r>
            <a:endParaRPr lang="en-US" sz="2000" b="0" u="none" strike="noStrike">
              <a:solidFill>
                <a:srgbClr val="000000"/>
              </a:solidFill>
              <a:effectLst/>
              <a:uFillTx/>
              <a:latin typeface="Arial"/>
            </a:endParaRPr>
          </a:p>
        </p:txBody>
      </p:sp>
      <p:sp>
        <p:nvSpPr>
          <p:cNvPr id="737" name="PlaceHolder 3"/>
          <p:cNvSpPr>
            <a:spLocks noGrp="1"/>
          </p:cNvSpPr>
          <p:nvPr>
            <p:ph type="sldNum" idx="5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75702B6-EEA3-480B-92CD-409423D7B15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8" name="PlaceHolder 1"/>
          <p:cNvSpPr>
            <a:spLocks noGrp="1"/>
          </p:cNvSpPr>
          <p:nvPr>
            <p:ph type="sldImg"/>
          </p:nvPr>
        </p:nvSpPr>
        <p:spPr>
          <a:xfrm>
            <a:off x="1143000" y="685800"/>
            <a:ext cx="4571640" cy="3428640"/>
          </a:xfrm>
          <a:prstGeom prst="rect">
            <a:avLst/>
          </a:prstGeom>
          <a:ln w="0">
            <a:noFill/>
          </a:ln>
        </p:spPr>
      </p:sp>
      <p:sp>
        <p:nvSpPr>
          <p:cNvPr id="73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Markdown files are a database now — literally. Folder of .md files → embedder → vector DB → LLM prompt. This pattern is called RAG.</a:t>
            </a:r>
            <a:endParaRPr lang="en-US" sz="2000" b="0" u="none" strike="noStrike">
              <a:solidFill>
                <a:srgbClr val="000000"/>
              </a:solidFill>
              <a:effectLst/>
              <a:uFillTx/>
              <a:latin typeface="Arial"/>
            </a:endParaRPr>
          </a:p>
        </p:txBody>
      </p:sp>
      <p:sp>
        <p:nvSpPr>
          <p:cNvPr id="740" name="PlaceHolder 3"/>
          <p:cNvSpPr>
            <a:spLocks noGrp="1"/>
          </p:cNvSpPr>
          <p:nvPr>
            <p:ph type="sldNum" idx="5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909F91F-7AF8-429D-8850-C5E25E78AF2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1" name="PlaceHolder 1"/>
          <p:cNvSpPr>
            <a:spLocks noGrp="1"/>
          </p:cNvSpPr>
          <p:nvPr>
            <p:ph type="sldImg"/>
          </p:nvPr>
        </p:nvSpPr>
        <p:spPr>
          <a:xfrm>
            <a:off x="1143000" y="685800"/>
            <a:ext cx="4571640" cy="3428640"/>
          </a:xfrm>
          <a:prstGeom prst="rect">
            <a:avLst/>
          </a:prstGeom>
          <a:ln w="0">
            <a:noFill/>
          </a:ln>
        </p:spPr>
      </p:sp>
      <p:sp>
        <p:nvSpPr>
          <p:cNvPr id="74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Trust boundary is between whoever writes markdown and the embedder. Anyone who can edit those files can plant content the LLM will quote.</a:t>
            </a:r>
            <a:endParaRPr lang="en-US" sz="2000" b="0" u="none" strike="noStrike">
              <a:solidFill>
                <a:srgbClr val="000000"/>
              </a:solidFill>
              <a:effectLst/>
              <a:uFillTx/>
              <a:latin typeface="Arial"/>
            </a:endParaRPr>
          </a:p>
        </p:txBody>
      </p:sp>
      <p:sp>
        <p:nvSpPr>
          <p:cNvPr id="743" name="PlaceHolder 3"/>
          <p:cNvSpPr>
            <a:spLocks noGrp="1"/>
          </p:cNvSpPr>
          <p:nvPr>
            <p:ph type="sldNum" idx="6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BBBC146-01C7-4455-8D7A-6D9B6423C13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4" name="PlaceHolder 1"/>
          <p:cNvSpPr>
            <a:spLocks noGrp="1"/>
          </p:cNvSpPr>
          <p:nvPr>
            <p:ph type="sldImg"/>
          </p:nvPr>
        </p:nvSpPr>
        <p:spPr>
          <a:xfrm>
            <a:off x="1143000" y="685800"/>
            <a:ext cx="4571640" cy="3428640"/>
          </a:xfrm>
          <a:prstGeom prst="rect">
            <a:avLst/>
          </a:prstGeom>
          <a:ln w="0">
            <a:noFill/>
          </a:ln>
        </p:spPr>
      </p:sp>
      <p:sp>
        <p:nvSpPr>
          <p:cNvPr id="74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If your org is doing any kind of internal AI assistant, the markdown files feeding it are infrastructure. Treat them like infrastructure.</a:t>
            </a:r>
            <a:endParaRPr lang="en-US" sz="2000" b="0" u="none" strike="noStrike">
              <a:solidFill>
                <a:srgbClr val="000000"/>
              </a:solidFill>
              <a:effectLst/>
              <a:uFillTx/>
              <a:latin typeface="Arial"/>
            </a:endParaRPr>
          </a:p>
        </p:txBody>
      </p:sp>
      <p:sp>
        <p:nvSpPr>
          <p:cNvPr id="746" name="PlaceHolder 3"/>
          <p:cNvSpPr>
            <a:spLocks noGrp="1"/>
          </p:cNvSpPr>
          <p:nvPr>
            <p:ph type="sldNum" idx="6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199AB81-F463-4ECE-BADF-3EC60FDF437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7" name="PlaceHolder 1"/>
          <p:cNvSpPr>
            <a:spLocks noGrp="1"/>
          </p:cNvSpPr>
          <p:nvPr>
            <p:ph type="sldImg"/>
          </p:nvPr>
        </p:nvSpPr>
        <p:spPr>
          <a:xfrm>
            <a:off x="1143000" y="685800"/>
            <a:ext cx="4571640" cy="3428640"/>
          </a:xfrm>
          <a:prstGeom prst="rect">
            <a:avLst/>
          </a:prstGeom>
          <a:ln w="0">
            <a:noFill/>
          </a:ln>
        </p:spPr>
      </p:sp>
      <p:sp>
        <p:nvSpPr>
          <p:cNvPr id="74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Section divider: SECURITY — What's actually getting hit in 2026</a:t>
            </a:r>
            <a:endParaRPr lang="en-US" sz="2000" b="0" u="none" strike="noStrike">
              <a:solidFill>
                <a:srgbClr val="000000"/>
              </a:solidFill>
              <a:effectLst/>
              <a:uFillTx/>
              <a:latin typeface="Arial"/>
            </a:endParaRPr>
          </a:p>
        </p:txBody>
      </p:sp>
      <p:sp>
        <p:nvSpPr>
          <p:cNvPr id="749" name="PlaceHolder 3"/>
          <p:cNvSpPr>
            <a:spLocks noGrp="1"/>
          </p:cNvSpPr>
          <p:nvPr>
            <p:ph type="sldNum" idx="6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BCBBF95-5D12-476F-9F77-4EC9F8DC0B4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0" name="PlaceHolder 1"/>
          <p:cNvSpPr>
            <a:spLocks noGrp="1"/>
          </p:cNvSpPr>
          <p:nvPr>
            <p:ph type="sldImg"/>
          </p:nvPr>
        </p:nvSpPr>
        <p:spPr>
          <a:xfrm>
            <a:off x="1143000" y="685800"/>
            <a:ext cx="4571640" cy="3428640"/>
          </a:xfrm>
          <a:prstGeom prst="rect">
            <a:avLst/>
          </a:prstGeom>
          <a:ln w="0">
            <a:noFill/>
          </a:ln>
        </p:spPr>
      </p:sp>
      <p:sp>
        <p:nvSpPr>
          <p:cNvPr id="75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most famous database attack of all time. xkcd #327. Mom names her kid Robert'); DROP TABLE Students;-- and the school's database disappears because someone built a query by gluing strings. Fix is parameterized queries.</a:t>
            </a:r>
            <a:endParaRPr lang="en-US" sz="2000" b="0" u="none" strike="noStrike">
              <a:solidFill>
                <a:srgbClr val="000000"/>
              </a:solidFill>
              <a:effectLst/>
              <a:uFillTx/>
              <a:latin typeface="Arial"/>
            </a:endParaRPr>
          </a:p>
        </p:txBody>
      </p:sp>
      <p:sp>
        <p:nvSpPr>
          <p:cNvPr id="752" name="PlaceHolder 3"/>
          <p:cNvSpPr>
            <a:spLocks noGrp="1"/>
          </p:cNvSpPr>
          <p:nvPr>
            <p:ph type="sldNum" idx="6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1F060F0-AA9B-4352-A15A-0DD56FCDB42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3" name="PlaceHolder 1"/>
          <p:cNvSpPr>
            <a:spLocks noGrp="1"/>
          </p:cNvSpPr>
          <p:nvPr>
            <p:ph type="sldImg"/>
          </p:nvPr>
        </p:nvSpPr>
        <p:spPr>
          <a:xfrm>
            <a:off x="1143000" y="685800"/>
            <a:ext cx="4571640" cy="3428640"/>
          </a:xfrm>
          <a:prstGeom prst="rect">
            <a:avLst/>
          </a:prstGeom>
          <a:ln w="0">
            <a:noFill/>
          </a:ln>
        </p:spPr>
      </p:sp>
      <p:sp>
        <p:nvSpPr>
          <p:cNvPr id="75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SQL injection is a success story — parameterized queries fixed it. But the attack surface didn't shrink, it expanded into new shapes.</a:t>
            </a:r>
            <a:endParaRPr lang="en-US" sz="2000" b="0" u="none" strike="noStrike">
              <a:solidFill>
                <a:srgbClr val="000000"/>
              </a:solidFill>
              <a:effectLst/>
              <a:uFillTx/>
              <a:latin typeface="Arial"/>
            </a:endParaRPr>
          </a:p>
        </p:txBody>
      </p:sp>
      <p:sp>
        <p:nvSpPr>
          <p:cNvPr id="755" name="PlaceHolder 3"/>
          <p:cNvSpPr>
            <a:spLocks noGrp="1"/>
          </p:cNvSpPr>
          <p:nvPr>
            <p:ph type="sldNum" idx="6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1F2106A-BDF7-46A1-8E10-09CAA59042B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6" name="PlaceHolder 1"/>
          <p:cNvSpPr>
            <a:spLocks noGrp="1"/>
          </p:cNvSpPr>
          <p:nvPr>
            <p:ph type="sldImg"/>
          </p:nvPr>
        </p:nvSpPr>
        <p:spPr>
          <a:xfrm>
            <a:off x="1143000" y="685800"/>
            <a:ext cx="4571640" cy="3428640"/>
          </a:xfrm>
          <a:prstGeom prst="rect">
            <a:avLst/>
          </a:prstGeom>
          <a:ln w="0">
            <a:noFill/>
          </a:ln>
        </p:spPr>
      </p:sp>
      <p:sp>
        <p:nvSpPr>
          <p:cNvPr id="75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NoSQL Injection. MongoDB JSON queries + raw user input = SQLi reborn.  Login bypass: { username: 'alice', password: { $ne: 'x' } }  $where lets you inject JavaScript straight into the DB.  Couchbase N1QL is SQL-flavored — classic SQLi patterns apply.  Principle: ANY interpreter can be injected, not just SQL.</a:t>
            </a:r>
            <a:endParaRPr lang="en-US" sz="2000" b="0" u="none" strike="noStrike">
              <a:solidFill>
                <a:srgbClr val="000000"/>
              </a:solidFill>
              <a:effectLst/>
              <a:uFillTx/>
              <a:latin typeface="Arial"/>
            </a:endParaRPr>
          </a:p>
        </p:txBody>
      </p:sp>
      <p:sp>
        <p:nvSpPr>
          <p:cNvPr id="758" name="PlaceHolder 3"/>
          <p:cNvSpPr>
            <a:spLocks noGrp="1"/>
          </p:cNvSpPr>
          <p:nvPr>
            <p:ph type="sldNum" idx="6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413CF6D-E3CC-4C91-BB61-857F039D5CC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9" name="PlaceHolder 1"/>
          <p:cNvSpPr>
            <a:spLocks noGrp="1"/>
          </p:cNvSpPr>
          <p:nvPr>
            <p:ph type="sldImg"/>
          </p:nvPr>
        </p:nvSpPr>
        <p:spPr>
          <a:xfrm>
            <a:off x="1143000" y="685800"/>
            <a:ext cx="4571640" cy="3428640"/>
          </a:xfrm>
          <a:prstGeom prst="rect">
            <a:avLst/>
          </a:prstGeom>
          <a:ln w="0">
            <a:noFill/>
          </a:ln>
        </p:spPr>
      </p:sp>
      <p:sp>
        <p:nvSpPr>
          <p:cNvPr id="76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Exposed &amp; Misconfigured Databases. Shodan and Censys are full of databases that should not be there.  MongoDB bound to 0.0.0.0 with no auth.  Elasticsearch clusters wide open. Redis with no password.  Postgres pg_hba.conf set to 'host all all 0.0.0.0/0 trust'.  Meow attacks (2020): bots wiped thousands of open DBs for fun.</a:t>
            </a:r>
            <a:endParaRPr lang="en-US" sz="2000" b="0" u="none" strike="noStrike">
              <a:solidFill>
                <a:srgbClr val="000000"/>
              </a:solidFill>
              <a:effectLst/>
              <a:uFillTx/>
              <a:latin typeface="Arial"/>
            </a:endParaRPr>
          </a:p>
        </p:txBody>
      </p:sp>
      <p:sp>
        <p:nvSpPr>
          <p:cNvPr id="761" name="PlaceHolder 3"/>
          <p:cNvSpPr>
            <a:spLocks noGrp="1"/>
          </p:cNvSpPr>
          <p:nvPr>
            <p:ph type="sldNum" idx="6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F14A9EA-BC2F-44A5-A1B7-D0C477DE50F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2" name="PlaceHolder 1"/>
          <p:cNvSpPr>
            <a:spLocks noGrp="1"/>
          </p:cNvSpPr>
          <p:nvPr>
            <p:ph type="sldImg"/>
          </p:nvPr>
        </p:nvSpPr>
        <p:spPr>
          <a:xfrm>
            <a:off x="1143000" y="685800"/>
            <a:ext cx="4571640" cy="3428640"/>
          </a:xfrm>
          <a:prstGeom prst="rect">
            <a:avLst/>
          </a:prstGeom>
          <a:ln w="0">
            <a:noFill/>
          </a:ln>
        </p:spPr>
      </p:sp>
      <p:sp>
        <p:nvSpPr>
          <p:cNvPr id="76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Cloud Misconfigurations. In cloud, the bug is rarely the engine. It's the policy around it.  Public S3 buckets full of DB dumps (Accenture, Verizon, etc.).  Capital One 2019: SSRF tricked a WAF into leaking its IAM creds → S3.  Lambda with s3:* on * because it 'worked the first time'.  Security groups: 0.0.0.0/0 on port 5432.</a:t>
            </a:r>
            <a:endParaRPr lang="en-US" sz="2000" b="0" u="none" strike="noStrike">
              <a:solidFill>
                <a:srgbClr val="000000"/>
              </a:solidFill>
              <a:effectLst/>
              <a:uFillTx/>
              <a:latin typeface="Arial"/>
            </a:endParaRPr>
          </a:p>
        </p:txBody>
      </p:sp>
      <p:sp>
        <p:nvSpPr>
          <p:cNvPr id="764" name="PlaceHolder 3"/>
          <p:cNvSpPr>
            <a:spLocks noGrp="1"/>
          </p:cNvSpPr>
          <p:nvPr>
            <p:ph type="sldNum" idx="6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4CBB130-6887-4D3E-91E0-9561BD97F97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5" name="PlaceHolder 1"/>
          <p:cNvSpPr>
            <a:spLocks noGrp="1"/>
          </p:cNvSpPr>
          <p:nvPr>
            <p:ph type="sldImg"/>
          </p:nvPr>
        </p:nvSpPr>
        <p:spPr>
          <a:xfrm>
            <a:off x="1143000" y="685800"/>
            <a:ext cx="4571640" cy="3428640"/>
          </a:xfrm>
          <a:prstGeom prst="rect">
            <a:avLst/>
          </a:prstGeom>
          <a:ln w="0">
            <a:noFill/>
          </a:ln>
        </p:spPr>
      </p:sp>
      <p:sp>
        <p:nvSpPr>
          <p:cNvPr id="76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Privilege Escalation: DB → OS. Database accounts can become shell access. Three classic moves.  MS SQL: xp_cmdshell — runs shell commands as the DB process.  PostgreSQL: COPY ... TO PROGRAM — pipes output to a shell.  MySQL: load a UDF .so file → sys_exec on the OS.  Pattern: every privileged DB feature is part of the attack surface.</a:t>
            </a:r>
            <a:endParaRPr lang="en-US" sz="2000" b="0" u="none" strike="noStrike">
              <a:solidFill>
                <a:srgbClr val="000000"/>
              </a:solidFill>
              <a:effectLst/>
              <a:uFillTx/>
              <a:latin typeface="Arial"/>
            </a:endParaRPr>
          </a:p>
        </p:txBody>
      </p:sp>
      <p:sp>
        <p:nvSpPr>
          <p:cNvPr id="767" name="PlaceHolder 3"/>
          <p:cNvSpPr>
            <a:spLocks noGrp="1"/>
          </p:cNvSpPr>
          <p:nvPr>
            <p:ph type="sldNum" idx="6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D053435-AB42-4381-A58A-2176026FB65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8" name="PlaceHolder 1"/>
          <p:cNvSpPr>
            <a:spLocks noGrp="1"/>
          </p:cNvSpPr>
          <p:nvPr>
            <p:ph type="sldImg"/>
          </p:nvPr>
        </p:nvSpPr>
        <p:spPr>
          <a:xfrm>
            <a:off x="1143000" y="685800"/>
            <a:ext cx="4571640" cy="3428640"/>
          </a:xfrm>
          <a:prstGeom prst="rect">
            <a:avLst/>
          </a:prstGeom>
          <a:ln w="0">
            <a:noFill/>
          </a:ln>
        </p:spPr>
      </p:sp>
      <p:sp>
        <p:nvSpPr>
          <p:cNvPr id="76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Data Lake Security Gaps. Everything ends up in S3 — including things you didn't mean to put there.  Permissive IAM leaks from compute roles to humans.  No encryption-at-rest enforcement on bucket keys.  No write-side validation — anyone can drop poisoned data.  First question: WHO can write to the lake? WHO can read?</a:t>
            </a:r>
            <a:endParaRPr lang="en-US" sz="2000" b="0" u="none" strike="noStrike">
              <a:solidFill>
                <a:srgbClr val="000000"/>
              </a:solidFill>
              <a:effectLst/>
              <a:uFillTx/>
              <a:latin typeface="Arial"/>
            </a:endParaRPr>
          </a:p>
        </p:txBody>
      </p:sp>
      <p:sp>
        <p:nvSpPr>
          <p:cNvPr id="770" name="PlaceHolder 3"/>
          <p:cNvSpPr>
            <a:spLocks noGrp="1"/>
          </p:cNvSpPr>
          <p:nvPr>
            <p:ph type="sldNum" idx="6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CC1B3C1-4D54-435F-911C-D4ABC6AE5B4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1" name="PlaceHolder 1"/>
          <p:cNvSpPr>
            <a:spLocks noGrp="1"/>
          </p:cNvSpPr>
          <p:nvPr>
            <p:ph type="sldImg"/>
          </p:nvPr>
        </p:nvSpPr>
        <p:spPr>
          <a:xfrm>
            <a:off x="1143000" y="685800"/>
            <a:ext cx="4571640" cy="3428640"/>
          </a:xfrm>
          <a:prstGeom prst="rect">
            <a:avLst/>
          </a:prstGeom>
          <a:ln w="0">
            <a:noFill/>
          </a:ln>
        </p:spPr>
      </p:sp>
      <p:sp>
        <p:nvSpPr>
          <p:cNvPr id="77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Ransomware Loves Databases. The DB is the thing the business needs back — maximum leverage.  Encrypt the live database.  Encrypt the BACKUPS (otherwise customer just restores).  Exfil a copy first — extort with disclosure even if they restore.  Defense: offline, immutable backups + tested restores.</a:t>
            </a:r>
            <a:endParaRPr lang="en-US" sz="2000" b="0" u="none" strike="noStrike">
              <a:solidFill>
                <a:srgbClr val="000000"/>
              </a:solidFill>
              <a:effectLst/>
              <a:uFillTx/>
              <a:latin typeface="Arial"/>
            </a:endParaRPr>
          </a:p>
        </p:txBody>
      </p:sp>
      <p:sp>
        <p:nvSpPr>
          <p:cNvPr id="773" name="PlaceHolder 3"/>
          <p:cNvSpPr>
            <a:spLocks noGrp="1"/>
          </p:cNvSpPr>
          <p:nvPr>
            <p:ph type="sldNum" idx="7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6FE2354-ED73-459D-BC3D-9F3FC30FDD8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4" name="PlaceHolder 1"/>
          <p:cNvSpPr>
            <a:spLocks noGrp="1"/>
          </p:cNvSpPr>
          <p:nvPr>
            <p:ph type="sldImg"/>
          </p:nvPr>
        </p:nvSpPr>
        <p:spPr>
          <a:xfrm>
            <a:off x="1143000" y="685800"/>
            <a:ext cx="4571640" cy="3428640"/>
          </a:xfrm>
          <a:prstGeom prst="rect">
            <a:avLst/>
          </a:prstGeom>
          <a:ln w="0">
            <a:noFill/>
          </a:ln>
        </p:spPr>
      </p:sp>
      <p:sp>
        <p:nvSpPr>
          <p:cNvPr id="77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Credential Attacks. Default creds and leaked connection strings — two old, durable bugs.  Redis: no password by default for years.  Elastic: no auth in the free tier — also for years.  Connection strings (postgres://user:pass@host) committed to Git.  Pre-commit secret scanning — fix this week.</a:t>
            </a:r>
            <a:endParaRPr lang="en-US" sz="2000" b="0" u="none" strike="noStrike">
              <a:solidFill>
                <a:srgbClr val="000000"/>
              </a:solidFill>
              <a:effectLst/>
              <a:uFillTx/>
              <a:latin typeface="Arial"/>
            </a:endParaRPr>
          </a:p>
        </p:txBody>
      </p:sp>
      <p:sp>
        <p:nvSpPr>
          <p:cNvPr id="776" name="PlaceHolder 3"/>
          <p:cNvSpPr>
            <a:spLocks noGrp="1"/>
          </p:cNvSpPr>
          <p:nvPr>
            <p:ph type="sldNum" idx="7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B317AD9-5830-4F78-839E-A4E2738C77F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7" name="PlaceHolder 1"/>
          <p:cNvSpPr>
            <a:spLocks noGrp="1"/>
          </p:cNvSpPr>
          <p:nvPr>
            <p:ph type="sldImg"/>
          </p:nvPr>
        </p:nvSpPr>
        <p:spPr>
          <a:xfrm>
            <a:off x="1143000" y="685800"/>
            <a:ext cx="4571640" cy="3428640"/>
          </a:xfrm>
          <a:prstGeom prst="rect">
            <a:avLst/>
          </a:prstGeom>
          <a:ln w="0">
            <a:noFill/>
          </a:ln>
        </p:spPr>
      </p:sp>
      <p:sp>
        <p:nvSpPr>
          <p:cNvPr id="77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Supply Chain — The DB Libraries You Trust. Your DB driver came from npm/PyPI/Maven. So did everyone else's.  Malicious npm packages posing as ORMs / drivers.  Trojanized Docker Hub images for popular databases.  Compromised PostgreSQL extensions / MySQL plugins.  Extensions run with DB privileges — usually a lot.</a:t>
            </a:r>
            <a:endParaRPr lang="en-US" sz="2000" b="0" u="none" strike="noStrike">
              <a:solidFill>
                <a:srgbClr val="000000"/>
              </a:solidFill>
              <a:effectLst/>
              <a:uFillTx/>
              <a:latin typeface="Arial"/>
            </a:endParaRPr>
          </a:p>
        </p:txBody>
      </p:sp>
      <p:sp>
        <p:nvSpPr>
          <p:cNvPr id="779" name="PlaceHolder 3"/>
          <p:cNvSpPr>
            <a:spLocks noGrp="1"/>
          </p:cNvSpPr>
          <p:nvPr>
            <p:ph type="sldNum" idx="7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4FD9980-AF43-4E65-B484-98B1E2AD727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0" name="PlaceHolder 1"/>
          <p:cNvSpPr>
            <a:spLocks noGrp="1"/>
          </p:cNvSpPr>
          <p:nvPr>
            <p:ph type="sldImg"/>
          </p:nvPr>
        </p:nvSpPr>
        <p:spPr>
          <a:xfrm>
            <a:off x="1143000" y="685800"/>
            <a:ext cx="4571640" cy="3428640"/>
          </a:xfrm>
          <a:prstGeom prst="rect">
            <a:avLst/>
          </a:prstGeom>
          <a:ln w="0">
            <a:noFill/>
          </a:ln>
        </p:spPr>
      </p:sp>
      <p:sp>
        <p:nvSpPr>
          <p:cNvPr id="78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RAG / LLM Data Poisoning. Stored XSS for the AI era. Write into the knowledge base → LLM quotes it.  Poisoned support article: 'To reset, send your password to...'  Poisoned internal doc: 'Company policy is to wire transfer to...'  Prompt injection embedded in retrieved documents.  Defense: strict write ACLs, provenance tags, human-in-the-loop.</a:t>
            </a:r>
            <a:endParaRPr lang="en-US" sz="2000" b="0" u="none" strike="noStrike">
              <a:solidFill>
                <a:srgbClr val="000000"/>
              </a:solidFill>
              <a:effectLst/>
              <a:uFillTx/>
              <a:latin typeface="Arial"/>
            </a:endParaRPr>
          </a:p>
        </p:txBody>
      </p:sp>
      <p:sp>
        <p:nvSpPr>
          <p:cNvPr id="782" name="PlaceHolder 3"/>
          <p:cNvSpPr>
            <a:spLocks noGrp="1"/>
          </p:cNvSpPr>
          <p:nvPr>
            <p:ph type="sldNum" idx="7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413E76A-4F00-4D84-A61A-5BDDF63D751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3" name="PlaceHolder 1"/>
          <p:cNvSpPr>
            <a:spLocks noGrp="1"/>
          </p:cNvSpPr>
          <p:nvPr>
            <p:ph type="sldImg"/>
          </p:nvPr>
        </p:nvSpPr>
        <p:spPr>
          <a:xfrm>
            <a:off x="1143000" y="685800"/>
            <a:ext cx="4571640" cy="3428640"/>
          </a:xfrm>
          <a:prstGeom prst="rect">
            <a:avLst/>
          </a:prstGeom>
          <a:ln w="0">
            <a:noFill/>
          </a:ln>
        </p:spPr>
      </p:sp>
      <p:sp>
        <p:nvSpPr>
          <p:cNvPr id="78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Insider Threats &amp; DB-to-DB Lateral Movement. Databases aren't endpoints. They're nodes in a graph.  Over-permissioned service accounts. Engineers with prod read.  DBAs with no audit trail.  Oracle DB_LINK, SQL Server linked servers, Postgres FDW.  Stored credentials → compromise A, hop to B, hop to C.</a:t>
            </a:r>
            <a:endParaRPr lang="en-US" sz="2000" b="0" u="none" strike="noStrike">
              <a:solidFill>
                <a:srgbClr val="000000"/>
              </a:solidFill>
              <a:effectLst/>
              <a:uFillTx/>
              <a:latin typeface="Arial"/>
            </a:endParaRPr>
          </a:p>
        </p:txBody>
      </p:sp>
      <p:sp>
        <p:nvSpPr>
          <p:cNvPr id="785" name="PlaceHolder 3"/>
          <p:cNvSpPr>
            <a:spLocks noGrp="1"/>
          </p:cNvSpPr>
          <p:nvPr>
            <p:ph type="sldNum" idx="7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D5ACF6D-C176-4605-9956-196272BAC8D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6" name="PlaceHolder 1"/>
          <p:cNvSpPr>
            <a:spLocks noGrp="1"/>
          </p:cNvSpPr>
          <p:nvPr>
            <p:ph type="sldImg"/>
          </p:nvPr>
        </p:nvSpPr>
        <p:spPr>
          <a:xfrm>
            <a:off x="1143000" y="685800"/>
            <a:ext cx="4571640" cy="3428640"/>
          </a:xfrm>
          <a:prstGeom prst="rect">
            <a:avLst/>
          </a:prstGeom>
          <a:ln w="0">
            <a:noFill/>
          </a:ln>
        </p:spPr>
      </p:sp>
      <p:sp>
        <p:nvSpPr>
          <p:cNvPr id="78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Backup &amp; Snapshot Exposure. Same data as prod, half the love.  Unencrypted DB backups on shares readable by Domain Users.  Cloud snapshots shared cross-account, never un-shared.  Off-site backups to vendors whose posture you never checked.  Backups are last resort. Apply identify-authN-authZ-audit.</a:t>
            </a:r>
            <a:endParaRPr lang="en-US" sz="2000" b="0" u="none" strike="noStrike">
              <a:solidFill>
                <a:srgbClr val="000000"/>
              </a:solidFill>
              <a:effectLst/>
              <a:uFillTx/>
              <a:latin typeface="Arial"/>
            </a:endParaRPr>
          </a:p>
        </p:txBody>
      </p:sp>
      <p:sp>
        <p:nvSpPr>
          <p:cNvPr id="788" name="PlaceHolder 3"/>
          <p:cNvSpPr>
            <a:spLocks noGrp="1"/>
          </p:cNvSpPr>
          <p:nvPr>
            <p:ph type="sldNum" idx="7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2D936D3-ADB3-4A6A-AB7C-E4D68629B4A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9" name="PlaceHolder 1"/>
          <p:cNvSpPr>
            <a:spLocks noGrp="1"/>
          </p:cNvSpPr>
          <p:nvPr>
            <p:ph type="sldImg"/>
          </p:nvPr>
        </p:nvSpPr>
        <p:spPr>
          <a:xfrm>
            <a:off x="1143000" y="685800"/>
            <a:ext cx="4571640" cy="3428640"/>
          </a:xfrm>
          <a:prstGeom prst="rect">
            <a:avLst/>
          </a:prstGeom>
          <a:ln w="0">
            <a:noFill/>
          </a:ln>
        </p:spPr>
      </p:sp>
      <p:sp>
        <p:nvSpPr>
          <p:cNvPr id="79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Recap. Database is storage + questions. Ten families. Cloud is shared responsibility. Markdown is a database for LLMs. SQLi got fixed but the surface expanded.</a:t>
            </a:r>
            <a:endParaRPr lang="en-US" sz="2000" b="0" u="none" strike="noStrike">
              <a:solidFill>
                <a:srgbClr val="000000"/>
              </a:solidFill>
              <a:effectLst/>
              <a:uFillTx/>
              <a:latin typeface="Arial"/>
            </a:endParaRPr>
          </a:p>
        </p:txBody>
      </p:sp>
      <p:sp>
        <p:nvSpPr>
          <p:cNvPr id="791" name="PlaceHolder 3"/>
          <p:cNvSpPr>
            <a:spLocks noGrp="1"/>
          </p:cNvSpPr>
          <p:nvPr>
            <p:ph type="sldNum" idx="7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EB4DE6A-D90B-4591-B0D1-ADF241B22F0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2" name="PlaceHolder 1"/>
          <p:cNvSpPr>
            <a:spLocks noGrp="1"/>
          </p:cNvSpPr>
          <p:nvPr>
            <p:ph type="sldImg"/>
          </p:nvPr>
        </p:nvSpPr>
        <p:spPr>
          <a:xfrm>
            <a:off x="1143000" y="685800"/>
            <a:ext cx="4571640" cy="3428640"/>
          </a:xfrm>
          <a:prstGeom prst="rect">
            <a:avLst/>
          </a:prstGeom>
          <a:ln w="0">
            <a:noFill/>
          </a:ln>
        </p:spPr>
      </p:sp>
      <p:sp>
        <p:nvSpPr>
          <p:cNvPr id="79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Five concrete next-week actions. Install Postgres. PortSwigger labs. Browse Shodan legally. Read a breach report. List your org's DBs.</a:t>
            </a:r>
            <a:endParaRPr lang="en-US" sz="2000" b="0" u="none" strike="noStrike">
              <a:solidFill>
                <a:srgbClr val="000000"/>
              </a:solidFill>
              <a:effectLst/>
              <a:uFillTx/>
              <a:latin typeface="Arial"/>
            </a:endParaRPr>
          </a:p>
        </p:txBody>
      </p:sp>
      <p:sp>
        <p:nvSpPr>
          <p:cNvPr id="794" name="PlaceHolder 3"/>
          <p:cNvSpPr>
            <a:spLocks noGrp="1"/>
          </p:cNvSpPr>
          <p:nvPr>
            <p:ph type="sldNum" idx="7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A7A93D3-EDA2-4325-92C2-C804C842FBB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5" name="PlaceHolder 1"/>
          <p:cNvSpPr>
            <a:spLocks noGrp="1"/>
          </p:cNvSpPr>
          <p:nvPr>
            <p:ph type="sldImg"/>
          </p:nvPr>
        </p:nvSpPr>
        <p:spPr>
          <a:xfrm>
            <a:off x="1143000" y="685800"/>
            <a:ext cx="4571640" cy="3428640"/>
          </a:xfrm>
          <a:prstGeom prst="rect">
            <a:avLst/>
          </a:prstGeom>
          <a:ln w="0">
            <a:noFill/>
          </a:ln>
        </p:spPr>
      </p:sp>
      <p:sp>
        <p:nvSpPr>
          <p:cNvPr id="79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PortSwigger for SQLi labs. SQLBolt for learning SQL. Use The Index, Luke for deep DB internals. DB-Engines for popularity rankings. OWASP Top 10 for the canonical web vuln list.</a:t>
            </a:r>
            <a:endParaRPr lang="en-US" sz="2000" b="0" u="none" strike="noStrike">
              <a:solidFill>
                <a:srgbClr val="000000"/>
              </a:solidFill>
              <a:effectLst/>
              <a:uFillTx/>
              <a:latin typeface="Arial"/>
            </a:endParaRPr>
          </a:p>
        </p:txBody>
      </p:sp>
      <p:sp>
        <p:nvSpPr>
          <p:cNvPr id="797" name="PlaceHolder 3"/>
          <p:cNvSpPr>
            <a:spLocks noGrp="1"/>
          </p:cNvSpPr>
          <p:nvPr>
            <p:ph type="sldNum" idx="7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00B38DE-DF95-42F1-98E6-6B22CD48F3F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8" name="PlaceHolder 1"/>
          <p:cNvSpPr>
            <a:spLocks noGrp="1"/>
          </p:cNvSpPr>
          <p:nvPr>
            <p:ph type="sldImg"/>
          </p:nvPr>
        </p:nvSpPr>
        <p:spPr>
          <a:xfrm>
            <a:off x="1143000" y="685800"/>
            <a:ext cx="4571640" cy="3428640"/>
          </a:xfrm>
          <a:prstGeom prst="rect">
            <a:avLst/>
          </a:prstGeom>
          <a:ln w="0">
            <a:noFill/>
          </a:ln>
        </p:spPr>
      </p:sp>
      <p:sp>
        <p:nvSpPr>
          <p:cNvPr id="79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Closing. Willie Sutton said he robbed banks because that's where the money was. In 2026, the money is in databases.</a:t>
            </a:r>
            <a:endParaRPr lang="en-US" sz="2000" b="0" u="none" strike="noStrike">
              <a:solidFill>
                <a:srgbClr val="000000"/>
              </a:solidFill>
              <a:effectLst/>
              <a:uFillTx/>
              <a:latin typeface="Arial"/>
            </a:endParaRPr>
          </a:p>
        </p:txBody>
      </p:sp>
      <p:sp>
        <p:nvSpPr>
          <p:cNvPr id="800" name="PlaceHolder 3"/>
          <p:cNvSpPr>
            <a:spLocks noGrp="1"/>
          </p:cNvSpPr>
          <p:nvPr>
            <p:ph type="sldNum" idx="7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3537C0A-B6AD-43BC-9712-4F7C5B98A24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1" name="PlaceHolder 1"/>
          <p:cNvSpPr>
            <a:spLocks noGrp="1"/>
          </p:cNvSpPr>
          <p:nvPr>
            <p:ph type="sldImg"/>
          </p:nvPr>
        </p:nvSpPr>
        <p:spPr>
          <a:xfrm>
            <a:off x="1143000" y="685800"/>
            <a:ext cx="4571640" cy="3428640"/>
          </a:xfrm>
          <a:prstGeom prst="rect">
            <a:avLst/>
          </a:prstGeom>
          <a:ln w="0">
            <a:noFill/>
          </a:ln>
        </p:spPr>
      </p:sp>
      <p:sp>
        <p:nvSpPr>
          <p:cNvPr id="80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All books cited throughout the talk. Worth picking any of these up — they're the durable references.</a:t>
            </a:r>
            <a:endParaRPr lang="en-US" sz="2000" b="0" u="none" strike="noStrike">
              <a:solidFill>
                <a:srgbClr val="000000"/>
              </a:solidFill>
              <a:effectLst/>
              <a:uFillTx/>
              <a:latin typeface="Arial"/>
            </a:endParaRPr>
          </a:p>
        </p:txBody>
      </p:sp>
      <p:sp>
        <p:nvSpPr>
          <p:cNvPr id="803" name="PlaceHolder 3"/>
          <p:cNvSpPr>
            <a:spLocks noGrp="1"/>
          </p:cNvSpPr>
          <p:nvPr>
            <p:ph type="sldNum" idx="8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7F3B69F-F765-4B16-A63E-7C87CA6FB7C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4" name="PlaceHolder 1"/>
          <p:cNvSpPr>
            <a:spLocks noGrp="1"/>
          </p:cNvSpPr>
          <p:nvPr>
            <p:ph type="sldImg"/>
          </p:nvPr>
        </p:nvSpPr>
        <p:spPr>
          <a:xfrm>
            <a:off x="1143000" y="685800"/>
            <a:ext cx="4571640" cy="3428640"/>
          </a:xfrm>
          <a:prstGeom prst="rect">
            <a:avLst/>
          </a:prstGeom>
          <a:ln w="0">
            <a:noFill/>
          </a:ln>
        </p:spPr>
      </p:sp>
      <p:sp>
        <p:nvSpPr>
          <p:cNvPr id="80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Open the floor for five minutes of questions.</a:t>
            </a:r>
            <a:endParaRPr lang="en-US" sz="2000" b="0" u="none" strike="noStrike">
              <a:solidFill>
                <a:srgbClr val="000000"/>
              </a:solidFill>
              <a:effectLst/>
              <a:uFillTx/>
              <a:latin typeface="Arial"/>
            </a:endParaRPr>
          </a:p>
        </p:txBody>
      </p:sp>
      <p:sp>
        <p:nvSpPr>
          <p:cNvPr id="806" name="PlaceHolder 3"/>
          <p:cNvSpPr>
            <a:spLocks noGrp="1"/>
          </p:cNvSpPr>
          <p:nvPr>
            <p:ph type="sldNum" idx="8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A9EFEC3-B900-46E9-BB49-EC29641DEE9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E457F1F4-BBD6-452C-8ADB-1AA8D707A4E0}"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53152F58-772C-4B56-A91A-FF0DF293E665}"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tIns="45720" rIns="91440" bIns="45720" anchor="ctr" vert="eaVert">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A1D5D44B-8F25-4232-A3AB-6DD794CB7982}"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EA8692A-667E-4307-A8C8-4CB3F9B3B8D1}"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037269C-A5F5-4C3C-96D3-E136C7AF3F1A}"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684BFB3-9243-47D8-80C6-1ABFDC64E4AE}"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73C5852-CA9B-46D5-8837-AFC5D07FDE1B}"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B48851FB-3E8F-4394-B220-DA477E3E93D5}"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DB7C714-D336-47DC-880C-4337074E09A6}"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48" name="PlaceHolder 5"/>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4F94C652-D21B-4E2A-8F57-28FEC59E44BC}"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4572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4572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algn="l" defTabSz="4572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algn="l" defTabSz="4572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algn="l" defTabSz="4572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algn="l" defTabSz="4572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9E337B5A-8161-474B-983B-CB7F5964406C}"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slideLayout" Target="../slideLayouts/slideLayout9.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67" name="TextBox 1" descr="Title slide: Databases for Hackers — A Ronin 48 stand-up talk." title="Title slide: Databases for Hackers — A Ronin 48 stand-up talk."/>
          <p:cNvSpPr/>
          <p:nvPr/>
        </p:nvSpPr>
        <p:spPr>
          <a:xfrm>
            <a:off x="457200" y="2103120"/>
            <a:ext cx="11246760" cy="13712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8400" b="1" u="none" strike="noStrike">
                <a:solidFill>
                  <a:srgbClr val="00FF41"/>
                </a:solidFill>
                <a:effectLst/>
                <a:uFillTx/>
                <a:latin typeface="Calibri"/>
              </a:rPr>
              <a:t>БАЗЫ ДАННЫХ</a:t>
            </a:r>
            <a:endParaRPr lang="en-US" sz="8400" b="0" u="none" strike="noStrike">
              <a:solidFill>
                <a:srgbClr val="FFFFFF"/>
              </a:solidFill>
              <a:effectLst/>
              <a:uFillTx/>
              <a:latin typeface="Arial"/>
            </a:endParaRPr>
          </a:p>
        </p:txBody>
      </p:sp>
      <p:sp>
        <p:nvSpPr>
          <p:cNvPr id="68" name="TextBox 2"/>
          <p:cNvSpPr/>
          <p:nvPr/>
        </p:nvSpPr>
        <p:spPr>
          <a:xfrm>
            <a:off x="457200" y="3108960"/>
            <a:ext cx="11246760" cy="10047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6000" b="1" u="none" strike="noStrike">
                <a:solidFill>
                  <a:srgbClr val="FFFFFF"/>
                </a:solidFill>
                <a:effectLst/>
                <a:uFillTx/>
                <a:latin typeface="Calibri"/>
              </a:rPr>
              <a:t>для хакеров</a:t>
            </a:r>
            <a:endParaRPr lang="en-US" sz="6000" b="0" u="none" strike="noStrike">
              <a:solidFill>
                <a:srgbClr val="FFFFFF"/>
              </a:solidFill>
              <a:effectLst/>
              <a:uFillTx/>
              <a:latin typeface="Arial"/>
            </a:endParaRPr>
          </a:p>
        </p:txBody>
      </p:sp>
      <p:sp>
        <p:nvSpPr>
          <p:cNvPr id="69" name="Rectangle 3"/>
          <p:cNvSpPr/>
          <p:nvPr/>
        </p:nvSpPr>
        <p:spPr>
          <a:xfrm>
            <a:off x="5181840" y="4297680"/>
            <a:ext cx="1828440" cy="7272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p>
            <a:endParaRPr lang="en-US" sz="1800" b="0" u="none" strike="noStrike">
              <a:solidFill>
                <a:schemeClr val="lt1"/>
              </a:solidFill>
              <a:effectLst/>
              <a:uFillTx/>
              <a:latin typeface="Calibri"/>
            </a:endParaRPr>
          </a:p>
        </p:txBody>
      </p:sp>
      <p:sp>
        <p:nvSpPr>
          <p:cNvPr id="70" name="TextBox 4"/>
          <p:cNvSpPr/>
          <p:nvPr/>
        </p:nvSpPr>
        <p:spPr>
          <a:xfrm>
            <a:off x="457200" y="4480560"/>
            <a:ext cx="11246760" cy="5774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200" b="0" u="none" strike="noStrike">
                <a:solidFill>
                  <a:srgbClr val="00D4FF"/>
                </a:solidFill>
                <a:effectLst/>
                <a:uFillTx/>
                <a:latin typeface="Calibri"/>
              </a:rPr>
              <a:t>Независимый доклад от CryptoJones</a:t>
            </a:r>
            <a:endParaRPr lang="en-US" sz="3200" b="0" u="none" strike="noStrike">
              <a:solidFill>
                <a:srgbClr val="FFFFFF"/>
              </a:solidFill>
              <a:effectLst/>
              <a:uFillTx/>
              <a:latin typeface="Arial"/>
            </a:endParaRPr>
          </a:p>
        </p:txBody>
      </p:sp>
      <p:sp>
        <p:nvSpPr>
          <p:cNvPr id="71" name="TextBox 5"/>
          <p:cNvSpPr/>
          <p:nvPr/>
        </p:nvSpPr>
        <p:spPr>
          <a:xfrm>
            <a:off x="457200" y="5120640"/>
            <a:ext cx="11246760" cy="5166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400" b="0" u="none" strike="noStrike">
                <a:solidFill>
                  <a:srgbClr val="CCCCD6"/>
                </a:solidFill>
                <a:effectLst/>
                <a:uFillTx/>
                <a:latin typeface="Calibri"/>
                <a:ea typeface="Arial Unicode MS"/>
              </a:rPr>
              <a:t>45 минут</a:t>
            </a:r>
            <a:r>
              <a:rPr lang="en-US" sz="2800" b="1" u="none" strike="noStrike">
                <a:solidFill>
                  <a:srgbClr val="00FF41"/>
                </a:solidFill>
                <a:effectLst/>
                <a:uFillTx/>
                <a:latin typeface="Calibri"/>
                <a:ea typeface="Arial Unicode MS"/>
              </a:rPr>
              <a:t>*</a:t>
            </a:r>
            <a:r>
              <a:rPr lang="en-US" sz="2400" b="0" u="none" strike="noStrike">
                <a:solidFill>
                  <a:srgbClr val="CCCCD6"/>
                </a:solidFill>
                <a:effectLst/>
                <a:uFillTx/>
                <a:latin typeface="Calibri"/>
              </a:rPr>
              <a:t>  •  Диплом не требуется</a:t>
            </a:r>
            <a:endParaRPr lang="en-US" sz="2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72" name="TextBox 1"/>
          <p:cNvSpPr/>
          <p:nvPr/>
        </p:nvSpPr>
        <p:spPr>
          <a:xfrm>
            <a:off x="-1143000" y="2057400"/>
            <a:ext cx="9445320" cy="13712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5400" b="1" u="none" strike="noStrike">
                <a:solidFill>
                  <a:srgbClr val="00FF41"/>
                </a:solidFill>
                <a:effectLst/>
                <a:uFillTx/>
                <a:latin typeface="Calibri"/>
              </a:rPr>
              <a:t>Aaron K. Clark</a:t>
            </a:r>
            <a:endParaRPr lang="en-US" sz="5400" b="0" u="none" strike="noStrike">
              <a:solidFill>
                <a:srgbClr val="FFFFFF"/>
              </a:solidFill>
              <a:effectLst/>
              <a:uFillTx/>
              <a:latin typeface="Arial"/>
            </a:endParaRPr>
          </a:p>
        </p:txBody>
      </p:sp>
      <p:sp>
        <p:nvSpPr>
          <p:cNvPr id="73" name="TextBox 2"/>
          <p:cNvSpPr/>
          <p:nvPr/>
        </p:nvSpPr>
        <p:spPr>
          <a:xfrm>
            <a:off x="-758520" y="3018600"/>
            <a:ext cx="9445320" cy="6390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600" b="0" u="none" strike="noStrike">
                <a:solidFill>
                  <a:srgbClr val="FFFFFF"/>
                </a:solidFill>
                <a:effectLst/>
                <a:uFillTx/>
                <a:latin typeface="Calibri"/>
              </a:rPr>
              <a:t>Аспирант, Eastern University*</a:t>
            </a:r>
            <a:endParaRPr lang="en-US" sz="3600" b="0" u="none" strike="noStrike">
              <a:solidFill>
                <a:srgbClr val="FFFFFF"/>
              </a:solidFill>
              <a:effectLst/>
              <a:uFillTx/>
              <a:latin typeface="Arial"/>
            </a:endParaRPr>
          </a:p>
        </p:txBody>
      </p:sp>
      <p:pic>
        <p:nvPicPr>
          <p:cNvPr id="74" name=""/>
          <p:cNvPicPr/>
          <p:nvPr/>
        </p:nvPicPr>
        <p:blipFill>
          <a:blip r:embed="rId1"/>
          <a:stretch/>
        </p:blipFill>
        <p:spPr>
          <a:xfrm>
            <a:off x="228600" y="6172200"/>
            <a:ext cx="457200" cy="457200"/>
          </a:xfrm>
          <a:prstGeom prst="rect">
            <a:avLst/>
          </a:prstGeom>
          <a:noFill/>
          <a:ln w="0">
            <a:noFill/>
          </a:ln>
        </p:spPr>
      </p:pic>
      <p:pic>
        <p:nvPicPr>
          <p:cNvPr id="75" name=""/>
          <p:cNvPicPr/>
          <p:nvPr/>
        </p:nvPicPr>
        <p:blipFill>
          <a:blip r:embed="rId2"/>
          <a:stretch/>
        </p:blipFill>
        <p:spPr>
          <a:xfrm>
            <a:off x="228600" y="228600"/>
            <a:ext cx="1371600" cy="1371600"/>
          </a:xfrm>
          <a:prstGeom prst="rect">
            <a:avLst/>
          </a:prstGeom>
          <a:noFill/>
          <a:ln w="0">
            <a:noFill/>
          </a:ln>
        </p:spPr>
      </p:pic>
      <p:pic>
        <p:nvPicPr>
          <p:cNvPr id="76" name=""/>
          <p:cNvPicPr/>
          <p:nvPr/>
        </p:nvPicPr>
        <p:blipFill>
          <a:blip r:embed="rId3"/>
          <a:stretch/>
        </p:blipFill>
        <p:spPr>
          <a:xfrm>
            <a:off x="9372600" y="228600"/>
            <a:ext cx="2514600" cy="914400"/>
          </a:xfrm>
          <a:prstGeom prst="rect">
            <a:avLst/>
          </a:prstGeom>
          <a:noFill/>
          <a:ln w="0">
            <a:noFill/>
          </a:ln>
        </p:spPr>
      </p:pic>
      <p:sp>
        <p:nvSpPr>
          <p:cNvPr id="77" name=""/>
          <p:cNvSpPr txBox="1"/>
          <p:nvPr/>
        </p:nvSpPr>
        <p:spPr>
          <a:xfrm>
            <a:off x="768240" y="6208200"/>
            <a:ext cx="3346560" cy="411120"/>
          </a:xfrm>
          <a:prstGeom prst="rect">
            <a:avLst/>
          </a:prstGeom>
          <a:noFill/>
          <a:ln w="0">
            <a:noFill/>
          </a:ln>
        </p:spPr>
        <p:txBody>
          <a:bodyPr lIns="90000" tIns="45000" rIns="90000" bIns="45000" anchor="t">
            <a:spAutoFit/>
          </a:bodyPr>
          <a:p>
            <a:r>
              <a:rPr lang="en-US" sz="2400" b="0" u="none" strike="noStrike">
                <a:solidFill>
                  <a:srgbClr val="FFFFFF"/>
                </a:solidFill>
                <a:effectLst/>
                <a:uFillTx/>
                <a:latin typeface="Calibri"/>
              </a:rPr>
              <a:t>github.com/CryptoJones</a:t>
            </a:r>
            <a:endParaRPr lang="en-US" sz="2400" b="0" u="none" strike="noStrike">
              <a:solidFill>
                <a:srgbClr val="FFFFFF"/>
              </a:solidFill>
              <a:effectLst/>
              <a:uFillTx/>
              <a:latin typeface="Arial"/>
            </a:endParaRPr>
          </a:p>
        </p:txBody>
      </p:sp>
      <p:pic>
        <p:nvPicPr>
          <p:cNvPr id="78" name=""/>
          <p:cNvPicPr/>
          <p:nvPr/>
        </p:nvPicPr>
        <p:blipFill>
          <a:blip r:embed="rId4"/>
          <a:stretch/>
        </p:blipFill>
        <p:spPr>
          <a:xfrm>
            <a:off x="7086600" y="6172200"/>
            <a:ext cx="399960" cy="457200"/>
          </a:xfrm>
          <a:prstGeom prst="rect">
            <a:avLst/>
          </a:prstGeom>
          <a:noFill/>
          <a:ln w="0">
            <a:noFill/>
          </a:ln>
        </p:spPr>
      </p:pic>
      <p:sp>
        <p:nvSpPr>
          <p:cNvPr id="79" name=""/>
          <p:cNvSpPr txBox="1"/>
          <p:nvPr/>
        </p:nvSpPr>
        <p:spPr>
          <a:xfrm>
            <a:off x="7590240" y="6208200"/>
            <a:ext cx="4224960" cy="395280"/>
          </a:xfrm>
          <a:prstGeom prst="rect">
            <a:avLst/>
          </a:prstGeom>
          <a:noFill/>
          <a:ln w="0">
            <a:noFill/>
          </a:ln>
        </p:spPr>
        <p:txBody>
          <a:bodyPr lIns="90000" tIns="45000" rIns="90000" bIns="45000" anchor="t">
            <a:spAutoFit/>
          </a:bodyPr>
          <a:p>
            <a:r>
              <a:rPr lang="en-US" sz="2400" b="0" u="none" strike="noStrike">
                <a:solidFill>
                  <a:srgbClr val="FFFFFF"/>
                </a:solidFill>
                <a:effectLst/>
                <a:uFillTx/>
                <a:latin typeface="Calibri"/>
              </a:rPr>
              <a:t>CryptoJones@infosec.exchange</a:t>
            </a:r>
            <a:endParaRPr lang="en-US" sz="2400" b="0" u="none" strike="noStrike">
              <a:solidFill>
                <a:srgbClr val="FFFFFF"/>
              </a:solidFill>
              <a:effectLst/>
              <a:uFillTx/>
              <a:latin typeface="Arial"/>
            </a:endParaRPr>
          </a:p>
        </p:txBody>
      </p:sp>
      <p:sp>
        <p:nvSpPr>
          <p:cNvPr id="80" name="TextBox 45"/>
          <p:cNvSpPr/>
          <p:nvPr/>
        </p:nvSpPr>
        <p:spPr>
          <a:xfrm>
            <a:off x="-457200" y="3704400"/>
            <a:ext cx="8458200" cy="6390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600" b="1" u="none" strike="noStrike">
                <a:solidFill>
                  <a:srgbClr val="00FF41"/>
                </a:solidFill>
                <a:effectLst/>
                <a:uFillTx/>
                <a:latin typeface="Calibri"/>
              </a:rPr>
              <a:t>cryptojones@owasp.org</a:t>
            </a:r>
            <a:endParaRPr lang="en-US" sz="3600" b="0" u="none" strike="noStrike">
              <a:solidFill>
                <a:srgbClr val="FFFFFF"/>
              </a:solidFill>
              <a:effectLst/>
              <a:uFillTx/>
              <a:latin typeface="Arial"/>
            </a:endParaRPr>
          </a:p>
        </p:txBody>
      </p:sp>
      <p:pic>
        <p:nvPicPr>
          <p:cNvPr id="81" name=""/>
          <p:cNvPicPr/>
          <p:nvPr/>
        </p:nvPicPr>
        <p:blipFill>
          <a:blip r:embed="rId5"/>
          <a:stretch/>
        </p:blipFill>
        <p:spPr>
          <a:xfrm>
            <a:off x="8458200" y="2057400"/>
            <a:ext cx="3200400" cy="297180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82" name="TextBox 1" descr="Headline slide: Every breach you have ever read about ends at a database." title="Headline slide: Every breach you have ever read about ends at a database."/>
          <p:cNvSpPr/>
          <p:nvPr/>
        </p:nvSpPr>
        <p:spPr>
          <a:xfrm>
            <a:off x="457200" y="1828800"/>
            <a:ext cx="11246760" cy="18284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5600" b="1" u="none" strike="noStrike">
                <a:solidFill>
                  <a:srgbClr val="FFFFFF"/>
                </a:solidFill>
                <a:effectLst/>
                <a:uFillTx/>
                <a:latin typeface="Calibri"/>
              </a:rPr>
              <a:t>Каждая утечка, о которой вы</a:t>
            </a:r>
            <a:endParaRPr lang="en-US" sz="5600" b="0" u="none" strike="noStrike">
              <a:solidFill>
                <a:srgbClr val="FFFFFF"/>
              </a:solidFill>
              <a:effectLst/>
              <a:uFillTx/>
              <a:latin typeface="Arial"/>
            </a:endParaRPr>
          </a:p>
        </p:txBody>
      </p:sp>
      <p:sp>
        <p:nvSpPr>
          <p:cNvPr id="83" name="TextBox 2"/>
          <p:cNvSpPr/>
          <p:nvPr/>
        </p:nvSpPr>
        <p:spPr>
          <a:xfrm>
            <a:off x="457200" y="2834640"/>
            <a:ext cx="11246760" cy="18284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5600" b="1" u="none" strike="noStrike">
                <a:solidFill>
                  <a:srgbClr val="FFFFFF"/>
                </a:solidFill>
                <a:effectLst/>
                <a:uFillTx/>
                <a:latin typeface="Calibri"/>
              </a:rPr>
              <a:t>когда-либо читали, заканчивается в</a:t>
            </a:r>
            <a:endParaRPr lang="en-US" sz="5600" b="0" u="none" strike="noStrike">
              <a:solidFill>
                <a:srgbClr val="FFFFFF"/>
              </a:solidFill>
              <a:effectLst/>
              <a:uFillTx/>
              <a:latin typeface="Arial"/>
            </a:endParaRPr>
          </a:p>
        </p:txBody>
      </p:sp>
      <p:sp>
        <p:nvSpPr>
          <p:cNvPr id="84" name="TextBox 3"/>
          <p:cNvSpPr/>
          <p:nvPr/>
        </p:nvSpPr>
        <p:spPr>
          <a:xfrm>
            <a:off x="457200" y="3840480"/>
            <a:ext cx="11246760" cy="13705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8400" b="1" u="none" strike="noStrike">
                <a:solidFill>
                  <a:srgbClr val="00FF41"/>
                </a:solidFill>
                <a:effectLst/>
                <a:uFillTx/>
                <a:latin typeface="Calibri"/>
              </a:rPr>
              <a:t>БАЗЕ ДАННЫХ*</a:t>
            </a:r>
            <a:endParaRPr lang="en-US" sz="8400" b="0" u="none" strike="noStrike">
              <a:solidFill>
                <a:srgbClr val="FFFFFF"/>
              </a:solidFill>
              <a:effectLst/>
              <a:uFillTx/>
              <a:latin typeface="Arial"/>
            </a:endParaRPr>
          </a:p>
        </p:txBody>
      </p:sp>
      <p:sp>
        <p:nvSpPr>
          <p:cNvPr id="85" name="TextBox 4"/>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86" name="TextBox 5"/>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87" name="TextBox 1" descr="A stylized vault icon next to four bullets explaining that attackers target the data, not the surrounding application or infrastructure." title="A stylized vault icon next to four bullets explaining that attackers target the "/>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Главное сокровище</a:t>
            </a:r>
            <a:endParaRPr lang="en-US" sz="4200" b="0" u="none" strike="noStrike">
              <a:solidFill>
                <a:srgbClr val="FFFFFF"/>
              </a:solidFill>
              <a:effectLst/>
              <a:uFillTx/>
              <a:latin typeface="Arial"/>
            </a:endParaRPr>
          </a:p>
        </p:txBody>
      </p:sp>
      <p:sp>
        <p:nvSpPr>
          <p:cNvPr id="88"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89" name="Rounded Rectangle 3"/>
          <p:cNvSpPr/>
          <p:nvPr/>
        </p:nvSpPr>
        <p:spPr>
          <a:xfrm>
            <a:off x="1371600" y="1828800"/>
            <a:ext cx="4114440" cy="3840120"/>
          </a:xfrm>
          <a:prstGeom prst="roundRect">
            <a:avLst>
              <a:gd name="adj" fmla="val 16667"/>
            </a:avLst>
          </a:prstGeom>
          <a:solidFill>
            <a:srgbClr val="2A2A44"/>
          </a:solidFill>
          <a:ln w="38100">
            <a:solidFill>
              <a:srgbClr val="00FF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0" name="Oval 4"/>
          <p:cNvSpPr/>
          <p:nvPr/>
        </p:nvSpPr>
        <p:spPr>
          <a:xfrm>
            <a:off x="2971800" y="3291840"/>
            <a:ext cx="914040" cy="914040"/>
          </a:xfrm>
          <a:prstGeom prst="ellipse">
            <a:avLst/>
          </a:prstGeom>
          <a:solidFill>
            <a:srgbClr val="00FF41"/>
          </a:solidFill>
          <a:ln>
            <a:solidFill>
              <a:srgbClr val="FFFF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1" name="TextBox 5"/>
          <p:cNvSpPr/>
          <p:nvPr/>
        </p:nvSpPr>
        <p:spPr>
          <a:xfrm>
            <a:off x="1371600" y="5577840"/>
            <a:ext cx="4114440" cy="4568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400" b="1" u="none" strike="noStrike">
                <a:solidFill>
                  <a:srgbClr val="00FF41"/>
                </a:solidFill>
                <a:effectLst/>
                <a:uFillTx/>
                <a:latin typeface="Calibri"/>
              </a:rPr>
              <a:t>ХРАНИЛИЩЕ  ДАННЫХ</a:t>
            </a:r>
            <a:endParaRPr lang="en-US" sz="2400" b="0" u="none" strike="noStrike">
              <a:solidFill>
                <a:srgbClr val="FFFFFF"/>
              </a:solidFill>
              <a:effectLst/>
              <a:uFillTx/>
              <a:latin typeface="Arial"/>
            </a:endParaRPr>
          </a:p>
        </p:txBody>
      </p:sp>
      <p:sp>
        <p:nvSpPr>
          <p:cNvPr id="92" name="TextBox 6"/>
          <p:cNvSpPr/>
          <p:nvPr/>
        </p:nvSpPr>
        <p:spPr>
          <a:xfrm>
            <a:off x="5943600" y="2011680"/>
            <a:ext cx="5943240" cy="384012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3000" b="1" u="none" strike="noStrike">
                <a:solidFill>
                  <a:srgbClr val="00D4FF"/>
                </a:solidFill>
                <a:effectLst/>
                <a:uFillTx/>
                <a:latin typeface="Calibri"/>
              </a:rPr>
              <a:t>▶ </a:t>
            </a:r>
            <a:r>
              <a:rPr lang="en-US" sz="3000" b="0" u="none" strike="noStrike">
                <a:solidFill>
                  <a:srgbClr val="FFFFFF"/>
                </a:solidFill>
                <a:effectLst/>
                <a:uFillTx/>
                <a:latin typeface="Calibri"/>
              </a:rPr>
              <a:t>Не ваше одностраничное приложение.</a:t>
            </a:r>
            <a:endParaRPr lang="en-US" sz="3000" b="0" u="none" strike="noStrike">
              <a:solidFill>
                <a:srgbClr val="FFFFFF"/>
              </a:solidFill>
              <a:effectLst/>
              <a:uFillTx/>
              <a:latin typeface="Arial"/>
            </a:endParaRPr>
          </a:p>
          <a:p>
            <a:pPr defTabSz="457200">
              <a:lnSpc>
                <a:spcPct val="140000"/>
              </a:lnSpc>
            </a:pPr>
            <a:r>
              <a:rPr lang="en-US" sz="3000" b="1" u="none" strike="noStrike">
                <a:solidFill>
                  <a:srgbClr val="00D4FF"/>
                </a:solidFill>
                <a:effectLst/>
                <a:uFillTx/>
                <a:latin typeface="Calibri"/>
              </a:rPr>
              <a:t>▶ </a:t>
            </a:r>
            <a:r>
              <a:rPr lang="en-US" sz="3000" b="0" u="none" strike="noStrike">
                <a:solidFill>
                  <a:srgbClr val="FFFFFF"/>
                </a:solidFill>
                <a:effectLst/>
                <a:uFillTx/>
                <a:latin typeface="Calibri"/>
              </a:rPr>
              <a:t>Не ваш файрвол.</a:t>
            </a:r>
            <a:endParaRPr lang="en-US" sz="3000" b="0" u="none" strike="noStrike">
              <a:solidFill>
                <a:srgbClr val="FFFFFF"/>
              </a:solidFill>
              <a:effectLst/>
              <a:uFillTx/>
              <a:latin typeface="Arial"/>
            </a:endParaRPr>
          </a:p>
          <a:p>
            <a:pPr defTabSz="457200">
              <a:lnSpc>
                <a:spcPct val="140000"/>
              </a:lnSpc>
            </a:pPr>
            <a:r>
              <a:rPr lang="en-US" sz="3000" b="1" u="none" strike="noStrike">
                <a:solidFill>
                  <a:srgbClr val="00D4FF"/>
                </a:solidFill>
                <a:effectLst/>
                <a:uFillTx/>
                <a:latin typeface="Calibri"/>
              </a:rPr>
              <a:t>▶ </a:t>
            </a:r>
            <a:r>
              <a:rPr lang="en-US" sz="3000" b="0" u="none" strike="noStrike">
                <a:solidFill>
                  <a:srgbClr val="FFFFFF"/>
                </a:solidFill>
                <a:effectLst/>
                <a:uFillTx/>
                <a:latin typeface="Calibri"/>
              </a:rPr>
              <a:t>Не ваши микросервисы.</a:t>
            </a:r>
            <a:endParaRPr lang="en-US" sz="3000" b="0" u="none" strike="noStrike">
              <a:solidFill>
                <a:srgbClr val="FFFFFF"/>
              </a:solidFill>
              <a:effectLst/>
              <a:uFillTx/>
              <a:latin typeface="Arial"/>
            </a:endParaRPr>
          </a:p>
          <a:p>
            <a:pPr defTabSz="457200">
              <a:lnSpc>
                <a:spcPct val="140000"/>
              </a:lnSpc>
            </a:pPr>
            <a:r>
              <a:rPr lang="en-US" sz="3000" b="1" u="none" strike="noStrike">
                <a:solidFill>
                  <a:srgbClr val="00D4FF"/>
                </a:solidFill>
                <a:effectLst/>
                <a:uFillTx/>
                <a:latin typeface="Calibri"/>
              </a:rPr>
              <a:t>▶ </a:t>
            </a:r>
            <a:r>
              <a:rPr lang="en-US" sz="3000" b="0" u="none" strike="noStrike">
                <a:solidFill>
                  <a:srgbClr val="FFFFFF"/>
                </a:solidFill>
                <a:effectLst/>
                <a:uFillTx/>
                <a:latin typeface="Calibri"/>
              </a:rPr>
              <a:t>ДАННЫЕ. Всегда данные.</a:t>
            </a:r>
            <a:endParaRPr lang="en-US" sz="3000" b="0" u="none" strike="noStrike">
              <a:solidFill>
                <a:srgbClr val="FFFFFF"/>
              </a:solidFill>
              <a:effectLst/>
              <a:uFillTx/>
              <a:latin typeface="Arial"/>
            </a:endParaRPr>
          </a:p>
        </p:txBody>
      </p:sp>
      <p:sp>
        <p:nvSpPr>
          <p:cNvPr id="93"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94"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95" name="TextBox 1" descr="Definition slide: A database is organized storage plus a way to ask questions, illustrated with filing-cabinet and Excel analogies." title="Definition slide: A database is organized storage plus a way to ask questions, i"/>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Что такое база данных?</a:t>
            </a:r>
            <a:endParaRPr lang="en-US" sz="4200" b="0" u="none" strike="noStrike">
              <a:solidFill>
                <a:srgbClr val="FFFFFF"/>
              </a:solidFill>
              <a:effectLst/>
              <a:uFillTx/>
              <a:latin typeface="Arial"/>
            </a:endParaRPr>
          </a:p>
        </p:txBody>
      </p:sp>
      <p:sp>
        <p:nvSpPr>
          <p:cNvPr id="96"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97" name="TextBox 3"/>
          <p:cNvSpPr/>
          <p:nvPr/>
        </p:nvSpPr>
        <p:spPr>
          <a:xfrm>
            <a:off x="457200" y="2011680"/>
            <a:ext cx="11246760" cy="9140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000" b="1" u="none" strike="noStrike">
                <a:solidFill>
                  <a:srgbClr val="FFFFFF"/>
                </a:solidFill>
                <a:effectLst/>
                <a:uFillTx/>
                <a:latin typeface="Calibri"/>
              </a:rPr>
              <a:t>Организованное хранилище  +  способ задавать вопросы.</a:t>
            </a:r>
            <a:endParaRPr lang="en-US" sz="4000" b="0" u="none" strike="noStrike">
              <a:solidFill>
                <a:srgbClr val="FFFFFF"/>
              </a:solidFill>
              <a:effectLst/>
              <a:uFillTx/>
              <a:latin typeface="Arial"/>
            </a:endParaRPr>
          </a:p>
        </p:txBody>
      </p:sp>
      <p:sp>
        <p:nvSpPr>
          <p:cNvPr id="98" name="TextBox 4"/>
          <p:cNvSpPr/>
          <p:nvPr/>
        </p:nvSpPr>
        <p:spPr>
          <a:xfrm>
            <a:off x="457200" y="2926080"/>
            <a:ext cx="11246760" cy="54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600" b="0" u="none" strike="noStrike">
                <a:solidFill>
                  <a:srgbClr val="00D4FF"/>
                </a:solidFill>
                <a:effectLst/>
                <a:uFillTx/>
                <a:latin typeface="Calibri"/>
              </a:rPr>
              <a:t>Вот и всё. Остальное — детали.</a:t>
            </a:r>
            <a:endParaRPr lang="en-US" sz="2600" b="0" u="none" strike="noStrike">
              <a:solidFill>
                <a:srgbClr val="FFFFFF"/>
              </a:solidFill>
              <a:effectLst/>
              <a:uFillTx/>
              <a:latin typeface="Arial"/>
            </a:endParaRPr>
          </a:p>
        </p:txBody>
      </p:sp>
      <p:sp>
        <p:nvSpPr>
          <p:cNvPr id="99" name="TextBox 5"/>
          <p:cNvSpPr/>
          <p:nvPr/>
        </p:nvSpPr>
        <p:spPr>
          <a:xfrm>
            <a:off x="914400" y="3931920"/>
            <a:ext cx="10332360" cy="2285640"/>
          </a:xfrm>
          <a:prstGeom prst="rect">
            <a:avLst/>
          </a:prstGeom>
          <a:noFill/>
          <a:ln w="0">
            <a:noFill/>
          </a:ln>
        </p:spPr>
        <p:style>
          <a:lnRef idx="0"/>
          <a:fillRef idx="0"/>
          <a:effectRef idx="0"/>
          <a:fontRef idx="minor"/>
        </p:style>
        <p:txBody>
          <a:bodyPr lIns="90000" tIns="45000" rIns="90000" bIns="45000" anchor="t">
            <a:spAutoFit/>
          </a:bodyPr>
          <a:p>
            <a:pPr defTabSz="457200">
              <a:lnSpc>
                <a:spcPct val="150000"/>
              </a:lnSpc>
            </a:pPr>
            <a:r>
              <a:rPr lang="en-US" sz="2600" b="1" u="none" strike="noStrike">
                <a:solidFill>
                  <a:srgbClr val="00D4FF"/>
                </a:solidFill>
                <a:effectLst/>
                <a:uFillTx/>
                <a:latin typeface="Calibri"/>
              </a:rPr>
              <a:t>▶ </a:t>
            </a:r>
            <a:r>
              <a:rPr lang="en-US" sz="2600" b="0" u="none" strike="noStrike">
                <a:solidFill>
                  <a:srgbClr val="FFFFFF"/>
                </a:solidFill>
                <a:effectLst/>
                <a:uFillTx/>
                <a:latin typeface="Calibri"/>
              </a:rPr>
              <a:t>Картотека  =  хранилище  +  ваши глаза в роли запроса.</a:t>
            </a:r>
            <a:endParaRPr lang="en-US" sz="2600" b="0" u="none" strike="noStrike">
              <a:solidFill>
                <a:srgbClr val="FFFFFF"/>
              </a:solidFill>
              <a:effectLst/>
              <a:uFillTx/>
              <a:latin typeface="Arial"/>
            </a:endParaRPr>
          </a:p>
          <a:p>
            <a:pPr defTabSz="457200">
              <a:lnSpc>
                <a:spcPct val="150000"/>
              </a:lnSpc>
            </a:pPr>
            <a:r>
              <a:rPr lang="en-US" sz="2600" b="1" u="none" strike="noStrike">
                <a:solidFill>
                  <a:srgbClr val="00D4FF"/>
                </a:solidFill>
                <a:effectLst/>
                <a:uFillTx/>
                <a:latin typeface="Calibri"/>
              </a:rPr>
              <a:t>▶ </a:t>
            </a:r>
            <a:r>
              <a:rPr lang="en-US" sz="2600" b="0" u="none" strike="noStrike">
                <a:solidFill>
                  <a:srgbClr val="FFFFFF"/>
                </a:solidFill>
                <a:effectLst/>
                <a:uFillTx/>
                <a:latin typeface="Calibri"/>
              </a:rPr>
              <a:t>Excel + Ctrl-F  =  хранилище  +  поиск-и-замена в роли запроса.</a:t>
            </a:r>
            <a:endParaRPr lang="en-US" sz="2600" b="0" u="none" strike="noStrike">
              <a:solidFill>
                <a:srgbClr val="FFFFFF"/>
              </a:solidFill>
              <a:effectLst/>
              <a:uFillTx/>
              <a:latin typeface="Arial"/>
            </a:endParaRPr>
          </a:p>
          <a:p>
            <a:pPr defTabSz="457200">
              <a:lnSpc>
                <a:spcPct val="150000"/>
              </a:lnSpc>
            </a:pPr>
            <a:r>
              <a:rPr lang="en-US" sz="2600" b="1" u="none" strike="noStrike">
                <a:solidFill>
                  <a:srgbClr val="00D4FF"/>
                </a:solidFill>
                <a:effectLst/>
                <a:uFillTx/>
                <a:latin typeface="Calibri"/>
              </a:rPr>
              <a:t>▶ </a:t>
            </a:r>
            <a:r>
              <a:rPr lang="en-US" sz="2600" b="0" u="none" strike="noStrike">
                <a:solidFill>
                  <a:srgbClr val="FFFFFF"/>
                </a:solidFill>
                <a:effectLst/>
                <a:uFillTx/>
                <a:latin typeface="Calibri"/>
              </a:rPr>
              <a:t>Настоящая БД добавляет:  масштаб, скорость, параллелизм, формальный язык.</a:t>
            </a:r>
            <a:endParaRPr lang="en-US" sz="2600" b="0" u="none" strike="noStrike">
              <a:solidFill>
                <a:srgbClr val="FFFFFF"/>
              </a:solidFill>
              <a:effectLst/>
              <a:uFillTx/>
              <a:latin typeface="Arial"/>
            </a:endParaRPr>
          </a:p>
        </p:txBody>
      </p:sp>
      <p:sp>
        <p:nvSpPr>
          <p:cNvPr id="100" name="TextBox 6"/>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101" name="TextBox 7"/>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4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02" name="TextBox 1" descr="Vocabulary slide listing six core database terms: table, row, column, query, schema, index — plus the CRUD verbs." title="Vocabulary slide listing six core database terms: table, row, column, query, sch"/>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Шесть слов, которые вам нужны</a:t>
            </a:r>
            <a:endParaRPr lang="en-US" sz="4200" b="0" u="none" strike="noStrike">
              <a:solidFill>
                <a:srgbClr val="FFFFFF"/>
              </a:solidFill>
              <a:effectLst/>
              <a:uFillTx/>
              <a:latin typeface="Arial"/>
            </a:endParaRPr>
          </a:p>
        </p:txBody>
      </p:sp>
      <p:sp>
        <p:nvSpPr>
          <p:cNvPr id="103"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04" name="TextBox 3"/>
          <p:cNvSpPr/>
          <p:nvPr/>
        </p:nvSpPr>
        <p:spPr>
          <a:xfrm>
            <a:off x="731520" y="1691640"/>
            <a:ext cx="32000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00FF41"/>
                </a:solidFill>
                <a:effectLst/>
                <a:uFillTx/>
                <a:latin typeface="Calibri"/>
              </a:rPr>
              <a:t>ТАБЛИЦА</a:t>
            </a:r>
            <a:endParaRPr lang="en-US" sz="3200" b="0" u="none" strike="noStrike">
              <a:solidFill>
                <a:srgbClr val="FFFFFF"/>
              </a:solidFill>
              <a:effectLst/>
              <a:uFillTx/>
              <a:latin typeface="Arial"/>
            </a:endParaRPr>
          </a:p>
        </p:txBody>
      </p:sp>
      <p:sp>
        <p:nvSpPr>
          <p:cNvPr id="105" name="TextBox 4"/>
          <p:cNvSpPr/>
          <p:nvPr/>
        </p:nvSpPr>
        <p:spPr>
          <a:xfrm>
            <a:off x="3931920" y="1691640"/>
            <a:ext cx="45684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106" name="TextBox 5"/>
          <p:cNvSpPr/>
          <p:nvPr/>
        </p:nvSpPr>
        <p:spPr>
          <a:xfrm>
            <a:off x="4480560" y="1691640"/>
            <a:ext cx="7314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FFFFFF"/>
                </a:solidFill>
                <a:effectLst/>
                <a:uFillTx/>
                <a:latin typeface="Calibri"/>
              </a:rPr>
              <a:t>вкладка электронной таблицы</a:t>
            </a:r>
            <a:endParaRPr lang="en-US" sz="2800" b="0" u="none" strike="noStrike">
              <a:solidFill>
                <a:srgbClr val="FFFFFF"/>
              </a:solidFill>
              <a:effectLst/>
              <a:uFillTx/>
              <a:latin typeface="Arial"/>
            </a:endParaRPr>
          </a:p>
        </p:txBody>
      </p:sp>
      <p:sp>
        <p:nvSpPr>
          <p:cNvPr id="107" name="TextBox 6"/>
          <p:cNvSpPr/>
          <p:nvPr/>
        </p:nvSpPr>
        <p:spPr>
          <a:xfrm>
            <a:off x="731520" y="2404800"/>
            <a:ext cx="32000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00FF41"/>
                </a:solidFill>
                <a:effectLst/>
                <a:uFillTx/>
                <a:latin typeface="Calibri"/>
              </a:rPr>
              <a:t>СТРОКА</a:t>
            </a:r>
            <a:endParaRPr lang="en-US" sz="3200" b="0" u="none" strike="noStrike">
              <a:solidFill>
                <a:srgbClr val="FFFFFF"/>
              </a:solidFill>
              <a:effectLst/>
              <a:uFillTx/>
              <a:latin typeface="Arial"/>
            </a:endParaRPr>
          </a:p>
        </p:txBody>
      </p:sp>
      <p:sp>
        <p:nvSpPr>
          <p:cNvPr id="108" name="TextBox 7"/>
          <p:cNvSpPr/>
          <p:nvPr/>
        </p:nvSpPr>
        <p:spPr>
          <a:xfrm>
            <a:off x="3931920" y="2404800"/>
            <a:ext cx="45684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109" name="TextBox 8"/>
          <p:cNvSpPr/>
          <p:nvPr/>
        </p:nvSpPr>
        <p:spPr>
          <a:xfrm>
            <a:off x="4480560" y="2404800"/>
            <a:ext cx="7314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FFFFFF"/>
                </a:solidFill>
                <a:effectLst/>
                <a:uFillTx/>
                <a:latin typeface="Calibri"/>
              </a:rPr>
              <a:t>одна запись (один клиент, одно оповещение)</a:t>
            </a:r>
            <a:endParaRPr lang="en-US" sz="2800" b="0" u="none" strike="noStrike">
              <a:solidFill>
                <a:srgbClr val="FFFFFF"/>
              </a:solidFill>
              <a:effectLst/>
              <a:uFillTx/>
              <a:latin typeface="Arial"/>
            </a:endParaRPr>
          </a:p>
        </p:txBody>
      </p:sp>
      <p:sp>
        <p:nvSpPr>
          <p:cNvPr id="110" name="TextBox 9"/>
          <p:cNvSpPr/>
          <p:nvPr/>
        </p:nvSpPr>
        <p:spPr>
          <a:xfrm>
            <a:off x="731520" y="3117960"/>
            <a:ext cx="32000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00FF41"/>
                </a:solidFill>
                <a:effectLst/>
                <a:uFillTx/>
                <a:latin typeface="Calibri"/>
              </a:rPr>
              <a:t>СТОЛБЕЦ</a:t>
            </a:r>
            <a:endParaRPr lang="en-US" sz="3200" b="0" u="none" strike="noStrike">
              <a:solidFill>
                <a:srgbClr val="FFFFFF"/>
              </a:solidFill>
              <a:effectLst/>
              <a:uFillTx/>
              <a:latin typeface="Arial"/>
            </a:endParaRPr>
          </a:p>
        </p:txBody>
      </p:sp>
      <p:sp>
        <p:nvSpPr>
          <p:cNvPr id="111" name="TextBox 10"/>
          <p:cNvSpPr/>
          <p:nvPr/>
        </p:nvSpPr>
        <p:spPr>
          <a:xfrm>
            <a:off x="3931920" y="3117960"/>
            <a:ext cx="45684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112" name="TextBox 11"/>
          <p:cNvSpPr/>
          <p:nvPr/>
        </p:nvSpPr>
        <p:spPr>
          <a:xfrm>
            <a:off x="4480560" y="3117960"/>
            <a:ext cx="7314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FFFFFF"/>
                </a:solidFill>
                <a:effectLst/>
                <a:uFillTx/>
                <a:latin typeface="Calibri"/>
              </a:rPr>
              <a:t>один атрибут (email, IP, итог)</a:t>
            </a:r>
            <a:endParaRPr lang="en-US" sz="2800" b="0" u="none" strike="noStrike">
              <a:solidFill>
                <a:srgbClr val="FFFFFF"/>
              </a:solidFill>
              <a:effectLst/>
              <a:uFillTx/>
              <a:latin typeface="Arial"/>
            </a:endParaRPr>
          </a:p>
        </p:txBody>
      </p:sp>
      <p:sp>
        <p:nvSpPr>
          <p:cNvPr id="113" name="TextBox 12"/>
          <p:cNvSpPr/>
          <p:nvPr/>
        </p:nvSpPr>
        <p:spPr>
          <a:xfrm>
            <a:off x="731520" y="3831480"/>
            <a:ext cx="32000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00FF41"/>
                </a:solidFill>
                <a:effectLst/>
                <a:uFillTx/>
                <a:latin typeface="Calibri"/>
              </a:rPr>
              <a:t>ЗАПРОС</a:t>
            </a:r>
            <a:endParaRPr lang="en-US" sz="3200" b="0" u="none" strike="noStrike">
              <a:solidFill>
                <a:srgbClr val="FFFFFF"/>
              </a:solidFill>
              <a:effectLst/>
              <a:uFillTx/>
              <a:latin typeface="Arial"/>
            </a:endParaRPr>
          </a:p>
        </p:txBody>
      </p:sp>
      <p:sp>
        <p:nvSpPr>
          <p:cNvPr id="114" name="TextBox 13"/>
          <p:cNvSpPr/>
          <p:nvPr/>
        </p:nvSpPr>
        <p:spPr>
          <a:xfrm>
            <a:off x="3931920" y="3831480"/>
            <a:ext cx="45684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115" name="TextBox 14"/>
          <p:cNvSpPr/>
          <p:nvPr/>
        </p:nvSpPr>
        <p:spPr>
          <a:xfrm>
            <a:off x="4480560" y="3831480"/>
            <a:ext cx="7314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FFFFFF"/>
                </a:solidFill>
                <a:effectLst/>
                <a:uFillTx/>
                <a:latin typeface="Calibri"/>
              </a:rPr>
              <a:t>вопрос, который вы задаёте</a:t>
            </a:r>
            <a:endParaRPr lang="en-US" sz="2800" b="0" u="none" strike="noStrike">
              <a:solidFill>
                <a:srgbClr val="FFFFFF"/>
              </a:solidFill>
              <a:effectLst/>
              <a:uFillTx/>
              <a:latin typeface="Arial"/>
            </a:endParaRPr>
          </a:p>
        </p:txBody>
      </p:sp>
      <p:sp>
        <p:nvSpPr>
          <p:cNvPr id="116" name="TextBox 15"/>
          <p:cNvSpPr/>
          <p:nvPr/>
        </p:nvSpPr>
        <p:spPr>
          <a:xfrm>
            <a:off x="731520" y="4544640"/>
            <a:ext cx="32000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00FF41"/>
                </a:solidFill>
                <a:effectLst/>
                <a:uFillTx/>
                <a:latin typeface="Calibri"/>
              </a:rPr>
              <a:t>СХЕМА</a:t>
            </a:r>
            <a:endParaRPr lang="en-US" sz="3200" b="0" u="none" strike="noStrike">
              <a:solidFill>
                <a:srgbClr val="FFFFFF"/>
              </a:solidFill>
              <a:effectLst/>
              <a:uFillTx/>
              <a:latin typeface="Arial"/>
            </a:endParaRPr>
          </a:p>
        </p:txBody>
      </p:sp>
      <p:sp>
        <p:nvSpPr>
          <p:cNvPr id="117" name="TextBox 16"/>
          <p:cNvSpPr/>
          <p:nvPr/>
        </p:nvSpPr>
        <p:spPr>
          <a:xfrm>
            <a:off x="3931920" y="4544640"/>
            <a:ext cx="45684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118" name="TextBox 17"/>
          <p:cNvSpPr/>
          <p:nvPr/>
        </p:nvSpPr>
        <p:spPr>
          <a:xfrm>
            <a:off x="4480560" y="4544640"/>
            <a:ext cx="7314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FFFFFF"/>
                </a:solidFill>
                <a:effectLst/>
                <a:uFillTx/>
                <a:latin typeface="Calibri"/>
              </a:rPr>
              <a:t>форма данных</a:t>
            </a:r>
            <a:endParaRPr lang="en-US" sz="2800" b="0" u="none" strike="noStrike">
              <a:solidFill>
                <a:srgbClr val="FFFFFF"/>
              </a:solidFill>
              <a:effectLst/>
              <a:uFillTx/>
              <a:latin typeface="Arial"/>
            </a:endParaRPr>
          </a:p>
        </p:txBody>
      </p:sp>
      <p:sp>
        <p:nvSpPr>
          <p:cNvPr id="119" name="TextBox 18"/>
          <p:cNvSpPr/>
          <p:nvPr/>
        </p:nvSpPr>
        <p:spPr>
          <a:xfrm>
            <a:off x="731520" y="5257800"/>
            <a:ext cx="32000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00FF41"/>
                </a:solidFill>
                <a:effectLst/>
                <a:uFillTx/>
                <a:latin typeface="Calibri"/>
              </a:rPr>
              <a:t>ИНДЕКС</a:t>
            </a:r>
            <a:endParaRPr lang="en-US" sz="3200" b="0" u="none" strike="noStrike">
              <a:solidFill>
                <a:srgbClr val="FFFFFF"/>
              </a:solidFill>
              <a:effectLst/>
              <a:uFillTx/>
              <a:latin typeface="Arial"/>
            </a:endParaRPr>
          </a:p>
        </p:txBody>
      </p:sp>
      <p:sp>
        <p:nvSpPr>
          <p:cNvPr id="120" name="TextBox 19"/>
          <p:cNvSpPr/>
          <p:nvPr/>
        </p:nvSpPr>
        <p:spPr>
          <a:xfrm>
            <a:off x="3931920" y="5257800"/>
            <a:ext cx="45684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121" name="TextBox 20"/>
          <p:cNvSpPr/>
          <p:nvPr/>
        </p:nvSpPr>
        <p:spPr>
          <a:xfrm>
            <a:off x="4480560" y="5257800"/>
            <a:ext cx="7314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FFFFFF"/>
                </a:solidFill>
                <a:effectLst/>
                <a:uFillTx/>
                <a:latin typeface="Calibri"/>
              </a:rPr>
              <a:t>закладка, которая ускоряет поиск</a:t>
            </a:r>
            <a:endParaRPr lang="en-US" sz="2800" b="0" u="none" strike="noStrike">
              <a:solidFill>
                <a:srgbClr val="FFFFFF"/>
              </a:solidFill>
              <a:effectLst/>
              <a:uFillTx/>
              <a:latin typeface="Arial"/>
            </a:endParaRPr>
          </a:p>
        </p:txBody>
      </p:sp>
      <p:sp>
        <p:nvSpPr>
          <p:cNvPr id="122" name="TextBox 21"/>
          <p:cNvSpPr/>
          <p:nvPr/>
        </p:nvSpPr>
        <p:spPr>
          <a:xfrm>
            <a:off x="457200" y="5989320"/>
            <a:ext cx="11246760" cy="4568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600" b="1" u="none" strike="noStrike">
                <a:solidFill>
                  <a:srgbClr val="FF6B35"/>
                </a:solidFill>
                <a:effectLst/>
                <a:uFillTx/>
                <a:latin typeface="Calibri"/>
              </a:rPr>
              <a:t>+  CRUD  =  Create  •  Read  •  Update  •  Delete</a:t>
            </a:r>
            <a:endParaRPr lang="en-US" sz="2600" b="0" u="none" strike="noStrike">
              <a:solidFill>
                <a:srgbClr val="FFFFFF"/>
              </a:solidFill>
              <a:effectLst/>
              <a:uFillTx/>
              <a:latin typeface="Arial"/>
            </a:endParaRPr>
          </a:p>
        </p:txBody>
      </p:sp>
      <p:sp>
        <p:nvSpPr>
          <p:cNvPr id="123" name="TextBox 2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124" name="TextBox 2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5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25" name="TextBox 1" descr="Timeline of database eras from 1960s flat files to 2020s vector databases, each annotated with its security implication." title="Timeline of database eras from 1960s flat files to 2020s vector databases, each "/>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Экскурс в историю — окаменелости, которые вы встретите в проде</a:t>
            </a:r>
            <a:endParaRPr lang="en-US" sz="4200" b="0" u="none" strike="noStrike">
              <a:solidFill>
                <a:srgbClr val="FFFFFF"/>
              </a:solidFill>
              <a:effectLst/>
              <a:uFillTx/>
              <a:latin typeface="Arial"/>
            </a:endParaRPr>
          </a:p>
        </p:txBody>
      </p:sp>
      <p:sp>
        <p:nvSpPr>
          <p:cNvPr id="126"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27" name="TextBox 3"/>
          <p:cNvSpPr/>
          <p:nvPr/>
        </p:nvSpPr>
        <p:spPr>
          <a:xfrm>
            <a:off x="457200" y="160020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1960s</a:t>
            </a:r>
            <a:endParaRPr lang="en-US" sz="2200" b="0" u="none" strike="noStrike">
              <a:solidFill>
                <a:srgbClr val="FFFFFF"/>
              </a:solidFill>
              <a:effectLst/>
              <a:uFillTx/>
              <a:latin typeface="Arial"/>
            </a:endParaRPr>
          </a:p>
        </p:txBody>
      </p:sp>
      <p:sp>
        <p:nvSpPr>
          <p:cNvPr id="128" name="TextBox 4"/>
          <p:cNvSpPr/>
          <p:nvPr/>
        </p:nvSpPr>
        <p:spPr>
          <a:xfrm>
            <a:off x="2286000" y="160020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Плоские файлы</a:t>
            </a:r>
            <a:endParaRPr lang="en-US" sz="2200" b="0" u="none" strike="noStrike">
              <a:solidFill>
                <a:srgbClr val="FFFFFF"/>
              </a:solidFill>
              <a:effectLst/>
              <a:uFillTx/>
              <a:latin typeface="Arial"/>
            </a:endParaRPr>
          </a:p>
        </p:txBody>
      </p:sp>
      <p:sp>
        <p:nvSpPr>
          <p:cNvPr id="129" name="TextBox 5"/>
          <p:cNvSpPr/>
          <p:nvPr/>
        </p:nvSpPr>
        <p:spPr>
          <a:xfrm>
            <a:off x="5943600" y="160020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30" name="TextBox 6"/>
          <p:cNvSpPr/>
          <p:nvPr/>
        </p:nvSpPr>
        <p:spPr>
          <a:xfrm>
            <a:off x="6309360" y="160020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права файловой системы = единственный контроль доступа</a:t>
            </a:r>
            <a:endParaRPr lang="en-US" sz="2000" b="0" u="none" strike="noStrike">
              <a:solidFill>
                <a:srgbClr val="FFFFFF"/>
              </a:solidFill>
              <a:effectLst/>
              <a:uFillTx/>
              <a:latin typeface="Arial"/>
            </a:endParaRPr>
          </a:p>
        </p:txBody>
      </p:sp>
      <p:sp>
        <p:nvSpPr>
          <p:cNvPr id="131" name="TextBox 7"/>
          <p:cNvSpPr/>
          <p:nvPr/>
        </p:nvSpPr>
        <p:spPr>
          <a:xfrm>
            <a:off x="457200" y="211212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Конец 1960-х</a:t>
            </a:r>
            <a:endParaRPr lang="en-US" sz="2200" b="0" u="none" strike="noStrike">
              <a:solidFill>
                <a:srgbClr val="FFFFFF"/>
              </a:solidFill>
              <a:effectLst/>
              <a:uFillTx/>
              <a:latin typeface="Arial"/>
            </a:endParaRPr>
          </a:p>
        </p:txBody>
      </p:sp>
      <p:sp>
        <p:nvSpPr>
          <p:cNvPr id="132" name="TextBox 8"/>
          <p:cNvSpPr/>
          <p:nvPr/>
        </p:nvSpPr>
        <p:spPr>
          <a:xfrm>
            <a:off x="2286000" y="211212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Иерархические (IMS)</a:t>
            </a:r>
            <a:endParaRPr lang="en-US" sz="2200" b="0" u="none" strike="noStrike">
              <a:solidFill>
                <a:srgbClr val="FFFFFF"/>
              </a:solidFill>
              <a:effectLst/>
              <a:uFillTx/>
              <a:latin typeface="Arial"/>
            </a:endParaRPr>
          </a:p>
        </p:txBody>
      </p:sp>
      <p:sp>
        <p:nvSpPr>
          <p:cNvPr id="133" name="TextBox 9"/>
          <p:cNvSpPr/>
          <p:nvPr/>
        </p:nvSpPr>
        <p:spPr>
          <a:xfrm>
            <a:off x="5943600" y="211212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34" name="TextBox 10"/>
          <p:cNvSpPr/>
          <p:nvPr/>
        </p:nvSpPr>
        <p:spPr>
          <a:xfrm>
            <a:off x="6309360" y="211212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эпоха мейнфреймов, физическая модель угроз</a:t>
            </a:r>
            <a:endParaRPr lang="en-US" sz="2000" b="0" u="none" strike="noStrike">
              <a:solidFill>
                <a:srgbClr val="FFFFFF"/>
              </a:solidFill>
              <a:effectLst/>
              <a:uFillTx/>
              <a:latin typeface="Arial"/>
            </a:endParaRPr>
          </a:p>
        </p:txBody>
      </p:sp>
      <p:sp>
        <p:nvSpPr>
          <p:cNvPr id="135" name="TextBox 11"/>
          <p:cNvSpPr/>
          <p:nvPr/>
        </p:nvSpPr>
        <p:spPr>
          <a:xfrm>
            <a:off x="457200" y="262440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1970s</a:t>
            </a:r>
            <a:endParaRPr lang="en-US" sz="2200" b="0" u="none" strike="noStrike">
              <a:solidFill>
                <a:srgbClr val="FFFFFF"/>
              </a:solidFill>
              <a:effectLst/>
              <a:uFillTx/>
              <a:latin typeface="Arial"/>
            </a:endParaRPr>
          </a:p>
        </p:txBody>
      </p:sp>
      <p:sp>
        <p:nvSpPr>
          <p:cNvPr id="136" name="TextBox 12"/>
          <p:cNvSpPr/>
          <p:nvPr/>
        </p:nvSpPr>
        <p:spPr>
          <a:xfrm>
            <a:off x="2286000" y="262440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Сетевые / CODASYL</a:t>
            </a:r>
            <a:endParaRPr lang="en-US" sz="2200" b="0" u="none" strike="noStrike">
              <a:solidFill>
                <a:srgbClr val="FFFFFF"/>
              </a:solidFill>
              <a:effectLst/>
              <a:uFillTx/>
              <a:latin typeface="Arial"/>
            </a:endParaRPr>
          </a:p>
        </p:txBody>
      </p:sp>
      <p:sp>
        <p:nvSpPr>
          <p:cNvPr id="137" name="TextBox 13"/>
          <p:cNvSpPr/>
          <p:nvPr/>
        </p:nvSpPr>
        <p:spPr>
          <a:xfrm>
            <a:off x="5943600" y="262440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38" name="TextBox 14"/>
          <p:cNvSpPr/>
          <p:nvPr/>
        </p:nvSpPr>
        <p:spPr>
          <a:xfrm>
            <a:off x="6309360" y="262440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всё ещё гудят в бэк-офисе вашего банка</a:t>
            </a:r>
            <a:endParaRPr lang="en-US" sz="2000" b="0" u="none" strike="noStrike">
              <a:solidFill>
                <a:srgbClr val="FFFFFF"/>
              </a:solidFill>
              <a:effectLst/>
              <a:uFillTx/>
              <a:latin typeface="Arial"/>
            </a:endParaRPr>
          </a:p>
        </p:txBody>
      </p:sp>
      <p:sp>
        <p:nvSpPr>
          <p:cNvPr id="139" name="TextBox 15"/>
          <p:cNvSpPr/>
          <p:nvPr/>
        </p:nvSpPr>
        <p:spPr>
          <a:xfrm>
            <a:off x="457200" y="313632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1970</a:t>
            </a:r>
            <a:endParaRPr lang="en-US" sz="2200" b="0" u="none" strike="noStrike">
              <a:solidFill>
                <a:srgbClr val="FFFFFF"/>
              </a:solidFill>
              <a:effectLst/>
              <a:uFillTx/>
              <a:latin typeface="Arial"/>
            </a:endParaRPr>
          </a:p>
        </p:txBody>
      </p:sp>
      <p:sp>
        <p:nvSpPr>
          <p:cNvPr id="140" name="TextBox 16"/>
          <p:cNvSpPr/>
          <p:nvPr/>
        </p:nvSpPr>
        <p:spPr>
          <a:xfrm>
            <a:off x="2286000" y="313632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Реляционная модель Кодда</a:t>
            </a:r>
            <a:endParaRPr lang="en-US" sz="2200" b="0" u="none" strike="noStrike">
              <a:solidFill>
                <a:srgbClr val="FFFFFF"/>
              </a:solidFill>
              <a:effectLst/>
              <a:uFillTx/>
              <a:latin typeface="Arial"/>
            </a:endParaRPr>
          </a:p>
        </p:txBody>
      </p:sp>
      <p:sp>
        <p:nvSpPr>
          <p:cNvPr id="141" name="TextBox 17"/>
          <p:cNvSpPr/>
          <p:nvPr/>
        </p:nvSpPr>
        <p:spPr>
          <a:xfrm>
            <a:off x="5943600" y="313632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42" name="TextBox 18"/>
          <p:cNvSpPr/>
          <p:nvPr/>
        </p:nvSpPr>
        <p:spPr>
          <a:xfrm>
            <a:off x="6309360" y="313632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GRANT, роли — контроль доступа внутри БД</a:t>
            </a:r>
            <a:endParaRPr lang="en-US" sz="2000" b="0" u="none" strike="noStrike">
              <a:solidFill>
                <a:srgbClr val="FFFFFF"/>
              </a:solidFill>
              <a:effectLst/>
              <a:uFillTx/>
              <a:latin typeface="Arial"/>
            </a:endParaRPr>
          </a:p>
        </p:txBody>
      </p:sp>
      <p:sp>
        <p:nvSpPr>
          <p:cNvPr id="143" name="TextBox 19"/>
          <p:cNvSpPr/>
          <p:nvPr/>
        </p:nvSpPr>
        <p:spPr>
          <a:xfrm>
            <a:off x="457200" y="364860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1980s</a:t>
            </a:r>
            <a:endParaRPr lang="en-US" sz="2200" b="0" u="none" strike="noStrike">
              <a:solidFill>
                <a:srgbClr val="FFFFFF"/>
              </a:solidFill>
              <a:effectLst/>
              <a:uFillTx/>
              <a:latin typeface="Arial"/>
            </a:endParaRPr>
          </a:p>
        </p:txBody>
      </p:sp>
      <p:sp>
        <p:nvSpPr>
          <p:cNvPr id="144" name="TextBox 20"/>
          <p:cNvSpPr/>
          <p:nvPr/>
        </p:nvSpPr>
        <p:spPr>
          <a:xfrm>
            <a:off x="2286000" y="364860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Oracle, DB2, SQL Svr</a:t>
            </a:r>
            <a:endParaRPr lang="en-US" sz="2200" b="0" u="none" strike="noStrike">
              <a:solidFill>
                <a:srgbClr val="FFFFFF"/>
              </a:solidFill>
              <a:effectLst/>
              <a:uFillTx/>
              <a:latin typeface="Arial"/>
            </a:endParaRPr>
          </a:p>
        </p:txBody>
      </p:sp>
      <p:sp>
        <p:nvSpPr>
          <p:cNvPr id="145" name="TextBox 21"/>
          <p:cNvSpPr/>
          <p:nvPr/>
        </p:nvSpPr>
        <p:spPr>
          <a:xfrm>
            <a:off x="5943600" y="364860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46" name="TextBox 22"/>
          <p:cNvSpPr/>
          <p:nvPr/>
        </p:nvSpPr>
        <p:spPr>
          <a:xfrm>
            <a:off x="6309360" y="364860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базы данных подключаются к сети → проблема аутентификации</a:t>
            </a:r>
            <a:endParaRPr lang="en-US" sz="2000" b="0" u="none" strike="noStrike">
              <a:solidFill>
                <a:srgbClr val="FFFFFF"/>
              </a:solidFill>
              <a:effectLst/>
              <a:uFillTx/>
              <a:latin typeface="Arial"/>
            </a:endParaRPr>
          </a:p>
        </p:txBody>
      </p:sp>
      <p:sp>
        <p:nvSpPr>
          <p:cNvPr id="147" name="TextBox 23"/>
          <p:cNvSpPr/>
          <p:nvPr/>
        </p:nvSpPr>
        <p:spPr>
          <a:xfrm>
            <a:off x="457200" y="416052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1990s</a:t>
            </a:r>
            <a:endParaRPr lang="en-US" sz="2200" b="0" u="none" strike="noStrike">
              <a:solidFill>
                <a:srgbClr val="FFFFFF"/>
              </a:solidFill>
              <a:effectLst/>
              <a:uFillTx/>
              <a:latin typeface="Arial"/>
            </a:endParaRPr>
          </a:p>
        </p:txBody>
      </p:sp>
      <p:sp>
        <p:nvSpPr>
          <p:cNvPr id="148" name="TextBox 24"/>
          <p:cNvSpPr/>
          <p:nvPr/>
        </p:nvSpPr>
        <p:spPr>
          <a:xfrm>
            <a:off x="2286000" y="416052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Клиент-сервер, OSS</a:t>
            </a:r>
            <a:endParaRPr lang="en-US" sz="2200" b="0" u="none" strike="noStrike">
              <a:solidFill>
                <a:srgbClr val="FFFFFF"/>
              </a:solidFill>
              <a:effectLst/>
              <a:uFillTx/>
              <a:latin typeface="Arial"/>
            </a:endParaRPr>
          </a:p>
        </p:txBody>
      </p:sp>
      <p:sp>
        <p:nvSpPr>
          <p:cNvPr id="149" name="TextBox 25"/>
          <p:cNvSpPr/>
          <p:nvPr/>
        </p:nvSpPr>
        <p:spPr>
          <a:xfrm>
            <a:off x="5943600" y="416052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50" name="TextBox 26"/>
          <p:cNvSpPr/>
          <p:nvPr/>
        </p:nvSpPr>
        <p:spPr>
          <a:xfrm>
            <a:off x="6309360" y="416052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SQL-инъекции становятся явлением</a:t>
            </a:r>
            <a:endParaRPr lang="en-US" sz="2000" b="0" u="none" strike="noStrike">
              <a:solidFill>
                <a:srgbClr val="FFFFFF"/>
              </a:solidFill>
              <a:effectLst/>
              <a:uFillTx/>
              <a:latin typeface="Arial"/>
            </a:endParaRPr>
          </a:p>
        </p:txBody>
      </p:sp>
      <p:sp>
        <p:nvSpPr>
          <p:cNvPr id="151" name="TextBox 27"/>
          <p:cNvSpPr/>
          <p:nvPr/>
        </p:nvSpPr>
        <p:spPr>
          <a:xfrm>
            <a:off x="457200" y="467244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2000s</a:t>
            </a:r>
            <a:endParaRPr lang="en-US" sz="2200" b="0" u="none" strike="noStrike">
              <a:solidFill>
                <a:srgbClr val="FFFFFF"/>
              </a:solidFill>
              <a:effectLst/>
              <a:uFillTx/>
              <a:latin typeface="Arial"/>
            </a:endParaRPr>
          </a:p>
        </p:txBody>
      </p:sp>
      <p:sp>
        <p:nvSpPr>
          <p:cNvPr id="152" name="TextBox 28"/>
          <p:cNvSpPr/>
          <p:nvPr/>
        </p:nvSpPr>
        <p:spPr>
          <a:xfrm>
            <a:off x="2286000" y="467244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Бум NoSQL</a:t>
            </a:r>
            <a:endParaRPr lang="en-US" sz="2200" b="0" u="none" strike="noStrike">
              <a:solidFill>
                <a:srgbClr val="FFFFFF"/>
              </a:solidFill>
              <a:effectLst/>
              <a:uFillTx/>
              <a:latin typeface="Arial"/>
            </a:endParaRPr>
          </a:p>
        </p:txBody>
      </p:sp>
      <p:sp>
        <p:nvSpPr>
          <p:cNvPr id="153" name="TextBox 29"/>
          <p:cNvSpPr/>
          <p:nvPr/>
        </p:nvSpPr>
        <p:spPr>
          <a:xfrm>
            <a:off x="5943600" y="467244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54" name="TextBox 30"/>
          <p:cNvSpPr/>
          <p:nvPr/>
        </p:nvSpPr>
        <p:spPr>
          <a:xfrm>
            <a:off x="6309360" y="467244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«отбросили фундамент» — включая безопасность</a:t>
            </a:r>
            <a:endParaRPr lang="en-US" sz="2000" b="0" u="none" strike="noStrike">
              <a:solidFill>
                <a:srgbClr val="FFFFFF"/>
              </a:solidFill>
              <a:effectLst/>
              <a:uFillTx/>
              <a:latin typeface="Arial"/>
            </a:endParaRPr>
          </a:p>
        </p:txBody>
      </p:sp>
      <p:sp>
        <p:nvSpPr>
          <p:cNvPr id="155" name="TextBox 31"/>
          <p:cNvSpPr/>
          <p:nvPr/>
        </p:nvSpPr>
        <p:spPr>
          <a:xfrm>
            <a:off x="457200" y="518472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2010s</a:t>
            </a:r>
            <a:endParaRPr lang="en-US" sz="2200" b="0" u="none" strike="noStrike">
              <a:solidFill>
                <a:srgbClr val="FFFFFF"/>
              </a:solidFill>
              <a:effectLst/>
              <a:uFillTx/>
              <a:latin typeface="Arial"/>
            </a:endParaRPr>
          </a:p>
        </p:txBody>
      </p:sp>
      <p:sp>
        <p:nvSpPr>
          <p:cNvPr id="156" name="TextBox 32"/>
          <p:cNvSpPr/>
          <p:nvPr/>
        </p:nvSpPr>
        <p:spPr>
          <a:xfrm>
            <a:off x="2286000" y="518472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Облака / NewSQL</a:t>
            </a:r>
            <a:endParaRPr lang="en-US" sz="2200" b="0" u="none" strike="noStrike">
              <a:solidFill>
                <a:srgbClr val="FFFFFF"/>
              </a:solidFill>
              <a:effectLst/>
              <a:uFillTx/>
              <a:latin typeface="Arial"/>
            </a:endParaRPr>
          </a:p>
        </p:txBody>
      </p:sp>
      <p:sp>
        <p:nvSpPr>
          <p:cNvPr id="157" name="TextBox 33"/>
          <p:cNvSpPr/>
          <p:nvPr/>
        </p:nvSpPr>
        <p:spPr>
          <a:xfrm>
            <a:off x="5943600" y="518472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58" name="TextBox 34"/>
          <p:cNvSpPr/>
          <p:nvPr/>
        </p:nvSpPr>
        <p:spPr>
          <a:xfrm>
            <a:off x="6309360" y="518472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разделённая ответственность, ошибки конфигурации клиентов</a:t>
            </a:r>
            <a:endParaRPr lang="en-US" sz="2000" b="0" u="none" strike="noStrike">
              <a:solidFill>
                <a:srgbClr val="FFFFFF"/>
              </a:solidFill>
              <a:effectLst/>
              <a:uFillTx/>
              <a:latin typeface="Arial"/>
            </a:endParaRPr>
          </a:p>
        </p:txBody>
      </p:sp>
      <p:sp>
        <p:nvSpPr>
          <p:cNvPr id="159" name="TextBox 35"/>
          <p:cNvSpPr/>
          <p:nvPr/>
        </p:nvSpPr>
        <p:spPr>
          <a:xfrm>
            <a:off x="457200" y="569664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2020s</a:t>
            </a:r>
            <a:endParaRPr lang="en-US" sz="2200" b="0" u="none" strike="noStrike">
              <a:solidFill>
                <a:srgbClr val="FFFFFF"/>
              </a:solidFill>
              <a:effectLst/>
              <a:uFillTx/>
              <a:latin typeface="Arial"/>
            </a:endParaRPr>
          </a:p>
        </p:txBody>
      </p:sp>
      <p:sp>
        <p:nvSpPr>
          <p:cNvPr id="160" name="TextBox 36"/>
          <p:cNvSpPr/>
          <p:nvPr/>
        </p:nvSpPr>
        <p:spPr>
          <a:xfrm>
            <a:off x="2286000" y="569664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Векторные / бессерверные</a:t>
            </a:r>
            <a:endParaRPr lang="en-US" sz="2200" b="0" u="none" strike="noStrike">
              <a:solidFill>
                <a:srgbClr val="FFFFFF"/>
              </a:solidFill>
              <a:effectLst/>
              <a:uFillTx/>
              <a:latin typeface="Arial"/>
            </a:endParaRPr>
          </a:p>
        </p:txBody>
      </p:sp>
      <p:sp>
        <p:nvSpPr>
          <p:cNvPr id="161" name="TextBox 37"/>
          <p:cNvSpPr/>
          <p:nvPr/>
        </p:nvSpPr>
        <p:spPr>
          <a:xfrm>
            <a:off x="5943600" y="569664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62" name="TextBox 38"/>
          <p:cNvSpPr/>
          <p:nvPr/>
        </p:nvSpPr>
        <p:spPr>
          <a:xfrm>
            <a:off x="6309360" y="569664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отравление данных, инъекция в промпт</a:t>
            </a:r>
            <a:endParaRPr lang="en-US" sz="2000" b="0" u="none" strike="noStrike">
              <a:solidFill>
                <a:srgbClr val="FFFFFF"/>
              </a:solidFill>
              <a:effectLst/>
              <a:uFillTx/>
              <a:latin typeface="Arial"/>
            </a:endParaRPr>
          </a:p>
        </p:txBody>
      </p:sp>
      <p:sp>
        <p:nvSpPr>
          <p:cNvPr id="163" name="TextBox 39"/>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164" name="TextBox 40"/>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6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65" name="TextBox 1" descr="Grid of the ten database families with example products: relational, document, key-value, column-family, graph, search, time-series, vector, embedded, and data lake." title="Grid of the ten database families with example products: relational, document, k"/>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Десять семейств баз данных</a:t>
            </a:r>
            <a:endParaRPr lang="en-US" sz="4200" b="0" u="none" strike="noStrike">
              <a:solidFill>
                <a:srgbClr val="FFFFFF"/>
              </a:solidFill>
              <a:effectLst/>
              <a:uFillTx/>
              <a:latin typeface="Arial"/>
            </a:endParaRPr>
          </a:p>
        </p:txBody>
      </p:sp>
      <p:sp>
        <p:nvSpPr>
          <p:cNvPr id="166"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67" name="Rounded Rectangle 3"/>
          <p:cNvSpPr/>
          <p:nvPr/>
        </p:nvSpPr>
        <p:spPr>
          <a:xfrm>
            <a:off x="548640" y="169164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8" name="TextBox 4"/>
          <p:cNvSpPr/>
          <p:nvPr/>
        </p:nvSpPr>
        <p:spPr>
          <a:xfrm>
            <a:off x="685800" y="178308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1.</a:t>
            </a:r>
            <a:endParaRPr lang="en-US" sz="2200" b="0" u="none" strike="noStrike">
              <a:solidFill>
                <a:srgbClr val="FFFFFF"/>
              </a:solidFill>
              <a:effectLst/>
              <a:uFillTx/>
              <a:latin typeface="Arial"/>
            </a:endParaRPr>
          </a:p>
        </p:txBody>
      </p:sp>
      <p:sp>
        <p:nvSpPr>
          <p:cNvPr id="169" name="TextBox 5"/>
          <p:cNvSpPr/>
          <p:nvPr/>
        </p:nvSpPr>
        <p:spPr>
          <a:xfrm>
            <a:off x="1737360" y="178308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Реляционные</a:t>
            </a:r>
            <a:endParaRPr lang="en-US" sz="2200" b="0" u="none" strike="noStrike">
              <a:solidFill>
                <a:srgbClr val="FFFFFF"/>
              </a:solidFill>
              <a:effectLst/>
              <a:uFillTx/>
              <a:latin typeface="Arial"/>
            </a:endParaRPr>
          </a:p>
        </p:txBody>
      </p:sp>
      <p:sp>
        <p:nvSpPr>
          <p:cNvPr id="170" name="TextBox 6"/>
          <p:cNvSpPr/>
          <p:nvPr/>
        </p:nvSpPr>
        <p:spPr>
          <a:xfrm>
            <a:off x="1737360" y="214884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SQL  •  PostgreSQL, MySQL</a:t>
            </a:r>
            <a:endParaRPr lang="en-US" sz="1800" b="0" u="none" strike="noStrike">
              <a:solidFill>
                <a:srgbClr val="FFFFFF"/>
              </a:solidFill>
              <a:effectLst/>
              <a:uFillTx/>
              <a:latin typeface="Arial"/>
            </a:endParaRPr>
          </a:p>
        </p:txBody>
      </p:sp>
      <p:sp>
        <p:nvSpPr>
          <p:cNvPr id="171" name="Rounded Rectangle 7"/>
          <p:cNvSpPr/>
          <p:nvPr/>
        </p:nvSpPr>
        <p:spPr>
          <a:xfrm>
            <a:off x="6217920" y="169164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2" name="TextBox 8"/>
          <p:cNvSpPr/>
          <p:nvPr/>
        </p:nvSpPr>
        <p:spPr>
          <a:xfrm>
            <a:off x="6355080" y="178308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2.</a:t>
            </a:r>
            <a:endParaRPr lang="en-US" sz="2200" b="0" u="none" strike="noStrike">
              <a:solidFill>
                <a:srgbClr val="FFFFFF"/>
              </a:solidFill>
              <a:effectLst/>
              <a:uFillTx/>
              <a:latin typeface="Arial"/>
            </a:endParaRPr>
          </a:p>
        </p:txBody>
      </p:sp>
      <p:sp>
        <p:nvSpPr>
          <p:cNvPr id="173" name="TextBox 9"/>
          <p:cNvSpPr/>
          <p:nvPr/>
        </p:nvSpPr>
        <p:spPr>
          <a:xfrm>
            <a:off x="7406640" y="178308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Документные</a:t>
            </a:r>
            <a:endParaRPr lang="en-US" sz="2200" b="0" u="none" strike="noStrike">
              <a:solidFill>
                <a:srgbClr val="FFFFFF"/>
              </a:solidFill>
              <a:effectLst/>
              <a:uFillTx/>
              <a:latin typeface="Arial"/>
            </a:endParaRPr>
          </a:p>
        </p:txBody>
      </p:sp>
      <p:sp>
        <p:nvSpPr>
          <p:cNvPr id="174" name="TextBox 10"/>
          <p:cNvSpPr/>
          <p:nvPr/>
        </p:nvSpPr>
        <p:spPr>
          <a:xfrm>
            <a:off x="7406640" y="214884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JSON  •  MongoDB, Firestore</a:t>
            </a:r>
            <a:endParaRPr lang="en-US" sz="1800" b="0" u="none" strike="noStrike">
              <a:solidFill>
                <a:srgbClr val="FFFFFF"/>
              </a:solidFill>
              <a:effectLst/>
              <a:uFillTx/>
              <a:latin typeface="Arial"/>
            </a:endParaRPr>
          </a:p>
        </p:txBody>
      </p:sp>
      <p:sp>
        <p:nvSpPr>
          <p:cNvPr id="175" name="Rounded Rectangle 11"/>
          <p:cNvSpPr/>
          <p:nvPr/>
        </p:nvSpPr>
        <p:spPr>
          <a:xfrm>
            <a:off x="548640" y="265176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6" name="TextBox 12"/>
          <p:cNvSpPr/>
          <p:nvPr/>
        </p:nvSpPr>
        <p:spPr>
          <a:xfrm>
            <a:off x="685800" y="274320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3.</a:t>
            </a:r>
            <a:endParaRPr lang="en-US" sz="2200" b="0" u="none" strike="noStrike">
              <a:solidFill>
                <a:srgbClr val="FFFFFF"/>
              </a:solidFill>
              <a:effectLst/>
              <a:uFillTx/>
              <a:latin typeface="Arial"/>
            </a:endParaRPr>
          </a:p>
        </p:txBody>
      </p:sp>
      <p:sp>
        <p:nvSpPr>
          <p:cNvPr id="177" name="TextBox 13"/>
          <p:cNvSpPr/>
          <p:nvPr/>
        </p:nvSpPr>
        <p:spPr>
          <a:xfrm>
            <a:off x="1737360" y="274320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Ключ-значение</a:t>
            </a:r>
            <a:endParaRPr lang="en-US" sz="2200" b="0" u="none" strike="noStrike">
              <a:solidFill>
                <a:srgbClr val="FFFFFF"/>
              </a:solidFill>
              <a:effectLst/>
              <a:uFillTx/>
              <a:latin typeface="Arial"/>
            </a:endParaRPr>
          </a:p>
        </p:txBody>
      </p:sp>
      <p:sp>
        <p:nvSpPr>
          <p:cNvPr id="178" name="TextBox 14"/>
          <p:cNvSpPr/>
          <p:nvPr/>
        </p:nvSpPr>
        <p:spPr>
          <a:xfrm>
            <a:off x="1737360" y="310896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словарь  •  Redis, DynamoDB</a:t>
            </a:r>
            <a:endParaRPr lang="en-US" sz="1800" b="0" u="none" strike="noStrike">
              <a:solidFill>
                <a:srgbClr val="FFFFFF"/>
              </a:solidFill>
              <a:effectLst/>
              <a:uFillTx/>
              <a:latin typeface="Arial"/>
            </a:endParaRPr>
          </a:p>
        </p:txBody>
      </p:sp>
      <p:sp>
        <p:nvSpPr>
          <p:cNvPr id="179" name="Rounded Rectangle 15"/>
          <p:cNvSpPr/>
          <p:nvPr/>
        </p:nvSpPr>
        <p:spPr>
          <a:xfrm>
            <a:off x="6217920" y="265176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0" name="TextBox 16"/>
          <p:cNvSpPr/>
          <p:nvPr/>
        </p:nvSpPr>
        <p:spPr>
          <a:xfrm>
            <a:off x="6355080" y="274320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4.</a:t>
            </a:r>
            <a:endParaRPr lang="en-US" sz="2200" b="0" u="none" strike="noStrike">
              <a:solidFill>
                <a:srgbClr val="FFFFFF"/>
              </a:solidFill>
              <a:effectLst/>
              <a:uFillTx/>
              <a:latin typeface="Arial"/>
            </a:endParaRPr>
          </a:p>
        </p:txBody>
      </p:sp>
      <p:sp>
        <p:nvSpPr>
          <p:cNvPr id="181" name="TextBox 17"/>
          <p:cNvSpPr/>
          <p:nvPr/>
        </p:nvSpPr>
        <p:spPr>
          <a:xfrm>
            <a:off x="7406640" y="274320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Семейства столбцов</a:t>
            </a:r>
            <a:endParaRPr lang="en-US" sz="2200" b="0" u="none" strike="noStrike">
              <a:solidFill>
                <a:srgbClr val="FFFFFF"/>
              </a:solidFill>
              <a:effectLst/>
              <a:uFillTx/>
              <a:latin typeface="Arial"/>
            </a:endParaRPr>
          </a:p>
        </p:txBody>
      </p:sp>
      <p:sp>
        <p:nvSpPr>
          <p:cNvPr id="182" name="TextBox 18"/>
          <p:cNvSpPr/>
          <p:nvPr/>
        </p:nvSpPr>
        <p:spPr>
          <a:xfrm>
            <a:off x="7406640" y="310896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широкие столбцы  •  Cassandra, HBase</a:t>
            </a:r>
            <a:endParaRPr lang="en-US" sz="1800" b="0" u="none" strike="noStrike">
              <a:solidFill>
                <a:srgbClr val="FFFFFF"/>
              </a:solidFill>
              <a:effectLst/>
              <a:uFillTx/>
              <a:latin typeface="Arial"/>
            </a:endParaRPr>
          </a:p>
        </p:txBody>
      </p:sp>
      <p:sp>
        <p:nvSpPr>
          <p:cNvPr id="183" name="Rounded Rectangle 19"/>
          <p:cNvSpPr/>
          <p:nvPr/>
        </p:nvSpPr>
        <p:spPr>
          <a:xfrm>
            <a:off x="548640" y="361188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4" name="TextBox 20"/>
          <p:cNvSpPr/>
          <p:nvPr/>
        </p:nvSpPr>
        <p:spPr>
          <a:xfrm>
            <a:off x="685800" y="370332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5.</a:t>
            </a:r>
            <a:endParaRPr lang="en-US" sz="2200" b="0" u="none" strike="noStrike">
              <a:solidFill>
                <a:srgbClr val="FFFFFF"/>
              </a:solidFill>
              <a:effectLst/>
              <a:uFillTx/>
              <a:latin typeface="Arial"/>
            </a:endParaRPr>
          </a:p>
        </p:txBody>
      </p:sp>
      <p:sp>
        <p:nvSpPr>
          <p:cNvPr id="185" name="TextBox 21"/>
          <p:cNvSpPr/>
          <p:nvPr/>
        </p:nvSpPr>
        <p:spPr>
          <a:xfrm>
            <a:off x="1737360" y="370332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Графовые</a:t>
            </a:r>
            <a:endParaRPr lang="en-US" sz="2200" b="0" u="none" strike="noStrike">
              <a:solidFill>
                <a:srgbClr val="FFFFFF"/>
              </a:solidFill>
              <a:effectLst/>
              <a:uFillTx/>
              <a:latin typeface="Arial"/>
            </a:endParaRPr>
          </a:p>
        </p:txBody>
      </p:sp>
      <p:sp>
        <p:nvSpPr>
          <p:cNvPr id="186" name="TextBox 22"/>
          <p:cNvSpPr/>
          <p:nvPr/>
        </p:nvSpPr>
        <p:spPr>
          <a:xfrm>
            <a:off x="1737360" y="406908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узлы+рёбра  •  Neo4j, Neptune</a:t>
            </a:r>
            <a:endParaRPr lang="en-US" sz="1800" b="0" u="none" strike="noStrike">
              <a:solidFill>
                <a:srgbClr val="FFFFFF"/>
              </a:solidFill>
              <a:effectLst/>
              <a:uFillTx/>
              <a:latin typeface="Arial"/>
            </a:endParaRPr>
          </a:p>
        </p:txBody>
      </p:sp>
      <p:sp>
        <p:nvSpPr>
          <p:cNvPr id="187" name="Rounded Rectangle 23"/>
          <p:cNvSpPr/>
          <p:nvPr/>
        </p:nvSpPr>
        <p:spPr>
          <a:xfrm>
            <a:off x="6217920" y="361188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8" name="TextBox 24"/>
          <p:cNvSpPr/>
          <p:nvPr/>
        </p:nvSpPr>
        <p:spPr>
          <a:xfrm>
            <a:off x="6355080" y="370332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6.</a:t>
            </a:r>
            <a:endParaRPr lang="en-US" sz="2200" b="0" u="none" strike="noStrike">
              <a:solidFill>
                <a:srgbClr val="FFFFFF"/>
              </a:solidFill>
              <a:effectLst/>
              <a:uFillTx/>
              <a:latin typeface="Arial"/>
            </a:endParaRPr>
          </a:p>
        </p:txBody>
      </p:sp>
      <p:sp>
        <p:nvSpPr>
          <p:cNvPr id="189" name="TextBox 25"/>
          <p:cNvSpPr/>
          <p:nvPr/>
        </p:nvSpPr>
        <p:spPr>
          <a:xfrm>
            <a:off x="7406640" y="370332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Поисковые</a:t>
            </a:r>
            <a:endParaRPr lang="en-US" sz="2200" b="0" u="none" strike="noStrike">
              <a:solidFill>
                <a:srgbClr val="FFFFFF"/>
              </a:solidFill>
              <a:effectLst/>
              <a:uFillTx/>
              <a:latin typeface="Arial"/>
            </a:endParaRPr>
          </a:p>
        </p:txBody>
      </p:sp>
      <p:sp>
        <p:nvSpPr>
          <p:cNvPr id="190" name="TextBox 26"/>
          <p:cNvSpPr/>
          <p:nvPr/>
        </p:nvSpPr>
        <p:spPr>
          <a:xfrm>
            <a:off x="7406640" y="406908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полнотекстовый поиск  •  Elastic, OpenSearch</a:t>
            </a:r>
            <a:endParaRPr lang="en-US" sz="1800" b="0" u="none" strike="noStrike">
              <a:solidFill>
                <a:srgbClr val="FFFFFF"/>
              </a:solidFill>
              <a:effectLst/>
              <a:uFillTx/>
              <a:latin typeface="Arial"/>
            </a:endParaRPr>
          </a:p>
        </p:txBody>
      </p:sp>
      <p:sp>
        <p:nvSpPr>
          <p:cNvPr id="191" name="Rounded Rectangle 27"/>
          <p:cNvSpPr/>
          <p:nvPr/>
        </p:nvSpPr>
        <p:spPr>
          <a:xfrm>
            <a:off x="548640" y="457200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2" name="TextBox 28"/>
          <p:cNvSpPr/>
          <p:nvPr/>
        </p:nvSpPr>
        <p:spPr>
          <a:xfrm>
            <a:off x="685800" y="466344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7.</a:t>
            </a:r>
            <a:endParaRPr lang="en-US" sz="2200" b="0" u="none" strike="noStrike">
              <a:solidFill>
                <a:srgbClr val="FFFFFF"/>
              </a:solidFill>
              <a:effectLst/>
              <a:uFillTx/>
              <a:latin typeface="Arial"/>
            </a:endParaRPr>
          </a:p>
        </p:txBody>
      </p:sp>
      <p:sp>
        <p:nvSpPr>
          <p:cNvPr id="193" name="TextBox 29"/>
          <p:cNvSpPr/>
          <p:nvPr/>
        </p:nvSpPr>
        <p:spPr>
          <a:xfrm>
            <a:off x="1737360" y="466344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Временные ряды</a:t>
            </a:r>
            <a:endParaRPr lang="en-US" sz="2200" b="0" u="none" strike="noStrike">
              <a:solidFill>
                <a:srgbClr val="FFFFFF"/>
              </a:solidFill>
              <a:effectLst/>
              <a:uFillTx/>
              <a:latin typeface="Arial"/>
            </a:endParaRPr>
          </a:p>
        </p:txBody>
      </p:sp>
      <p:sp>
        <p:nvSpPr>
          <p:cNvPr id="194" name="TextBox 30"/>
          <p:cNvSpPr/>
          <p:nvPr/>
        </p:nvSpPr>
        <p:spPr>
          <a:xfrm>
            <a:off x="1737360" y="502920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метрики  •  Influx, Prometheus</a:t>
            </a:r>
            <a:endParaRPr lang="en-US" sz="1800" b="0" u="none" strike="noStrike">
              <a:solidFill>
                <a:srgbClr val="FFFFFF"/>
              </a:solidFill>
              <a:effectLst/>
              <a:uFillTx/>
              <a:latin typeface="Arial"/>
            </a:endParaRPr>
          </a:p>
        </p:txBody>
      </p:sp>
      <p:sp>
        <p:nvSpPr>
          <p:cNvPr id="195" name="Rounded Rectangle 31"/>
          <p:cNvSpPr/>
          <p:nvPr/>
        </p:nvSpPr>
        <p:spPr>
          <a:xfrm>
            <a:off x="6217920" y="457200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6" name="TextBox 32"/>
          <p:cNvSpPr/>
          <p:nvPr/>
        </p:nvSpPr>
        <p:spPr>
          <a:xfrm>
            <a:off x="6355080" y="466344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8.</a:t>
            </a:r>
            <a:endParaRPr lang="en-US" sz="2200" b="0" u="none" strike="noStrike">
              <a:solidFill>
                <a:srgbClr val="FFFFFF"/>
              </a:solidFill>
              <a:effectLst/>
              <a:uFillTx/>
              <a:latin typeface="Arial"/>
            </a:endParaRPr>
          </a:p>
        </p:txBody>
      </p:sp>
      <p:sp>
        <p:nvSpPr>
          <p:cNvPr id="197" name="TextBox 33"/>
          <p:cNvSpPr/>
          <p:nvPr/>
        </p:nvSpPr>
        <p:spPr>
          <a:xfrm>
            <a:off x="7406640" y="466344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Векторные</a:t>
            </a:r>
            <a:endParaRPr lang="en-US" sz="2200" b="0" u="none" strike="noStrike">
              <a:solidFill>
                <a:srgbClr val="FFFFFF"/>
              </a:solidFill>
              <a:effectLst/>
              <a:uFillTx/>
              <a:latin typeface="Arial"/>
            </a:endParaRPr>
          </a:p>
        </p:txBody>
      </p:sp>
      <p:sp>
        <p:nvSpPr>
          <p:cNvPr id="198" name="TextBox 34"/>
          <p:cNvSpPr/>
          <p:nvPr/>
        </p:nvSpPr>
        <p:spPr>
          <a:xfrm>
            <a:off x="7406640" y="502920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эмбеддинги  •  Pinecone, pgvector</a:t>
            </a:r>
            <a:endParaRPr lang="en-US" sz="1800" b="0" u="none" strike="noStrike">
              <a:solidFill>
                <a:srgbClr val="FFFFFF"/>
              </a:solidFill>
              <a:effectLst/>
              <a:uFillTx/>
              <a:latin typeface="Arial"/>
            </a:endParaRPr>
          </a:p>
        </p:txBody>
      </p:sp>
      <p:sp>
        <p:nvSpPr>
          <p:cNvPr id="199" name="Rounded Rectangle 35"/>
          <p:cNvSpPr/>
          <p:nvPr/>
        </p:nvSpPr>
        <p:spPr>
          <a:xfrm>
            <a:off x="548640" y="553212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0" name="TextBox 36"/>
          <p:cNvSpPr/>
          <p:nvPr/>
        </p:nvSpPr>
        <p:spPr>
          <a:xfrm>
            <a:off x="685800" y="562356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9.</a:t>
            </a:r>
            <a:endParaRPr lang="en-US" sz="2200" b="0" u="none" strike="noStrike">
              <a:solidFill>
                <a:srgbClr val="FFFFFF"/>
              </a:solidFill>
              <a:effectLst/>
              <a:uFillTx/>
              <a:latin typeface="Arial"/>
            </a:endParaRPr>
          </a:p>
        </p:txBody>
      </p:sp>
      <p:sp>
        <p:nvSpPr>
          <p:cNvPr id="201" name="TextBox 37"/>
          <p:cNvSpPr/>
          <p:nvPr/>
        </p:nvSpPr>
        <p:spPr>
          <a:xfrm>
            <a:off x="1737360" y="562356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Встраиваемые/граничные</a:t>
            </a:r>
            <a:endParaRPr lang="en-US" sz="2200" b="0" u="none" strike="noStrike">
              <a:solidFill>
                <a:srgbClr val="FFFFFF"/>
              </a:solidFill>
              <a:effectLst/>
              <a:uFillTx/>
              <a:latin typeface="Arial"/>
            </a:endParaRPr>
          </a:p>
        </p:txBody>
      </p:sp>
      <p:sp>
        <p:nvSpPr>
          <p:cNvPr id="202" name="TextBox 38"/>
          <p:cNvSpPr/>
          <p:nvPr/>
        </p:nvSpPr>
        <p:spPr>
          <a:xfrm>
            <a:off x="1737360" y="598932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внутри приложения  •  SQLite, DuckDB</a:t>
            </a:r>
            <a:endParaRPr lang="en-US" sz="1800" b="0" u="none" strike="noStrike">
              <a:solidFill>
                <a:srgbClr val="FFFFFF"/>
              </a:solidFill>
              <a:effectLst/>
              <a:uFillTx/>
              <a:latin typeface="Arial"/>
            </a:endParaRPr>
          </a:p>
        </p:txBody>
      </p:sp>
      <p:sp>
        <p:nvSpPr>
          <p:cNvPr id="203" name="Rounded Rectangle 39"/>
          <p:cNvSpPr/>
          <p:nvPr/>
        </p:nvSpPr>
        <p:spPr>
          <a:xfrm>
            <a:off x="6217920" y="553212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4" name="TextBox 40"/>
          <p:cNvSpPr/>
          <p:nvPr/>
        </p:nvSpPr>
        <p:spPr>
          <a:xfrm>
            <a:off x="6355080" y="562356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10.</a:t>
            </a:r>
            <a:endParaRPr lang="en-US" sz="2200" b="0" u="none" strike="noStrike">
              <a:solidFill>
                <a:srgbClr val="FFFFFF"/>
              </a:solidFill>
              <a:effectLst/>
              <a:uFillTx/>
              <a:latin typeface="Arial"/>
            </a:endParaRPr>
          </a:p>
        </p:txBody>
      </p:sp>
      <p:sp>
        <p:nvSpPr>
          <p:cNvPr id="205" name="TextBox 41"/>
          <p:cNvSpPr/>
          <p:nvPr/>
        </p:nvSpPr>
        <p:spPr>
          <a:xfrm>
            <a:off x="7406640" y="562356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Озеро данных</a:t>
            </a:r>
            <a:endParaRPr lang="en-US" sz="2200" b="0" u="none" strike="noStrike">
              <a:solidFill>
                <a:srgbClr val="FFFFFF"/>
              </a:solidFill>
              <a:effectLst/>
              <a:uFillTx/>
              <a:latin typeface="Arial"/>
            </a:endParaRPr>
          </a:p>
        </p:txBody>
      </p:sp>
      <p:sp>
        <p:nvSpPr>
          <p:cNvPr id="206" name="TextBox 42"/>
          <p:cNvSpPr/>
          <p:nvPr/>
        </p:nvSpPr>
        <p:spPr>
          <a:xfrm>
            <a:off x="7406640" y="598932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схема-при-чтении  •  S3+Athena, Iceberg</a:t>
            </a:r>
            <a:endParaRPr lang="en-US" sz="1800" b="0" u="none" strike="noStrike">
              <a:solidFill>
                <a:srgbClr val="FFFFFF"/>
              </a:solidFill>
              <a:effectLst/>
              <a:uFillTx/>
              <a:latin typeface="Arial"/>
            </a:endParaRPr>
          </a:p>
        </p:txBody>
      </p:sp>
      <p:sp>
        <p:nvSpPr>
          <p:cNvPr id="207" name="TextBox 43"/>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208" name="TextBox 44"/>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7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09" name="Oval 1" descr="Family card #1: Relational / SQL. Products: PostgreSQL  •  MySQL/MariaDB  •  SQL Server  •  Oracle. Use case: Clear relationships, consistency required — finance, regulated data.. Security gotcha: SQL injection when developers concatenate user input into queries.." title="Family card #1: Relational / SQL. Products: PostgreSQL  •  MySQL/MariaDB  •  SQL"/>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0"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1</a:t>
            </a:r>
            <a:endParaRPr lang="en-US" sz="4400" b="0" u="none" strike="noStrike">
              <a:solidFill>
                <a:srgbClr val="FFFFFF"/>
              </a:solidFill>
              <a:effectLst/>
              <a:uFillTx/>
              <a:latin typeface="Arial"/>
            </a:endParaRPr>
          </a:p>
        </p:txBody>
      </p:sp>
      <p:sp>
        <p:nvSpPr>
          <p:cNvPr id="211"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Реляционные / SQL</a:t>
            </a:r>
            <a:endParaRPr lang="en-US" sz="4600" b="0" u="none" strike="noStrike">
              <a:solidFill>
                <a:srgbClr val="FFFFFF"/>
              </a:solidFill>
              <a:effectLst/>
              <a:uFillTx/>
              <a:latin typeface="Arial"/>
            </a:endParaRPr>
          </a:p>
        </p:txBody>
      </p:sp>
      <p:sp>
        <p:nvSpPr>
          <p:cNvPr id="212"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13"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ПРОДУКТЫ</a:t>
            </a:r>
            <a:endParaRPr lang="en-US" sz="2000" b="0" u="none" strike="noStrike">
              <a:solidFill>
                <a:srgbClr val="FFFFFF"/>
              </a:solidFill>
              <a:effectLst/>
              <a:uFillTx/>
              <a:latin typeface="Arial"/>
            </a:endParaRPr>
          </a:p>
        </p:txBody>
      </p:sp>
      <p:sp>
        <p:nvSpPr>
          <p:cNvPr id="214"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PostgreSQL  •  MySQL/MariaDB  •  SQL Server  •  Oracle</a:t>
            </a:r>
            <a:endParaRPr lang="en-US" sz="2800" b="0" u="none" strike="noStrike">
              <a:solidFill>
                <a:srgbClr val="FFFFFF"/>
              </a:solidFill>
              <a:effectLst/>
              <a:uFillTx/>
              <a:latin typeface="Arial"/>
            </a:endParaRPr>
          </a:p>
        </p:txBody>
      </p:sp>
      <p:sp>
        <p:nvSpPr>
          <p:cNvPr id="215"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ИСПОЛЬЗОВАТЬ КОГДА</a:t>
            </a:r>
            <a:endParaRPr lang="en-US" sz="2000" b="0" u="none" strike="noStrike">
              <a:solidFill>
                <a:srgbClr val="FFFFFF"/>
              </a:solidFill>
              <a:effectLst/>
              <a:uFillTx/>
              <a:latin typeface="Arial"/>
            </a:endParaRPr>
          </a:p>
        </p:txBody>
      </p:sp>
      <p:sp>
        <p:nvSpPr>
          <p:cNvPr id="216"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Чёткие связи, требуется согласованность — финансы, регулируемые данные.</a:t>
            </a:r>
            <a:endParaRPr lang="en-US" sz="2400" b="0" u="none" strike="noStrike">
              <a:solidFill>
                <a:srgbClr val="FFFFFF"/>
              </a:solidFill>
              <a:effectLst/>
              <a:uFillTx/>
              <a:latin typeface="Arial"/>
            </a:endParaRPr>
          </a:p>
        </p:txBody>
      </p:sp>
      <p:sp>
        <p:nvSpPr>
          <p:cNvPr id="217"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8"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ПОДВОХ БЕЗОПАСНОСТИ</a:t>
            </a:r>
            <a:endParaRPr lang="en-US" sz="2000" b="0" u="none" strike="noStrike">
              <a:solidFill>
                <a:srgbClr val="FFFFFF"/>
              </a:solidFill>
              <a:effectLst/>
              <a:uFillTx/>
              <a:latin typeface="Arial"/>
            </a:endParaRPr>
          </a:p>
        </p:txBody>
      </p:sp>
      <p:sp>
        <p:nvSpPr>
          <p:cNvPr id="219"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SQL-инъекция, когда разработчики конкатенируют пользовательский ввод в запросы.</a:t>
            </a:r>
            <a:endParaRPr lang="en-US" sz="2400" b="0" u="none" strike="noStrike">
              <a:solidFill>
                <a:srgbClr val="FFFFFF"/>
              </a:solidFill>
              <a:effectLst/>
              <a:uFillTx/>
              <a:latin typeface="Arial"/>
            </a:endParaRPr>
          </a:p>
        </p:txBody>
      </p:sp>
      <p:sp>
        <p:nvSpPr>
          <p:cNvPr id="220"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221"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8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22" name="Oval 1" descr="Family card #2: Document Stores. Products: MongoDB  •  Couchbase  •  Firestore. Use case: Naturally nested data; the shape changes over time.. Security gotcha: NoSQL injection via query operators ($ne, $gt, $where). Default no-auth.." title="Family card #2: Document Stores. Products: MongoDB  •  Couchbase  •  Firestore. "/>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3"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2</a:t>
            </a:r>
            <a:endParaRPr lang="en-US" sz="4400" b="0" u="none" strike="noStrike">
              <a:solidFill>
                <a:srgbClr val="FFFFFF"/>
              </a:solidFill>
              <a:effectLst/>
              <a:uFillTx/>
              <a:latin typeface="Arial"/>
            </a:endParaRPr>
          </a:p>
        </p:txBody>
      </p:sp>
      <p:sp>
        <p:nvSpPr>
          <p:cNvPr id="224"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Документные хранилища</a:t>
            </a:r>
            <a:endParaRPr lang="en-US" sz="4600" b="0" u="none" strike="noStrike">
              <a:solidFill>
                <a:srgbClr val="FFFFFF"/>
              </a:solidFill>
              <a:effectLst/>
              <a:uFillTx/>
              <a:latin typeface="Arial"/>
            </a:endParaRPr>
          </a:p>
        </p:txBody>
      </p:sp>
      <p:sp>
        <p:nvSpPr>
          <p:cNvPr id="225"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26"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ПРОДУКТЫ</a:t>
            </a:r>
            <a:endParaRPr lang="en-US" sz="2000" b="0" u="none" strike="noStrike">
              <a:solidFill>
                <a:srgbClr val="FFFFFF"/>
              </a:solidFill>
              <a:effectLst/>
              <a:uFillTx/>
              <a:latin typeface="Arial"/>
            </a:endParaRPr>
          </a:p>
        </p:txBody>
      </p:sp>
      <p:sp>
        <p:nvSpPr>
          <p:cNvPr id="227"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MongoDB  •  Couchbase  •  Firestore</a:t>
            </a:r>
            <a:endParaRPr lang="en-US" sz="2800" b="0" u="none" strike="noStrike">
              <a:solidFill>
                <a:srgbClr val="FFFFFF"/>
              </a:solidFill>
              <a:effectLst/>
              <a:uFillTx/>
              <a:latin typeface="Arial"/>
            </a:endParaRPr>
          </a:p>
        </p:txBody>
      </p:sp>
      <p:sp>
        <p:nvSpPr>
          <p:cNvPr id="228"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ИСПОЛЬЗОВАТЬ КОГДА</a:t>
            </a:r>
            <a:endParaRPr lang="en-US" sz="2000" b="0" u="none" strike="noStrike">
              <a:solidFill>
                <a:srgbClr val="FFFFFF"/>
              </a:solidFill>
              <a:effectLst/>
              <a:uFillTx/>
              <a:latin typeface="Arial"/>
            </a:endParaRPr>
          </a:p>
        </p:txBody>
      </p:sp>
      <p:sp>
        <p:nvSpPr>
          <p:cNvPr id="229"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Естественно вложенные данные; форма меняется со временем.</a:t>
            </a:r>
            <a:endParaRPr lang="en-US" sz="2400" b="0" u="none" strike="noStrike">
              <a:solidFill>
                <a:srgbClr val="FFFFFF"/>
              </a:solidFill>
              <a:effectLst/>
              <a:uFillTx/>
              <a:latin typeface="Arial"/>
            </a:endParaRPr>
          </a:p>
        </p:txBody>
      </p:sp>
      <p:sp>
        <p:nvSpPr>
          <p:cNvPr id="230"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1"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ПОДВОХ БЕЗОПАСНОСТИ</a:t>
            </a:r>
            <a:endParaRPr lang="en-US" sz="2000" b="0" u="none" strike="noStrike">
              <a:solidFill>
                <a:srgbClr val="FFFFFF"/>
              </a:solidFill>
              <a:effectLst/>
              <a:uFillTx/>
              <a:latin typeface="Arial"/>
            </a:endParaRPr>
          </a:p>
        </p:txBody>
      </p:sp>
      <p:sp>
        <p:nvSpPr>
          <p:cNvPr id="232"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NoSQL-инъекция через операторы запросов ($ne, $gt, $where). По умолчанию без аутентификации.</a:t>
            </a:r>
            <a:endParaRPr lang="en-US" sz="2400" b="0" u="none" strike="noStrike">
              <a:solidFill>
                <a:srgbClr val="FFFFFF"/>
              </a:solidFill>
              <a:effectLst/>
              <a:uFillTx/>
              <a:latin typeface="Arial"/>
            </a:endParaRPr>
          </a:p>
        </p:txBody>
      </p:sp>
      <p:sp>
        <p:nvSpPr>
          <p:cNvPr id="233"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234"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9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35" name="Oval 1" descr="Family card #3: Key-Value Stores. Products: Redis  •  Memcached  •  DynamoDB. Use case: Caches, session stores, rate limiters, leaderboards.. Security gotcha: Default no-auth Redis + CONFIG SET → writing SSH keys to disk.." title="Family card #3: Key-Value Stores. Products: Redis  •  Memcached  •  DynamoDB. Us"/>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6"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3</a:t>
            </a:r>
            <a:endParaRPr lang="en-US" sz="4400" b="0" u="none" strike="noStrike">
              <a:solidFill>
                <a:srgbClr val="FFFFFF"/>
              </a:solidFill>
              <a:effectLst/>
              <a:uFillTx/>
              <a:latin typeface="Arial"/>
            </a:endParaRPr>
          </a:p>
        </p:txBody>
      </p:sp>
      <p:sp>
        <p:nvSpPr>
          <p:cNvPr id="237"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Хранилища ключ-значение</a:t>
            </a:r>
            <a:endParaRPr lang="en-US" sz="4600" b="0" u="none" strike="noStrike">
              <a:solidFill>
                <a:srgbClr val="FFFFFF"/>
              </a:solidFill>
              <a:effectLst/>
              <a:uFillTx/>
              <a:latin typeface="Arial"/>
            </a:endParaRPr>
          </a:p>
        </p:txBody>
      </p:sp>
      <p:sp>
        <p:nvSpPr>
          <p:cNvPr id="238"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39"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ПРОДУКТЫ</a:t>
            </a:r>
            <a:endParaRPr lang="en-US" sz="2000" b="0" u="none" strike="noStrike">
              <a:solidFill>
                <a:srgbClr val="FFFFFF"/>
              </a:solidFill>
              <a:effectLst/>
              <a:uFillTx/>
              <a:latin typeface="Arial"/>
            </a:endParaRPr>
          </a:p>
        </p:txBody>
      </p:sp>
      <p:sp>
        <p:nvSpPr>
          <p:cNvPr id="240"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Redis  •  Memcached  •  DynamoDB</a:t>
            </a:r>
            <a:endParaRPr lang="en-US" sz="2800" b="0" u="none" strike="noStrike">
              <a:solidFill>
                <a:srgbClr val="FFFFFF"/>
              </a:solidFill>
              <a:effectLst/>
              <a:uFillTx/>
              <a:latin typeface="Arial"/>
            </a:endParaRPr>
          </a:p>
        </p:txBody>
      </p:sp>
      <p:sp>
        <p:nvSpPr>
          <p:cNvPr id="241"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ИСПОЛЬЗОВАТЬ КОГДА</a:t>
            </a:r>
            <a:endParaRPr lang="en-US" sz="2000" b="0" u="none" strike="noStrike">
              <a:solidFill>
                <a:srgbClr val="FFFFFF"/>
              </a:solidFill>
              <a:effectLst/>
              <a:uFillTx/>
              <a:latin typeface="Arial"/>
            </a:endParaRPr>
          </a:p>
        </p:txBody>
      </p:sp>
      <p:sp>
        <p:nvSpPr>
          <p:cNvPr id="242"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Кеши, хранилища сессий, ограничители частоты запросов, таблицы лидеров.</a:t>
            </a:r>
            <a:endParaRPr lang="en-US" sz="2400" b="0" u="none" strike="noStrike">
              <a:solidFill>
                <a:srgbClr val="FFFFFF"/>
              </a:solidFill>
              <a:effectLst/>
              <a:uFillTx/>
              <a:latin typeface="Arial"/>
            </a:endParaRPr>
          </a:p>
        </p:txBody>
      </p:sp>
      <p:sp>
        <p:nvSpPr>
          <p:cNvPr id="243"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4"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ПОДВОХ БЕЗОПАСНОСТИ</a:t>
            </a:r>
            <a:endParaRPr lang="en-US" sz="2000" b="0" u="none" strike="noStrike">
              <a:solidFill>
                <a:srgbClr val="FFFFFF"/>
              </a:solidFill>
              <a:effectLst/>
              <a:uFillTx/>
              <a:latin typeface="Arial"/>
            </a:endParaRPr>
          </a:p>
        </p:txBody>
      </p:sp>
      <p:sp>
        <p:nvSpPr>
          <p:cNvPr id="245"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Redis без аутентификации по умолчанию + CONFIG SET → запись SSH-ключей на диск.</a:t>
            </a:r>
            <a:endParaRPr lang="en-US" sz="2400" b="0" u="none" strike="noStrike">
              <a:solidFill>
                <a:srgbClr val="FFFFFF"/>
              </a:solidFill>
              <a:effectLst/>
              <a:uFillTx/>
              <a:latin typeface="Arial"/>
            </a:endParaRPr>
          </a:p>
        </p:txBody>
      </p:sp>
      <p:sp>
        <p:nvSpPr>
          <p:cNvPr id="246"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247"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10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48" name="Oval 1" descr="Family card #4: Column-Family. Products: Apache Cassandra  •  HBase  •  ScyllaDB. Use case: Massive scale across many machines; no complex joins needed.. Security gotcha: Clusters trust each other on gossip ports — mgmt network = root.." title="Family card #4: Column-Family. Products: Apache Cassandra  •  HBase  •  ScyllaDB"/>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9"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4</a:t>
            </a:r>
            <a:endParaRPr lang="en-US" sz="4400" b="0" u="none" strike="noStrike">
              <a:solidFill>
                <a:srgbClr val="FFFFFF"/>
              </a:solidFill>
              <a:effectLst/>
              <a:uFillTx/>
              <a:latin typeface="Arial"/>
            </a:endParaRPr>
          </a:p>
        </p:txBody>
      </p:sp>
      <p:sp>
        <p:nvSpPr>
          <p:cNvPr id="250"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Семейства столбцов</a:t>
            </a:r>
            <a:endParaRPr lang="en-US" sz="4600" b="0" u="none" strike="noStrike">
              <a:solidFill>
                <a:srgbClr val="FFFFFF"/>
              </a:solidFill>
              <a:effectLst/>
              <a:uFillTx/>
              <a:latin typeface="Arial"/>
            </a:endParaRPr>
          </a:p>
        </p:txBody>
      </p:sp>
      <p:sp>
        <p:nvSpPr>
          <p:cNvPr id="251"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52"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ПРОДУКТЫ</a:t>
            </a:r>
            <a:endParaRPr lang="en-US" sz="2000" b="0" u="none" strike="noStrike">
              <a:solidFill>
                <a:srgbClr val="FFFFFF"/>
              </a:solidFill>
              <a:effectLst/>
              <a:uFillTx/>
              <a:latin typeface="Arial"/>
            </a:endParaRPr>
          </a:p>
        </p:txBody>
      </p:sp>
      <p:sp>
        <p:nvSpPr>
          <p:cNvPr id="253"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Apache Cassandra  •  HBase  •  ScyllaDB</a:t>
            </a:r>
            <a:endParaRPr lang="en-US" sz="2800" b="0" u="none" strike="noStrike">
              <a:solidFill>
                <a:srgbClr val="FFFFFF"/>
              </a:solidFill>
              <a:effectLst/>
              <a:uFillTx/>
              <a:latin typeface="Arial"/>
            </a:endParaRPr>
          </a:p>
        </p:txBody>
      </p:sp>
      <p:sp>
        <p:nvSpPr>
          <p:cNvPr id="254"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ИСПОЛЬЗОВАТЬ КОГДА</a:t>
            </a:r>
            <a:endParaRPr lang="en-US" sz="2000" b="0" u="none" strike="noStrike">
              <a:solidFill>
                <a:srgbClr val="FFFFFF"/>
              </a:solidFill>
              <a:effectLst/>
              <a:uFillTx/>
              <a:latin typeface="Arial"/>
            </a:endParaRPr>
          </a:p>
        </p:txBody>
      </p:sp>
      <p:sp>
        <p:nvSpPr>
          <p:cNvPr id="255"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Огромный масштаб на множестве машин; сложные соединения не нужны.</a:t>
            </a:r>
            <a:endParaRPr lang="en-US" sz="2400" b="0" u="none" strike="noStrike">
              <a:solidFill>
                <a:srgbClr val="FFFFFF"/>
              </a:solidFill>
              <a:effectLst/>
              <a:uFillTx/>
              <a:latin typeface="Arial"/>
            </a:endParaRPr>
          </a:p>
        </p:txBody>
      </p:sp>
      <p:sp>
        <p:nvSpPr>
          <p:cNvPr id="256"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7"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ПОДВОХ БЕЗОПАСНОСТИ</a:t>
            </a:r>
            <a:endParaRPr lang="en-US" sz="2000" b="0" u="none" strike="noStrike">
              <a:solidFill>
                <a:srgbClr val="FFFFFF"/>
              </a:solidFill>
              <a:effectLst/>
              <a:uFillTx/>
              <a:latin typeface="Arial"/>
            </a:endParaRPr>
          </a:p>
        </p:txBody>
      </p:sp>
      <p:sp>
        <p:nvSpPr>
          <p:cNvPr id="258"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Кластеры доверяют друг другу по gossip-портам — сеть управления = root.</a:t>
            </a:r>
            <a:endParaRPr lang="en-US" sz="2400" b="0" u="none" strike="noStrike">
              <a:solidFill>
                <a:srgbClr val="FFFFFF"/>
              </a:solidFill>
              <a:effectLst/>
              <a:uFillTx/>
              <a:latin typeface="Arial"/>
            </a:endParaRPr>
          </a:p>
        </p:txBody>
      </p:sp>
      <p:sp>
        <p:nvSpPr>
          <p:cNvPr id="259"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260"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11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61" name="Oval 1" descr="Family card #5: Graph Databases. Products: Neo4j  •  Amazon Neptune  •  ArangoDB. Use case: Social networks, fraud detection, IAM analysis (e.g. BloodHound).. Security gotcha: Query languages like Cypher are injectable too. NoSQLi isn't just Mongo.." title="Family card #5: Graph Databases. Products: Neo4j  •  Amazon Neptune  •  ArangoDB"/>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2"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5</a:t>
            </a:r>
            <a:endParaRPr lang="en-US" sz="4400" b="0" u="none" strike="noStrike">
              <a:solidFill>
                <a:srgbClr val="FFFFFF"/>
              </a:solidFill>
              <a:effectLst/>
              <a:uFillTx/>
              <a:latin typeface="Arial"/>
            </a:endParaRPr>
          </a:p>
        </p:txBody>
      </p:sp>
      <p:sp>
        <p:nvSpPr>
          <p:cNvPr id="263"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Графовые базы данных</a:t>
            </a:r>
            <a:endParaRPr lang="en-US" sz="4600" b="0" u="none" strike="noStrike">
              <a:solidFill>
                <a:srgbClr val="FFFFFF"/>
              </a:solidFill>
              <a:effectLst/>
              <a:uFillTx/>
              <a:latin typeface="Arial"/>
            </a:endParaRPr>
          </a:p>
        </p:txBody>
      </p:sp>
      <p:sp>
        <p:nvSpPr>
          <p:cNvPr id="264"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65"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ПРОДУКТЫ</a:t>
            </a:r>
            <a:endParaRPr lang="en-US" sz="2000" b="0" u="none" strike="noStrike">
              <a:solidFill>
                <a:srgbClr val="FFFFFF"/>
              </a:solidFill>
              <a:effectLst/>
              <a:uFillTx/>
              <a:latin typeface="Arial"/>
            </a:endParaRPr>
          </a:p>
        </p:txBody>
      </p:sp>
      <p:sp>
        <p:nvSpPr>
          <p:cNvPr id="266"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Neo4j  •  Amazon Neptune  •  ArangoDB</a:t>
            </a:r>
            <a:endParaRPr lang="en-US" sz="2800" b="0" u="none" strike="noStrike">
              <a:solidFill>
                <a:srgbClr val="FFFFFF"/>
              </a:solidFill>
              <a:effectLst/>
              <a:uFillTx/>
              <a:latin typeface="Arial"/>
            </a:endParaRPr>
          </a:p>
        </p:txBody>
      </p:sp>
      <p:sp>
        <p:nvSpPr>
          <p:cNvPr id="267"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ИСПОЛЬЗОВАТЬ КОГДА</a:t>
            </a:r>
            <a:endParaRPr lang="en-US" sz="2000" b="0" u="none" strike="noStrike">
              <a:solidFill>
                <a:srgbClr val="FFFFFF"/>
              </a:solidFill>
              <a:effectLst/>
              <a:uFillTx/>
              <a:latin typeface="Arial"/>
            </a:endParaRPr>
          </a:p>
        </p:txBody>
      </p:sp>
      <p:sp>
        <p:nvSpPr>
          <p:cNvPr id="268"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Социальные сети, обнаружение мошенничества, анализ IAM (например, BloodHound).</a:t>
            </a:r>
            <a:endParaRPr lang="en-US" sz="2400" b="0" u="none" strike="noStrike">
              <a:solidFill>
                <a:srgbClr val="FFFFFF"/>
              </a:solidFill>
              <a:effectLst/>
              <a:uFillTx/>
              <a:latin typeface="Arial"/>
            </a:endParaRPr>
          </a:p>
        </p:txBody>
      </p:sp>
      <p:sp>
        <p:nvSpPr>
          <p:cNvPr id="269"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0"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ПОДВОХ БЕЗОПАСНОСТИ</a:t>
            </a:r>
            <a:endParaRPr lang="en-US" sz="2000" b="0" u="none" strike="noStrike">
              <a:solidFill>
                <a:srgbClr val="FFFFFF"/>
              </a:solidFill>
              <a:effectLst/>
              <a:uFillTx/>
              <a:latin typeface="Arial"/>
            </a:endParaRPr>
          </a:p>
        </p:txBody>
      </p:sp>
      <p:sp>
        <p:nvSpPr>
          <p:cNvPr id="271"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Языки запросов вроде Cypher тоже уязвимы к инъекциям. NoSQLi — это не только Mongo.</a:t>
            </a:r>
            <a:endParaRPr lang="en-US" sz="2400" b="0" u="none" strike="noStrike">
              <a:solidFill>
                <a:srgbClr val="FFFFFF"/>
              </a:solidFill>
              <a:effectLst/>
              <a:uFillTx/>
              <a:latin typeface="Arial"/>
            </a:endParaRPr>
          </a:p>
        </p:txBody>
      </p:sp>
      <p:sp>
        <p:nvSpPr>
          <p:cNvPr id="272"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273"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12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74" name="Oval 1" descr="Family card #6: Search Engines. Products: Elasticsearch  •  OpenSearch  •  Solr. Use case: Log search, SIEM backbones, e-commerce site search.. Security gotcha: No built-in auth historically — billions of records exposed on Shodan.." title="Family card #6: Search Engines. Products: Elasticsearch  •  OpenSearch  •  Solr."/>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5"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6</a:t>
            </a:r>
            <a:endParaRPr lang="en-US" sz="4400" b="0" u="none" strike="noStrike">
              <a:solidFill>
                <a:srgbClr val="FFFFFF"/>
              </a:solidFill>
              <a:effectLst/>
              <a:uFillTx/>
              <a:latin typeface="Arial"/>
            </a:endParaRPr>
          </a:p>
        </p:txBody>
      </p:sp>
      <p:sp>
        <p:nvSpPr>
          <p:cNvPr id="276"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Поисковые движки</a:t>
            </a:r>
            <a:endParaRPr lang="en-US" sz="4600" b="0" u="none" strike="noStrike">
              <a:solidFill>
                <a:srgbClr val="FFFFFF"/>
              </a:solidFill>
              <a:effectLst/>
              <a:uFillTx/>
              <a:latin typeface="Arial"/>
            </a:endParaRPr>
          </a:p>
        </p:txBody>
      </p:sp>
      <p:sp>
        <p:nvSpPr>
          <p:cNvPr id="277"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78"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ПРОДУКТЫ</a:t>
            </a:r>
            <a:endParaRPr lang="en-US" sz="2000" b="0" u="none" strike="noStrike">
              <a:solidFill>
                <a:srgbClr val="FFFFFF"/>
              </a:solidFill>
              <a:effectLst/>
              <a:uFillTx/>
              <a:latin typeface="Arial"/>
            </a:endParaRPr>
          </a:p>
        </p:txBody>
      </p:sp>
      <p:sp>
        <p:nvSpPr>
          <p:cNvPr id="279" name="TextBox 6"/>
          <p:cNvSpPr/>
          <p:nvPr/>
        </p:nvSpPr>
        <p:spPr>
          <a:xfrm>
            <a:off x="457200" y="2103120"/>
            <a:ext cx="11246760" cy="517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ea typeface="Arial Unicode MS"/>
              </a:rPr>
              <a:t>Elasticsearch  •  OpenSearch  •  Solr </a:t>
            </a:r>
            <a:endParaRPr lang="en-US" sz="2800" b="0" u="none" strike="noStrike">
              <a:solidFill>
                <a:srgbClr val="FFFFFF"/>
              </a:solidFill>
              <a:effectLst/>
              <a:uFillTx/>
              <a:latin typeface="Arial"/>
            </a:endParaRPr>
          </a:p>
        </p:txBody>
      </p:sp>
      <p:sp>
        <p:nvSpPr>
          <p:cNvPr id="280"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ИСПОЛЬЗОВАТЬ КОГДА</a:t>
            </a:r>
            <a:endParaRPr lang="en-US" sz="2000" b="0" u="none" strike="noStrike">
              <a:solidFill>
                <a:srgbClr val="FFFFFF"/>
              </a:solidFill>
              <a:effectLst/>
              <a:uFillTx/>
              <a:latin typeface="Arial"/>
            </a:endParaRPr>
          </a:p>
        </p:txBody>
      </p:sp>
      <p:sp>
        <p:nvSpPr>
          <p:cNvPr id="281"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Поиск по логам, основа SIEM, поиск на сайтах электронной коммерции.</a:t>
            </a:r>
            <a:endParaRPr lang="en-US" sz="2400" b="0" u="none" strike="noStrike">
              <a:solidFill>
                <a:srgbClr val="FFFFFF"/>
              </a:solidFill>
              <a:effectLst/>
              <a:uFillTx/>
              <a:latin typeface="Arial"/>
            </a:endParaRPr>
          </a:p>
        </p:txBody>
      </p:sp>
      <p:sp>
        <p:nvSpPr>
          <p:cNvPr id="282"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83"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ПОДВОХ БЕЗОПАСНОСТИ</a:t>
            </a:r>
            <a:endParaRPr lang="en-US" sz="2000" b="0" u="none" strike="noStrike">
              <a:solidFill>
                <a:srgbClr val="FFFFFF"/>
              </a:solidFill>
              <a:effectLst/>
              <a:uFillTx/>
              <a:latin typeface="Arial"/>
            </a:endParaRPr>
          </a:p>
        </p:txBody>
      </p:sp>
      <p:sp>
        <p:nvSpPr>
          <p:cNvPr id="284"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Исторически без встроенной аутентификации — миллиарды записей открыты в Shodan.</a:t>
            </a:r>
            <a:endParaRPr lang="en-US" sz="2400" b="0" u="none" strike="noStrike">
              <a:solidFill>
                <a:srgbClr val="FFFFFF"/>
              </a:solidFill>
              <a:effectLst/>
              <a:uFillTx/>
              <a:latin typeface="Arial"/>
            </a:endParaRPr>
          </a:p>
        </p:txBody>
      </p:sp>
      <p:sp>
        <p:nvSpPr>
          <p:cNvPr id="285"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286"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13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87" name="Oval 1" descr="Family card #7: Time-Series. Products: InfluxDB  •  TimescaleDB  •  Prometheus. Use case: Metrics, observability, IoT telemetry.. Security gotcha: Usually inside the perimeter, often unauthenticated.." title="Family card #7: Time-Series. Products: InfluxDB  •  TimescaleDB  •  Prometheus. "/>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88"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7</a:t>
            </a:r>
            <a:endParaRPr lang="en-US" sz="4400" b="0" u="none" strike="noStrike">
              <a:solidFill>
                <a:srgbClr val="FFFFFF"/>
              </a:solidFill>
              <a:effectLst/>
              <a:uFillTx/>
              <a:latin typeface="Arial"/>
            </a:endParaRPr>
          </a:p>
        </p:txBody>
      </p:sp>
      <p:sp>
        <p:nvSpPr>
          <p:cNvPr id="289"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Временные ряды</a:t>
            </a:r>
            <a:endParaRPr lang="en-US" sz="4600" b="0" u="none" strike="noStrike">
              <a:solidFill>
                <a:srgbClr val="FFFFFF"/>
              </a:solidFill>
              <a:effectLst/>
              <a:uFillTx/>
              <a:latin typeface="Arial"/>
            </a:endParaRPr>
          </a:p>
        </p:txBody>
      </p:sp>
      <p:sp>
        <p:nvSpPr>
          <p:cNvPr id="290"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91"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ПРОДУКТЫ</a:t>
            </a:r>
            <a:endParaRPr lang="en-US" sz="2000" b="0" u="none" strike="noStrike">
              <a:solidFill>
                <a:srgbClr val="FFFFFF"/>
              </a:solidFill>
              <a:effectLst/>
              <a:uFillTx/>
              <a:latin typeface="Arial"/>
            </a:endParaRPr>
          </a:p>
        </p:txBody>
      </p:sp>
      <p:sp>
        <p:nvSpPr>
          <p:cNvPr id="292"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InfluxDB  •  TimescaleDB  •  Prometheus</a:t>
            </a:r>
            <a:endParaRPr lang="en-US" sz="2800" b="0" u="none" strike="noStrike">
              <a:solidFill>
                <a:srgbClr val="FFFFFF"/>
              </a:solidFill>
              <a:effectLst/>
              <a:uFillTx/>
              <a:latin typeface="Arial"/>
            </a:endParaRPr>
          </a:p>
        </p:txBody>
      </p:sp>
      <p:sp>
        <p:nvSpPr>
          <p:cNvPr id="293"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ИСПОЛЬЗОВАТЬ КОГДА</a:t>
            </a:r>
            <a:endParaRPr lang="en-US" sz="2000" b="0" u="none" strike="noStrike">
              <a:solidFill>
                <a:srgbClr val="FFFFFF"/>
              </a:solidFill>
              <a:effectLst/>
              <a:uFillTx/>
              <a:latin typeface="Arial"/>
            </a:endParaRPr>
          </a:p>
        </p:txBody>
      </p:sp>
      <p:sp>
        <p:nvSpPr>
          <p:cNvPr id="294"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Метрики, наблюдаемость, телеметрия IoT.</a:t>
            </a:r>
            <a:endParaRPr lang="en-US" sz="2400" b="0" u="none" strike="noStrike">
              <a:solidFill>
                <a:srgbClr val="FFFFFF"/>
              </a:solidFill>
              <a:effectLst/>
              <a:uFillTx/>
              <a:latin typeface="Arial"/>
            </a:endParaRPr>
          </a:p>
        </p:txBody>
      </p:sp>
      <p:sp>
        <p:nvSpPr>
          <p:cNvPr id="295"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96"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ПОДВОХ БЕЗОПАСНОСТИ</a:t>
            </a:r>
            <a:endParaRPr lang="en-US" sz="2000" b="0" u="none" strike="noStrike">
              <a:solidFill>
                <a:srgbClr val="FFFFFF"/>
              </a:solidFill>
              <a:effectLst/>
              <a:uFillTx/>
              <a:latin typeface="Arial"/>
            </a:endParaRPr>
          </a:p>
        </p:txBody>
      </p:sp>
      <p:sp>
        <p:nvSpPr>
          <p:cNvPr id="297"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Обычно внутри периметра, часто без аутентификации.</a:t>
            </a:r>
            <a:endParaRPr lang="en-US" sz="2400" b="0" u="none" strike="noStrike">
              <a:solidFill>
                <a:srgbClr val="FFFFFF"/>
              </a:solidFill>
              <a:effectLst/>
              <a:uFillTx/>
              <a:latin typeface="Arial"/>
            </a:endParaRPr>
          </a:p>
        </p:txBody>
      </p:sp>
      <p:sp>
        <p:nvSpPr>
          <p:cNvPr id="298"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299"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14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300" name="Oval 1" descr="Family card #8: Vector Databases. Products: Pinecone  •  Milvus  •  Weaviate  •  pgvector. Use case: RAG, recommendation engines, semantic search.. Security gotcha: Data poisoning — sneak in a doc, the LLM quotes it as truth.." title="Family card #8: Vector Databases. Products: Pinecone  •  Milvus  •  Weaviate  • "/>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01"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8</a:t>
            </a:r>
            <a:endParaRPr lang="en-US" sz="4400" b="0" u="none" strike="noStrike">
              <a:solidFill>
                <a:srgbClr val="FFFFFF"/>
              </a:solidFill>
              <a:effectLst/>
              <a:uFillTx/>
              <a:latin typeface="Arial"/>
            </a:endParaRPr>
          </a:p>
        </p:txBody>
      </p:sp>
      <p:sp>
        <p:nvSpPr>
          <p:cNvPr id="302"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Векторные базы данных</a:t>
            </a:r>
            <a:endParaRPr lang="en-US" sz="4600" b="0" u="none" strike="noStrike">
              <a:solidFill>
                <a:srgbClr val="FFFFFF"/>
              </a:solidFill>
              <a:effectLst/>
              <a:uFillTx/>
              <a:latin typeface="Arial"/>
            </a:endParaRPr>
          </a:p>
        </p:txBody>
      </p:sp>
      <p:sp>
        <p:nvSpPr>
          <p:cNvPr id="303"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304"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ПРОДУКТЫ</a:t>
            </a:r>
            <a:endParaRPr lang="en-US" sz="2000" b="0" u="none" strike="noStrike">
              <a:solidFill>
                <a:srgbClr val="FFFFFF"/>
              </a:solidFill>
              <a:effectLst/>
              <a:uFillTx/>
              <a:latin typeface="Arial"/>
            </a:endParaRPr>
          </a:p>
        </p:txBody>
      </p:sp>
      <p:sp>
        <p:nvSpPr>
          <p:cNvPr id="305"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Pinecone  •  Milvus  •  Weaviate  •  pgvector</a:t>
            </a:r>
            <a:endParaRPr lang="en-US" sz="2800" b="0" u="none" strike="noStrike">
              <a:solidFill>
                <a:srgbClr val="FFFFFF"/>
              </a:solidFill>
              <a:effectLst/>
              <a:uFillTx/>
              <a:latin typeface="Arial"/>
            </a:endParaRPr>
          </a:p>
        </p:txBody>
      </p:sp>
      <p:sp>
        <p:nvSpPr>
          <p:cNvPr id="306"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ИСПОЛЬЗОВАТЬ КОГДА</a:t>
            </a:r>
            <a:endParaRPr lang="en-US" sz="2000" b="0" u="none" strike="noStrike">
              <a:solidFill>
                <a:srgbClr val="FFFFFF"/>
              </a:solidFill>
              <a:effectLst/>
              <a:uFillTx/>
              <a:latin typeface="Arial"/>
            </a:endParaRPr>
          </a:p>
        </p:txBody>
      </p:sp>
      <p:sp>
        <p:nvSpPr>
          <p:cNvPr id="307"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RAG, рекомендательные системы, семантический поиск.</a:t>
            </a:r>
            <a:endParaRPr lang="en-US" sz="2400" b="0" u="none" strike="noStrike">
              <a:solidFill>
                <a:srgbClr val="FFFFFF"/>
              </a:solidFill>
              <a:effectLst/>
              <a:uFillTx/>
              <a:latin typeface="Arial"/>
            </a:endParaRPr>
          </a:p>
        </p:txBody>
      </p:sp>
      <p:sp>
        <p:nvSpPr>
          <p:cNvPr id="308"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09"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ПОДВОХ БЕЗОПАСНОСТИ</a:t>
            </a:r>
            <a:endParaRPr lang="en-US" sz="2000" b="0" u="none" strike="noStrike">
              <a:solidFill>
                <a:srgbClr val="FFFFFF"/>
              </a:solidFill>
              <a:effectLst/>
              <a:uFillTx/>
              <a:latin typeface="Arial"/>
            </a:endParaRPr>
          </a:p>
        </p:txBody>
      </p:sp>
      <p:sp>
        <p:nvSpPr>
          <p:cNvPr id="310"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Отравление данных — подсунь документ, и LLM цитирует его как истину.</a:t>
            </a:r>
            <a:endParaRPr lang="en-US" sz="2400" b="0" u="none" strike="noStrike">
              <a:solidFill>
                <a:srgbClr val="FFFFFF"/>
              </a:solidFill>
              <a:effectLst/>
              <a:uFillTx/>
              <a:latin typeface="Arial"/>
            </a:endParaRPr>
          </a:p>
        </p:txBody>
      </p:sp>
      <p:sp>
        <p:nvSpPr>
          <p:cNvPr id="311"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312"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15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313" name="Oval 1" descr="Family card #9: Embedded / Edge. Products: SQLite  •  DuckDB  •  LevelDB. Use case: In-app storage — browsers, phones, every modern airplane.. Security gotcha: DB is a file — attack is 'steal the file'. Mobile pentest world.." title="Family card #9: Embedded / Edge. Products: SQLite  •  DuckDB  •  LevelDB. Use ca"/>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14"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9</a:t>
            </a:r>
            <a:endParaRPr lang="en-US" sz="4400" b="0" u="none" strike="noStrike">
              <a:solidFill>
                <a:srgbClr val="FFFFFF"/>
              </a:solidFill>
              <a:effectLst/>
              <a:uFillTx/>
              <a:latin typeface="Arial"/>
            </a:endParaRPr>
          </a:p>
        </p:txBody>
      </p:sp>
      <p:sp>
        <p:nvSpPr>
          <p:cNvPr id="315"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Встраиваемые / граничные</a:t>
            </a:r>
            <a:endParaRPr lang="en-US" sz="4600" b="0" u="none" strike="noStrike">
              <a:solidFill>
                <a:srgbClr val="FFFFFF"/>
              </a:solidFill>
              <a:effectLst/>
              <a:uFillTx/>
              <a:latin typeface="Arial"/>
            </a:endParaRPr>
          </a:p>
        </p:txBody>
      </p:sp>
      <p:sp>
        <p:nvSpPr>
          <p:cNvPr id="316"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317"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ПРОДУКТЫ</a:t>
            </a:r>
            <a:endParaRPr lang="en-US" sz="2000" b="0" u="none" strike="noStrike">
              <a:solidFill>
                <a:srgbClr val="FFFFFF"/>
              </a:solidFill>
              <a:effectLst/>
              <a:uFillTx/>
              <a:latin typeface="Arial"/>
            </a:endParaRPr>
          </a:p>
        </p:txBody>
      </p:sp>
      <p:sp>
        <p:nvSpPr>
          <p:cNvPr id="318"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SQLite  •  DuckDB  •  LevelDB</a:t>
            </a:r>
            <a:endParaRPr lang="en-US" sz="2800" b="0" u="none" strike="noStrike">
              <a:solidFill>
                <a:srgbClr val="FFFFFF"/>
              </a:solidFill>
              <a:effectLst/>
              <a:uFillTx/>
              <a:latin typeface="Arial"/>
            </a:endParaRPr>
          </a:p>
        </p:txBody>
      </p:sp>
      <p:sp>
        <p:nvSpPr>
          <p:cNvPr id="319"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ИСПОЛЬЗОВАТЬ КОГДА</a:t>
            </a:r>
            <a:endParaRPr lang="en-US" sz="2000" b="0" u="none" strike="noStrike">
              <a:solidFill>
                <a:srgbClr val="FFFFFF"/>
              </a:solidFill>
              <a:effectLst/>
              <a:uFillTx/>
              <a:latin typeface="Arial"/>
            </a:endParaRPr>
          </a:p>
        </p:txBody>
      </p:sp>
      <p:sp>
        <p:nvSpPr>
          <p:cNvPr id="320"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Хранилище внутри приложения — браузеры, телефоны, каждый современный самолёт.</a:t>
            </a:r>
            <a:endParaRPr lang="en-US" sz="2400" b="0" u="none" strike="noStrike">
              <a:solidFill>
                <a:srgbClr val="FFFFFF"/>
              </a:solidFill>
              <a:effectLst/>
              <a:uFillTx/>
              <a:latin typeface="Arial"/>
            </a:endParaRPr>
          </a:p>
        </p:txBody>
      </p:sp>
      <p:sp>
        <p:nvSpPr>
          <p:cNvPr id="321"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22"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ПОДВОХ БЕЗОПАСНОСТИ</a:t>
            </a:r>
            <a:endParaRPr lang="en-US" sz="2000" b="0" u="none" strike="noStrike">
              <a:solidFill>
                <a:srgbClr val="FFFFFF"/>
              </a:solidFill>
              <a:effectLst/>
              <a:uFillTx/>
              <a:latin typeface="Arial"/>
            </a:endParaRPr>
          </a:p>
        </p:txBody>
      </p:sp>
      <p:sp>
        <p:nvSpPr>
          <p:cNvPr id="323"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БД — это файл, атака — «укради файл». Мир мобильного пентеста.</a:t>
            </a:r>
            <a:endParaRPr lang="en-US" sz="2400" b="0" u="none" strike="noStrike">
              <a:solidFill>
                <a:srgbClr val="FFFFFF"/>
              </a:solidFill>
              <a:effectLst/>
              <a:uFillTx/>
              <a:latin typeface="Arial"/>
            </a:endParaRPr>
          </a:p>
        </p:txBody>
      </p:sp>
      <p:sp>
        <p:nvSpPr>
          <p:cNvPr id="324"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325"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16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326" name="Oval 1" descr="Family card #10: Data Lakes / Lakehouses. Products: S3 + Athena  •  Delta Lake  •  Iceberg  •  Snowflake. Use case: Schema-on-read instead of schema-on-write. Dump now, query later.. Security gotcha: Giant S3 pools + permissive IAM, no encryption-at-rest enforcement.." title="Family card #10: Data Lakes / Lakehouses. Products: S3 + Athena  •  Delta Lake  "/>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27"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10</a:t>
            </a:r>
            <a:endParaRPr lang="en-US" sz="4400" b="0" u="none" strike="noStrike">
              <a:solidFill>
                <a:srgbClr val="FFFFFF"/>
              </a:solidFill>
              <a:effectLst/>
              <a:uFillTx/>
              <a:latin typeface="Arial"/>
            </a:endParaRPr>
          </a:p>
        </p:txBody>
      </p:sp>
      <p:sp>
        <p:nvSpPr>
          <p:cNvPr id="328"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Озёра данных / Lakehouse</a:t>
            </a:r>
            <a:endParaRPr lang="en-US" sz="4600" b="0" u="none" strike="noStrike">
              <a:solidFill>
                <a:srgbClr val="FFFFFF"/>
              </a:solidFill>
              <a:effectLst/>
              <a:uFillTx/>
              <a:latin typeface="Arial"/>
            </a:endParaRPr>
          </a:p>
        </p:txBody>
      </p:sp>
      <p:sp>
        <p:nvSpPr>
          <p:cNvPr id="329"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330"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ПРОДУКТЫ</a:t>
            </a:r>
            <a:endParaRPr lang="en-US" sz="2000" b="0" u="none" strike="noStrike">
              <a:solidFill>
                <a:srgbClr val="FFFFFF"/>
              </a:solidFill>
              <a:effectLst/>
              <a:uFillTx/>
              <a:latin typeface="Arial"/>
            </a:endParaRPr>
          </a:p>
        </p:txBody>
      </p:sp>
      <p:sp>
        <p:nvSpPr>
          <p:cNvPr id="331"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S3 + Athena  •  Delta Lake  •  Iceberg  •  Snowflake</a:t>
            </a:r>
            <a:endParaRPr lang="en-US" sz="2800" b="0" u="none" strike="noStrike">
              <a:solidFill>
                <a:srgbClr val="FFFFFF"/>
              </a:solidFill>
              <a:effectLst/>
              <a:uFillTx/>
              <a:latin typeface="Arial"/>
            </a:endParaRPr>
          </a:p>
        </p:txBody>
      </p:sp>
      <p:sp>
        <p:nvSpPr>
          <p:cNvPr id="332"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ИСПОЛЬЗОВАТЬ КОГДА</a:t>
            </a:r>
            <a:endParaRPr lang="en-US" sz="2000" b="0" u="none" strike="noStrike">
              <a:solidFill>
                <a:srgbClr val="FFFFFF"/>
              </a:solidFill>
              <a:effectLst/>
              <a:uFillTx/>
              <a:latin typeface="Arial"/>
            </a:endParaRPr>
          </a:p>
        </p:txBody>
      </p:sp>
      <p:sp>
        <p:nvSpPr>
          <p:cNvPr id="333"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Схема-при-чтении вместо схемы-при-записи. Сохрани сейчас, запроси потом.</a:t>
            </a:r>
            <a:endParaRPr lang="en-US" sz="2400" b="0" u="none" strike="noStrike">
              <a:solidFill>
                <a:srgbClr val="FFFFFF"/>
              </a:solidFill>
              <a:effectLst/>
              <a:uFillTx/>
              <a:latin typeface="Arial"/>
            </a:endParaRPr>
          </a:p>
        </p:txBody>
      </p:sp>
      <p:sp>
        <p:nvSpPr>
          <p:cNvPr id="334"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35"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ПОДВОХ БЕЗОПАСНОСТИ</a:t>
            </a:r>
            <a:endParaRPr lang="en-US" sz="2000" b="0" u="none" strike="noStrike">
              <a:solidFill>
                <a:srgbClr val="FFFFFF"/>
              </a:solidFill>
              <a:effectLst/>
              <a:uFillTx/>
              <a:latin typeface="Arial"/>
            </a:endParaRPr>
          </a:p>
        </p:txBody>
      </p:sp>
      <p:sp>
        <p:nvSpPr>
          <p:cNvPr id="336"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Гигантские пулы S3 + разрешительный IAM, без принудительного шифрования данных в покое.</a:t>
            </a:r>
            <a:endParaRPr lang="en-US" sz="2400" b="0" u="none" strike="noStrike">
              <a:solidFill>
                <a:srgbClr val="FFFFFF"/>
              </a:solidFill>
              <a:effectLst/>
              <a:uFillTx/>
              <a:latin typeface="Arial"/>
            </a:endParaRPr>
          </a:p>
        </p:txBody>
      </p:sp>
      <p:sp>
        <p:nvSpPr>
          <p:cNvPr id="337"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338"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17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339" name="TextBox 1" descr="Three-column comparison of database services across AWS, GCP, and Azure: relational, document, warehouse, cache, graph, time-series, and object storage." title="Three-column comparison of database services across AWS, GCP, and Azure: relatio"/>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Облачные сервисы БД — общая картина</a:t>
            </a:r>
            <a:endParaRPr lang="en-US" sz="4200" b="0" u="none" strike="noStrike">
              <a:solidFill>
                <a:srgbClr val="FFFFFF"/>
              </a:solidFill>
              <a:effectLst/>
              <a:uFillTx/>
              <a:latin typeface="Arial"/>
            </a:endParaRPr>
          </a:p>
        </p:txBody>
      </p:sp>
      <p:sp>
        <p:nvSpPr>
          <p:cNvPr id="340"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341" name="Rectangle 3"/>
          <p:cNvSpPr/>
          <p:nvPr/>
        </p:nvSpPr>
        <p:spPr>
          <a:xfrm>
            <a:off x="457200" y="1554480"/>
            <a:ext cx="3748680" cy="63972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42" name="TextBox 4"/>
          <p:cNvSpPr/>
          <p:nvPr/>
        </p:nvSpPr>
        <p:spPr>
          <a:xfrm>
            <a:off x="457200" y="1600200"/>
            <a:ext cx="3748680" cy="54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200" b="1" u="none" strike="noStrike">
                <a:solidFill>
                  <a:srgbClr val="1A1A2E"/>
                </a:solidFill>
                <a:effectLst/>
                <a:uFillTx/>
                <a:latin typeface="Calibri"/>
              </a:rPr>
              <a:t>AWS</a:t>
            </a:r>
            <a:endParaRPr lang="en-US" sz="3200" b="0" u="none" strike="noStrike">
              <a:solidFill>
                <a:srgbClr val="FFFFFF"/>
              </a:solidFill>
              <a:effectLst/>
              <a:uFillTx/>
              <a:latin typeface="Arial"/>
            </a:endParaRPr>
          </a:p>
        </p:txBody>
      </p:sp>
      <p:sp>
        <p:nvSpPr>
          <p:cNvPr id="343" name="TextBox 5"/>
          <p:cNvSpPr/>
          <p:nvPr/>
        </p:nvSpPr>
        <p:spPr>
          <a:xfrm>
            <a:off x="548640" y="233172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RDS, Aurora</a:t>
            </a:r>
            <a:endParaRPr lang="en-US" sz="1800" b="0" u="none" strike="noStrike">
              <a:solidFill>
                <a:srgbClr val="FFFFFF"/>
              </a:solidFill>
              <a:effectLst/>
              <a:uFillTx/>
              <a:latin typeface="Arial"/>
            </a:endParaRPr>
          </a:p>
        </p:txBody>
      </p:sp>
      <p:sp>
        <p:nvSpPr>
          <p:cNvPr id="344" name="TextBox 6"/>
          <p:cNvSpPr/>
          <p:nvPr/>
        </p:nvSpPr>
        <p:spPr>
          <a:xfrm>
            <a:off x="548640" y="283464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DynamoDB, DocumentDB</a:t>
            </a:r>
            <a:endParaRPr lang="en-US" sz="1800" b="0" u="none" strike="noStrike">
              <a:solidFill>
                <a:srgbClr val="FFFFFF"/>
              </a:solidFill>
              <a:effectLst/>
              <a:uFillTx/>
              <a:latin typeface="Arial"/>
            </a:endParaRPr>
          </a:p>
        </p:txBody>
      </p:sp>
      <p:sp>
        <p:nvSpPr>
          <p:cNvPr id="345" name="TextBox 7"/>
          <p:cNvSpPr/>
          <p:nvPr/>
        </p:nvSpPr>
        <p:spPr>
          <a:xfrm>
            <a:off x="548640" y="333756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Redshift, S3 + Athena</a:t>
            </a:r>
            <a:endParaRPr lang="en-US" sz="1800" b="0" u="none" strike="noStrike">
              <a:solidFill>
                <a:srgbClr val="FFFFFF"/>
              </a:solidFill>
              <a:effectLst/>
              <a:uFillTx/>
              <a:latin typeface="Arial"/>
            </a:endParaRPr>
          </a:p>
        </p:txBody>
      </p:sp>
      <p:sp>
        <p:nvSpPr>
          <p:cNvPr id="346" name="TextBox 8"/>
          <p:cNvSpPr/>
          <p:nvPr/>
        </p:nvSpPr>
        <p:spPr>
          <a:xfrm>
            <a:off x="548640" y="384048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ElastiCache</a:t>
            </a:r>
            <a:endParaRPr lang="en-US" sz="1800" b="0" u="none" strike="noStrike">
              <a:solidFill>
                <a:srgbClr val="FFFFFF"/>
              </a:solidFill>
              <a:effectLst/>
              <a:uFillTx/>
              <a:latin typeface="Arial"/>
            </a:endParaRPr>
          </a:p>
        </p:txBody>
      </p:sp>
      <p:sp>
        <p:nvSpPr>
          <p:cNvPr id="347" name="TextBox 9"/>
          <p:cNvSpPr/>
          <p:nvPr/>
        </p:nvSpPr>
        <p:spPr>
          <a:xfrm>
            <a:off x="548640" y="434340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Neptune (граф)</a:t>
            </a:r>
            <a:endParaRPr lang="en-US" sz="1800" b="0" u="none" strike="noStrike">
              <a:solidFill>
                <a:srgbClr val="FFFFFF"/>
              </a:solidFill>
              <a:effectLst/>
              <a:uFillTx/>
              <a:latin typeface="Arial"/>
            </a:endParaRPr>
          </a:p>
        </p:txBody>
      </p:sp>
      <p:sp>
        <p:nvSpPr>
          <p:cNvPr id="348" name="TextBox 10"/>
          <p:cNvSpPr/>
          <p:nvPr/>
        </p:nvSpPr>
        <p:spPr>
          <a:xfrm>
            <a:off x="548640" y="484632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Timestream</a:t>
            </a:r>
            <a:endParaRPr lang="en-US" sz="1800" b="0" u="none" strike="noStrike">
              <a:solidFill>
                <a:srgbClr val="FFFFFF"/>
              </a:solidFill>
              <a:effectLst/>
              <a:uFillTx/>
              <a:latin typeface="Arial"/>
            </a:endParaRPr>
          </a:p>
        </p:txBody>
      </p:sp>
      <p:sp>
        <p:nvSpPr>
          <p:cNvPr id="349" name="TextBox 11"/>
          <p:cNvSpPr/>
          <p:nvPr/>
        </p:nvSpPr>
        <p:spPr>
          <a:xfrm>
            <a:off x="548640" y="534924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S3 (объектное хранилище)</a:t>
            </a:r>
            <a:endParaRPr lang="en-US" sz="1800" b="0" u="none" strike="noStrike">
              <a:solidFill>
                <a:srgbClr val="FFFFFF"/>
              </a:solidFill>
              <a:effectLst/>
              <a:uFillTx/>
              <a:latin typeface="Arial"/>
            </a:endParaRPr>
          </a:p>
        </p:txBody>
      </p:sp>
      <p:sp>
        <p:nvSpPr>
          <p:cNvPr id="350" name="Rectangle 12"/>
          <p:cNvSpPr/>
          <p:nvPr/>
        </p:nvSpPr>
        <p:spPr>
          <a:xfrm>
            <a:off x="4297680" y="1554480"/>
            <a:ext cx="3748680" cy="63972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51" name="TextBox 13"/>
          <p:cNvSpPr/>
          <p:nvPr/>
        </p:nvSpPr>
        <p:spPr>
          <a:xfrm>
            <a:off x="4297680" y="1600200"/>
            <a:ext cx="3748680" cy="54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200" b="1" u="none" strike="noStrike">
                <a:solidFill>
                  <a:srgbClr val="1A1A2E"/>
                </a:solidFill>
                <a:effectLst/>
                <a:uFillTx/>
                <a:latin typeface="Calibri"/>
              </a:rPr>
              <a:t>GCP</a:t>
            </a:r>
            <a:endParaRPr lang="en-US" sz="3200" b="0" u="none" strike="noStrike">
              <a:solidFill>
                <a:srgbClr val="FFFFFF"/>
              </a:solidFill>
              <a:effectLst/>
              <a:uFillTx/>
              <a:latin typeface="Arial"/>
            </a:endParaRPr>
          </a:p>
        </p:txBody>
      </p:sp>
      <p:sp>
        <p:nvSpPr>
          <p:cNvPr id="352" name="TextBox 14"/>
          <p:cNvSpPr/>
          <p:nvPr/>
        </p:nvSpPr>
        <p:spPr>
          <a:xfrm>
            <a:off x="4389120" y="233172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Cloud SQL, AlloyDB</a:t>
            </a:r>
            <a:endParaRPr lang="en-US" sz="1800" b="0" u="none" strike="noStrike">
              <a:solidFill>
                <a:srgbClr val="FFFFFF"/>
              </a:solidFill>
              <a:effectLst/>
              <a:uFillTx/>
              <a:latin typeface="Arial"/>
            </a:endParaRPr>
          </a:p>
        </p:txBody>
      </p:sp>
      <p:sp>
        <p:nvSpPr>
          <p:cNvPr id="353" name="TextBox 15"/>
          <p:cNvSpPr/>
          <p:nvPr/>
        </p:nvSpPr>
        <p:spPr>
          <a:xfrm>
            <a:off x="4389120" y="283464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Firestore, Bigtable</a:t>
            </a:r>
            <a:endParaRPr lang="en-US" sz="1800" b="0" u="none" strike="noStrike">
              <a:solidFill>
                <a:srgbClr val="FFFFFF"/>
              </a:solidFill>
              <a:effectLst/>
              <a:uFillTx/>
              <a:latin typeface="Arial"/>
            </a:endParaRPr>
          </a:p>
        </p:txBody>
      </p:sp>
      <p:sp>
        <p:nvSpPr>
          <p:cNvPr id="354" name="TextBox 16"/>
          <p:cNvSpPr/>
          <p:nvPr/>
        </p:nvSpPr>
        <p:spPr>
          <a:xfrm>
            <a:off x="4389120" y="333756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BigQuery</a:t>
            </a:r>
            <a:endParaRPr lang="en-US" sz="1800" b="0" u="none" strike="noStrike">
              <a:solidFill>
                <a:srgbClr val="FFFFFF"/>
              </a:solidFill>
              <a:effectLst/>
              <a:uFillTx/>
              <a:latin typeface="Arial"/>
            </a:endParaRPr>
          </a:p>
        </p:txBody>
      </p:sp>
      <p:sp>
        <p:nvSpPr>
          <p:cNvPr id="355" name="TextBox 17"/>
          <p:cNvSpPr/>
          <p:nvPr/>
        </p:nvSpPr>
        <p:spPr>
          <a:xfrm>
            <a:off x="4389120" y="384048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Memorystore</a:t>
            </a:r>
            <a:endParaRPr lang="en-US" sz="1800" b="0" u="none" strike="noStrike">
              <a:solidFill>
                <a:srgbClr val="FFFFFF"/>
              </a:solidFill>
              <a:effectLst/>
              <a:uFillTx/>
              <a:latin typeface="Arial"/>
            </a:endParaRPr>
          </a:p>
        </p:txBody>
      </p:sp>
      <p:sp>
        <p:nvSpPr>
          <p:cNvPr id="356" name="TextBox 18"/>
          <p:cNvSpPr/>
          <p:nvPr/>
        </p:nvSpPr>
        <p:spPr>
          <a:xfrm>
            <a:off x="4389120" y="434340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 (скоро)</a:t>
            </a:r>
            <a:endParaRPr lang="en-US" sz="1800" b="0" u="none" strike="noStrike">
              <a:solidFill>
                <a:srgbClr val="FFFFFF"/>
              </a:solidFill>
              <a:effectLst/>
              <a:uFillTx/>
              <a:latin typeface="Arial"/>
            </a:endParaRPr>
          </a:p>
        </p:txBody>
      </p:sp>
      <p:sp>
        <p:nvSpPr>
          <p:cNvPr id="357" name="TextBox 19"/>
          <p:cNvSpPr/>
          <p:nvPr/>
        </p:nvSpPr>
        <p:spPr>
          <a:xfrm>
            <a:off x="4389120" y="484632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 (своё решение)</a:t>
            </a:r>
            <a:endParaRPr lang="en-US" sz="1800" b="0" u="none" strike="noStrike">
              <a:solidFill>
                <a:srgbClr val="FFFFFF"/>
              </a:solidFill>
              <a:effectLst/>
              <a:uFillTx/>
              <a:latin typeface="Arial"/>
            </a:endParaRPr>
          </a:p>
        </p:txBody>
      </p:sp>
      <p:sp>
        <p:nvSpPr>
          <p:cNvPr id="358" name="TextBox 20"/>
          <p:cNvSpPr/>
          <p:nvPr/>
        </p:nvSpPr>
        <p:spPr>
          <a:xfrm>
            <a:off x="4389120" y="534924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Cloud Storage</a:t>
            </a:r>
            <a:endParaRPr lang="en-US" sz="1800" b="0" u="none" strike="noStrike">
              <a:solidFill>
                <a:srgbClr val="FFFFFF"/>
              </a:solidFill>
              <a:effectLst/>
              <a:uFillTx/>
              <a:latin typeface="Arial"/>
            </a:endParaRPr>
          </a:p>
        </p:txBody>
      </p:sp>
      <p:sp>
        <p:nvSpPr>
          <p:cNvPr id="359" name="Rectangle 21"/>
          <p:cNvSpPr/>
          <p:nvPr/>
        </p:nvSpPr>
        <p:spPr>
          <a:xfrm>
            <a:off x="8138160" y="1554480"/>
            <a:ext cx="3748680" cy="63972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60" name="TextBox 22"/>
          <p:cNvSpPr/>
          <p:nvPr/>
        </p:nvSpPr>
        <p:spPr>
          <a:xfrm>
            <a:off x="8138160" y="1600200"/>
            <a:ext cx="3748680" cy="54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200" b="1" u="none" strike="noStrike">
                <a:solidFill>
                  <a:srgbClr val="1A1A2E"/>
                </a:solidFill>
                <a:effectLst/>
                <a:uFillTx/>
                <a:latin typeface="Calibri"/>
              </a:rPr>
              <a:t>Azure</a:t>
            </a:r>
            <a:endParaRPr lang="en-US" sz="3200" b="0" u="none" strike="noStrike">
              <a:solidFill>
                <a:srgbClr val="FFFFFF"/>
              </a:solidFill>
              <a:effectLst/>
              <a:uFillTx/>
              <a:latin typeface="Arial"/>
            </a:endParaRPr>
          </a:p>
        </p:txBody>
      </p:sp>
      <p:sp>
        <p:nvSpPr>
          <p:cNvPr id="361" name="TextBox 23"/>
          <p:cNvSpPr/>
          <p:nvPr/>
        </p:nvSpPr>
        <p:spPr>
          <a:xfrm>
            <a:off x="8229600" y="233172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Azure SQL DB</a:t>
            </a:r>
            <a:endParaRPr lang="en-US" sz="1800" b="0" u="none" strike="noStrike">
              <a:solidFill>
                <a:srgbClr val="FFFFFF"/>
              </a:solidFill>
              <a:effectLst/>
              <a:uFillTx/>
              <a:latin typeface="Arial"/>
            </a:endParaRPr>
          </a:p>
        </p:txBody>
      </p:sp>
      <p:sp>
        <p:nvSpPr>
          <p:cNvPr id="362" name="TextBox 24"/>
          <p:cNvSpPr/>
          <p:nvPr/>
        </p:nvSpPr>
        <p:spPr>
          <a:xfrm>
            <a:off x="8229600" y="283464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Cosmos DB (универсал)</a:t>
            </a:r>
            <a:endParaRPr lang="en-US" sz="1800" b="0" u="none" strike="noStrike">
              <a:solidFill>
                <a:srgbClr val="FFFFFF"/>
              </a:solidFill>
              <a:effectLst/>
              <a:uFillTx/>
              <a:latin typeface="Arial"/>
            </a:endParaRPr>
          </a:p>
        </p:txBody>
      </p:sp>
      <p:sp>
        <p:nvSpPr>
          <p:cNvPr id="363" name="TextBox 25"/>
          <p:cNvSpPr/>
          <p:nvPr/>
        </p:nvSpPr>
        <p:spPr>
          <a:xfrm>
            <a:off x="8229600" y="333756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Synapse Analytics</a:t>
            </a:r>
            <a:endParaRPr lang="en-US" sz="1800" b="0" u="none" strike="noStrike">
              <a:solidFill>
                <a:srgbClr val="FFFFFF"/>
              </a:solidFill>
              <a:effectLst/>
              <a:uFillTx/>
              <a:latin typeface="Arial"/>
            </a:endParaRPr>
          </a:p>
        </p:txBody>
      </p:sp>
      <p:sp>
        <p:nvSpPr>
          <p:cNvPr id="364" name="TextBox 26"/>
          <p:cNvSpPr/>
          <p:nvPr/>
        </p:nvSpPr>
        <p:spPr>
          <a:xfrm>
            <a:off x="8229600" y="384048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Azure Cache for Redis</a:t>
            </a:r>
            <a:endParaRPr lang="en-US" sz="1800" b="0" u="none" strike="noStrike">
              <a:solidFill>
                <a:srgbClr val="FFFFFF"/>
              </a:solidFill>
              <a:effectLst/>
              <a:uFillTx/>
              <a:latin typeface="Arial"/>
            </a:endParaRPr>
          </a:p>
        </p:txBody>
      </p:sp>
      <p:sp>
        <p:nvSpPr>
          <p:cNvPr id="365" name="TextBox 27"/>
          <p:cNvSpPr/>
          <p:nvPr/>
        </p:nvSpPr>
        <p:spPr>
          <a:xfrm>
            <a:off x="8229600" y="434340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Cosmos DB в режиме графа</a:t>
            </a:r>
            <a:endParaRPr lang="en-US" sz="1800" b="0" u="none" strike="noStrike">
              <a:solidFill>
                <a:srgbClr val="FFFFFF"/>
              </a:solidFill>
              <a:effectLst/>
              <a:uFillTx/>
              <a:latin typeface="Arial"/>
            </a:endParaRPr>
          </a:p>
        </p:txBody>
      </p:sp>
      <p:sp>
        <p:nvSpPr>
          <p:cNvPr id="366" name="TextBox 28"/>
          <p:cNvSpPr/>
          <p:nvPr/>
        </p:nvSpPr>
        <p:spPr>
          <a:xfrm>
            <a:off x="8229600" y="484632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 (своё решение)</a:t>
            </a:r>
            <a:endParaRPr lang="en-US" sz="1800" b="0" u="none" strike="noStrike">
              <a:solidFill>
                <a:srgbClr val="FFFFFF"/>
              </a:solidFill>
              <a:effectLst/>
              <a:uFillTx/>
              <a:latin typeface="Arial"/>
            </a:endParaRPr>
          </a:p>
        </p:txBody>
      </p:sp>
      <p:sp>
        <p:nvSpPr>
          <p:cNvPr id="367" name="TextBox 29"/>
          <p:cNvSpPr/>
          <p:nvPr/>
        </p:nvSpPr>
        <p:spPr>
          <a:xfrm>
            <a:off x="8229600" y="534924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Blob Storage</a:t>
            </a:r>
            <a:endParaRPr lang="en-US" sz="1800" b="0" u="none" strike="noStrike">
              <a:solidFill>
                <a:srgbClr val="FFFFFF"/>
              </a:solidFill>
              <a:effectLst/>
              <a:uFillTx/>
              <a:latin typeface="Arial"/>
            </a:endParaRPr>
          </a:p>
        </p:txBody>
      </p:sp>
      <p:sp>
        <p:nvSpPr>
          <p:cNvPr id="368" name="TextBox 30"/>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369" name="TextBox 31"/>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18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370" name="TextBox 1" descr="Cheat-sheet table comparing AWS, GCP, and Azure services across eight database categories." title="Cheat-sheet table comparing AWS, GCP, and Azure services across eight database c"/>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800" b="1" u="none" strike="noStrike">
                <a:solidFill>
                  <a:srgbClr val="00FF41"/>
                </a:solidFill>
                <a:effectLst/>
                <a:uFillTx/>
                <a:latin typeface="Calibri"/>
              </a:rPr>
              <a:t>Шпаргалка по облачным БД</a:t>
            </a:r>
            <a:endParaRPr lang="en-US" sz="3800" b="0" u="none" strike="noStrike">
              <a:solidFill>
                <a:srgbClr val="FFFFFF"/>
              </a:solidFill>
              <a:effectLst/>
              <a:uFillTx/>
              <a:latin typeface="Arial"/>
            </a:endParaRPr>
          </a:p>
        </p:txBody>
      </p:sp>
      <p:sp>
        <p:nvSpPr>
          <p:cNvPr id="371"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372" name="Rectangle 3"/>
          <p:cNvSpPr/>
          <p:nvPr/>
        </p:nvSpPr>
        <p:spPr>
          <a:xfrm>
            <a:off x="457200" y="1600200"/>
            <a:ext cx="11246760" cy="5025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73" name="TextBox 4"/>
          <p:cNvSpPr/>
          <p:nvPr/>
        </p:nvSpPr>
        <p:spPr>
          <a:xfrm>
            <a:off x="548640" y="164592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1A1A2E"/>
                </a:solidFill>
                <a:effectLst/>
                <a:uFillTx/>
                <a:latin typeface="Calibri"/>
              </a:rPr>
              <a:t>КАТЕГОРИЯ</a:t>
            </a:r>
            <a:endParaRPr lang="en-US" sz="2000" b="0" u="none" strike="noStrike">
              <a:solidFill>
                <a:srgbClr val="FFFFFF"/>
              </a:solidFill>
              <a:effectLst/>
              <a:uFillTx/>
              <a:latin typeface="Arial"/>
            </a:endParaRPr>
          </a:p>
        </p:txBody>
      </p:sp>
      <p:sp>
        <p:nvSpPr>
          <p:cNvPr id="374" name="TextBox 5"/>
          <p:cNvSpPr/>
          <p:nvPr/>
        </p:nvSpPr>
        <p:spPr>
          <a:xfrm>
            <a:off x="3291840" y="164592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1A1A2E"/>
                </a:solidFill>
                <a:effectLst/>
                <a:uFillTx/>
                <a:latin typeface="Calibri"/>
              </a:rPr>
              <a:t>AWS</a:t>
            </a:r>
            <a:endParaRPr lang="en-US" sz="2000" b="0" u="none" strike="noStrike">
              <a:solidFill>
                <a:srgbClr val="FFFFFF"/>
              </a:solidFill>
              <a:effectLst/>
              <a:uFillTx/>
              <a:latin typeface="Arial"/>
            </a:endParaRPr>
          </a:p>
        </p:txBody>
      </p:sp>
      <p:sp>
        <p:nvSpPr>
          <p:cNvPr id="375" name="TextBox 6"/>
          <p:cNvSpPr/>
          <p:nvPr/>
        </p:nvSpPr>
        <p:spPr>
          <a:xfrm>
            <a:off x="5943600" y="164592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1A1A2E"/>
                </a:solidFill>
                <a:effectLst/>
                <a:uFillTx/>
                <a:latin typeface="Calibri"/>
              </a:rPr>
              <a:t>GCP</a:t>
            </a:r>
            <a:endParaRPr lang="en-US" sz="2000" b="0" u="none" strike="noStrike">
              <a:solidFill>
                <a:srgbClr val="FFFFFF"/>
              </a:solidFill>
              <a:effectLst/>
              <a:uFillTx/>
              <a:latin typeface="Arial"/>
            </a:endParaRPr>
          </a:p>
        </p:txBody>
      </p:sp>
      <p:sp>
        <p:nvSpPr>
          <p:cNvPr id="376" name="TextBox 7"/>
          <p:cNvSpPr/>
          <p:nvPr/>
        </p:nvSpPr>
        <p:spPr>
          <a:xfrm>
            <a:off x="8595360" y="164592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1A1A2E"/>
                </a:solidFill>
                <a:effectLst/>
                <a:uFillTx/>
                <a:latin typeface="Calibri"/>
              </a:rPr>
              <a:t>AZURE</a:t>
            </a:r>
            <a:endParaRPr lang="en-US" sz="2000" b="0" u="none" strike="noStrike">
              <a:solidFill>
                <a:srgbClr val="FFFFFF"/>
              </a:solidFill>
              <a:effectLst/>
              <a:uFillTx/>
              <a:latin typeface="Arial"/>
            </a:endParaRPr>
          </a:p>
        </p:txBody>
      </p:sp>
      <p:sp>
        <p:nvSpPr>
          <p:cNvPr id="377" name="TextBox 8"/>
          <p:cNvSpPr/>
          <p:nvPr/>
        </p:nvSpPr>
        <p:spPr>
          <a:xfrm>
            <a:off x="548640" y="214884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FFFF"/>
                </a:solidFill>
                <a:effectLst/>
                <a:uFillTx/>
                <a:latin typeface="Calibri"/>
              </a:rPr>
              <a:t>Реляционные</a:t>
            </a:r>
            <a:endParaRPr lang="en-US" sz="2000" b="0" u="none" strike="noStrike">
              <a:solidFill>
                <a:srgbClr val="FFFFFF"/>
              </a:solidFill>
              <a:effectLst/>
              <a:uFillTx/>
              <a:latin typeface="Arial"/>
            </a:endParaRPr>
          </a:p>
        </p:txBody>
      </p:sp>
      <p:sp>
        <p:nvSpPr>
          <p:cNvPr id="378" name="TextBox 9"/>
          <p:cNvSpPr/>
          <p:nvPr/>
        </p:nvSpPr>
        <p:spPr>
          <a:xfrm>
            <a:off x="3291840" y="214884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RDS / Aurora</a:t>
            </a:r>
            <a:endParaRPr lang="en-US" sz="2000" b="0" u="none" strike="noStrike">
              <a:solidFill>
                <a:srgbClr val="FFFFFF"/>
              </a:solidFill>
              <a:effectLst/>
              <a:uFillTx/>
              <a:latin typeface="Arial"/>
            </a:endParaRPr>
          </a:p>
        </p:txBody>
      </p:sp>
      <p:sp>
        <p:nvSpPr>
          <p:cNvPr id="379" name="TextBox 10"/>
          <p:cNvSpPr/>
          <p:nvPr/>
        </p:nvSpPr>
        <p:spPr>
          <a:xfrm>
            <a:off x="5943600" y="214884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Cloud SQL / AlloyDB</a:t>
            </a:r>
            <a:endParaRPr lang="en-US" sz="2000" b="0" u="none" strike="noStrike">
              <a:solidFill>
                <a:srgbClr val="FFFFFF"/>
              </a:solidFill>
              <a:effectLst/>
              <a:uFillTx/>
              <a:latin typeface="Arial"/>
            </a:endParaRPr>
          </a:p>
        </p:txBody>
      </p:sp>
      <p:sp>
        <p:nvSpPr>
          <p:cNvPr id="380" name="TextBox 11"/>
          <p:cNvSpPr/>
          <p:nvPr/>
        </p:nvSpPr>
        <p:spPr>
          <a:xfrm>
            <a:off x="8595360" y="214884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Azure SQL DB</a:t>
            </a:r>
            <a:endParaRPr lang="en-US" sz="2000" b="0" u="none" strike="noStrike">
              <a:solidFill>
                <a:srgbClr val="FFFFFF"/>
              </a:solidFill>
              <a:effectLst/>
              <a:uFillTx/>
              <a:latin typeface="Arial"/>
            </a:endParaRPr>
          </a:p>
        </p:txBody>
      </p:sp>
      <p:sp>
        <p:nvSpPr>
          <p:cNvPr id="381" name="Rectangle 12"/>
          <p:cNvSpPr/>
          <p:nvPr/>
        </p:nvSpPr>
        <p:spPr>
          <a:xfrm>
            <a:off x="457200" y="2606040"/>
            <a:ext cx="11246760" cy="502560"/>
          </a:xfrm>
          <a:prstGeom prst="rect">
            <a:avLst/>
          </a:prstGeom>
          <a:solidFill>
            <a:srgbClr val="2424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82" name="TextBox 13"/>
          <p:cNvSpPr/>
          <p:nvPr/>
        </p:nvSpPr>
        <p:spPr>
          <a:xfrm>
            <a:off x="548640" y="265176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FFFF"/>
                </a:solidFill>
                <a:effectLst/>
                <a:uFillTx/>
                <a:latin typeface="Calibri"/>
              </a:rPr>
              <a:t>Документные/NoSQL</a:t>
            </a:r>
            <a:endParaRPr lang="en-US" sz="2000" b="0" u="none" strike="noStrike">
              <a:solidFill>
                <a:srgbClr val="FFFFFF"/>
              </a:solidFill>
              <a:effectLst/>
              <a:uFillTx/>
              <a:latin typeface="Arial"/>
            </a:endParaRPr>
          </a:p>
        </p:txBody>
      </p:sp>
      <p:sp>
        <p:nvSpPr>
          <p:cNvPr id="383" name="TextBox 14"/>
          <p:cNvSpPr/>
          <p:nvPr/>
        </p:nvSpPr>
        <p:spPr>
          <a:xfrm>
            <a:off x="3291840" y="265176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DynamoDB / DocDB</a:t>
            </a:r>
            <a:endParaRPr lang="en-US" sz="2000" b="0" u="none" strike="noStrike">
              <a:solidFill>
                <a:srgbClr val="FFFFFF"/>
              </a:solidFill>
              <a:effectLst/>
              <a:uFillTx/>
              <a:latin typeface="Arial"/>
            </a:endParaRPr>
          </a:p>
        </p:txBody>
      </p:sp>
      <p:sp>
        <p:nvSpPr>
          <p:cNvPr id="384" name="TextBox 15"/>
          <p:cNvSpPr/>
          <p:nvPr/>
        </p:nvSpPr>
        <p:spPr>
          <a:xfrm>
            <a:off x="5943600" y="265176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Firestore / Bigtable</a:t>
            </a:r>
            <a:endParaRPr lang="en-US" sz="2000" b="0" u="none" strike="noStrike">
              <a:solidFill>
                <a:srgbClr val="FFFFFF"/>
              </a:solidFill>
              <a:effectLst/>
              <a:uFillTx/>
              <a:latin typeface="Arial"/>
            </a:endParaRPr>
          </a:p>
        </p:txBody>
      </p:sp>
      <p:sp>
        <p:nvSpPr>
          <p:cNvPr id="385" name="TextBox 16"/>
          <p:cNvSpPr/>
          <p:nvPr/>
        </p:nvSpPr>
        <p:spPr>
          <a:xfrm>
            <a:off x="8595360" y="265176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Cosmos DB</a:t>
            </a:r>
            <a:endParaRPr lang="en-US" sz="2000" b="0" u="none" strike="noStrike">
              <a:solidFill>
                <a:srgbClr val="FFFFFF"/>
              </a:solidFill>
              <a:effectLst/>
              <a:uFillTx/>
              <a:latin typeface="Arial"/>
            </a:endParaRPr>
          </a:p>
        </p:txBody>
      </p:sp>
      <p:sp>
        <p:nvSpPr>
          <p:cNvPr id="386" name="TextBox 17"/>
          <p:cNvSpPr/>
          <p:nvPr/>
        </p:nvSpPr>
        <p:spPr>
          <a:xfrm>
            <a:off x="548640" y="315468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FFFF"/>
                </a:solidFill>
                <a:effectLst/>
                <a:uFillTx/>
                <a:latin typeface="Calibri"/>
              </a:rPr>
              <a:t>Хранилище данных</a:t>
            </a:r>
            <a:endParaRPr lang="en-US" sz="2000" b="0" u="none" strike="noStrike">
              <a:solidFill>
                <a:srgbClr val="FFFFFF"/>
              </a:solidFill>
              <a:effectLst/>
              <a:uFillTx/>
              <a:latin typeface="Arial"/>
            </a:endParaRPr>
          </a:p>
        </p:txBody>
      </p:sp>
      <p:sp>
        <p:nvSpPr>
          <p:cNvPr id="387" name="TextBox 18"/>
          <p:cNvSpPr/>
          <p:nvPr/>
        </p:nvSpPr>
        <p:spPr>
          <a:xfrm>
            <a:off x="3291840" y="315468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Redshift / Athena</a:t>
            </a:r>
            <a:endParaRPr lang="en-US" sz="2000" b="0" u="none" strike="noStrike">
              <a:solidFill>
                <a:srgbClr val="FFFFFF"/>
              </a:solidFill>
              <a:effectLst/>
              <a:uFillTx/>
              <a:latin typeface="Arial"/>
            </a:endParaRPr>
          </a:p>
        </p:txBody>
      </p:sp>
      <p:sp>
        <p:nvSpPr>
          <p:cNvPr id="388" name="TextBox 19"/>
          <p:cNvSpPr/>
          <p:nvPr/>
        </p:nvSpPr>
        <p:spPr>
          <a:xfrm>
            <a:off x="5943600" y="315468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BigQuery</a:t>
            </a:r>
            <a:endParaRPr lang="en-US" sz="2000" b="0" u="none" strike="noStrike">
              <a:solidFill>
                <a:srgbClr val="FFFFFF"/>
              </a:solidFill>
              <a:effectLst/>
              <a:uFillTx/>
              <a:latin typeface="Arial"/>
            </a:endParaRPr>
          </a:p>
        </p:txBody>
      </p:sp>
      <p:sp>
        <p:nvSpPr>
          <p:cNvPr id="389" name="TextBox 20"/>
          <p:cNvSpPr/>
          <p:nvPr/>
        </p:nvSpPr>
        <p:spPr>
          <a:xfrm>
            <a:off x="8595360" y="315468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Synapse</a:t>
            </a:r>
            <a:endParaRPr lang="en-US" sz="2000" b="0" u="none" strike="noStrike">
              <a:solidFill>
                <a:srgbClr val="FFFFFF"/>
              </a:solidFill>
              <a:effectLst/>
              <a:uFillTx/>
              <a:latin typeface="Arial"/>
            </a:endParaRPr>
          </a:p>
        </p:txBody>
      </p:sp>
      <p:sp>
        <p:nvSpPr>
          <p:cNvPr id="390" name="Rectangle 21"/>
          <p:cNvSpPr/>
          <p:nvPr/>
        </p:nvSpPr>
        <p:spPr>
          <a:xfrm>
            <a:off x="457200" y="3611880"/>
            <a:ext cx="11246760" cy="502560"/>
          </a:xfrm>
          <a:prstGeom prst="rect">
            <a:avLst/>
          </a:prstGeom>
          <a:solidFill>
            <a:srgbClr val="2424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91" name="TextBox 22"/>
          <p:cNvSpPr/>
          <p:nvPr/>
        </p:nvSpPr>
        <p:spPr>
          <a:xfrm>
            <a:off x="548640" y="365760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FFFF"/>
                </a:solidFill>
                <a:effectLst/>
                <a:uFillTx/>
                <a:latin typeface="Calibri"/>
              </a:rPr>
              <a:t>Кеш</a:t>
            </a:r>
            <a:endParaRPr lang="en-US" sz="2000" b="0" u="none" strike="noStrike">
              <a:solidFill>
                <a:srgbClr val="FFFFFF"/>
              </a:solidFill>
              <a:effectLst/>
              <a:uFillTx/>
              <a:latin typeface="Arial"/>
            </a:endParaRPr>
          </a:p>
        </p:txBody>
      </p:sp>
      <p:sp>
        <p:nvSpPr>
          <p:cNvPr id="392" name="TextBox 23"/>
          <p:cNvSpPr/>
          <p:nvPr/>
        </p:nvSpPr>
        <p:spPr>
          <a:xfrm>
            <a:off x="3291840" y="365760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ElastiCache</a:t>
            </a:r>
            <a:endParaRPr lang="en-US" sz="2000" b="0" u="none" strike="noStrike">
              <a:solidFill>
                <a:srgbClr val="FFFFFF"/>
              </a:solidFill>
              <a:effectLst/>
              <a:uFillTx/>
              <a:latin typeface="Arial"/>
            </a:endParaRPr>
          </a:p>
        </p:txBody>
      </p:sp>
      <p:sp>
        <p:nvSpPr>
          <p:cNvPr id="393" name="TextBox 24"/>
          <p:cNvSpPr/>
          <p:nvPr/>
        </p:nvSpPr>
        <p:spPr>
          <a:xfrm>
            <a:off x="5943600" y="365760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Memorystore</a:t>
            </a:r>
            <a:endParaRPr lang="en-US" sz="2000" b="0" u="none" strike="noStrike">
              <a:solidFill>
                <a:srgbClr val="FFFFFF"/>
              </a:solidFill>
              <a:effectLst/>
              <a:uFillTx/>
              <a:latin typeface="Arial"/>
            </a:endParaRPr>
          </a:p>
        </p:txBody>
      </p:sp>
      <p:sp>
        <p:nvSpPr>
          <p:cNvPr id="394" name="TextBox 25"/>
          <p:cNvSpPr/>
          <p:nvPr/>
        </p:nvSpPr>
        <p:spPr>
          <a:xfrm>
            <a:off x="8595360" y="365760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Cache for Redis</a:t>
            </a:r>
            <a:endParaRPr lang="en-US" sz="2000" b="0" u="none" strike="noStrike">
              <a:solidFill>
                <a:srgbClr val="FFFFFF"/>
              </a:solidFill>
              <a:effectLst/>
              <a:uFillTx/>
              <a:latin typeface="Arial"/>
            </a:endParaRPr>
          </a:p>
        </p:txBody>
      </p:sp>
      <p:sp>
        <p:nvSpPr>
          <p:cNvPr id="395" name="TextBox 26"/>
          <p:cNvSpPr/>
          <p:nvPr/>
        </p:nvSpPr>
        <p:spPr>
          <a:xfrm>
            <a:off x="548640" y="416052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FFFF"/>
                </a:solidFill>
                <a:effectLst/>
                <a:uFillTx/>
                <a:latin typeface="Calibri"/>
              </a:rPr>
              <a:t>Графовые</a:t>
            </a:r>
            <a:endParaRPr lang="en-US" sz="2000" b="0" u="none" strike="noStrike">
              <a:solidFill>
                <a:srgbClr val="FFFFFF"/>
              </a:solidFill>
              <a:effectLst/>
              <a:uFillTx/>
              <a:latin typeface="Arial"/>
            </a:endParaRPr>
          </a:p>
        </p:txBody>
      </p:sp>
      <p:sp>
        <p:nvSpPr>
          <p:cNvPr id="396" name="TextBox 27"/>
          <p:cNvSpPr/>
          <p:nvPr/>
        </p:nvSpPr>
        <p:spPr>
          <a:xfrm>
            <a:off x="3291840" y="416052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Neptune</a:t>
            </a:r>
            <a:endParaRPr lang="en-US" sz="2000" b="0" u="none" strike="noStrike">
              <a:solidFill>
                <a:srgbClr val="FFFFFF"/>
              </a:solidFill>
              <a:effectLst/>
              <a:uFillTx/>
              <a:latin typeface="Arial"/>
            </a:endParaRPr>
          </a:p>
        </p:txBody>
      </p:sp>
      <p:sp>
        <p:nvSpPr>
          <p:cNvPr id="397" name="TextBox 28"/>
          <p:cNvSpPr/>
          <p:nvPr/>
        </p:nvSpPr>
        <p:spPr>
          <a:xfrm>
            <a:off x="5943600" y="416052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a:t>
            </a:r>
            <a:endParaRPr lang="en-US" sz="2000" b="0" u="none" strike="noStrike">
              <a:solidFill>
                <a:srgbClr val="FFFFFF"/>
              </a:solidFill>
              <a:effectLst/>
              <a:uFillTx/>
              <a:latin typeface="Arial"/>
            </a:endParaRPr>
          </a:p>
        </p:txBody>
      </p:sp>
      <p:sp>
        <p:nvSpPr>
          <p:cNvPr id="398" name="TextBox 29"/>
          <p:cNvSpPr/>
          <p:nvPr/>
        </p:nvSpPr>
        <p:spPr>
          <a:xfrm>
            <a:off x="8595360" y="416052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Cosmos DB graph</a:t>
            </a:r>
            <a:endParaRPr lang="en-US" sz="2000" b="0" u="none" strike="noStrike">
              <a:solidFill>
                <a:srgbClr val="FFFFFF"/>
              </a:solidFill>
              <a:effectLst/>
              <a:uFillTx/>
              <a:latin typeface="Arial"/>
            </a:endParaRPr>
          </a:p>
        </p:txBody>
      </p:sp>
      <p:sp>
        <p:nvSpPr>
          <p:cNvPr id="399" name="Rectangle 30"/>
          <p:cNvSpPr/>
          <p:nvPr/>
        </p:nvSpPr>
        <p:spPr>
          <a:xfrm>
            <a:off x="457200" y="4617720"/>
            <a:ext cx="11246760" cy="502560"/>
          </a:xfrm>
          <a:prstGeom prst="rect">
            <a:avLst/>
          </a:prstGeom>
          <a:solidFill>
            <a:srgbClr val="2424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00" name="TextBox 31"/>
          <p:cNvSpPr/>
          <p:nvPr/>
        </p:nvSpPr>
        <p:spPr>
          <a:xfrm>
            <a:off x="548640" y="466344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FFFF"/>
                </a:solidFill>
                <a:effectLst/>
                <a:uFillTx/>
                <a:latin typeface="Calibri"/>
              </a:rPr>
              <a:t>Временные ряды</a:t>
            </a:r>
            <a:endParaRPr lang="en-US" sz="2000" b="0" u="none" strike="noStrike">
              <a:solidFill>
                <a:srgbClr val="FFFFFF"/>
              </a:solidFill>
              <a:effectLst/>
              <a:uFillTx/>
              <a:latin typeface="Arial"/>
            </a:endParaRPr>
          </a:p>
        </p:txBody>
      </p:sp>
      <p:sp>
        <p:nvSpPr>
          <p:cNvPr id="401" name="TextBox 32"/>
          <p:cNvSpPr/>
          <p:nvPr/>
        </p:nvSpPr>
        <p:spPr>
          <a:xfrm>
            <a:off x="3291840" y="466344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Timestream</a:t>
            </a:r>
            <a:endParaRPr lang="en-US" sz="2000" b="0" u="none" strike="noStrike">
              <a:solidFill>
                <a:srgbClr val="FFFFFF"/>
              </a:solidFill>
              <a:effectLst/>
              <a:uFillTx/>
              <a:latin typeface="Arial"/>
            </a:endParaRPr>
          </a:p>
        </p:txBody>
      </p:sp>
      <p:sp>
        <p:nvSpPr>
          <p:cNvPr id="402" name="TextBox 33"/>
          <p:cNvSpPr/>
          <p:nvPr/>
        </p:nvSpPr>
        <p:spPr>
          <a:xfrm>
            <a:off x="5943600" y="466344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a:t>
            </a:r>
            <a:endParaRPr lang="en-US" sz="2000" b="0" u="none" strike="noStrike">
              <a:solidFill>
                <a:srgbClr val="FFFFFF"/>
              </a:solidFill>
              <a:effectLst/>
              <a:uFillTx/>
              <a:latin typeface="Arial"/>
            </a:endParaRPr>
          </a:p>
        </p:txBody>
      </p:sp>
      <p:sp>
        <p:nvSpPr>
          <p:cNvPr id="403" name="TextBox 34"/>
          <p:cNvSpPr/>
          <p:nvPr/>
        </p:nvSpPr>
        <p:spPr>
          <a:xfrm>
            <a:off x="8595360" y="466344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a:t>
            </a:r>
            <a:endParaRPr lang="en-US" sz="2000" b="0" u="none" strike="noStrike">
              <a:solidFill>
                <a:srgbClr val="FFFFFF"/>
              </a:solidFill>
              <a:effectLst/>
              <a:uFillTx/>
              <a:latin typeface="Arial"/>
            </a:endParaRPr>
          </a:p>
        </p:txBody>
      </p:sp>
      <p:sp>
        <p:nvSpPr>
          <p:cNvPr id="404" name="TextBox 35"/>
          <p:cNvSpPr/>
          <p:nvPr/>
        </p:nvSpPr>
        <p:spPr>
          <a:xfrm>
            <a:off x="548640" y="516636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FFFF"/>
                </a:solidFill>
                <a:effectLst/>
                <a:uFillTx/>
                <a:latin typeface="Calibri"/>
              </a:rPr>
              <a:t>Объектное хранилище</a:t>
            </a:r>
            <a:endParaRPr lang="en-US" sz="2000" b="0" u="none" strike="noStrike">
              <a:solidFill>
                <a:srgbClr val="FFFFFF"/>
              </a:solidFill>
              <a:effectLst/>
              <a:uFillTx/>
              <a:latin typeface="Arial"/>
            </a:endParaRPr>
          </a:p>
        </p:txBody>
      </p:sp>
      <p:sp>
        <p:nvSpPr>
          <p:cNvPr id="405" name="TextBox 36"/>
          <p:cNvSpPr/>
          <p:nvPr/>
        </p:nvSpPr>
        <p:spPr>
          <a:xfrm>
            <a:off x="3291840" y="516636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S3</a:t>
            </a:r>
            <a:endParaRPr lang="en-US" sz="2000" b="0" u="none" strike="noStrike">
              <a:solidFill>
                <a:srgbClr val="FFFFFF"/>
              </a:solidFill>
              <a:effectLst/>
              <a:uFillTx/>
              <a:latin typeface="Arial"/>
            </a:endParaRPr>
          </a:p>
        </p:txBody>
      </p:sp>
      <p:sp>
        <p:nvSpPr>
          <p:cNvPr id="406" name="TextBox 37"/>
          <p:cNvSpPr/>
          <p:nvPr/>
        </p:nvSpPr>
        <p:spPr>
          <a:xfrm>
            <a:off x="5943600" y="516636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Cloud Storage</a:t>
            </a:r>
            <a:endParaRPr lang="en-US" sz="2000" b="0" u="none" strike="noStrike">
              <a:solidFill>
                <a:srgbClr val="FFFFFF"/>
              </a:solidFill>
              <a:effectLst/>
              <a:uFillTx/>
              <a:latin typeface="Arial"/>
            </a:endParaRPr>
          </a:p>
        </p:txBody>
      </p:sp>
      <p:sp>
        <p:nvSpPr>
          <p:cNvPr id="407" name="TextBox 38"/>
          <p:cNvSpPr/>
          <p:nvPr/>
        </p:nvSpPr>
        <p:spPr>
          <a:xfrm>
            <a:off x="8595360" y="516636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Blob Storage</a:t>
            </a:r>
            <a:endParaRPr lang="en-US" sz="2000" b="0" u="none" strike="noStrike">
              <a:solidFill>
                <a:srgbClr val="FFFFFF"/>
              </a:solidFill>
              <a:effectLst/>
              <a:uFillTx/>
              <a:latin typeface="Arial"/>
            </a:endParaRPr>
          </a:p>
        </p:txBody>
      </p:sp>
      <p:sp>
        <p:nvSpPr>
          <p:cNvPr id="408" name="TextBox 39"/>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409" name="TextBox 40"/>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19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410" name="TextBox 1" descr="Two-column diagram contrasting what the cloud vendor owns (hypervisor, engine, hardware) versus what the customer owns (config, IAM, data, encryption)." title="Two-column diagram contrasting what the cloud vendor owns (hypervisor, engine, h"/>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Модель разделённой ответственности</a:t>
            </a:r>
            <a:endParaRPr lang="en-US" sz="4200" b="0" u="none" strike="noStrike">
              <a:solidFill>
                <a:srgbClr val="FFFFFF"/>
              </a:solidFill>
              <a:effectLst/>
              <a:uFillTx/>
              <a:latin typeface="Arial"/>
            </a:endParaRPr>
          </a:p>
        </p:txBody>
      </p:sp>
      <p:sp>
        <p:nvSpPr>
          <p:cNvPr id="411"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412" name="Rounded Rectangle 3"/>
          <p:cNvSpPr/>
          <p:nvPr/>
        </p:nvSpPr>
        <p:spPr>
          <a:xfrm>
            <a:off x="457200" y="1828800"/>
            <a:ext cx="5577480" cy="4114440"/>
          </a:xfrm>
          <a:prstGeom prst="roundRect">
            <a:avLst>
              <a:gd name="adj" fmla="val 16667"/>
            </a:avLst>
          </a:prstGeom>
          <a:solidFill>
            <a:srgbClr val="122A18"/>
          </a:solidFill>
          <a:ln w="38100">
            <a:solidFill>
              <a:srgbClr val="00FF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13" name="TextBox 4"/>
          <p:cNvSpPr/>
          <p:nvPr/>
        </p:nvSpPr>
        <p:spPr>
          <a:xfrm>
            <a:off x="548640" y="1965960"/>
            <a:ext cx="539460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1" u="none" strike="noStrike">
                <a:solidFill>
                  <a:srgbClr val="00FF41"/>
                </a:solidFill>
                <a:effectLst/>
                <a:uFillTx/>
                <a:latin typeface="Calibri"/>
              </a:rPr>
              <a:t>✓  ОТВЕЧАЕТ ОБЛАЧНЫЙ ПРОВАЙДЕР</a:t>
            </a:r>
            <a:endParaRPr lang="en-US" sz="2400" b="0" u="none" strike="noStrike">
              <a:solidFill>
                <a:srgbClr val="FFFFFF"/>
              </a:solidFill>
              <a:effectLst/>
              <a:uFillTx/>
              <a:latin typeface="Arial"/>
            </a:endParaRPr>
          </a:p>
        </p:txBody>
      </p:sp>
      <p:sp>
        <p:nvSpPr>
          <p:cNvPr id="414" name="TextBox 5"/>
          <p:cNvSpPr/>
          <p:nvPr/>
        </p:nvSpPr>
        <p:spPr>
          <a:xfrm>
            <a:off x="640080" y="2697480"/>
            <a:ext cx="5303160" cy="310860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Гипервизор и железо</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Патчи движка БД</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Физическая безопасность</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Базовая сеть</a:t>
            </a:r>
            <a:endParaRPr lang="en-US" sz="2400" b="0" u="none" strike="noStrike">
              <a:solidFill>
                <a:srgbClr val="FFFFFF"/>
              </a:solidFill>
              <a:effectLst/>
              <a:uFillTx/>
              <a:latin typeface="Arial"/>
            </a:endParaRPr>
          </a:p>
        </p:txBody>
      </p:sp>
      <p:sp>
        <p:nvSpPr>
          <p:cNvPr id="415" name="Rounded Rectangle 6"/>
          <p:cNvSpPr/>
          <p:nvPr/>
        </p:nvSpPr>
        <p:spPr>
          <a:xfrm>
            <a:off x="6172200" y="1828800"/>
            <a:ext cx="5577480" cy="4114440"/>
          </a:xfrm>
          <a:prstGeom prst="roundRect">
            <a:avLst>
              <a:gd name="adj" fmla="val 16667"/>
            </a:avLst>
          </a:prstGeom>
          <a:solidFill>
            <a:srgbClr val="3A1F14"/>
          </a:solidFill>
          <a:ln w="3810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16" name="TextBox 7"/>
          <p:cNvSpPr/>
          <p:nvPr/>
        </p:nvSpPr>
        <p:spPr>
          <a:xfrm>
            <a:off x="6263640" y="1965960"/>
            <a:ext cx="539460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1" u="none" strike="noStrike">
                <a:solidFill>
                  <a:srgbClr val="FF6B35"/>
                </a:solidFill>
                <a:effectLst/>
                <a:uFillTx/>
                <a:latin typeface="Calibri"/>
              </a:rPr>
              <a:t>⚠  ОТВЕЧАЕТЕ ВЫ</a:t>
            </a:r>
            <a:endParaRPr lang="en-US" sz="2400" b="0" u="none" strike="noStrike">
              <a:solidFill>
                <a:srgbClr val="FFFFFF"/>
              </a:solidFill>
              <a:effectLst/>
              <a:uFillTx/>
              <a:latin typeface="Arial"/>
            </a:endParaRPr>
          </a:p>
        </p:txBody>
      </p:sp>
      <p:sp>
        <p:nvSpPr>
          <p:cNvPr id="417" name="TextBox 8"/>
          <p:cNvSpPr/>
          <p:nvPr/>
        </p:nvSpPr>
        <p:spPr>
          <a:xfrm>
            <a:off x="6355080" y="2697480"/>
            <a:ext cx="5303160" cy="310860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Конфигурация</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Политики доступа (IAM)</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Сами данные</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Выбор шифрования</a:t>
            </a:r>
            <a:endParaRPr lang="en-US" sz="2400" b="0" u="none" strike="noStrike">
              <a:solidFill>
                <a:srgbClr val="FFFFFF"/>
              </a:solidFill>
              <a:effectLst/>
              <a:uFillTx/>
              <a:latin typeface="Arial"/>
            </a:endParaRPr>
          </a:p>
        </p:txBody>
      </p:sp>
      <p:sp>
        <p:nvSpPr>
          <p:cNvPr id="418" name="TextBox 9"/>
          <p:cNvSpPr/>
          <p:nvPr/>
        </p:nvSpPr>
        <p:spPr>
          <a:xfrm>
            <a:off x="457200" y="6035040"/>
            <a:ext cx="11246760" cy="4568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1" u="none" strike="noStrike">
                <a:solidFill>
                  <a:srgbClr val="00D4FF"/>
                </a:solidFill>
                <a:effectLst/>
                <a:uFillTx/>
                <a:latin typeface="Calibri"/>
              </a:rPr>
              <a:t>Почти каждая утечка облачной БД = ошибка конфигурации клиента.</a:t>
            </a:r>
            <a:endParaRPr lang="en-US" sz="2200" b="0" u="none" strike="noStrike">
              <a:solidFill>
                <a:srgbClr val="FFFFFF"/>
              </a:solidFill>
              <a:effectLst/>
              <a:uFillTx/>
              <a:latin typeface="Arial"/>
            </a:endParaRPr>
          </a:p>
        </p:txBody>
      </p:sp>
      <p:sp>
        <p:nvSpPr>
          <p:cNvPr id="419" name="TextBox 10"/>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420" name="TextBox 11"/>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20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421" name="TextBox 1" descr="Table of common database ports: MySQL 3306, PostgreSQL 5432, MS SQL 1433, MongoDB 27017, Redis 6379, Elasticsearch 9200, Cassandra 9042." title="Table of common database ports: MySQL 3306, PostgreSQL 5432, MS SQL 1433, MongoD"/>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Распространённые порты БД — запомните накрепко</a:t>
            </a:r>
            <a:endParaRPr lang="en-US" sz="4200" b="0" u="none" strike="noStrike">
              <a:solidFill>
                <a:srgbClr val="FFFFFF"/>
              </a:solidFill>
              <a:effectLst/>
              <a:uFillTx/>
              <a:latin typeface="Arial"/>
            </a:endParaRPr>
          </a:p>
        </p:txBody>
      </p:sp>
      <p:sp>
        <p:nvSpPr>
          <p:cNvPr id="422"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423" name="TextBox 3"/>
          <p:cNvSpPr/>
          <p:nvPr/>
        </p:nvSpPr>
        <p:spPr>
          <a:xfrm>
            <a:off x="1371600" y="1645920"/>
            <a:ext cx="2285640" cy="5482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3600" b="1" u="none" strike="noStrike">
                <a:solidFill>
                  <a:srgbClr val="00FF41"/>
                </a:solidFill>
                <a:effectLst/>
                <a:uFillTx/>
                <a:latin typeface="Calibri"/>
              </a:rPr>
              <a:t>3306</a:t>
            </a:r>
            <a:endParaRPr lang="en-US" sz="3600" b="0" u="none" strike="noStrike">
              <a:solidFill>
                <a:srgbClr val="FFFFFF"/>
              </a:solidFill>
              <a:effectLst/>
              <a:uFillTx/>
              <a:latin typeface="Arial"/>
            </a:endParaRPr>
          </a:p>
        </p:txBody>
      </p:sp>
      <p:sp>
        <p:nvSpPr>
          <p:cNvPr id="424" name="TextBox 4"/>
          <p:cNvSpPr/>
          <p:nvPr/>
        </p:nvSpPr>
        <p:spPr>
          <a:xfrm>
            <a:off x="3840480" y="1645920"/>
            <a:ext cx="54828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425" name="TextBox 5"/>
          <p:cNvSpPr/>
          <p:nvPr/>
        </p:nvSpPr>
        <p:spPr>
          <a:xfrm>
            <a:off x="4480560" y="1645920"/>
            <a:ext cx="640044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FFFFFF"/>
                </a:solidFill>
                <a:effectLst/>
                <a:uFillTx/>
                <a:latin typeface="Calibri"/>
              </a:rPr>
              <a:t>MySQL / MariaDB</a:t>
            </a:r>
            <a:endParaRPr lang="en-US" sz="3200" b="0" u="none" strike="noStrike">
              <a:solidFill>
                <a:srgbClr val="FFFFFF"/>
              </a:solidFill>
              <a:effectLst/>
              <a:uFillTx/>
              <a:latin typeface="Arial"/>
            </a:endParaRPr>
          </a:p>
        </p:txBody>
      </p:sp>
      <p:sp>
        <p:nvSpPr>
          <p:cNvPr id="426" name="TextBox 6"/>
          <p:cNvSpPr/>
          <p:nvPr/>
        </p:nvSpPr>
        <p:spPr>
          <a:xfrm>
            <a:off x="1371600" y="2212920"/>
            <a:ext cx="2285640" cy="5482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3600" b="1" u="none" strike="noStrike">
                <a:solidFill>
                  <a:srgbClr val="00FF41"/>
                </a:solidFill>
                <a:effectLst/>
                <a:uFillTx/>
                <a:latin typeface="Calibri"/>
              </a:rPr>
              <a:t>5432</a:t>
            </a:r>
            <a:endParaRPr lang="en-US" sz="3600" b="0" u="none" strike="noStrike">
              <a:solidFill>
                <a:srgbClr val="FFFFFF"/>
              </a:solidFill>
              <a:effectLst/>
              <a:uFillTx/>
              <a:latin typeface="Arial"/>
            </a:endParaRPr>
          </a:p>
        </p:txBody>
      </p:sp>
      <p:sp>
        <p:nvSpPr>
          <p:cNvPr id="427" name="TextBox 7"/>
          <p:cNvSpPr/>
          <p:nvPr/>
        </p:nvSpPr>
        <p:spPr>
          <a:xfrm>
            <a:off x="3840480" y="2212920"/>
            <a:ext cx="54828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428" name="TextBox 8"/>
          <p:cNvSpPr/>
          <p:nvPr/>
        </p:nvSpPr>
        <p:spPr>
          <a:xfrm>
            <a:off x="4480560" y="2212920"/>
            <a:ext cx="640044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FFFFFF"/>
                </a:solidFill>
                <a:effectLst/>
                <a:uFillTx/>
                <a:latin typeface="Calibri"/>
              </a:rPr>
              <a:t>PostgreSQL</a:t>
            </a:r>
            <a:endParaRPr lang="en-US" sz="3200" b="0" u="none" strike="noStrike">
              <a:solidFill>
                <a:srgbClr val="FFFFFF"/>
              </a:solidFill>
              <a:effectLst/>
              <a:uFillTx/>
              <a:latin typeface="Arial"/>
            </a:endParaRPr>
          </a:p>
        </p:txBody>
      </p:sp>
      <p:sp>
        <p:nvSpPr>
          <p:cNvPr id="429" name="TextBox 9"/>
          <p:cNvSpPr/>
          <p:nvPr/>
        </p:nvSpPr>
        <p:spPr>
          <a:xfrm>
            <a:off x="1371600" y="2779920"/>
            <a:ext cx="2285640" cy="5482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3600" b="1" u="none" strike="noStrike">
                <a:solidFill>
                  <a:srgbClr val="00FF41"/>
                </a:solidFill>
                <a:effectLst/>
                <a:uFillTx/>
                <a:latin typeface="Calibri"/>
              </a:rPr>
              <a:t>1433</a:t>
            </a:r>
            <a:endParaRPr lang="en-US" sz="3600" b="0" u="none" strike="noStrike">
              <a:solidFill>
                <a:srgbClr val="FFFFFF"/>
              </a:solidFill>
              <a:effectLst/>
              <a:uFillTx/>
              <a:latin typeface="Arial"/>
            </a:endParaRPr>
          </a:p>
        </p:txBody>
      </p:sp>
      <p:sp>
        <p:nvSpPr>
          <p:cNvPr id="430" name="TextBox 10"/>
          <p:cNvSpPr/>
          <p:nvPr/>
        </p:nvSpPr>
        <p:spPr>
          <a:xfrm>
            <a:off x="3840480" y="2779920"/>
            <a:ext cx="54828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431" name="TextBox 11"/>
          <p:cNvSpPr/>
          <p:nvPr/>
        </p:nvSpPr>
        <p:spPr>
          <a:xfrm>
            <a:off x="4480560" y="2779920"/>
            <a:ext cx="640044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FFFFFF"/>
                </a:solidFill>
                <a:effectLst/>
                <a:uFillTx/>
                <a:latin typeface="Calibri"/>
              </a:rPr>
              <a:t>Microsoft SQL Server</a:t>
            </a:r>
            <a:endParaRPr lang="en-US" sz="3200" b="0" u="none" strike="noStrike">
              <a:solidFill>
                <a:srgbClr val="FFFFFF"/>
              </a:solidFill>
              <a:effectLst/>
              <a:uFillTx/>
              <a:latin typeface="Arial"/>
            </a:endParaRPr>
          </a:p>
        </p:txBody>
      </p:sp>
      <p:sp>
        <p:nvSpPr>
          <p:cNvPr id="432" name="TextBox 12"/>
          <p:cNvSpPr/>
          <p:nvPr/>
        </p:nvSpPr>
        <p:spPr>
          <a:xfrm>
            <a:off x="1371600" y="3346560"/>
            <a:ext cx="2285640" cy="5482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3600" b="1" u="none" strike="noStrike">
                <a:solidFill>
                  <a:srgbClr val="00FF41"/>
                </a:solidFill>
                <a:effectLst/>
                <a:uFillTx/>
                <a:latin typeface="Calibri"/>
              </a:rPr>
              <a:t>27017</a:t>
            </a:r>
            <a:endParaRPr lang="en-US" sz="3600" b="0" u="none" strike="noStrike">
              <a:solidFill>
                <a:srgbClr val="FFFFFF"/>
              </a:solidFill>
              <a:effectLst/>
              <a:uFillTx/>
              <a:latin typeface="Arial"/>
            </a:endParaRPr>
          </a:p>
        </p:txBody>
      </p:sp>
      <p:sp>
        <p:nvSpPr>
          <p:cNvPr id="433" name="TextBox 13"/>
          <p:cNvSpPr/>
          <p:nvPr/>
        </p:nvSpPr>
        <p:spPr>
          <a:xfrm>
            <a:off x="3840480" y="3346560"/>
            <a:ext cx="54828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434" name="TextBox 14"/>
          <p:cNvSpPr/>
          <p:nvPr/>
        </p:nvSpPr>
        <p:spPr>
          <a:xfrm>
            <a:off x="4480560" y="3346560"/>
            <a:ext cx="640044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FFFFFF"/>
                </a:solidFill>
                <a:effectLst/>
                <a:uFillTx/>
                <a:latin typeface="Calibri"/>
              </a:rPr>
              <a:t>MongoDB</a:t>
            </a:r>
            <a:endParaRPr lang="en-US" sz="3200" b="0" u="none" strike="noStrike">
              <a:solidFill>
                <a:srgbClr val="FFFFFF"/>
              </a:solidFill>
              <a:effectLst/>
              <a:uFillTx/>
              <a:latin typeface="Arial"/>
            </a:endParaRPr>
          </a:p>
        </p:txBody>
      </p:sp>
      <p:sp>
        <p:nvSpPr>
          <p:cNvPr id="435" name="TextBox 15"/>
          <p:cNvSpPr/>
          <p:nvPr/>
        </p:nvSpPr>
        <p:spPr>
          <a:xfrm>
            <a:off x="1371600" y="3913560"/>
            <a:ext cx="2285640" cy="5482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3600" b="1" u="none" strike="noStrike">
                <a:solidFill>
                  <a:srgbClr val="00FF41"/>
                </a:solidFill>
                <a:effectLst/>
                <a:uFillTx/>
                <a:latin typeface="Calibri"/>
              </a:rPr>
              <a:t>6379</a:t>
            </a:r>
            <a:endParaRPr lang="en-US" sz="3600" b="0" u="none" strike="noStrike">
              <a:solidFill>
                <a:srgbClr val="FFFFFF"/>
              </a:solidFill>
              <a:effectLst/>
              <a:uFillTx/>
              <a:latin typeface="Arial"/>
            </a:endParaRPr>
          </a:p>
        </p:txBody>
      </p:sp>
      <p:sp>
        <p:nvSpPr>
          <p:cNvPr id="436" name="TextBox 16"/>
          <p:cNvSpPr/>
          <p:nvPr/>
        </p:nvSpPr>
        <p:spPr>
          <a:xfrm>
            <a:off x="3840480" y="3913560"/>
            <a:ext cx="54828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437" name="TextBox 17"/>
          <p:cNvSpPr/>
          <p:nvPr/>
        </p:nvSpPr>
        <p:spPr>
          <a:xfrm>
            <a:off x="4480560" y="3913560"/>
            <a:ext cx="640044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FFFFFF"/>
                </a:solidFill>
                <a:effectLst/>
                <a:uFillTx/>
                <a:latin typeface="Calibri"/>
              </a:rPr>
              <a:t>Redis</a:t>
            </a:r>
            <a:endParaRPr lang="en-US" sz="3200" b="0" u="none" strike="noStrike">
              <a:solidFill>
                <a:srgbClr val="FFFFFF"/>
              </a:solidFill>
              <a:effectLst/>
              <a:uFillTx/>
              <a:latin typeface="Arial"/>
            </a:endParaRPr>
          </a:p>
        </p:txBody>
      </p:sp>
      <p:sp>
        <p:nvSpPr>
          <p:cNvPr id="438" name="TextBox 18"/>
          <p:cNvSpPr/>
          <p:nvPr/>
        </p:nvSpPr>
        <p:spPr>
          <a:xfrm>
            <a:off x="1371600" y="4480560"/>
            <a:ext cx="2285640" cy="5482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3600" b="1" u="none" strike="noStrike">
                <a:solidFill>
                  <a:srgbClr val="00FF41"/>
                </a:solidFill>
                <a:effectLst/>
                <a:uFillTx/>
                <a:latin typeface="Calibri"/>
              </a:rPr>
              <a:t>9200</a:t>
            </a:r>
            <a:endParaRPr lang="en-US" sz="3600" b="0" u="none" strike="noStrike">
              <a:solidFill>
                <a:srgbClr val="FFFFFF"/>
              </a:solidFill>
              <a:effectLst/>
              <a:uFillTx/>
              <a:latin typeface="Arial"/>
            </a:endParaRPr>
          </a:p>
        </p:txBody>
      </p:sp>
      <p:sp>
        <p:nvSpPr>
          <p:cNvPr id="439" name="TextBox 19"/>
          <p:cNvSpPr/>
          <p:nvPr/>
        </p:nvSpPr>
        <p:spPr>
          <a:xfrm>
            <a:off x="3840480" y="4480560"/>
            <a:ext cx="54828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440" name="TextBox 20"/>
          <p:cNvSpPr/>
          <p:nvPr/>
        </p:nvSpPr>
        <p:spPr>
          <a:xfrm>
            <a:off x="4480560" y="4480560"/>
            <a:ext cx="640044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FFFFFF"/>
                </a:solidFill>
                <a:effectLst/>
                <a:uFillTx/>
                <a:latin typeface="Calibri"/>
              </a:rPr>
              <a:t>Elasticsearch</a:t>
            </a:r>
            <a:endParaRPr lang="en-US" sz="3200" b="0" u="none" strike="noStrike">
              <a:solidFill>
                <a:srgbClr val="FFFFFF"/>
              </a:solidFill>
              <a:effectLst/>
              <a:uFillTx/>
              <a:latin typeface="Arial"/>
            </a:endParaRPr>
          </a:p>
        </p:txBody>
      </p:sp>
      <p:sp>
        <p:nvSpPr>
          <p:cNvPr id="441" name="TextBox 21"/>
          <p:cNvSpPr/>
          <p:nvPr/>
        </p:nvSpPr>
        <p:spPr>
          <a:xfrm>
            <a:off x="1371600" y="5047560"/>
            <a:ext cx="2285640" cy="5482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3600" b="1" u="none" strike="noStrike">
                <a:solidFill>
                  <a:srgbClr val="00FF41"/>
                </a:solidFill>
                <a:effectLst/>
                <a:uFillTx/>
                <a:latin typeface="Calibri"/>
              </a:rPr>
              <a:t>9042</a:t>
            </a:r>
            <a:endParaRPr lang="en-US" sz="3600" b="0" u="none" strike="noStrike">
              <a:solidFill>
                <a:srgbClr val="FFFFFF"/>
              </a:solidFill>
              <a:effectLst/>
              <a:uFillTx/>
              <a:latin typeface="Arial"/>
            </a:endParaRPr>
          </a:p>
        </p:txBody>
      </p:sp>
      <p:sp>
        <p:nvSpPr>
          <p:cNvPr id="442" name="TextBox 22"/>
          <p:cNvSpPr/>
          <p:nvPr/>
        </p:nvSpPr>
        <p:spPr>
          <a:xfrm>
            <a:off x="3840480" y="5047560"/>
            <a:ext cx="54828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443" name="TextBox 23"/>
          <p:cNvSpPr/>
          <p:nvPr/>
        </p:nvSpPr>
        <p:spPr>
          <a:xfrm>
            <a:off x="4480560" y="5047560"/>
            <a:ext cx="640044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FFFFFF"/>
                </a:solidFill>
                <a:effectLst/>
                <a:uFillTx/>
                <a:latin typeface="Calibri"/>
              </a:rPr>
              <a:t>Cassandra</a:t>
            </a:r>
            <a:endParaRPr lang="en-US" sz="3200" b="0" u="none" strike="noStrike">
              <a:solidFill>
                <a:srgbClr val="FFFFFF"/>
              </a:solidFill>
              <a:effectLst/>
              <a:uFillTx/>
              <a:latin typeface="Arial"/>
            </a:endParaRPr>
          </a:p>
        </p:txBody>
      </p:sp>
      <p:sp>
        <p:nvSpPr>
          <p:cNvPr id="444" name="TextBox 24"/>
          <p:cNvSpPr/>
          <p:nvPr/>
        </p:nvSpPr>
        <p:spPr>
          <a:xfrm>
            <a:off x="457200" y="5989320"/>
            <a:ext cx="11246760" cy="4248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1" u="none" strike="noStrike">
                <a:solidFill>
                  <a:srgbClr val="FF6B35"/>
                </a:solidFill>
                <a:effectLst/>
                <a:uFillTx/>
                <a:latin typeface="Calibri"/>
              </a:rPr>
              <a:t>Любой из них, открытый в интернет, = находка. Каждый раз*</a:t>
            </a:r>
            <a:endParaRPr lang="en-US" sz="2200" b="0" u="none" strike="noStrike">
              <a:solidFill>
                <a:srgbClr val="FFFFFF"/>
              </a:solidFill>
              <a:effectLst/>
              <a:uFillTx/>
              <a:latin typeface="Arial"/>
            </a:endParaRPr>
          </a:p>
        </p:txBody>
      </p:sp>
      <p:sp>
        <p:nvSpPr>
          <p:cNvPr id="445" name="TextBox 25"/>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446" name="TextBox 26"/>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21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447" name="TextBox 1" descr="Statement slide: Markdown files are now a database — the kind an LLM reads from via embeddings and RAG." title="Statement slide: Markdown files are now a database — the kind an LLM reads from "/>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Ваши заметки теперь база данных</a:t>
            </a:r>
            <a:endParaRPr lang="en-US" sz="4200" b="0" u="none" strike="noStrike">
              <a:solidFill>
                <a:srgbClr val="FFFFFF"/>
              </a:solidFill>
              <a:effectLst/>
              <a:uFillTx/>
              <a:latin typeface="Arial"/>
            </a:endParaRPr>
          </a:p>
        </p:txBody>
      </p:sp>
      <p:sp>
        <p:nvSpPr>
          <p:cNvPr id="448"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449" name="TextBox 3"/>
          <p:cNvSpPr/>
          <p:nvPr/>
        </p:nvSpPr>
        <p:spPr>
          <a:xfrm>
            <a:off x="457200" y="2011680"/>
            <a:ext cx="11246760" cy="9140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0" u="none" strike="noStrike">
                <a:solidFill>
                  <a:srgbClr val="FFFFFF"/>
                </a:solidFill>
                <a:effectLst/>
                <a:uFillTx/>
                <a:latin typeface="Calibri"/>
              </a:rPr>
              <a:t>Markdown-файлы теперь</a:t>
            </a:r>
            <a:endParaRPr lang="en-US" sz="4400" b="0" u="none" strike="noStrike">
              <a:solidFill>
                <a:srgbClr val="FFFFFF"/>
              </a:solidFill>
              <a:effectLst/>
              <a:uFillTx/>
              <a:latin typeface="Arial"/>
            </a:endParaRPr>
          </a:p>
        </p:txBody>
      </p:sp>
      <p:sp>
        <p:nvSpPr>
          <p:cNvPr id="450" name="TextBox 4"/>
          <p:cNvSpPr/>
          <p:nvPr/>
        </p:nvSpPr>
        <p:spPr>
          <a:xfrm>
            <a:off x="457200" y="2834640"/>
            <a:ext cx="11246760" cy="9140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00FF41"/>
                </a:solidFill>
                <a:effectLst/>
                <a:uFillTx/>
                <a:latin typeface="Calibri"/>
              </a:rPr>
              <a:t>база данных, из которой читает LLM.</a:t>
            </a:r>
            <a:endParaRPr lang="en-US" sz="4400" b="0" u="none" strike="noStrike">
              <a:solidFill>
                <a:srgbClr val="FFFFFF"/>
              </a:solidFill>
              <a:effectLst/>
              <a:uFillTx/>
              <a:latin typeface="Arial"/>
            </a:endParaRPr>
          </a:p>
        </p:txBody>
      </p:sp>
      <p:sp>
        <p:nvSpPr>
          <p:cNvPr id="451" name="TextBox 5"/>
          <p:cNvSpPr/>
          <p:nvPr/>
        </p:nvSpPr>
        <p:spPr>
          <a:xfrm>
            <a:off x="457200" y="4206240"/>
            <a:ext cx="11246760" cy="54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400" b="0" u="none" strike="noStrike">
                <a:solidFill>
                  <a:srgbClr val="00D4FF"/>
                </a:solidFill>
                <a:effectLst/>
                <a:uFillTx/>
                <a:latin typeface="Calibri"/>
              </a:rPr>
              <a:t>Хранилища Obsidian  •  Экспорты Wiki  •  Заметки со встреч  •  Документы GitHub</a:t>
            </a:r>
            <a:endParaRPr lang="en-US" sz="2400" b="0" u="none" strike="noStrike">
              <a:solidFill>
                <a:srgbClr val="FFFFFF"/>
              </a:solidFill>
              <a:effectLst/>
              <a:uFillTx/>
              <a:latin typeface="Arial"/>
            </a:endParaRPr>
          </a:p>
        </p:txBody>
      </p:sp>
      <p:sp>
        <p:nvSpPr>
          <p:cNvPr id="452" name="TextBox 6"/>
          <p:cNvSpPr/>
          <p:nvPr/>
        </p:nvSpPr>
        <p:spPr>
          <a:xfrm>
            <a:off x="457200" y="4937760"/>
            <a:ext cx="11246760" cy="9140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600" b="0" u="none" strike="noStrike">
                <a:solidFill>
                  <a:srgbClr val="CCCCD6"/>
                </a:solidFill>
                <a:effectLst/>
                <a:uFillTx/>
                <a:latin typeface="Calibri"/>
              </a:rPr>
              <a:t>Эмбеддинг → векторная БД → контекст LLM → ответ пользователю</a:t>
            </a:r>
            <a:endParaRPr lang="en-US" sz="2600" b="0" u="none" strike="noStrike">
              <a:solidFill>
                <a:srgbClr val="FFFFFF"/>
              </a:solidFill>
              <a:effectLst/>
              <a:uFillTx/>
              <a:latin typeface="Arial"/>
            </a:endParaRPr>
          </a:p>
        </p:txBody>
      </p:sp>
      <p:sp>
        <p:nvSpPr>
          <p:cNvPr id="453"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454"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22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455" name="TextBox 1" descr="Pipeline diagram: markdown files → embedder → vector DB → LLM prompt → answer. The trust boundary sits between authors and the embedder." title="Pipeline diagram: markdown files → embedder → vector DB → LLM prompt → answer. T"/>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rgbClr val="00FF41"/>
                </a:solidFill>
                <a:effectLst/>
                <a:uFillTx/>
                <a:latin typeface="Calibri"/>
              </a:rPr>
              <a:t>Конвейер RAG — где граница доверия?</a:t>
            </a:r>
            <a:endParaRPr lang="en-US" sz="3600" b="0" u="none" strike="noStrike">
              <a:solidFill>
                <a:srgbClr val="FFFFFF"/>
              </a:solidFill>
              <a:effectLst/>
              <a:uFillTx/>
              <a:latin typeface="Arial"/>
            </a:endParaRPr>
          </a:p>
        </p:txBody>
      </p:sp>
      <p:sp>
        <p:nvSpPr>
          <p:cNvPr id="456"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457" name="Rounded Rectangle 3"/>
          <p:cNvSpPr/>
          <p:nvPr/>
        </p:nvSpPr>
        <p:spPr>
          <a:xfrm>
            <a:off x="457200" y="2377440"/>
            <a:ext cx="1919880" cy="1096920"/>
          </a:xfrm>
          <a:prstGeom prst="roundRect">
            <a:avLst>
              <a:gd name="adj" fmla="val 16667"/>
            </a:avLst>
          </a:prstGeom>
          <a:solidFill>
            <a:srgbClr val="24243E"/>
          </a:solidFill>
          <a:ln w="3810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58" name="TextBox 4"/>
          <p:cNvSpPr/>
          <p:nvPr/>
        </p:nvSpPr>
        <p:spPr>
          <a:xfrm>
            <a:off x="457200" y="2651760"/>
            <a:ext cx="191988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1" u="none" strike="noStrike">
                <a:solidFill>
                  <a:srgbClr val="00D4FF"/>
                </a:solidFill>
                <a:effectLst/>
                <a:uFillTx/>
                <a:latin typeface="Calibri"/>
              </a:rPr>
              <a:t>Файлы .md</a:t>
            </a:r>
            <a:endParaRPr lang="en-US" sz="2200" b="0" u="none" strike="noStrike">
              <a:solidFill>
                <a:srgbClr val="FFFFFF"/>
              </a:solidFill>
              <a:effectLst/>
              <a:uFillTx/>
              <a:latin typeface="Arial"/>
            </a:endParaRPr>
          </a:p>
        </p:txBody>
      </p:sp>
      <p:sp>
        <p:nvSpPr>
          <p:cNvPr id="459" name="TextBox 5"/>
          <p:cNvSpPr/>
          <p:nvPr/>
        </p:nvSpPr>
        <p:spPr>
          <a:xfrm>
            <a:off x="2395800" y="2651760"/>
            <a:ext cx="36540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1" u="none" strike="noStrike">
                <a:solidFill>
                  <a:srgbClr val="FF6B35"/>
                </a:solidFill>
                <a:effectLst/>
                <a:uFillTx/>
                <a:latin typeface="Calibri"/>
              </a:rPr>
              <a:t>▶</a:t>
            </a:r>
            <a:endParaRPr lang="en-US" sz="2800" b="0" u="none" strike="noStrike">
              <a:solidFill>
                <a:srgbClr val="FFFFFF"/>
              </a:solidFill>
              <a:effectLst/>
              <a:uFillTx/>
              <a:latin typeface="Arial"/>
            </a:endParaRPr>
          </a:p>
        </p:txBody>
      </p:sp>
      <p:sp>
        <p:nvSpPr>
          <p:cNvPr id="460" name="Rounded Rectangle 6"/>
          <p:cNvSpPr/>
          <p:nvPr/>
        </p:nvSpPr>
        <p:spPr>
          <a:xfrm>
            <a:off x="2743200" y="2377440"/>
            <a:ext cx="1919880" cy="1096920"/>
          </a:xfrm>
          <a:prstGeom prst="roundRect">
            <a:avLst>
              <a:gd name="adj" fmla="val 16667"/>
            </a:avLst>
          </a:prstGeom>
          <a:solidFill>
            <a:srgbClr val="24243E"/>
          </a:solidFill>
          <a:ln w="38100">
            <a:solidFill>
              <a:srgbClr val="FFFF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1" name="TextBox 7"/>
          <p:cNvSpPr/>
          <p:nvPr/>
        </p:nvSpPr>
        <p:spPr>
          <a:xfrm>
            <a:off x="2743200" y="2651760"/>
            <a:ext cx="191988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1" u="none" strike="noStrike">
                <a:solidFill>
                  <a:srgbClr val="FFFFFF"/>
                </a:solidFill>
                <a:effectLst/>
                <a:uFillTx/>
                <a:latin typeface="Calibri"/>
              </a:rPr>
              <a:t>Эмбеддер</a:t>
            </a:r>
            <a:endParaRPr lang="en-US" sz="2200" b="0" u="none" strike="noStrike">
              <a:solidFill>
                <a:srgbClr val="FFFFFF"/>
              </a:solidFill>
              <a:effectLst/>
              <a:uFillTx/>
              <a:latin typeface="Arial"/>
            </a:endParaRPr>
          </a:p>
        </p:txBody>
      </p:sp>
      <p:sp>
        <p:nvSpPr>
          <p:cNvPr id="462" name="TextBox 8"/>
          <p:cNvSpPr/>
          <p:nvPr/>
        </p:nvSpPr>
        <p:spPr>
          <a:xfrm>
            <a:off x="4681800" y="2651760"/>
            <a:ext cx="36540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1" u="none" strike="noStrike">
                <a:solidFill>
                  <a:srgbClr val="FF6B35"/>
                </a:solidFill>
                <a:effectLst/>
                <a:uFillTx/>
                <a:latin typeface="Calibri"/>
              </a:rPr>
              <a:t>▶</a:t>
            </a:r>
            <a:endParaRPr lang="en-US" sz="2800" b="0" u="none" strike="noStrike">
              <a:solidFill>
                <a:srgbClr val="FFFFFF"/>
              </a:solidFill>
              <a:effectLst/>
              <a:uFillTx/>
              <a:latin typeface="Arial"/>
            </a:endParaRPr>
          </a:p>
        </p:txBody>
      </p:sp>
      <p:sp>
        <p:nvSpPr>
          <p:cNvPr id="463" name="Rounded Rectangle 9"/>
          <p:cNvSpPr/>
          <p:nvPr/>
        </p:nvSpPr>
        <p:spPr>
          <a:xfrm>
            <a:off x="5029200" y="2377440"/>
            <a:ext cx="1919880" cy="1096920"/>
          </a:xfrm>
          <a:prstGeom prst="roundRect">
            <a:avLst>
              <a:gd name="adj" fmla="val 16667"/>
            </a:avLst>
          </a:prstGeom>
          <a:solidFill>
            <a:srgbClr val="24243E"/>
          </a:solidFill>
          <a:ln w="38100">
            <a:solidFill>
              <a:srgbClr val="00FF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4" name="TextBox 10"/>
          <p:cNvSpPr/>
          <p:nvPr/>
        </p:nvSpPr>
        <p:spPr>
          <a:xfrm>
            <a:off x="5029200" y="2651760"/>
            <a:ext cx="191988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1" u="none" strike="noStrike">
                <a:solidFill>
                  <a:srgbClr val="00FF41"/>
                </a:solidFill>
                <a:effectLst/>
                <a:uFillTx/>
                <a:latin typeface="Calibri"/>
              </a:rPr>
              <a:t>Векторная БД</a:t>
            </a:r>
            <a:endParaRPr lang="en-US" sz="2200" b="0" u="none" strike="noStrike">
              <a:solidFill>
                <a:srgbClr val="FFFFFF"/>
              </a:solidFill>
              <a:effectLst/>
              <a:uFillTx/>
              <a:latin typeface="Arial"/>
            </a:endParaRPr>
          </a:p>
        </p:txBody>
      </p:sp>
      <p:sp>
        <p:nvSpPr>
          <p:cNvPr id="465" name="TextBox 11"/>
          <p:cNvSpPr/>
          <p:nvPr/>
        </p:nvSpPr>
        <p:spPr>
          <a:xfrm>
            <a:off x="6967800" y="2651760"/>
            <a:ext cx="36540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1" u="none" strike="noStrike">
                <a:solidFill>
                  <a:srgbClr val="FF6B35"/>
                </a:solidFill>
                <a:effectLst/>
                <a:uFillTx/>
                <a:latin typeface="Calibri"/>
              </a:rPr>
              <a:t>▶</a:t>
            </a:r>
            <a:endParaRPr lang="en-US" sz="2800" b="0" u="none" strike="noStrike">
              <a:solidFill>
                <a:srgbClr val="FFFFFF"/>
              </a:solidFill>
              <a:effectLst/>
              <a:uFillTx/>
              <a:latin typeface="Arial"/>
            </a:endParaRPr>
          </a:p>
        </p:txBody>
      </p:sp>
      <p:sp>
        <p:nvSpPr>
          <p:cNvPr id="466" name="Rounded Rectangle 12"/>
          <p:cNvSpPr/>
          <p:nvPr/>
        </p:nvSpPr>
        <p:spPr>
          <a:xfrm>
            <a:off x="7315200" y="2377440"/>
            <a:ext cx="1919880" cy="1096920"/>
          </a:xfrm>
          <a:prstGeom prst="roundRect">
            <a:avLst>
              <a:gd name="adj" fmla="val 16667"/>
            </a:avLst>
          </a:prstGeom>
          <a:solidFill>
            <a:srgbClr val="24243E"/>
          </a:solidFill>
          <a:ln w="38100">
            <a:solidFill>
              <a:srgbClr val="FFFF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7" name="TextBox 13"/>
          <p:cNvSpPr/>
          <p:nvPr/>
        </p:nvSpPr>
        <p:spPr>
          <a:xfrm>
            <a:off x="7315200" y="2651760"/>
            <a:ext cx="191988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1" u="none" strike="noStrike">
                <a:solidFill>
                  <a:srgbClr val="FFFFFF"/>
                </a:solidFill>
                <a:effectLst/>
                <a:uFillTx/>
                <a:latin typeface="Calibri"/>
              </a:rPr>
              <a:t>Промпт LLM</a:t>
            </a:r>
            <a:endParaRPr lang="en-US" sz="2200" b="0" u="none" strike="noStrike">
              <a:solidFill>
                <a:srgbClr val="FFFFFF"/>
              </a:solidFill>
              <a:effectLst/>
              <a:uFillTx/>
              <a:latin typeface="Arial"/>
            </a:endParaRPr>
          </a:p>
        </p:txBody>
      </p:sp>
      <p:sp>
        <p:nvSpPr>
          <p:cNvPr id="468" name="TextBox 14"/>
          <p:cNvSpPr/>
          <p:nvPr/>
        </p:nvSpPr>
        <p:spPr>
          <a:xfrm>
            <a:off x="9253800" y="2651760"/>
            <a:ext cx="36540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1" u="none" strike="noStrike">
                <a:solidFill>
                  <a:srgbClr val="FF6B35"/>
                </a:solidFill>
                <a:effectLst/>
                <a:uFillTx/>
                <a:latin typeface="Calibri"/>
              </a:rPr>
              <a:t>▶</a:t>
            </a:r>
            <a:endParaRPr lang="en-US" sz="2800" b="0" u="none" strike="noStrike">
              <a:solidFill>
                <a:srgbClr val="FFFFFF"/>
              </a:solidFill>
              <a:effectLst/>
              <a:uFillTx/>
              <a:latin typeface="Arial"/>
            </a:endParaRPr>
          </a:p>
        </p:txBody>
      </p:sp>
      <p:sp>
        <p:nvSpPr>
          <p:cNvPr id="469" name="Rounded Rectangle 15"/>
          <p:cNvSpPr/>
          <p:nvPr/>
        </p:nvSpPr>
        <p:spPr>
          <a:xfrm>
            <a:off x="9601200" y="2377440"/>
            <a:ext cx="1919880" cy="1096920"/>
          </a:xfrm>
          <a:prstGeom prst="roundRect">
            <a:avLst>
              <a:gd name="adj" fmla="val 16667"/>
            </a:avLst>
          </a:prstGeom>
          <a:solidFill>
            <a:srgbClr val="24243E"/>
          </a:solidFill>
          <a:ln w="3810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70" name="TextBox 16"/>
          <p:cNvSpPr/>
          <p:nvPr/>
        </p:nvSpPr>
        <p:spPr>
          <a:xfrm>
            <a:off x="9601200" y="2651760"/>
            <a:ext cx="191988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1" u="none" strike="noStrike">
                <a:solidFill>
                  <a:srgbClr val="00D4FF"/>
                </a:solidFill>
                <a:effectLst/>
                <a:uFillTx/>
                <a:latin typeface="Calibri"/>
              </a:rPr>
              <a:t>Ответ</a:t>
            </a:r>
            <a:endParaRPr lang="en-US" sz="2200" b="0" u="none" strike="noStrike">
              <a:solidFill>
                <a:srgbClr val="FFFFFF"/>
              </a:solidFill>
              <a:effectLst/>
              <a:uFillTx/>
              <a:latin typeface="Arial"/>
            </a:endParaRPr>
          </a:p>
        </p:txBody>
      </p:sp>
      <p:sp>
        <p:nvSpPr>
          <p:cNvPr id="471" name="Rectangle 17"/>
          <p:cNvSpPr/>
          <p:nvPr/>
        </p:nvSpPr>
        <p:spPr>
          <a:xfrm>
            <a:off x="2286000" y="2103120"/>
            <a:ext cx="54360" cy="16455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72" name="TextBox 18"/>
          <p:cNvSpPr/>
          <p:nvPr/>
        </p:nvSpPr>
        <p:spPr>
          <a:xfrm>
            <a:off x="731520" y="3840480"/>
            <a:ext cx="2742840" cy="4568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800" b="1" u="none" strike="noStrike">
                <a:solidFill>
                  <a:srgbClr val="FF6B35"/>
                </a:solidFill>
                <a:effectLst/>
                <a:uFillTx/>
                <a:latin typeface="Calibri"/>
              </a:rPr>
              <a:t>⚠ ГРАНИЦА ДОВЕРИЯ</a:t>
            </a:r>
            <a:endParaRPr lang="en-US" sz="1800" b="0" u="none" strike="noStrike">
              <a:solidFill>
                <a:srgbClr val="FFFFFF"/>
              </a:solidFill>
              <a:effectLst/>
              <a:uFillTx/>
              <a:latin typeface="Arial"/>
            </a:endParaRPr>
          </a:p>
        </p:txBody>
      </p:sp>
      <p:sp>
        <p:nvSpPr>
          <p:cNvPr id="473" name="TextBox 19"/>
          <p:cNvSpPr/>
          <p:nvPr/>
        </p:nvSpPr>
        <p:spPr>
          <a:xfrm>
            <a:off x="457200" y="4846320"/>
            <a:ext cx="11246760" cy="13712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600" b="1" u="none" strike="noStrike">
                <a:solidFill>
                  <a:srgbClr val="FFFFFF"/>
                </a:solidFill>
                <a:effectLst/>
                <a:uFillTx/>
                <a:latin typeface="Calibri"/>
              </a:rPr>
              <a:t>Если любой может править эти .md-файлы, любой может подложить</a:t>
            </a:r>
            <a:endParaRPr lang="en-US" sz="2600" b="0" u="none" strike="noStrike">
              <a:solidFill>
                <a:srgbClr val="FFFFFF"/>
              </a:solidFill>
              <a:effectLst/>
              <a:uFillTx/>
              <a:latin typeface="Arial"/>
            </a:endParaRPr>
          </a:p>
          <a:p>
            <a:pPr algn="ctr" defTabSz="457200">
              <a:lnSpc>
                <a:spcPct val="100000"/>
              </a:lnSpc>
            </a:pPr>
            <a:r>
              <a:rPr lang="en-US" sz="2600" b="1" u="none" strike="noStrike">
                <a:solidFill>
                  <a:srgbClr val="FFFFFF"/>
                </a:solidFill>
                <a:effectLst/>
                <a:uFillTx/>
                <a:latin typeface="Calibri"/>
              </a:rPr>
              <a:t>контент, который ИИ процитирует как авторитетный.</a:t>
            </a:r>
            <a:endParaRPr lang="en-US" sz="2600" b="0" u="none" strike="noStrike">
              <a:solidFill>
                <a:srgbClr val="FFFFFF"/>
              </a:solidFill>
              <a:effectLst/>
              <a:uFillTx/>
              <a:latin typeface="Arial"/>
            </a:endParaRPr>
          </a:p>
        </p:txBody>
      </p:sp>
      <p:sp>
        <p:nvSpPr>
          <p:cNvPr id="474" name="TextBox 20"/>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475" name="TextBox 21"/>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23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476" name="TextBox 1" descr="Takeaway slide: Treat markdown like a database — because to the LLM, it is. Apply access control, code review, and diff tracking." title="Takeaway slide: Treat markdown like a database — because to the LLM, it is. Appl"/>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Главный вывод</a:t>
            </a:r>
            <a:endParaRPr lang="en-US" sz="4200" b="0" u="none" strike="noStrike">
              <a:solidFill>
                <a:srgbClr val="FFFFFF"/>
              </a:solidFill>
              <a:effectLst/>
              <a:uFillTx/>
              <a:latin typeface="Arial"/>
            </a:endParaRPr>
          </a:p>
        </p:txBody>
      </p:sp>
      <p:sp>
        <p:nvSpPr>
          <p:cNvPr id="477"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478" name="TextBox 3"/>
          <p:cNvSpPr/>
          <p:nvPr/>
        </p:nvSpPr>
        <p:spPr>
          <a:xfrm>
            <a:off x="457200" y="2194560"/>
            <a:ext cx="11246760" cy="13712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5400" b="1" u="none" strike="noStrike">
                <a:solidFill>
                  <a:srgbClr val="00FF41"/>
                </a:solidFill>
                <a:effectLst/>
                <a:uFillTx/>
                <a:latin typeface="Calibri"/>
              </a:rPr>
              <a:t>Относитесь к markdown как к базе данных.</a:t>
            </a:r>
            <a:endParaRPr lang="en-US" sz="5400" b="0" u="none" strike="noStrike">
              <a:solidFill>
                <a:srgbClr val="FFFFFF"/>
              </a:solidFill>
              <a:effectLst/>
              <a:uFillTx/>
              <a:latin typeface="Arial"/>
            </a:endParaRPr>
          </a:p>
        </p:txBody>
      </p:sp>
      <p:sp>
        <p:nvSpPr>
          <p:cNvPr id="479" name="TextBox 4"/>
          <p:cNvSpPr/>
          <p:nvPr/>
        </p:nvSpPr>
        <p:spPr>
          <a:xfrm>
            <a:off x="457200" y="3383280"/>
            <a:ext cx="11246760" cy="9140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200" b="0" u="none" strike="noStrike">
                <a:solidFill>
                  <a:srgbClr val="FFFFFF"/>
                </a:solidFill>
                <a:effectLst/>
                <a:uFillTx/>
                <a:latin typeface="Calibri"/>
              </a:rPr>
              <a:t>Потому что для LLM это так и есть.</a:t>
            </a:r>
            <a:endParaRPr lang="en-US" sz="4200" b="0" u="none" strike="noStrike">
              <a:solidFill>
                <a:srgbClr val="FFFFFF"/>
              </a:solidFill>
              <a:effectLst/>
              <a:uFillTx/>
              <a:latin typeface="Arial"/>
            </a:endParaRPr>
          </a:p>
        </p:txBody>
      </p:sp>
      <p:sp>
        <p:nvSpPr>
          <p:cNvPr id="480" name="TextBox 5"/>
          <p:cNvSpPr/>
          <p:nvPr/>
        </p:nvSpPr>
        <p:spPr>
          <a:xfrm>
            <a:off x="1828800" y="4572000"/>
            <a:ext cx="8503560" cy="182844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Контроль доступа к папке с документами.</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Код-ревью изменений .md.</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Отслеживание изменений в вики.</a:t>
            </a:r>
            <a:endParaRPr lang="en-US" sz="2400" b="0" u="none" strike="noStrike">
              <a:solidFill>
                <a:srgbClr val="FFFFFF"/>
              </a:solidFill>
              <a:effectLst/>
              <a:uFillTx/>
              <a:latin typeface="Arial"/>
            </a:endParaRPr>
          </a:p>
        </p:txBody>
      </p:sp>
      <p:sp>
        <p:nvSpPr>
          <p:cNvPr id="481" name="TextBox 6"/>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482" name="TextBox 7"/>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24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483" name="TextBox 1" descr="Section divider: SECURITY. What's actually getting hit in 2026" title="Section divider: SECURITY. What's actually getting hit in 2026"/>
          <p:cNvSpPr/>
          <p:nvPr/>
        </p:nvSpPr>
        <p:spPr>
          <a:xfrm>
            <a:off x="457200" y="2560320"/>
            <a:ext cx="11246760" cy="164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9600" b="1" u="none" strike="noStrike">
                <a:solidFill>
                  <a:srgbClr val="00FF41"/>
                </a:solidFill>
                <a:effectLst/>
                <a:uFillTx/>
                <a:latin typeface="Calibri"/>
              </a:rPr>
              <a:t>БЕЗОПАСНОСТЬ</a:t>
            </a:r>
            <a:endParaRPr lang="en-US" sz="9600" b="0" u="none" strike="noStrike">
              <a:solidFill>
                <a:srgbClr val="FFFFFF"/>
              </a:solidFill>
              <a:effectLst/>
              <a:uFillTx/>
              <a:latin typeface="Arial"/>
            </a:endParaRPr>
          </a:p>
        </p:txBody>
      </p:sp>
      <p:sp>
        <p:nvSpPr>
          <p:cNvPr id="484" name="Rectangle 2"/>
          <p:cNvSpPr/>
          <p:nvPr/>
        </p:nvSpPr>
        <p:spPr>
          <a:xfrm>
            <a:off x="4724640" y="4297680"/>
            <a:ext cx="2742840" cy="9108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85" name="TextBox 3"/>
          <p:cNvSpPr/>
          <p:nvPr/>
        </p:nvSpPr>
        <p:spPr>
          <a:xfrm>
            <a:off x="457200" y="4572000"/>
            <a:ext cx="11246760" cy="5781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200" b="0" u="none" strike="noStrike">
                <a:solidFill>
                  <a:srgbClr val="FFFFFF"/>
                </a:solidFill>
                <a:effectLst/>
                <a:uFillTx/>
                <a:latin typeface="Calibri"/>
              </a:rPr>
              <a:t>Что реально атакуют в 2026 году*</a:t>
            </a:r>
            <a:endParaRPr lang="en-US" sz="3200" b="0" u="none" strike="noStrike">
              <a:solidFill>
                <a:srgbClr val="FFFFFF"/>
              </a:solidFill>
              <a:effectLst/>
              <a:uFillTx/>
              <a:latin typeface="Arial"/>
            </a:endParaRPr>
          </a:p>
        </p:txBody>
      </p:sp>
      <p:sp>
        <p:nvSpPr>
          <p:cNvPr id="486" name="TextBox 4"/>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487" name="TextBox 5"/>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25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488" name="TextBox 1" descr="Reference to xkcd #327 'Exploits of a Mom' (Bobby Tables): a mother names her son Robert'); DROP TABLE Students;-- and the school's student table is dropped. URL: https://xkcd.com/327/" title="Reference to xkcd #327 'Exploits of a Mom' (Bobby Tables): a mother names her so"/>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800" b="1" u="none" strike="noStrike">
                <a:solidFill>
                  <a:srgbClr val="00FF41"/>
                </a:solidFill>
                <a:effectLst/>
                <a:uFillTx/>
                <a:latin typeface="Calibri"/>
              </a:rPr>
              <a:t>xkcd #327 — Bobby Tables</a:t>
            </a:r>
            <a:endParaRPr lang="en-US" sz="3800" b="0" u="none" strike="noStrike">
              <a:solidFill>
                <a:srgbClr val="FFFFFF"/>
              </a:solidFill>
              <a:effectLst/>
              <a:uFillTx/>
              <a:latin typeface="Arial"/>
            </a:endParaRPr>
          </a:p>
        </p:txBody>
      </p:sp>
      <p:sp>
        <p:nvSpPr>
          <p:cNvPr id="489"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490" name="Rectangle 3"/>
          <p:cNvSpPr/>
          <p:nvPr/>
        </p:nvSpPr>
        <p:spPr>
          <a:xfrm>
            <a:off x="457200" y="1737360"/>
            <a:ext cx="11246760" cy="3200040"/>
          </a:xfrm>
          <a:prstGeom prst="rect">
            <a:avLst/>
          </a:prstGeom>
          <a:solidFill>
            <a:srgbClr val="24243E"/>
          </a:solidFill>
          <a:ln w="2540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91" name="TextBox 4"/>
          <p:cNvSpPr/>
          <p:nvPr/>
        </p:nvSpPr>
        <p:spPr>
          <a:xfrm>
            <a:off x="731520" y="1920240"/>
            <a:ext cx="1069812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Школа:  «Здравствуйте, это школа вашего сына. У нас</a:t>
            </a:r>
            <a:endParaRPr lang="en-US" sz="2400" b="0" u="none" strike="noStrike">
              <a:solidFill>
                <a:srgbClr val="FFFFFF"/>
              </a:solidFill>
              <a:effectLst/>
              <a:uFillTx/>
              <a:latin typeface="Arial"/>
            </a:endParaRPr>
          </a:p>
        </p:txBody>
      </p:sp>
      <p:sp>
        <p:nvSpPr>
          <p:cNvPr id="492" name="TextBox 5"/>
          <p:cNvSpPr/>
          <p:nvPr/>
        </p:nvSpPr>
        <p:spPr>
          <a:xfrm>
            <a:off x="731520" y="2514600"/>
            <a:ext cx="1069812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         проблемы с компьютером.»</a:t>
            </a:r>
            <a:endParaRPr lang="en-US" sz="2400" b="0" u="none" strike="noStrike">
              <a:solidFill>
                <a:srgbClr val="FFFFFF"/>
              </a:solidFill>
              <a:effectLst/>
              <a:uFillTx/>
              <a:latin typeface="Arial"/>
            </a:endParaRPr>
          </a:p>
        </p:txBody>
      </p:sp>
      <p:sp>
        <p:nvSpPr>
          <p:cNvPr id="493" name="TextBox 6"/>
          <p:cNvSpPr/>
          <p:nvPr/>
        </p:nvSpPr>
        <p:spPr>
          <a:xfrm>
            <a:off x="731520" y="3154680"/>
            <a:ext cx="1069812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Мама:    «О боже — он что-то сломал?»</a:t>
            </a:r>
            <a:endParaRPr lang="en-US" sz="2400" b="0" u="none" strike="noStrike">
              <a:solidFill>
                <a:srgbClr val="FFFFFF"/>
              </a:solidFill>
              <a:effectLst/>
              <a:uFillTx/>
              <a:latin typeface="Arial"/>
            </a:endParaRPr>
          </a:p>
        </p:txBody>
      </p:sp>
      <p:sp>
        <p:nvSpPr>
          <p:cNvPr id="494" name="TextBox 7"/>
          <p:cNvSpPr/>
          <p:nvPr/>
        </p:nvSpPr>
        <p:spPr>
          <a:xfrm>
            <a:off x="731520" y="3794760"/>
            <a:ext cx="1069812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FF41"/>
                </a:solidFill>
                <a:effectLst/>
                <a:uFillTx/>
                <a:latin typeface="Calibri"/>
              </a:rPr>
              <a:t>Школа:  «Вы действительно назвали сына  Robert');</a:t>
            </a:r>
            <a:endParaRPr lang="en-US" sz="2400" b="0" u="none" strike="noStrike">
              <a:solidFill>
                <a:srgbClr val="FFFFFF"/>
              </a:solidFill>
              <a:effectLst/>
              <a:uFillTx/>
              <a:latin typeface="Arial"/>
            </a:endParaRPr>
          </a:p>
        </p:txBody>
      </p:sp>
      <p:sp>
        <p:nvSpPr>
          <p:cNvPr id="495" name="TextBox 8"/>
          <p:cNvSpPr/>
          <p:nvPr/>
        </p:nvSpPr>
        <p:spPr>
          <a:xfrm>
            <a:off x="731520" y="4297680"/>
            <a:ext cx="1069812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1" u="none" strike="noStrike">
                <a:solidFill>
                  <a:srgbClr val="FF6B35"/>
                </a:solidFill>
                <a:effectLst/>
                <a:uFillTx/>
                <a:latin typeface="Calibri"/>
              </a:rPr>
              <a:t>         DROP TABLE Students;--  ?»</a:t>
            </a:r>
            <a:endParaRPr lang="en-US" sz="2400" b="0" u="none" strike="noStrike">
              <a:solidFill>
                <a:srgbClr val="FFFFFF"/>
              </a:solidFill>
              <a:effectLst/>
              <a:uFillTx/>
              <a:latin typeface="Arial"/>
            </a:endParaRPr>
          </a:p>
        </p:txBody>
      </p:sp>
      <p:sp>
        <p:nvSpPr>
          <p:cNvPr id="496" name="TextBox 9"/>
          <p:cNvSpPr/>
          <p:nvPr/>
        </p:nvSpPr>
        <p:spPr>
          <a:xfrm>
            <a:off x="457200" y="5212080"/>
            <a:ext cx="11246760" cy="54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1" u="none" strike="noStrike">
                <a:solidFill>
                  <a:srgbClr val="00D4FF"/>
                </a:solidFill>
                <a:effectLst/>
                <a:uFillTx/>
                <a:latin typeface="Calibri"/>
              </a:rPr>
              <a:t>https://xkcd.com/327/</a:t>
            </a:r>
            <a:endParaRPr lang="en-US" sz="2800" b="0" u="none" strike="noStrike">
              <a:solidFill>
                <a:srgbClr val="FFFFFF"/>
              </a:solidFill>
              <a:effectLst/>
              <a:uFillTx/>
              <a:latin typeface="Arial"/>
            </a:endParaRPr>
          </a:p>
        </p:txBody>
      </p:sp>
      <p:sp>
        <p:nvSpPr>
          <p:cNvPr id="497" name="TextBox 10"/>
          <p:cNvSpPr/>
          <p:nvPr/>
        </p:nvSpPr>
        <p:spPr>
          <a:xfrm>
            <a:off x="457200" y="5760720"/>
            <a:ext cx="11246760" cy="4568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0" u="none" strike="noStrike">
                <a:solidFill>
                  <a:srgbClr val="CCCCD6"/>
                </a:solidFill>
                <a:effectLst/>
                <a:uFillTx/>
                <a:latin typeface="Calibri"/>
              </a:rPr>
              <a:t>Механизм: конкатенация строк в запросах.</a:t>
            </a:r>
            <a:endParaRPr lang="en-US" sz="2200" b="0" u="none" strike="noStrike">
              <a:solidFill>
                <a:srgbClr val="FFFFFF"/>
              </a:solidFill>
              <a:effectLst/>
              <a:uFillTx/>
              <a:latin typeface="Arial"/>
            </a:endParaRPr>
          </a:p>
        </p:txBody>
      </p:sp>
      <p:sp>
        <p:nvSpPr>
          <p:cNvPr id="498" name="TextBox 11"/>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499" name="TextBox 12"/>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26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00" name="TextBox 1" descr="Statement slide: The database attack surface has expanded, not shrunk. SQL injection is largely fixed; eleven newer categories now dominate." title="Statement slide: The database attack surface has expanded, not shrunk. SQL injec"/>
          <p:cNvSpPr/>
          <p:nvPr/>
        </p:nvSpPr>
        <p:spPr>
          <a:xfrm>
            <a:off x="457200" y="2286000"/>
            <a:ext cx="11246760" cy="13712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5400" b="0" u="none" strike="noStrike">
                <a:solidFill>
                  <a:srgbClr val="FFFFFF"/>
                </a:solidFill>
                <a:effectLst/>
                <a:uFillTx/>
                <a:latin typeface="Calibri"/>
              </a:rPr>
              <a:t>Поверхность атаки</a:t>
            </a:r>
            <a:endParaRPr lang="en-US" sz="5400" b="0" u="none" strike="noStrike">
              <a:solidFill>
                <a:srgbClr val="FFFFFF"/>
              </a:solidFill>
              <a:effectLst/>
              <a:uFillTx/>
              <a:latin typeface="Arial"/>
            </a:endParaRPr>
          </a:p>
        </p:txBody>
      </p:sp>
      <p:sp>
        <p:nvSpPr>
          <p:cNvPr id="501" name="TextBox 2"/>
          <p:cNvSpPr/>
          <p:nvPr/>
        </p:nvSpPr>
        <p:spPr>
          <a:xfrm>
            <a:off x="457200" y="3200400"/>
            <a:ext cx="11246760" cy="13712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7200" b="1" u="none" strike="noStrike">
                <a:solidFill>
                  <a:srgbClr val="FF6B35"/>
                </a:solidFill>
                <a:effectLst/>
                <a:uFillTx/>
                <a:latin typeface="Calibri"/>
              </a:rPr>
              <a:t>РАСШИРИЛАСЬ, а не сократилась.</a:t>
            </a:r>
            <a:endParaRPr lang="en-US" sz="7200" b="0" u="none" strike="noStrike">
              <a:solidFill>
                <a:srgbClr val="FFFFFF"/>
              </a:solidFill>
              <a:effectLst/>
              <a:uFillTx/>
              <a:latin typeface="Arial"/>
            </a:endParaRPr>
          </a:p>
        </p:txBody>
      </p:sp>
      <p:sp>
        <p:nvSpPr>
          <p:cNvPr id="502" name="TextBox 3"/>
          <p:cNvSpPr/>
          <p:nvPr/>
        </p:nvSpPr>
        <p:spPr>
          <a:xfrm>
            <a:off x="457200" y="4846320"/>
            <a:ext cx="11246760" cy="54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600" b="0" u="none" strike="noStrike">
                <a:solidFill>
                  <a:srgbClr val="00D4FF"/>
                </a:solidFill>
                <a:effectLst/>
                <a:uFillTx/>
                <a:latin typeface="Calibri"/>
              </a:rPr>
              <a:t>SQL-инъекцию устранили. Её место заняли одиннадцать новых категорий.</a:t>
            </a:r>
            <a:endParaRPr lang="en-US" sz="2600" b="0" u="none" strike="noStrike">
              <a:solidFill>
                <a:srgbClr val="FFFFFF"/>
              </a:solidFill>
              <a:effectLst/>
              <a:uFillTx/>
              <a:latin typeface="Arial"/>
            </a:endParaRPr>
          </a:p>
        </p:txBody>
      </p:sp>
      <p:sp>
        <p:nvSpPr>
          <p:cNvPr id="503" name="TextBox 4"/>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504" name="TextBox 5"/>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27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05" name="TextBox 1" descr="Attack category: NoSQL Injection. MongoDB JSON queries + raw user input = SQLi reborn. Key points: Login bypass: { username: 'alice', password: { $ne: 'x' } } | $where lets you inject JavaScript straight into the DB. | Couchbase N1QL is SQL-flavored — classic SQLi patterns apply. | Principle: ANY interpreter can be injected, not just SQL." title="Attack category: NoSQL Injection. MongoDB JSON queries + raw user input = SQLi r"/>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06"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NoSQL-инъекция</a:t>
            </a:r>
            <a:endParaRPr lang="en-US" sz="4200" b="0" u="none" strike="noStrike">
              <a:solidFill>
                <a:srgbClr val="FFFFFF"/>
              </a:solidFill>
              <a:effectLst/>
              <a:uFillTx/>
              <a:latin typeface="Arial"/>
            </a:endParaRPr>
          </a:p>
        </p:txBody>
      </p:sp>
      <p:sp>
        <p:nvSpPr>
          <p:cNvPr id="507"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08"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JSON-запросы MongoDB + необработанный пользовательский ввод = возрождение SQLi.</a:t>
            </a:r>
            <a:endParaRPr lang="en-US" sz="2400" b="0" u="none" strike="noStrike">
              <a:solidFill>
                <a:srgbClr val="FFFFFF"/>
              </a:solidFill>
              <a:effectLst/>
              <a:uFillTx/>
              <a:latin typeface="Arial"/>
            </a:endParaRPr>
          </a:p>
        </p:txBody>
      </p:sp>
      <p:sp>
        <p:nvSpPr>
          <p:cNvPr id="509"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Обход входа: { username: 'alice', password: { $ne: 'x' } }</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$where позволяет внедрить JavaScript прямо в БД.</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Couchbase N1QL похож на SQL — применимы классические шаблоны SQLi.</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Принцип: инъекция возможна в ЛЮБОЙ интерпретатор, не только в SQL.</a:t>
            </a:r>
            <a:endParaRPr lang="en-US" sz="2300" b="0" u="none" strike="noStrike">
              <a:solidFill>
                <a:srgbClr val="FFFFFF"/>
              </a:solidFill>
              <a:effectLst/>
              <a:uFillTx/>
              <a:latin typeface="Arial"/>
            </a:endParaRPr>
          </a:p>
        </p:txBody>
      </p:sp>
      <p:sp>
        <p:nvSpPr>
          <p:cNvPr id="510"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OWASP Top 10 2025: «Динамические запросы... используются напрямую в интерпретаторе.»</a:t>
            </a:r>
            <a:endParaRPr lang="en-US" sz="1600" b="0" u="none" strike="noStrike">
              <a:solidFill>
                <a:srgbClr val="FFFFFF"/>
              </a:solidFill>
              <a:effectLst/>
              <a:uFillTx/>
              <a:latin typeface="Arial"/>
            </a:endParaRPr>
          </a:p>
        </p:txBody>
      </p:sp>
      <p:sp>
        <p:nvSpPr>
          <p:cNvPr id="511"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512"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28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13" name="TextBox 1" descr="Attack category: Exposed &amp; Misconfigured Databases. Shodan and Censys are full of databases that should not be there. Key points: MongoDB bound to 0.0.0.0 with no auth. | Elasticsearch clusters wide open. Redis with no password. | Postgres pg_hba.conf set to 'host all all 0.0.0.0/0 trust'. | Meow attacks (2020): bots wiped thousands of open DBs for fun." title="Attack category: Exposed &amp; Misconfigured Databases. Shodan and Censys are full o"/>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14"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Открытые и неправильно настроенные базы данных</a:t>
            </a:r>
            <a:endParaRPr lang="en-US" sz="4200" b="0" u="none" strike="noStrike">
              <a:solidFill>
                <a:srgbClr val="FFFFFF"/>
              </a:solidFill>
              <a:effectLst/>
              <a:uFillTx/>
              <a:latin typeface="Arial"/>
            </a:endParaRPr>
          </a:p>
        </p:txBody>
      </p:sp>
      <p:sp>
        <p:nvSpPr>
          <p:cNvPr id="515"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16"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Shodan и Censys полны баз данных, которых там быть не должно.</a:t>
            </a:r>
            <a:endParaRPr lang="en-US" sz="2400" b="0" u="none" strike="noStrike">
              <a:solidFill>
                <a:srgbClr val="FFFFFF"/>
              </a:solidFill>
              <a:effectLst/>
              <a:uFillTx/>
              <a:latin typeface="Arial"/>
            </a:endParaRPr>
          </a:p>
        </p:txBody>
      </p:sp>
      <p:sp>
        <p:nvSpPr>
          <p:cNvPr id="517"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MongoDB привязан к 0.0.0.0 без аутентификации.</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Кластеры Elasticsearch нараспашку. Redis без пароля.</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В pg_hba.conf Postgres задано 'host all all 0.0.0.0/0 trust'.</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Атаки Meow (2020): боты ради забавы стёрли тысячи открытых БД.</a:t>
            </a:r>
            <a:endParaRPr lang="en-US" sz="2300" b="0" u="none" strike="noStrike">
              <a:solidFill>
                <a:srgbClr val="FFFFFF"/>
              </a:solidFill>
              <a:effectLst/>
              <a:uFillTx/>
              <a:latin typeface="Arial"/>
            </a:endParaRPr>
          </a:p>
        </p:txBody>
      </p:sp>
      <p:sp>
        <p:nvSpPr>
          <p:cNvPr id="518"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Задача: выясните, что ваша организация привязала к публичным интерфейсам. Сегодня.</a:t>
            </a:r>
            <a:endParaRPr lang="en-US" sz="1600" b="0" u="none" strike="noStrike">
              <a:solidFill>
                <a:srgbClr val="FFFFFF"/>
              </a:solidFill>
              <a:effectLst/>
              <a:uFillTx/>
              <a:latin typeface="Arial"/>
            </a:endParaRPr>
          </a:p>
        </p:txBody>
      </p:sp>
      <p:sp>
        <p:nvSpPr>
          <p:cNvPr id="519"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520"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29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21" name="TextBox 1" descr="Attack category: Cloud Misconfigurations. In cloud, the bug is rarely the engine. It's the policy around it. Key points: Public S3 buckets containing DB dumps (Capital One pattern). | RDS snapshots marked public during a 2 a.m. debug session. | Lambda with s3:* on * because it 'worked the first time'. | Security groups: 0.0.0.0/0 on port 5432." title="Attack category: Cloud Misconfigurations. In cloud, the bug is rarely the engine"/>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22"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Ошибки конфигурации в облаке</a:t>
            </a:r>
            <a:endParaRPr lang="en-US" sz="4200" b="0" u="none" strike="noStrike">
              <a:solidFill>
                <a:srgbClr val="FFFFFF"/>
              </a:solidFill>
              <a:effectLst/>
              <a:uFillTx/>
              <a:latin typeface="Arial"/>
            </a:endParaRPr>
          </a:p>
        </p:txBody>
      </p:sp>
      <p:sp>
        <p:nvSpPr>
          <p:cNvPr id="523"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24"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В облаке проблема редко в самом движке. Дело в политике вокруг него.</a:t>
            </a:r>
            <a:endParaRPr lang="en-US" sz="2400" b="0" u="none" strike="noStrike">
              <a:solidFill>
                <a:srgbClr val="FFFFFF"/>
              </a:solidFill>
              <a:effectLst/>
              <a:uFillTx/>
              <a:latin typeface="Arial"/>
            </a:endParaRPr>
          </a:p>
        </p:txBody>
      </p:sp>
      <p:sp>
        <p:nvSpPr>
          <p:cNvPr id="525"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Публичные S3-бакеты, полные дампов БД (Accenture, Verizon и т.д.).</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Capital One 2019: SSRF обманул WAF, заставив его раскрыть учётки IAM → S3.</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Lambda с s3:* на * потому что «сработало с первого раза».</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Группы безопасности: 0.0.0.0/0 на порту 5432.</a:t>
            </a:r>
            <a:endParaRPr lang="en-US" sz="2300" b="0" u="none" strike="noStrike">
              <a:solidFill>
                <a:srgbClr val="FFFFFF"/>
              </a:solidFill>
              <a:effectLst/>
              <a:uFillTx/>
              <a:latin typeface="Arial"/>
            </a:endParaRPr>
          </a:p>
        </p:txBody>
      </p:sp>
      <p:sp>
        <p:nvSpPr>
          <p:cNvPr id="526"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Администратор AWS: «Избавьтесь от корневой учётной записи, используйте IAM везде, где нужно.»</a:t>
            </a:r>
            <a:endParaRPr lang="en-US" sz="1600" b="0" u="none" strike="noStrike">
              <a:solidFill>
                <a:srgbClr val="FFFFFF"/>
              </a:solidFill>
              <a:effectLst/>
              <a:uFillTx/>
              <a:latin typeface="Arial"/>
            </a:endParaRPr>
          </a:p>
        </p:txBody>
      </p:sp>
      <p:sp>
        <p:nvSpPr>
          <p:cNvPr id="527"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528"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30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29" name="TextBox 1" descr="Attack category: Privilege Escalation: DB → OS. Database accounts can become shell access. Three classic moves. Key points: MS SQL: xp_cmdshell — runs shell commands as the DB process. | PostgreSQL: COPY ... TO PROGRAM — pipes output to a shell. | MySQL: load a UDF .so file → sys_exec on the OS. | Pattern: every privileged DB feature is part of the attack surface." title="Attack category: Privilege Escalation: DB → OS. Database accounts can become she"/>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30"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Повышение привилегий: БД → ОС</a:t>
            </a:r>
            <a:endParaRPr lang="en-US" sz="4200" b="0" u="none" strike="noStrike">
              <a:solidFill>
                <a:srgbClr val="FFFFFF"/>
              </a:solidFill>
              <a:effectLst/>
              <a:uFillTx/>
              <a:latin typeface="Arial"/>
            </a:endParaRPr>
          </a:p>
        </p:txBody>
      </p:sp>
      <p:sp>
        <p:nvSpPr>
          <p:cNvPr id="531"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32"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Учётные записи БД могут превратиться в доступ к шеллу. Три классических приёма.</a:t>
            </a:r>
            <a:endParaRPr lang="en-US" sz="2400" b="0" u="none" strike="noStrike">
              <a:solidFill>
                <a:srgbClr val="FFFFFF"/>
              </a:solidFill>
              <a:effectLst/>
              <a:uFillTx/>
              <a:latin typeface="Arial"/>
            </a:endParaRPr>
          </a:p>
        </p:txBody>
      </p:sp>
      <p:sp>
        <p:nvSpPr>
          <p:cNvPr id="533"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MS SQL: xp_cmdshell — выполняет команды шелла от имени процесса БД.</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PostgreSQL: COPY ... TO PROGRAM — направляет вывод в шелл.</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MySQL: загрузка UDF-файла .so → sys_exec в ОС.</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Шаблон: каждая привилегированная функция БД — часть поверхности атаки.</a:t>
            </a:r>
            <a:endParaRPr lang="en-US" sz="2300" b="0" u="none" strike="noStrike">
              <a:solidFill>
                <a:srgbClr val="FFFFFF"/>
              </a:solidFill>
              <a:effectLst/>
              <a:uFillTx/>
              <a:latin typeface="Arial"/>
            </a:endParaRPr>
          </a:p>
        </p:txBody>
      </p:sp>
      <p:sp>
        <p:nvSpPr>
          <p:cNvPr id="534" name="TextBox 6"/>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535" name="TextBox 7"/>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31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36" name="TextBox 1" descr="Attack category: Data Lake Security Gaps. Everything ends up in S3 — including things you didn't mean to put there. Key points: Permissive IAM leaks from compute roles to humans. | No encryption-at-rest enforcement on bucket keys. | No write-side validation — anyone can drop poisoned data. | First question: WHO can write to the lake? WHO can read?" title="Attack category: Data Lake Security Gaps. Everything ends up in S3 — including t"/>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37"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Пробелы в безопасности озёр данных</a:t>
            </a:r>
            <a:endParaRPr lang="en-US" sz="4200" b="0" u="none" strike="noStrike">
              <a:solidFill>
                <a:srgbClr val="FFFFFF"/>
              </a:solidFill>
              <a:effectLst/>
              <a:uFillTx/>
              <a:latin typeface="Arial"/>
            </a:endParaRPr>
          </a:p>
        </p:txBody>
      </p:sp>
      <p:sp>
        <p:nvSpPr>
          <p:cNvPr id="538"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39"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Всё оказывается в S3 — включая то, что вы не собирались туда класть.</a:t>
            </a:r>
            <a:endParaRPr lang="en-US" sz="2400" b="0" u="none" strike="noStrike">
              <a:solidFill>
                <a:srgbClr val="FFFFFF"/>
              </a:solidFill>
              <a:effectLst/>
              <a:uFillTx/>
              <a:latin typeface="Arial"/>
            </a:endParaRPr>
          </a:p>
        </p:txBody>
      </p:sp>
      <p:sp>
        <p:nvSpPr>
          <p:cNvPr id="540"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Разрешительный IAM утекает от вычислительных ролей к людям.</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Нет принудительного шифрования данных в покое для ключей бакетов.</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Нет валидации на стороне записи — любой может подбросить отравленные данные.</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Первый вопрос: КТО может писать в озеро? КТО может читать?</a:t>
            </a:r>
            <a:endParaRPr lang="en-US" sz="2300" b="0" u="none" strike="noStrike">
              <a:solidFill>
                <a:srgbClr val="FFFFFF"/>
              </a:solidFill>
              <a:effectLst/>
              <a:uFillTx/>
              <a:latin typeface="Arial"/>
            </a:endParaRPr>
          </a:p>
        </p:txBody>
      </p:sp>
      <p:sp>
        <p:nvSpPr>
          <p:cNvPr id="541" name="TextBox 6"/>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542" name="TextBox 7"/>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32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43" name="TextBox 1" descr="Attack category: Ransomware Loves Databases. The DB is the thing the business needs back — maximum leverage. Key points: Encrypt the live database. | Encrypt the BACKUPS (otherwise customer just restores). | Exfil a copy first — extort with disclosure even if they restore. | Defense: offline, immutable backups + tested restores." title="Attack category: Ransomware Loves Databases. The DB is the thing the business ne"/>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44"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Программы-вымогатели любят базы данных</a:t>
            </a:r>
            <a:endParaRPr lang="en-US" sz="4200" b="0" u="none" strike="noStrike">
              <a:solidFill>
                <a:srgbClr val="FFFFFF"/>
              </a:solidFill>
              <a:effectLst/>
              <a:uFillTx/>
              <a:latin typeface="Arial"/>
            </a:endParaRPr>
          </a:p>
        </p:txBody>
      </p:sp>
      <p:sp>
        <p:nvSpPr>
          <p:cNvPr id="545"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46"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БД — это то, что бизнесу нужно вернуть — максимальный рычаг давления.</a:t>
            </a:r>
            <a:endParaRPr lang="en-US" sz="2400" b="0" u="none" strike="noStrike">
              <a:solidFill>
                <a:srgbClr val="FFFFFF"/>
              </a:solidFill>
              <a:effectLst/>
              <a:uFillTx/>
              <a:latin typeface="Arial"/>
            </a:endParaRPr>
          </a:p>
        </p:txBody>
      </p:sp>
      <p:sp>
        <p:nvSpPr>
          <p:cNvPr id="547"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Зашифровать рабочую базу данных.</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Зашифровать РЕЗЕРВНЫЕ КОПИИ (иначе клиент просто восстановит).</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Сначала выкрасть копию — шантажировать раскрытием, даже если восстановят.</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Защита: офлайновые неизменяемые резервные копии + проверенное восстановление.</a:t>
            </a:r>
            <a:endParaRPr lang="en-US" sz="2300" b="0" u="none" strike="noStrike">
              <a:solidFill>
                <a:srgbClr val="FFFFFF"/>
              </a:solidFill>
              <a:effectLst/>
              <a:uFillTx/>
              <a:latin typeface="Arial"/>
            </a:endParaRPr>
          </a:p>
        </p:txBody>
      </p:sp>
      <p:sp>
        <p:nvSpPr>
          <p:cNvPr id="548"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Cybersecurity A&amp;D: WannaCry — патч вышел за 59 дней до атаки.</a:t>
            </a:r>
            <a:endParaRPr lang="en-US" sz="1600" b="0" u="none" strike="noStrike">
              <a:solidFill>
                <a:srgbClr val="FFFFFF"/>
              </a:solidFill>
              <a:effectLst/>
              <a:uFillTx/>
              <a:latin typeface="Arial"/>
            </a:endParaRPr>
          </a:p>
        </p:txBody>
      </p:sp>
      <p:sp>
        <p:nvSpPr>
          <p:cNvPr id="549"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550"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33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51" name="TextBox 1" descr="Attack category: Credential Attacks. Default creds and leaked connection strings — two old, durable bugs. Key points: Redis: no password by default for years. | Elastic: no auth in the free tier — also for years. | Connection strings (postgres://user:pass@host) committed to Git. | Pre-commit secret scanning — fix this week." title="Attack category: Credential Attacks. Default creds and leaked connection strings"/>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52"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Атаки на учётные данные</a:t>
            </a:r>
            <a:endParaRPr lang="en-US" sz="4200" b="0" u="none" strike="noStrike">
              <a:solidFill>
                <a:srgbClr val="FFFFFF"/>
              </a:solidFill>
              <a:effectLst/>
              <a:uFillTx/>
              <a:latin typeface="Arial"/>
            </a:endParaRPr>
          </a:p>
        </p:txBody>
      </p:sp>
      <p:sp>
        <p:nvSpPr>
          <p:cNvPr id="553"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54"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Учётные данные по умолчанию и утёкшие строки подключения — две старые, живучие ошибки.</a:t>
            </a:r>
            <a:endParaRPr lang="en-US" sz="2400" b="0" u="none" strike="noStrike">
              <a:solidFill>
                <a:srgbClr val="FFFFFF"/>
              </a:solidFill>
              <a:effectLst/>
              <a:uFillTx/>
              <a:latin typeface="Arial"/>
            </a:endParaRPr>
          </a:p>
        </p:txBody>
      </p:sp>
      <p:sp>
        <p:nvSpPr>
          <p:cNvPr id="555"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Redis: годами без пароля по умолчанию.</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Elastic: без аутентификации в бесплатном тарифе — тоже годами.</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Connection strings (postgres://user:pass@host) committed to Git.</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Сканирование секретов перед коммитом — исправить на этой неделе.</a:t>
            </a:r>
            <a:endParaRPr lang="en-US" sz="2300" b="0" u="none" strike="noStrike">
              <a:solidFill>
                <a:srgbClr val="FFFFFF"/>
              </a:solidFill>
              <a:effectLst/>
              <a:uFillTx/>
              <a:latin typeface="Arial"/>
            </a:endParaRPr>
          </a:p>
        </p:txBody>
      </p:sp>
      <p:sp>
        <p:nvSpPr>
          <p:cNvPr id="556"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Cybersecurity A&amp;D: украденные учётные данные = предпочтительный вектор для оргпреступности.</a:t>
            </a:r>
            <a:endParaRPr lang="en-US" sz="1600" b="0" u="none" strike="noStrike">
              <a:solidFill>
                <a:srgbClr val="FFFFFF"/>
              </a:solidFill>
              <a:effectLst/>
              <a:uFillTx/>
              <a:latin typeface="Arial"/>
            </a:endParaRPr>
          </a:p>
        </p:txBody>
      </p:sp>
      <p:sp>
        <p:nvSpPr>
          <p:cNvPr id="557"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558"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34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59" name="TextBox 1" descr="Attack category: Supply Chain — The DB Libraries You Trust. Your DB driver came from npm/PyPI/Maven. So did everyone else's. Key points: Malicious npm packages posing as ORMs / drivers. | Trojanized Docker Hub images for popular databases. | Compromised PostgreSQL extensions / MySQL plugins. | Extensions run with DB privileges — usually a lot." title="Attack category: Supply Chain — The DB Libraries You Trust. Your DB driver came "/>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60"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Цепочка поставок — библиотеки БД, которым вы доверяете</a:t>
            </a:r>
            <a:endParaRPr lang="en-US" sz="4200" b="0" u="none" strike="noStrike">
              <a:solidFill>
                <a:srgbClr val="FFFFFF"/>
              </a:solidFill>
              <a:effectLst/>
              <a:uFillTx/>
              <a:latin typeface="Arial"/>
            </a:endParaRPr>
          </a:p>
        </p:txBody>
      </p:sp>
      <p:sp>
        <p:nvSpPr>
          <p:cNvPr id="561"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62"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Ваш драйвер БД пришёл из npm/PyPI/Maven. Как и у всех остальных.</a:t>
            </a:r>
            <a:endParaRPr lang="en-US" sz="2400" b="0" u="none" strike="noStrike">
              <a:solidFill>
                <a:srgbClr val="FFFFFF"/>
              </a:solidFill>
              <a:effectLst/>
              <a:uFillTx/>
              <a:latin typeface="Arial"/>
            </a:endParaRPr>
          </a:p>
        </p:txBody>
      </p:sp>
      <p:sp>
        <p:nvSpPr>
          <p:cNvPr id="563"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Вредоносные npm-пакеты, маскирующиеся под ORM / драйверы.</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Троянизированные образы Docker Hub для популярных баз данных.</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Скомпрометированные расширения PostgreSQL / плагины MySQL.</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Расширения работают с привилегиями БД — обычно большими.</a:t>
            </a:r>
            <a:endParaRPr lang="en-US" sz="2300" b="0" u="none" strike="noStrike">
              <a:solidFill>
                <a:srgbClr val="FFFFFF"/>
              </a:solidFill>
              <a:effectLst/>
              <a:uFillTx/>
              <a:latin typeface="Arial"/>
            </a:endParaRPr>
          </a:p>
        </p:txBody>
      </p:sp>
      <p:sp>
        <p:nvSpPr>
          <p:cNvPr id="564"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Шостак: «Угрозы обычно группируются вокруг границ доверия.»</a:t>
            </a:r>
            <a:endParaRPr lang="en-US" sz="1600" b="0" u="none" strike="noStrike">
              <a:solidFill>
                <a:srgbClr val="FFFFFF"/>
              </a:solidFill>
              <a:effectLst/>
              <a:uFillTx/>
              <a:latin typeface="Arial"/>
            </a:endParaRPr>
          </a:p>
        </p:txBody>
      </p:sp>
      <p:sp>
        <p:nvSpPr>
          <p:cNvPr id="565"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566"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35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67" name="TextBox 1" descr="Attack category: RAG / LLM Data Poisoning. Stored XSS for the AI era. Write into the knowledge base → LLM quotes it. Key points: Poisoned support article: 'To reset, send your password to...' | Poisoned internal doc: 'Company policy is to wire transfer to...' | Prompt injection embedded in retrieved documents. | Defense: strict write ACLs, provenance tags, human-in-the-loop." title="Attack category: RAG / LLM Data Poisoning. Stored XSS for the AI era. Write into"/>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68"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Отравление данных RAG / LLM</a:t>
            </a:r>
            <a:endParaRPr lang="en-US" sz="4200" b="0" u="none" strike="noStrike">
              <a:solidFill>
                <a:srgbClr val="FFFFFF"/>
              </a:solidFill>
              <a:effectLst/>
              <a:uFillTx/>
              <a:latin typeface="Arial"/>
            </a:endParaRPr>
          </a:p>
        </p:txBody>
      </p:sp>
      <p:sp>
        <p:nvSpPr>
          <p:cNvPr id="569"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70"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Хранимый XSS эпохи ИИ. Записать в базу знаний → LLM это цитирует.</a:t>
            </a:r>
            <a:endParaRPr lang="en-US" sz="2400" b="0" u="none" strike="noStrike">
              <a:solidFill>
                <a:srgbClr val="FFFFFF"/>
              </a:solidFill>
              <a:effectLst/>
              <a:uFillTx/>
              <a:latin typeface="Arial"/>
            </a:endParaRPr>
          </a:p>
        </p:txBody>
      </p:sp>
      <p:sp>
        <p:nvSpPr>
          <p:cNvPr id="571"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Отравленная статья поддержки: «Для сброса отправьте свой пароль на...»</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Отравленный внутренний документ: «Политика компании — переводить деньги на...»</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Инъекция в промпт, встроенная в извлечённые документы.</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Защита: строгие ACL на запись, метки происхождения, человек в контуре.</a:t>
            </a:r>
            <a:endParaRPr lang="en-US" sz="2300" b="0" u="none" strike="noStrike">
              <a:solidFill>
                <a:srgbClr val="FFFFFF"/>
              </a:solidFill>
              <a:effectLst/>
              <a:uFillTx/>
              <a:latin typeface="Arial"/>
            </a:endParaRPr>
          </a:p>
        </p:txBody>
      </p:sp>
      <p:sp>
        <p:nvSpPr>
          <p:cNvPr id="572"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Принцип хранимого XSS OWASP 2025 — замените «admin» на «LLM».</a:t>
            </a:r>
            <a:endParaRPr lang="en-US" sz="1600" b="0" u="none" strike="noStrike">
              <a:solidFill>
                <a:srgbClr val="FFFFFF"/>
              </a:solidFill>
              <a:effectLst/>
              <a:uFillTx/>
              <a:latin typeface="Arial"/>
            </a:endParaRPr>
          </a:p>
        </p:txBody>
      </p:sp>
      <p:sp>
        <p:nvSpPr>
          <p:cNvPr id="573"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574"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36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75" name="TextBox 1" descr="Attack category: Insider Threats &amp; DB-to-DB Lateral Movement. Databases aren't endpoints. They're nodes in a graph. Key points: Over-permissioned service accounts. Engineers with prod read. | DBAs with no audit trail. | Oracle DB_LINK, SQL Server linked servers, Postgres FDW. | Stored credentials → compromise A, hop to B, hop to C." title="Attack category: Insider Threats &amp; DB-to-DB Lateral Movement. Databases aren't e"/>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76"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Внутренние угрозы и боковое перемещение между БД</a:t>
            </a:r>
            <a:endParaRPr lang="en-US" sz="4200" b="0" u="none" strike="noStrike">
              <a:solidFill>
                <a:srgbClr val="FFFFFF"/>
              </a:solidFill>
              <a:effectLst/>
              <a:uFillTx/>
              <a:latin typeface="Arial"/>
            </a:endParaRPr>
          </a:p>
        </p:txBody>
      </p:sp>
      <p:sp>
        <p:nvSpPr>
          <p:cNvPr id="577"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78"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Базы данных — не конечные точки. Это узлы в графе.</a:t>
            </a:r>
            <a:endParaRPr lang="en-US" sz="2400" b="0" u="none" strike="noStrike">
              <a:solidFill>
                <a:srgbClr val="FFFFFF"/>
              </a:solidFill>
              <a:effectLst/>
              <a:uFillTx/>
              <a:latin typeface="Arial"/>
            </a:endParaRPr>
          </a:p>
        </p:txBody>
      </p:sp>
      <p:sp>
        <p:nvSpPr>
          <p:cNvPr id="579"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Сервисные учётки с избыточными правами. Инженеры с доступом к чтению прода.</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Администраторы БД без журнала аудита.</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Oracle DB_LINK, связанные серверы SQL Server, Postgres FDW.</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Сохранённые учётные данные → скомпрометировать A, перейти к B, перейти к C.</a:t>
            </a:r>
            <a:endParaRPr lang="en-US" sz="2300" b="0" u="none" strike="noStrike">
              <a:solidFill>
                <a:srgbClr val="FFFFFF"/>
              </a:solidFill>
              <a:effectLst/>
              <a:uFillTx/>
              <a:latin typeface="Arial"/>
            </a:endParaRPr>
          </a:p>
        </p:txBody>
      </p:sp>
      <p:sp>
        <p:nvSpPr>
          <p:cNvPr id="580"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Web App Hacker's Handbook: плохо защищённые журналы аудита = золотая жила.</a:t>
            </a:r>
            <a:endParaRPr lang="en-US" sz="1600" b="0" u="none" strike="noStrike">
              <a:solidFill>
                <a:srgbClr val="FFFFFF"/>
              </a:solidFill>
              <a:effectLst/>
              <a:uFillTx/>
              <a:latin typeface="Arial"/>
            </a:endParaRPr>
          </a:p>
        </p:txBody>
      </p:sp>
      <p:sp>
        <p:nvSpPr>
          <p:cNvPr id="581"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582"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37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83" name="TextBox 1" descr="Attack category: Backup &amp; Snapshot Exposure. Same data as prod, half the love. Key points: Unencrypted DB backups on shares readable by Domain Users. | Cloud snapshots shared cross-account, never un-shared. | Off-site backups to vendors whose posture you never checked. | Backups are last resort. Apply identify-authN-authZ-audit." title="Attack category: Backup &amp; Snapshot Exposure. Same data as prod, half the love. K"/>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84"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Утечка резервных копий и снимков</a:t>
            </a:r>
            <a:endParaRPr lang="en-US" sz="4200" b="0" u="none" strike="noStrike">
              <a:solidFill>
                <a:srgbClr val="FFFFFF"/>
              </a:solidFill>
              <a:effectLst/>
              <a:uFillTx/>
              <a:latin typeface="Arial"/>
            </a:endParaRPr>
          </a:p>
        </p:txBody>
      </p:sp>
      <p:sp>
        <p:nvSpPr>
          <p:cNvPr id="585"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86"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Те же данные, что и в проде, но защита вдвое слабее.</a:t>
            </a:r>
            <a:endParaRPr lang="en-US" sz="2400" b="0" u="none" strike="noStrike">
              <a:solidFill>
                <a:srgbClr val="FFFFFF"/>
              </a:solidFill>
              <a:effectLst/>
              <a:uFillTx/>
              <a:latin typeface="Arial"/>
            </a:endParaRPr>
          </a:p>
        </p:txBody>
      </p:sp>
      <p:sp>
        <p:nvSpPr>
          <p:cNvPr id="587"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Незашифрованные резервные копии БД на шарах, доступных для чтения Domain Users.</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Облачные снимки, расшаренные между аккаунтами, так и не закрытые.</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Внешние резервные копии у поставщиков, чьё состояние безопасности вы не проверяли.</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Резервные копии — последний рубеж. Примените идентификацию-аутентификацию-авторизацию-аудит.</a:t>
            </a:r>
            <a:endParaRPr lang="en-US" sz="2300" b="0" u="none" strike="noStrike">
              <a:solidFill>
                <a:srgbClr val="FFFFFF"/>
              </a:solidFill>
              <a:effectLst/>
              <a:uFillTx/>
              <a:latin typeface="Arial"/>
            </a:endParaRPr>
          </a:p>
        </p:txBody>
      </p:sp>
      <p:sp>
        <p:nvSpPr>
          <p:cNvPr id="588"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Шнайер: идентифицировать, аутентифицировать, авторизовать, аудировать — та же модель.</a:t>
            </a:r>
            <a:endParaRPr lang="en-US" sz="1600" b="0" u="none" strike="noStrike">
              <a:solidFill>
                <a:srgbClr val="FFFFFF"/>
              </a:solidFill>
              <a:effectLst/>
              <a:uFillTx/>
              <a:latin typeface="Arial"/>
            </a:endParaRPr>
          </a:p>
        </p:txBody>
      </p:sp>
      <p:sp>
        <p:nvSpPr>
          <p:cNvPr id="589"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590"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38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91" name="TextBox 1" descr="Recap of the mental map: definition, ten families, cloud shared responsibility, markdown as a database, and the expanded attack surface." title="Recap of the mental map: definition, ten families, cloud shared responsibility, "/>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Ваша ментальная карта</a:t>
            </a:r>
            <a:endParaRPr lang="en-US" sz="4200" b="0" u="none" strike="noStrike">
              <a:solidFill>
                <a:srgbClr val="FFFFFF"/>
              </a:solidFill>
              <a:effectLst/>
              <a:uFillTx/>
              <a:latin typeface="Arial"/>
            </a:endParaRPr>
          </a:p>
        </p:txBody>
      </p:sp>
      <p:sp>
        <p:nvSpPr>
          <p:cNvPr id="592"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93" name="TextBox 3"/>
          <p:cNvSpPr/>
          <p:nvPr/>
        </p:nvSpPr>
        <p:spPr>
          <a:xfrm>
            <a:off x="640080" y="1828800"/>
            <a:ext cx="10972440" cy="4114440"/>
          </a:xfrm>
          <a:prstGeom prst="rect">
            <a:avLst/>
          </a:prstGeom>
          <a:noFill/>
          <a:ln w="0">
            <a:noFill/>
          </a:ln>
        </p:spPr>
        <p:style>
          <a:lnRef idx="0"/>
          <a:fillRef idx="0"/>
          <a:effectRef idx="0"/>
          <a:fontRef idx="minor"/>
        </p:style>
        <p:txBody>
          <a:bodyPr lIns="90000" tIns="45000" rIns="90000" bIns="45000" anchor="t">
            <a:spAutoFit/>
          </a:bodyPr>
          <a:p>
            <a:pPr defTabSz="457200">
              <a:lnSpc>
                <a:spcPct val="155000"/>
              </a:lnSpc>
            </a:pPr>
            <a:r>
              <a:rPr lang="en-US" sz="2800" b="1" u="none" strike="noStrike">
                <a:solidFill>
                  <a:srgbClr val="00D4FF"/>
                </a:solidFill>
                <a:effectLst/>
                <a:uFillTx/>
                <a:latin typeface="Calibri"/>
              </a:rPr>
              <a:t>✓ </a:t>
            </a:r>
            <a:r>
              <a:rPr lang="en-US" sz="2800" b="0" u="none" strike="noStrike">
                <a:solidFill>
                  <a:srgbClr val="FFFFFF"/>
                </a:solidFill>
                <a:effectLst/>
                <a:uFillTx/>
                <a:latin typeface="Calibri"/>
              </a:rPr>
              <a:t>База данных = организованное хранилище + способ задавать вопросы.</a:t>
            </a:r>
            <a:endParaRPr lang="en-US" sz="2800" b="0" u="none" strike="noStrike">
              <a:solidFill>
                <a:srgbClr val="FFFFFF"/>
              </a:solidFill>
              <a:effectLst/>
              <a:uFillTx/>
              <a:latin typeface="Arial"/>
            </a:endParaRPr>
          </a:p>
          <a:p>
            <a:pPr defTabSz="457200">
              <a:lnSpc>
                <a:spcPct val="155000"/>
              </a:lnSpc>
            </a:pPr>
            <a:r>
              <a:rPr lang="en-US" sz="2800" b="1" u="none" strike="noStrike">
                <a:solidFill>
                  <a:srgbClr val="00D4FF"/>
                </a:solidFill>
                <a:effectLst/>
                <a:uFillTx/>
                <a:latin typeface="Calibri"/>
              </a:rPr>
              <a:t>✓ </a:t>
            </a:r>
            <a:r>
              <a:rPr lang="en-US" sz="2800" b="0" u="none" strike="noStrike">
                <a:solidFill>
                  <a:srgbClr val="FFFFFF"/>
                </a:solidFill>
                <a:effectLst/>
                <a:uFillTx/>
                <a:latin typeface="Calibri"/>
              </a:rPr>
              <a:t>Десять семейств, у каждого свой подвох.</a:t>
            </a:r>
            <a:endParaRPr lang="en-US" sz="2800" b="0" u="none" strike="noStrike">
              <a:solidFill>
                <a:srgbClr val="FFFFFF"/>
              </a:solidFill>
              <a:effectLst/>
              <a:uFillTx/>
              <a:latin typeface="Arial"/>
            </a:endParaRPr>
          </a:p>
          <a:p>
            <a:pPr defTabSz="457200">
              <a:lnSpc>
                <a:spcPct val="155000"/>
              </a:lnSpc>
            </a:pPr>
            <a:r>
              <a:rPr lang="en-US" sz="2800" b="1" u="none" strike="noStrike">
                <a:solidFill>
                  <a:srgbClr val="00D4FF"/>
                </a:solidFill>
                <a:effectLst/>
                <a:uFillTx/>
                <a:latin typeface="Calibri"/>
              </a:rPr>
              <a:t>✓ </a:t>
            </a:r>
            <a:r>
              <a:rPr lang="en-US" sz="2800" b="0" u="none" strike="noStrike">
                <a:solidFill>
                  <a:srgbClr val="FFFFFF"/>
                </a:solidFill>
                <a:effectLst/>
                <a:uFillTx/>
                <a:latin typeface="Calibri"/>
              </a:rPr>
              <a:t>Облако = разделённая ответственность. Вы отвечаете за конфигурацию и данные.</a:t>
            </a:r>
            <a:endParaRPr lang="en-US" sz="2800" b="0" u="none" strike="noStrike">
              <a:solidFill>
                <a:srgbClr val="FFFFFF"/>
              </a:solidFill>
              <a:effectLst/>
              <a:uFillTx/>
              <a:latin typeface="Arial"/>
            </a:endParaRPr>
          </a:p>
          <a:p>
            <a:pPr defTabSz="457200">
              <a:lnSpc>
                <a:spcPct val="155000"/>
              </a:lnSpc>
            </a:pPr>
            <a:r>
              <a:rPr lang="en-US" sz="2800" b="1" u="none" strike="noStrike">
                <a:solidFill>
                  <a:srgbClr val="00D4FF"/>
                </a:solidFill>
                <a:effectLst/>
                <a:uFillTx/>
                <a:latin typeface="Calibri"/>
              </a:rPr>
              <a:t>✓ </a:t>
            </a:r>
            <a:r>
              <a:rPr lang="en-US" sz="2800" b="0" u="none" strike="noStrike">
                <a:solidFill>
                  <a:srgbClr val="FFFFFF"/>
                </a:solidFill>
                <a:effectLst/>
                <a:uFillTx/>
                <a:latin typeface="Calibri"/>
              </a:rPr>
              <a:t>Markdown — это база данных для LLM. Отравление RAG реально.</a:t>
            </a:r>
            <a:endParaRPr lang="en-US" sz="2800" b="0" u="none" strike="noStrike">
              <a:solidFill>
                <a:srgbClr val="FFFFFF"/>
              </a:solidFill>
              <a:effectLst/>
              <a:uFillTx/>
              <a:latin typeface="Arial"/>
            </a:endParaRPr>
          </a:p>
          <a:p>
            <a:pPr defTabSz="457200">
              <a:lnSpc>
                <a:spcPct val="155000"/>
              </a:lnSpc>
            </a:pPr>
            <a:r>
              <a:rPr lang="en-US" sz="2800" b="1" u="none" strike="noStrike">
                <a:solidFill>
                  <a:srgbClr val="00D4FF"/>
                </a:solidFill>
                <a:effectLst/>
                <a:uFillTx/>
                <a:latin typeface="Calibri"/>
              </a:rPr>
              <a:t>✓ </a:t>
            </a:r>
            <a:r>
              <a:rPr lang="en-US" sz="2800" b="0" u="none" strike="noStrike">
                <a:solidFill>
                  <a:srgbClr val="FFFFFF"/>
                </a:solidFill>
                <a:effectLst/>
                <a:uFillTx/>
                <a:latin typeface="Calibri"/>
              </a:rPr>
              <a:t>SQLi устранили. Поверхность атаки расширилась.</a:t>
            </a:r>
            <a:endParaRPr lang="en-US" sz="2800" b="0" u="none" strike="noStrike">
              <a:solidFill>
                <a:srgbClr val="FFFFFF"/>
              </a:solidFill>
              <a:effectLst/>
              <a:uFillTx/>
              <a:latin typeface="Arial"/>
            </a:endParaRPr>
          </a:p>
        </p:txBody>
      </p:sp>
      <p:sp>
        <p:nvSpPr>
          <p:cNvPr id="594" name="TextBox 4"/>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595" name="TextBox 5"/>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39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96" name="TextBox 1" descr="Five concrete next steps: install PostgreSQL, do PortSwigger SQLi labs, browse Shodan/Censys legally, read breach reports, list your org's databases." title="Five concrete next steps: install PostgreSQL, do PortSwigger SQLi labs, browse S"/>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Что сделать на следующей неделе</a:t>
            </a:r>
            <a:endParaRPr lang="en-US" sz="4200" b="0" u="none" strike="noStrike">
              <a:solidFill>
                <a:srgbClr val="FFFFFF"/>
              </a:solidFill>
              <a:effectLst/>
              <a:uFillTx/>
              <a:latin typeface="Arial"/>
            </a:endParaRPr>
          </a:p>
        </p:txBody>
      </p:sp>
      <p:sp>
        <p:nvSpPr>
          <p:cNvPr id="597"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98" name="TextBox 3"/>
          <p:cNvSpPr/>
          <p:nvPr/>
        </p:nvSpPr>
        <p:spPr>
          <a:xfrm>
            <a:off x="548640" y="1783080"/>
            <a:ext cx="91404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rgbClr val="00FF41"/>
                </a:solidFill>
                <a:effectLst/>
                <a:uFillTx/>
                <a:latin typeface="Calibri"/>
              </a:rPr>
              <a:t>1.</a:t>
            </a:r>
            <a:endParaRPr lang="en-US" sz="3600" b="0" u="none" strike="noStrike">
              <a:solidFill>
                <a:srgbClr val="FFFFFF"/>
              </a:solidFill>
              <a:effectLst/>
              <a:uFillTx/>
              <a:latin typeface="Arial"/>
            </a:endParaRPr>
          </a:p>
        </p:txBody>
      </p:sp>
      <p:sp>
        <p:nvSpPr>
          <p:cNvPr id="599" name="TextBox 4"/>
          <p:cNvSpPr/>
          <p:nvPr/>
        </p:nvSpPr>
        <p:spPr>
          <a:xfrm>
            <a:off x="1554480" y="1828800"/>
            <a:ext cx="1024092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0" u="none" strike="noStrike">
                <a:solidFill>
                  <a:srgbClr val="FFFFFF"/>
                </a:solidFill>
                <a:effectLst/>
                <a:uFillTx/>
                <a:latin typeface="Calibri"/>
              </a:rPr>
              <a:t>Установите PostgreSQL локально. Напишите SELECT.</a:t>
            </a:r>
            <a:endParaRPr lang="en-US" sz="2600" b="0" u="none" strike="noStrike">
              <a:solidFill>
                <a:srgbClr val="FFFFFF"/>
              </a:solidFill>
              <a:effectLst/>
              <a:uFillTx/>
              <a:latin typeface="Arial"/>
            </a:endParaRPr>
          </a:p>
        </p:txBody>
      </p:sp>
      <p:sp>
        <p:nvSpPr>
          <p:cNvPr id="600" name="TextBox 5"/>
          <p:cNvSpPr/>
          <p:nvPr/>
        </p:nvSpPr>
        <p:spPr>
          <a:xfrm>
            <a:off x="548640" y="2606040"/>
            <a:ext cx="91404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rgbClr val="00FF41"/>
                </a:solidFill>
                <a:effectLst/>
                <a:uFillTx/>
                <a:latin typeface="Calibri"/>
              </a:rPr>
              <a:t>2.</a:t>
            </a:r>
            <a:endParaRPr lang="en-US" sz="3600" b="0" u="none" strike="noStrike">
              <a:solidFill>
                <a:srgbClr val="FFFFFF"/>
              </a:solidFill>
              <a:effectLst/>
              <a:uFillTx/>
              <a:latin typeface="Arial"/>
            </a:endParaRPr>
          </a:p>
        </p:txBody>
      </p:sp>
      <p:sp>
        <p:nvSpPr>
          <p:cNvPr id="601" name="TextBox 6"/>
          <p:cNvSpPr/>
          <p:nvPr/>
        </p:nvSpPr>
        <p:spPr>
          <a:xfrm>
            <a:off x="1554480" y="2651760"/>
            <a:ext cx="1024092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0" u="none" strike="noStrike">
                <a:solidFill>
                  <a:srgbClr val="FFFFFF"/>
                </a:solidFill>
                <a:effectLst/>
                <a:uFillTx/>
                <a:latin typeface="Calibri"/>
              </a:rPr>
              <a:t>Пройдите лабораторные PortSwigger по SQL-инъекциям (бесплатно).</a:t>
            </a:r>
            <a:endParaRPr lang="en-US" sz="2600" b="0" u="none" strike="noStrike">
              <a:solidFill>
                <a:srgbClr val="FFFFFF"/>
              </a:solidFill>
              <a:effectLst/>
              <a:uFillTx/>
              <a:latin typeface="Arial"/>
            </a:endParaRPr>
          </a:p>
        </p:txBody>
      </p:sp>
      <p:sp>
        <p:nvSpPr>
          <p:cNvPr id="602" name="TextBox 7"/>
          <p:cNvSpPr/>
          <p:nvPr/>
        </p:nvSpPr>
        <p:spPr>
          <a:xfrm>
            <a:off x="548640" y="3429000"/>
            <a:ext cx="91404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rgbClr val="00FF41"/>
                </a:solidFill>
                <a:effectLst/>
                <a:uFillTx/>
                <a:latin typeface="Calibri"/>
              </a:rPr>
              <a:t>3.</a:t>
            </a:r>
            <a:endParaRPr lang="en-US" sz="3600" b="0" u="none" strike="noStrike">
              <a:solidFill>
                <a:srgbClr val="FFFFFF"/>
              </a:solidFill>
              <a:effectLst/>
              <a:uFillTx/>
              <a:latin typeface="Arial"/>
            </a:endParaRPr>
          </a:p>
        </p:txBody>
      </p:sp>
      <p:sp>
        <p:nvSpPr>
          <p:cNvPr id="603" name="TextBox 8"/>
          <p:cNvSpPr/>
          <p:nvPr/>
        </p:nvSpPr>
        <p:spPr>
          <a:xfrm>
            <a:off x="1554480" y="3474720"/>
            <a:ext cx="1024092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0" u="none" strike="noStrike">
                <a:solidFill>
                  <a:srgbClr val="FFFFFF"/>
                </a:solidFill>
                <a:effectLst/>
                <a:uFillTx/>
                <a:latin typeface="Calibri"/>
              </a:rPr>
              <a:t>Изучите Shodan / Censys — только системы, которыми вы владеете.</a:t>
            </a:r>
            <a:endParaRPr lang="en-US" sz="2600" b="0" u="none" strike="noStrike">
              <a:solidFill>
                <a:srgbClr val="FFFFFF"/>
              </a:solidFill>
              <a:effectLst/>
              <a:uFillTx/>
              <a:latin typeface="Arial"/>
            </a:endParaRPr>
          </a:p>
        </p:txBody>
      </p:sp>
      <p:sp>
        <p:nvSpPr>
          <p:cNvPr id="604" name="TextBox 9"/>
          <p:cNvSpPr/>
          <p:nvPr/>
        </p:nvSpPr>
        <p:spPr>
          <a:xfrm>
            <a:off x="548640" y="4251960"/>
            <a:ext cx="91404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rgbClr val="00FF41"/>
                </a:solidFill>
                <a:effectLst/>
                <a:uFillTx/>
                <a:latin typeface="Calibri"/>
              </a:rPr>
              <a:t>4.</a:t>
            </a:r>
            <a:endParaRPr lang="en-US" sz="3600" b="0" u="none" strike="noStrike">
              <a:solidFill>
                <a:srgbClr val="FFFFFF"/>
              </a:solidFill>
              <a:effectLst/>
              <a:uFillTx/>
              <a:latin typeface="Arial"/>
            </a:endParaRPr>
          </a:p>
        </p:txBody>
      </p:sp>
      <p:sp>
        <p:nvSpPr>
          <p:cNvPr id="605" name="TextBox 10"/>
          <p:cNvSpPr/>
          <p:nvPr/>
        </p:nvSpPr>
        <p:spPr>
          <a:xfrm>
            <a:off x="1554480" y="4297680"/>
            <a:ext cx="1024092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0" u="none" strike="noStrike">
                <a:solidFill>
                  <a:srgbClr val="FFFFFF"/>
                </a:solidFill>
                <a:effectLst/>
                <a:uFillTx/>
                <a:latin typeface="Calibri"/>
              </a:rPr>
              <a:t>Прочитайте отчёт об утечке — Capital One, Equifax, MOVEit.</a:t>
            </a:r>
            <a:endParaRPr lang="en-US" sz="2600" b="0" u="none" strike="noStrike">
              <a:solidFill>
                <a:srgbClr val="FFFFFF"/>
              </a:solidFill>
              <a:effectLst/>
              <a:uFillTx/>
              <a:latin typeface="Arial"/>
            </a:endParaRPr>
          </a:p>
        </p:txBody>
      </p:sp>
      <p:sp>
        <p:nvSpPr>
          <p:cNvPr id="606" name="TextBox 11"/>
          <p:cNvSpPr/>
          <p:nvPr/>
        </p:nvSpPr>
        <p:spPr>
          <a:xfrm>
            <a:off x="548640" y="5074920"/>
            <a:ext cx="91404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rgbClr val="00FF41"/>
                </a:solidFill>
                <a:effectLst/>
                <a:uFillTx/>
                <a:latin typeface="Calibri"/>
              </a:rPr>
              <a:t>5.</a:t>
            </a:r>
            <a:endParaRPr lang="en-US" sz="3600" b="0" u="none" strike="noStrike">
              <a:solidFill>
                <a:srgbClr val="FFFFFF"/>
              </a:solidFill>
              <a:effectLst/>
              <a:uFillTx/>
              <a:latin typeface="Arial"/>
            </a:endParaRPr>
          </a:p>
        </p:txBody>
      </p:sp>
      <p:sp>
        <p:nvSpPr>
          <p:cNvPr id="607" name="TextBox 12"/>
          <p:cNvSpPr/>
          <p:nvPr/>
        </p:nvSpPr>
        <p:spPr>
          <a:xfrm>
            <a:off x="1554480" y="5120640"/>
            <a:ext cx="1024092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0" u="none" strike="noStrike">
                <a:solidFill>
                  <a:srgbClr val="FFFFFF"/>
                </a:solidFill>
                <a:effectLst/>
                <a:uFillTx/>
                <a:latin typeface="Calibri"/>
              </a:rPr>
              <a:t>Выясните, какие базы данных РЕАЛЬНО использует ВАША организация.</a:t>
            </a:r>
            <a:endParaRPr lang="en-US" sz="2600" b="0" u="none" strike="noStrike">
              <a:solidFill>
                <a:srgbClr val="FFFFFF"/>
              </a:solidFill>
              <a:effectLst/>
              <a:uFillTx/>
              <a:latin typeface="Arial"/>
            </a:endParaRPr>
          </a:p>
        </p:txBody>
      </p:sp>
      <p:sp>
        <p:nvSpPr>
          <p:cNvPr id="608" name="TextBox 13"/>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609" name="TextBox 14"/>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40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610" name="TextBox 1" descr="Resource list: PortSwigger Web Security Academy, SQLBolt, Use The Index Luke, DB-Engines, and the OWASP Top 10." title="Resource list: PortSwigger Web Security Academy, SQLBolt, Use The Index Luke, DB"/>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Ресурсы, которые стоит добавить в закладки</a:t>
            </a:r>
            <a:endParaRPr lang="en-US" sz="4200" b="0" u="none" strike="noStrike">
              <a:solidFill>
                <a:srgbClr val="FFFFFF"/>
              </a:solidFill>
              <a:effectLst/>
              <a:uFillTx/>
              <a:latin typeface="Arial"/>
            </a:endParaRPr>
          </a:p>
        </p:txBody>
      </p:sp>
      <p:sp>
        <p:nvSpPr>
          <p:cNvPr id="611"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612" name="TextBox 3"/>
          <p:cNvSpPr/>
          <p:nvPr/>
        </p:nvSpPr>
        <p:spPr>
          <a:xfrm>
            <a:off x="548640" y="1828800"/>
            <a:ext cx="456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FF41"/>
                </a:solidFill>
                <a:effectLst/>
                <a:uFillTx/>
                <a:latin typeface="Calibri"/>
              </a:rPr>
              <a:t>◆</a:t>
            </a:r>
            <a:endParaRPr lang="en-US" sz="2800" b="0" u="none" strike="noStrike">
              <a:solidFill>
                <a:srgbClr val="FFFFFF"/>
              </a:solidFill>
              <a:effectLst/>
              <a:uFillTx/>
              <a:latin typeface="Arial"/>
            </a:endParaRPr>
          </a:p>
        </p:txBody>
      </p:sp>
      <p:sp>
        <p:nvSpPr>
          <p:cNvPr id="613" name="TextBox 4"/>
          <p:cNvSpPr/>
          <p:nvPr/>
        </p:nvSpPr>
        <p:spPr>
          <a:xfrm>
            <a:off x="1097280" y="1828800"/>
            <a:ext cx="59432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1" u="none" strike="noStrike">
                <a:solidFill>
                  <a:srgbClr val="FFFFFF"/>
                </a:solidFill>
                <a:effectLst/>
                <a:uFillTx/>
                <a:latin typeface="Calibri"/>
              </a:rPr>
              <a:t>PortSwigger Web Security Academy</a:t>
            </a:r>
            <a:endParaRPr lang="en-US" sz="2600" b="0" u="none" strike="noStrike">
              <a:solidFill>
                <a:srgbClr val="FFFFFF"/>
              </a:solidFill>
              <a:effectLst/>
              <a:uFillTx/>
              <a:latin typeface="Arial"/>
            </a:endParaRPr>
          </a:p>
        </p:txBody>
      </p:sp>
      <p:sp>
        <p:nvSpPr>
          <p:cNvPr id="614" name="TextBox 5"/>
          <p:cNvSpPr/>
          <p:nvPr/>
        </p:nvSpPr>
        <p:spPr>
          <a:xfrm>
            <a:off x="7040880" y="1828800"/>
            <a:ext cx="493740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0" u="none" strike="noStrike">
                <a:solidFill>
                  <a:srgbClr val="00D4FF"/>
                </a:solidFill>
                <a:effectLst/>
                <a:uFillTx/>
                <a:latin typeface="Calibri"/>
              </a:rPr>
              <a:t>portswigger.net/web-security</a:t>
            </a:r>
            <a:endParaRPr lang="en-US" sz="2200" b="0" u="none" strike="noStrike">
              <a:solidFill>
                <a:srgbClr val="FFFFFF"/>
              </a:solidFill>
              <a:effectLst/>
              <a:uFillTx/>
              <a:latin typeface="Arial"/>
            </a:endParaRPr>
          </a:p>
        </p:txBody>
      </p:sp>
      <p:sp>
        <p:nvSpPr>
          <p:cNvPr id="615" name="TextBox 6"/>
          <p:cNvSpPr/>
          <p:nvPr/>
        </p:nvSpPr>
        <p:spPr>
          <a:xfrm>
            <a:off x="548640" y="2606040"/>
            <a:ext cx="456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FF41"/>
                </a:solidFill>
                <a:effectLst/>
                <a:uFillTx/>
                <a:latin typeface="Calibri"/>
              </a:rPr>
              <a:t>◆</a:t>
            </a:r>
            <a:endParaRPr lang="en-US" sz="2800" b="0" u="none" strike="noStrike">
              <a:solidFill>
                <a:srgbClr val="FFFFFF"/>
              </a:solidFill>
              <a:effectLst/>
              <a:uFillTx/>
              <a:latin typeface="Arial"/>
            </a:endParaRPr>
          </a:p>
        </p:txBody>
      </p:sp>
      <p:sp>
        <p:nvSpPr>
          <p:cNvPr id="616" name="TextBox 7"/>
          <p:cNvSpPr/>
          <p:nvPr/>
        </p:nvSpPr>
        <p:spPr>
          <a:xfrm>
            <a:off x="1097280" y="2606040"/>
            <a:ext cx="59432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1" u="none" strike="noStrike">
                <a:solidFill>
                  <a:srgbClr val="FFFFFF"/>
                </a:solidFill>
                <a:effectLst/>
                <a:uFillTx/>
                <a:latin typeface="Calibri"/>
              </a:rPr>
              <a:t>SQLBolt</a:t>
            </a:r>
            <a:endParaRPr lang="en-US" sz="2600" b="0" u="none" strike="noStrike">
              <a:solidFill>
                <a:srgbClr val="FFFFFF"/>
              </a:solidFill>
              <a:effectLst/>
              <a:uFillTx/>
              <a:latin typeface="Arial"/>
            </a:endParaRPr>
          </a:p>
        </p:txBody>
      </p:sp>
      <p:sp>
        <p:nvSpPr>
          <p:cNvPr id="617" name="TextBox 8"/>
          <p:cNvSpPr/>
          <p:nvPr/>
        </p:nvSpPr>
        <p:spPr>
          <a:xfrm>
            <a:off x="7040880" y="2606040"/>
            <a:ext cx="493740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0" u="none" strike="noStrike">
                <a:solidFill>
                  <a:srgbClr val="00D4FF"/>
                </a:solidFill>
                <a:effectLst/>
                <a:uFillTx/>
                <a:latin typeface="Calibri"/>
              </a:rPr>
              <a:t>sqlbolt.com</a:t>
            </a:r>
            <a:endParaRPr lang="en-US" sz="2200" b="0" u="none" strike="noStrike">
              <a:solidFill>
                <a:srgbClr val="FFFFFF"/>
              </a:solidFill>
              <a:effectLst/>
              <a:uFillTx/>
              <a:latin typeface="Arial"/>
            </a:endParaRPr>
          </a:p>
        </p:txBody>
      </p:sp>
      <p:sp>
        <p:nvSpPr>
          <p:cNvPr id="618" name="TextBox 9"/>
          <p:cNvSpPr/>
          <p:nvPr/>
        </p:nvSpPr>
        <p:spPr>
          <a:xfrm>
            <a:off x="548640" y="3383280"/>
            <a:ext cx="456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FF41"/>
                </a:solidFill>
                <a:effectLst/>
                <a:uFillTx/>
                <a:latin typeface="Calibri"/>
              </a:rPr>
              <a:t>◆</a:t>
            </a:r>
            <a:endParaRPr lang="en-US" sz="2800" b="0" u="none" strike="noStrike">
              <a:solidFill>
                <a:srgbClr val="FFFFFF"/>
              </a:solidFill>
              <a:effectLst/>
              <a:uFillTx/>
              <a:latin typeface="Arial"/>
            </a:endParaRPr>
          </a:p>
        </p:txBody>
      </p:sp>
      <p:sp>
        <p:nvSpPr>
          <p:cNvPr id="619" name="TextBox 10"/>
          <p:cNvSpPr/>
          <p:nvPr/>
        </p:nvSpPr>
        <p:spPr>
          <a:xfrm>
            <a:off x="1097280" y="3383280"/>
            <a:ext cx="59432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1" u="none" strike="noStrike">
                <a:solidFill>
                  <a:srgbClr val="FFFFFF"/>
                </a:solidFill>
                <a:effectLst/>
                <a:uFillTx/>
                <a:latin typeface="Calibri"/>
              </a:rPr>
              <a:t>Use The Index, Luke</a:t>
            </a:r>
            <a:endParaRPr lang="en-US" sz="2600" b="0" u="none" strike="noStrike">
              <a:solidFill>
                <a:srgbClr val="FFFFFF"/>
              </a:solidFill>
              <a:effectLst/>
              <a:uFillTx/>
              <a:latin typeface="Arial"/>
            </a:endParaRPr>
          </a:p>
        </p:txBody>
      </p:sp>
      <p:sp>
        <p:nvSpPr>
          <p:cNvPr id="620" name="TextBox 11"/>
          <p:cNvSpPr/>
          <p:nvPr/>
        </p:nvSpPr>
        <p:spPr>
          <a:xfrm>
            <a:off x="7040880" y="3383280"/>
            <a:ext cx="493740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0" u="none" strike="noStrike">
                <a:solidFill>
                  <a:srgbClr val="00D4FF"/>
                </a:solidFill>
                <a:effectLst/>
                <a:uFillTx/>
                <a:latin typeface="Calibri"/>
              </a:rPr>
              <a:t>use-the-index-luke.com</a:t>
            </a:r>
            <a:endParaRPr lang="en-US" sz="2200" b="0" u="none" strike="noStrike">
              <a:solidFill>
                <a:srgbClr val="FFFFFF"/>
              </a:solidFill>
              <a:effectLst/>
              <a:uFillTx/>
              <a:latin typeface="Arial"/>
            </a:endParaRPr>
          </a:p>
        </p:txBody>
      </p:sp>
      <p:sp>
        <p:nvSpPr>
          <p:cNvPr id="621" name="TextBox 12"/>
          <p:cNvSpPr/>
          <p:nvPr/>
        </p:nvSpPr>
        <p:spPr>
          <a:xfrm>
            <a:off x="548640" y="4160520"/>
            <a:ext cx="456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FF41"/>
                </a:solidFill>
                <a:effectLst/>
                <a:uFillTx/>
                <a:latin typeface="Calibri"/>
              </a:rPr>
              <a:t>◆</a:t>
            </a:r>
            <a:endParaRPr lang="en-US" sz="2800" b="0" u="none" strike="noStrike">
              <a:solidFill>
                <a:srgbClr val="FFFFFF"/>
              </a:solidFill>
              <a:effectLst/>
              <a:uFillTx/>
              <a:latin typeface="Arial"/>
            </a:endParaRPr>
          </a:p>
        </p:txBody>
      </p:sp>
      <p:sp>
        <p:nvSpPr>
          <p:cNvPr id="622" name="TextBox 13"/>
          <p:cNvSpPr/>
          <p:nvPr/>
        </p:nvSpPr>
        <p:spPr>
          <a:xfrm>
            <a:off x="1097280" y="4160520"/>
            <a:ext cx="59432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1" u="none" strike="noStrike">
                <a:solidFill>
                  <a:srgbClr val="FFFFFF"/>
                </a:solidFill>
                <a:effectLst/>
                <a:uFillTx/>
                <a:latin typeface="Calibri"/>
              </a:rPr>
              <a:t>DB-Engines Ranking</a:t>
            </a:r>
            <a:endParaRPr lang="en-US" sz="2600" b="0" u="none" strike="noStrike">
              <a:solidFill>
                <a:srgbClr val="FFFFFF"/>
              </a:solidFill>
              <a:effectLst/>
              <a:uFillTx/>
              <a:latin typeface="Arial"/>
            </a:endParaRPr>
          </a:p>
        </p:txBody>
      </p:sp>
      <p:sp>
        <p:nvSpPr>
          <p:cNvPr id="623" name="TextBox 14"/>
          <p:cNvSpPr/>
          <p:nvPr/>
        </p:nvSpPr>
        <p:spPr>
          <a:xfrm>
            <a:off x="7040880" y="4160520"/>
            <a:ext cx="493740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0" u="none" strike="noStrike">
                <a:solidFill>
                  <a:srgbClr val="00D4FF"/>
                </a:solidFill>
                <a:effectLst/>
                <a:uFillTx/>
                <a:latin typeface="Calibri"/>
              </a:rPr>
              <a:t>db-engines.com</a:t>
            </a:r>
            <a:endParaRPr lang="en-US" sz="2200" b="0" u="none" strike="noStrike">
              <a:solidFill>
                <a:srgbClr val="FFFFFF"/>
              </a:solidFill>
              <a:effectLst/>
              <a:uFillTx/>
              <a:latin typeface="Arial"/>
            </a:endParaRPr>
          </a:p>
        </p:txBody>
      </p:sp>
      <p:sp>
        <p:nvSpPr>
          <p:cNvPr id="624" name="TextBox 15"/>
          <p:cNvSpPr/>
          <p:nvPr/>
        </p:nvSpPr>
        <p:spPr>
          <a:xfrm>
            <a:off x="548640" y="4937760"/>
            <a:ext cx="456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FF41"/>
                </a:solidFill>
                <a:effectLst/>
                <a:uFillTx/>
                <a:latin typeface="Calibri"/>
              </a:rPr>
              <a:t>◆</a:t>
            </a:r>
            <a:endParaRPr lang="en-US" sz="2800" b="0" u="none" strike="noStrike">
              <a:solidFill>
                <a:srgbClr val="FFFFFF"/>
              </a:solidFill>
              <a:effectLst/>
              <a:uFillTx/>
              <a:latin typeface="Arial"/>
            </a:endParaRPr>
          </a:p>
        </p:txBody>
      </p:sp>
      <p:sp>
        <p:nvSpPr>
          <p:cNvPr id="625" name="TextBox 16"/>
          <p:cNvSpPr/>
          <p:nvPr/>
        </p:nvSpPr>
        <p:spPr>
          <a:xfrm>
            <a:off x="1097280" y="4937760"/>
            <a:ext cx="59432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1" u="none" strike="noStrike">
                <a:solidFill>
                  <a:srgbClr val="FFFFFF"/>
                </a:solidFill>
                <a:effectLst/>
                <a:uFillTx/>
                <a:latin typeface="Calibri"/>
              </a:rPr>
              <a:t>OWASP Top 10</a:t>
            </a:r>
            <a:endParaRPr lang="en-US" sz="2600" b="0" u="none" strike="noStrike">
              <a:solidFill>
                <a:srgbClr val="FFFFFF"/>
              </a:solidFill>
              <a:effectLst/>
              <a:uFillTx/>
              <a:latin typeface="Arial"/>
            </a:endParaRPr>
          </a:p>
        </p:txBody>
      </p:sp>
      <p:sp>
        <p:nvSpPr>
          <p:cNvPr id="626" name="TextBox 17"/>
          <p:cNvSpPr/>
          <p:nvPr/>
        </p:nvSpPr>
        <p:spPr>
          <a:xfrm>
            <a:off x="7040880" y="4937760"/>
            <a:ext cx="493740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0" u="none" strike="noStrike">
                <a:solidFill>
                  <a:srgbClr val="00D4FF"/>
                </a:solidFill>
                <a:effectLst/>
                <a:uFillTx/>
                <a:latin typeface="Calibri"/>
              </a:rPr>
              <a:t>owasp.org/Top10/</a:t>
            </a:r>
            <a:endParaRPr lang="en-US" sz="2200" b="0" u="none" strike="noStrike">
              <a:solidFill>
                <a:srgbClr val="FFFFFF"/>
              </a:solidFill>
              <a:effectLst/>
              <a:uFillTx/>
              <a:latin typeface="Arial"/>
            </a:endParaRPr>
          </a:p>
        </p:txBody>
      </p:sp>
      <p:sp>
        <p:nvSpPr>
          <p:cNvPr id="627" name="TextBox 18"/>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628" name="TextBox 19"/>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41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629" name="TextBox 1" descr="Closing slide: Databases are where the money is. Literally. Now you know where to look. Ronin 48." title="Closing slide: Databases are where the money is. Literally. Now you know where t"/>
          <p:cNvSpPr/>
          <p:nvPr/>
        </p:nvSpPr>
        <p:spPr>
          <a:xfrm>
            <a:off x="457200" y="1371600"/>
            <a:ext cx="11246760" cy="9741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5800" b="1" u="none" strike="noStrike">
                <a:solidFill>
                  <a:srgbClr val="FFFFFF"/>
                </a:solidFill>
                <a:effectLst/>
                <a:uFillTx/>
                <a:latin typeface="Calibri"/>
              </a:rPr>
              <a:t>«Базы данных — это место,</a:t>
            </a:r>
            <a:endParaRPr lang="en-US" sz="5800" b="0" u="none" strike="noStrike">
              <a:solidFill>
                <a:srgbClr val="FFFFFF"/>
              </a:solidFill>
              <a:effectLst/>
              <a:uFillTx/>
              <a:latin typeface="Arial"/>
            </a:endParaRPr>
          </a:p>
        </p:txBody>
      </p:sp>
      <p:sp>
        <p:nvSpPr>
          <p:cNvPr id="630" name="TextBox 2"/>
          <p:cNvSpPr/>
          <p:nvPr/>
        </p:nvSpPr>
        <p:spPr>
          <a:xfrm>
            <a:off x="457200" y="2377440"/>
            <a:ext cx="11246760" cy="9741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5800" b="1" u="none" strike="noStrike">
                <a:solidFill>
                  <a:srgbClr val="00FF41"/>
                </a:solidFill>
                <a:effectLst/>
                <a:uFillTx/>
                <a:latin typeface="Calibri"/>
              </a:rPr>
              <a:t>где находятся деньги. Буквально.»</a:t>
            </a:r>
            <a:endParaRPr lang="en-US" sz="5800" b="0" u="none" strike="noStrike">
              <a:solidFill>
                <a:srgbClr val="FFFFFF"/>
              </a:solidFill>
              <a:effectLst/>
              <a:uFillTx/>
              <a:latin typeface="Arial"/>
            </a:endParaRPr>
          </a:p>
        </p:txBody>
      </p:sp>
      <p:sp>
        <p:nvSpPr>
          <p:cNvPr id="631" name="Rectangle 3"/>
          <p:cNvSpPr/>
          <p:nvPr/>
        </p:nvSpPr>
        <p:spPr>
          <a:xfrm>
            <a:off x="7772760" y="4114800"/>
            <a:ext cx="2742840" cy="7272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p>
            <a:endParaRPr lang="en-US" sz="1800" b="0" u="none" strike="noStrike">
              <a:solidFill>
                <a:schemeClr val="lt1"/>
              </a:solidFill>
              <a:effectLst/>
              <a:uFillTx/>
              <a:latin typeface="Calibri"/>
            </a:endParaRPr>
          </a:p>
        </p:txBody>
      </p:sp>
      <p:sp>
        <p:nvSpPr>
          <p:cNvPr id="632" name="TextBox 4"/>
          <p:cNvSpPr/>
          <p:nvPr/>
        </p:nvSpPr>
        <p:spPr>
          <a:xfrm>
            <a:off x="-45360" y="5715000"/>
            <a:ext cx="11246760" cy="9140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200" b="0" u="none" strike="noStrike">
                <a:solidFill>
                  <a:srgbClr val="00D4FF"/>
                </a:solidFill>
                <a:effectLst/>
                <a:uFillTx/>
                <a:latin typeface="Calibri"/>
              </a:rPr>
              <a:t>Теперь вы знаете, где искать.</a:t>
            </a:r>
            <a:endParaRPr lang="en-US" sz="4200" b="0" u="none" strike="noStrike">
              <a:solidFill>
                <a:srgbClr val="FFFFFF"/>
              </a:solidFill>
              <a:effectLst/>
              <a:uFillTx/>
              <a:latin typeface="Arial"/>
            </a:endParaRPr>
          </a:p>
        </p:txBody>
      </p:sp>
      <p:sp>
        <p:nvSpPr>
          <p:cNvPr id="633" name="TextBox 5"/>
          <p:cNvSpPr/>
          <p:nvPr/>
        </p:nvSpPr>
        <p:spPr>
          <a:xfrm>
            <a:off x="7315200" y="3429000"/>
            <a:ext cx="3886200" cy="517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1" u="none" strike="noStrike">
                <a:solidFill>
                  <a:srgbClr val="CCCCD6"/>
                </a:solidFill>
                <a:effectLst/>
                <a:uFillTx/>
                <a:latin typeface="Calibri"/>
              </a:rPr>
              <a:t>~Larry Ellison (вероятно)</a:t>
            </a:r>
            <a:endParaRPr lang="en-US" sz="2800" b="0" u="none" strike="noStrike">
              <a:solidFill>
                <a:srgbClr val="FFFFFF"/>
              </a:solidFill>
              <a:effectLst/>
              <a:uFillTx/>
              <a:latin typeface="Arial"/>
            </a:endParaRPr>
          </a:p>
        </p:txBody>
      </p:sp>
      <p:sp>
        <p:nvSpPr>
          <p:cNvPr id="634" name="TextBox 6"/>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42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635" name="TextBox 1" descr="References list of all books cited throughout the talk, including Beaulieu's Learning SQL, Clarke's SQL Injection Attacks and Defense, Schneier's Secrets and Lies, and others." title="References list of all books cited throughout the talk, including Beaulieu's Lea"/>
          <p:cNvSpPr/>
          <p:nvPr/>
        </p:nvSpPr>
        <p:spPr>
          <a:xfrm>
            <a:off x="457200" y="320040"/>
            <a:ext cx="11246760" cy="669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800" b="1" u="none" strike="noStrike">
                <a:solidFill>
                  <a:srgbClr val="00FF41"/>
                </a:solidFill>
                <a:effectLst/>
                <a:uFillTx/>
                <a:latin typeface="Calibri"/>
              </a:rPr>
              <a:t>Источники — Цитируемые работы</a:t>
            </a:r>
            <a:endParaRPr lang="en-US" sz="3800" b="0" u="none" strike="noStrike">
              <a:solidFill>
                <a:srgbClr val="FFFFFF"/>
              </a:solidFill>
              <a:effectLst/>
              <a:uFillTx/>
              <a:latin typeface="Arial"/>
            </a:endParaRPr>
          </a:p>
        </p:txBody>
      </p:sp>
      <p:sp>
        <p:nvSpPr>
          <p:cNvPr id="636"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637" name="TextBox 3"/>
          <p:cNvSpPr/>
          <p:nvPr/>
        </p:nvSpPr>
        <p:spPr>
          <a:xfrm>
            <a:off x="457200" y="169164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38" name="TextBox 4"/>
          <p:cNvSpPr/>
          <p:nvPr/>
        </p:nvSpPr>
        <p:spPr>
          <a:xfrm>
            <a:off x="777240" y="166428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Beaulieu, A. — Learning SQL, 2nd Edition (O'Reilly)</a:t>
            </a:r>
            <a:endParaRPr lang="en-US" sz="1600" b="0" u="none" strike="noStrike">
              <a:solidFill>
                <a:srgbClr val="FFFFFF"/>
              </a:solidFill>
              <a:effectLst/>
              <a:uFillTx/>
              <a:latin typeface="Arial"/>
            </a:endParaRPr>
          </a:p>
        </p:txBody>
      </p:sp>
      <p:sp>
        <p:nvSpPr>
          <p:cNvPr id="639" name="TextBox 5"/>
          <p:cNvSpPr/>
          <p:nvPr/>
        </p:nvSpPr>
        <p:spPr>
          <a:xfrm>
            <a:off x="457200" y="200268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40" name="TextBox 6"/>
          <p:cNvSpPr/>
          <p:nvPr/>
        </p:nvSpPr>
        <p:spPr>
          <a:xfrm>
            <a:off x="777240" y="197496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Clarke, J. et al. — SQL Injection Attacks and Defense (Syngress)</a:t>
            </a:r>
            <a:endParaRPr lang="en-US" sz="1600" b="0" u="none" strike="noStrike">
              <a:solidFill>
                <a:srgbClr val="FFFFFF"/>
              </a:solidFill>
              <a:effectLst/>
              <a:uFillTx/>
              <a:latin typeface="Arial"/>
            </a:endParaRPr>
          </a:p>
        </p:txBody>
      </p:sp>
      <p:sp>
        <p:nvSpPr>
          <p:cNvPr id="641" name="TextBox 7"/>
          <p:cNvSpPr/>
          <p:nvPr/>
        </p:nvSpPr>
        <p:spPr>
          <a:xfrm>
            <a:off x="457200" y="231336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42" name="TextBox 8"/>
          <p:cNvSpPr/>
          <p:nvPr/>
        </p:nvSpPr>
        <p:spPr>
          <a:xfrm>
            <a:off x="777240" y="228600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Crowther, P. — Concise Guide to Databases (Springer, 2013)</a:t>
            </a:r>
            <a:endParaRPr lang="en-US" sz="1600" b="0" u="none" strike="noStrike">
              <a:solidFill>
                <a:srgbClr val="FFFFFF"/>
              </a:solidFill>
              <a:effectLst/>
              <a:uFillTx/>
              <a:latin typeface="Arial"/>
            </a:endParaRPr>
          </a:p>
        </p:txBody>
      </p:sp>
      <p:sp>
        <p:nvSpPr>
          <p:cNvPr id="643" name="TextBox 9"/>
          <p:cNvSpPr/>
          <p:nvPr/>
        </p:nvSpPr>
        <p:spPr>
          <a:xfrm>
            <a:off x="457200" y="262440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44" name="TextBox 10"/>
          <p:cNvSpPr/>
          <p:nvPr/>
        </p:nvSpPr>
        <p:spPr>
          <a:xfrm>
            <a:off x="777240" y="259704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DeBarros, A. — Practical SQL (No Starch Press)</a:t>
            </a:r>
            <a:endParaRPr lang="en-US" sz="1600" b="0" u="none" strike="noStrike">
              <a:solidFill>
                <a:srgbClr val="FFFFFF"/>
              </a:solidFill>
              <a:effectLst/>
              <a:uFillTx/>
              <a:latin typeface="Arial"/>
            </a:endParaRPr>
          </a:p>
        </p:txBody>
      </p:sp>
      <p:sp>
        <p:nvSpPr>
          <p:cNvPr id="645" name="TextBox 11"/>
          <p:cNvSpPr/>
          <p:nvPr/>
        </p:nvSpPr>
        <p:spPr>
          <a:xfrm>
            <a:off x="457200" y="293508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46" name="TextBox 12"/>
          <p:cNvSpPr/>
          <p:nvPr/>
        </p:nvSpPr>
        <p:spPr>
          <a:xfrm>
            <a:off x="777240" y="290772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Diogenes &amp; Ozkaya — Cybersecurity Attack and Defense Strategies (Packt)</a:t>
            </a:r>
            <a:endParaRPr lang="en-US" sz="1600" b="0" u="none" strike="noStrike">
              <a:solidFill>
                <a:srgbClr val="FFFFFF"/>
              </a:solidFill>
              <a:effectLst/>
              <a:uFillTx/>
              <a:latin typeface="Arial"/>
            </a:endParaRPr>
          </a:p>
        </p:txBody>
      </p:sp>
      <p:sp>
        <p:nvSpPr>
          <p:cNvPr id="647" name="TextBox 13"/>
          <p:cNvSpPr/>
          <p:nvPr/>
        </p:nvSpPr>
        <p:spPr>
          <a:xfrm>
            <a:off x="457200" y="324612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48" name="TextBox 14"/>
          <p:cNvSpPr/>
          <p:nvPr/>
        </p:nvSpPr>
        <p:spPr>
          <a:xfrm>
            <a:off x="777240" y="321876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Janca, T. — Alice and Bob Learn Application Security (Wiley)</a:t>
            </a:r>
            <a:endParaRPr lang="en-US" sz="1600" b="0" u="none" strike="noStrike">
              <a:solidFill>
                <a:srgbClr val="FFFFFF"/>
              </a:solidFill>
              <a:effectLst/>
              <a:uFillTx/>
              <a:latin typeface="Arial"/>
            </a:endParaRPr>
          </a:p>
        </p:txBody>
      </p:sp>
      <p:sp>
        <p:nvSpPr>
          <p:cNvPr id="649" name="TextBox 15"/>
          <p:cNvSpPr/>
          <p:nvPr/>
        </p:nvSpPr>
        <p:spPr>
          <a:xfrm>
            <a:off x="457200" y="355716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50" name="TextBox 16"/>
          <p:cNvSpPr/>
          <p:nvPr/>
        </p:nvSpPr>
        <p:spPr>
          <a:xfrm>
            <a:off x="777240" y="352944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Mishra &amp; Singh — PostgreSQL Development Essentials (Packt)</a:t>
            </a:r>
            <a:endParaRPr lang="en-US" sz="1600" b="0" u="none" strike="noStrike">
              <a:solidFill>
                <a:srgbClr val="FFFFFF"/>
              </a:solidFill>
              <a:effectLst/>
              <a:uFillTx/>
              <a:latin typeface="Arial"/>
            </a:endParaRPr>
          </a:p>
        </p:txBody>
      </p:sp>
      <p:sp>
        <p:nvSpPr>
          <p:cNvPr id="651" name="TextBox 17"/>
          <p:cNvSpPr/>
          <p:nvPr/>
        </p:nvSpPr>
        <p:spPr>
          <a:xfrm>
            <a:off x="457200" y="386784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52" name="TextBox 18"/>
          <p:cNvSpPr/>
          <p:nvPr/>
        </p:nvSpPr>
        <p:spPr>
          <a:xfrm>
            <a:off x="777240" y="384048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MongoDB Cookbook (Packt)  •  10gen — Top 5 NoSQL Considerations</a:t>
            </a:r>
            <a:endParaRPr lang="en-US" sz="1600" b="0" u="none" strike="noStrike">
              <a:solidFill>
                <a:srgbClr val="FFFFFF"/>
              </a:solidFill>
              <a:effectLst/>
              <a:uFillTx/>
              <a:latin typeface="Arial"/>
            </a:endParaRPr>
          </a:p>
        </p:txBody>
      </p:sp>
      <p:sp>
        <p:nvSpPr>
          <p:cNvPr id="653" name="TextBox 19"/>
          <p:cNvSpPr/>
          <p:nvPr/>
        </p:nvSpPr>
        <p:spPr>
          <a:xfrm>
            <a:off x="457200" y="417888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54" name="TextBox 20"/>
          <p:cNvSpPr/>
          <p:nvPr/>
        </p:nvSpPr>
        <p:spPr>
          <a:xfrm>
            <a:off x="777240" y="415152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OWASP Top 10 — издание 2025</a:t>
            </a:r>
            <a:endParaRPr lang="en-US" sz="1600" b="0" u="none" strike="noStrike">
              <a:solidFill>
                <a:srgbClr val="FFFFFF"/>
              </a:solidFill>
              <a:effectLst/>
              <a:uFillTx/>
              <a:latin typeface="Arial"/>
            </a:endParaRPr>
          </a:p>
        </p:txBody>
      </p:sp>
      <p:sp>
        <p:nvSpPr>
          <p:cNvPr id="655" name="TextBox 21"/>
          <p:cNvSpPr/>
          <p:nvPr/>
        </p:nvSpPr>
        <p:spPr>
          <a:xfrm>
            <a:off x="457200" y="448956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56" name="TextBox 22"/>
          <p:cNvSpPr/>
          <p:nvPr/>
        </p:nvSpPr>
        <p:spPr>
          <a:xfrm>
            <a:off x="777240" y="446220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Sharma, M. — Cosmos DB for MongoDB Developers (Apress, 2018)</a:t>
            </a:r>
            <a:endParaRPr lang="en-US" sz="1600" b="0" u="none" strike="noStrike">
              <a:solidFill>
                <a:srgbClr val="FFFFFF"/>
              </a:solidFill>
              <a:effectLst/>
              <a:uFillTx/>
              <a:latin typeface="Arial"/>
            </a:endParaRPr>
          </a:p>
        </p:txBody>
      </p:sp>
      <p:sp>
        <p:nvSpPr>
          <p:cNvPr id="657" name="TextBox 23"/>
          <p:cNvSpPr/>
          <p:nvPr/>
        </p:nvSpPr>
        <p:spPr>
          <a:xfrm>
            <a:off x="457200" y="480060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58" name="TextBox 24"/>
          <p:cNvSpPr/>
          <p:nvPr/>
        </p:nvSpPr>
        <p:spPr>
          <a:xfrm>
            <a:off x="777240" y="477324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Schneier, B. — Secrets and Lies (Wiley)</a:t>
            </a:r>
            <a:endParaRPr lang="en-US" sz="1600" b="0" u="none" strike="noStrike">
              <a:solidFill>
                <a:srgbClr val="FFFFFF"/>
              </a:solidFill>
              <a:effectLst/>
              <a:uFillTx/>
              <a:latin typeface="Arial"/>
            </a:endParaRPr>
          </a:p>
        </p:txBody>
      </p:sp>
      <p:sp>
        <p:nvSpPr>
          <p:cNvPr id="659" name="TextBox 25"/>
          <p:cNvSpPr/>
          <p:nvPr/>
        </p:nvSpPr>
        <p:spPr>
          <a:xfrm>
            <a:off x="457200" y="511164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60" name="TextBox 26"/>
          <p:cNvSpPr/>
          <p:nvPr/>
        </p:nvSpPr>
        <p:spPr>
          <a:xfrm>
            <a:off x="777240" y="508392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Stuttard &amp; Pinto — Web Application Hacker's Handbook, 2nd Ed.</a:t>
            </a:r>
            <a:endParaRPr lang="en-US" sz="1600" b="0" u="none" strike="noStrike">
              <a:solidFill>
                <a:srgbClr val="FFFFFF"/>
              </a:solidFill>
              <a:effectLst/>
              <a:uFillTx/>
              <a:latin typeface="Arial"/>
            </a:endParaRPr>
          </a:p>
        </p:txBody>
      </p:sp>
      <p:sp>
        <p:nvSpPr>
          <p:cNvPr id="661" name="TextBox 27"/>
          <p:cNvSpPr/>
          <p:nvPr/>
        </p:nvSpPr>
        <p:spPr>
          <a:xfrm>
            <a:off x="457200" y="542232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62" name="TextBox 28"/>
          <p:cNvSpPr/>
          <p:nvPr/>
        </p:nvSpPr>
        <p:spPr>
          <a:xfrm>
            <a:off x="777240" y="539496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Shostack, A. — Threat Modeling: Designing for Security (Wiley)</a:t>
            </a:r>
            <a:endParaRPr lang="en-US" sz="1600" b="0" u="none" strike="noStrike">
              <a:solidFill>
                <a:srgbClr val="FFFFFF"/>
              </a:solidFill>
              <a:effectLst/>
              <a:uFillTx/>
              <a:latin typeface="Arial"/>
            </a:endParaRPr>
          </a:p>
        </p:txBody>
      </p:sp>
      <p:sp>
        <p:nvSpPr>
          <p:cNvPr id="663" name="TextBox 29"/>
          <p:cNvSpPr/>
          <p:nvPr/>
        </p:nvSpPr>
        <p:spPr>
          <a:xfrm>
            <a:off x="457200" y="573336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64" name="TextBox 30"/>
          <p:cNvSpPr/>
          <p:nvPr/>
        </p:nvSpPr>
        <p:spPr>
          <a:xfrm>
            <a:off x="777240" y="570600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AWS Administration: The Definitive Guide (Packt)</a:t>
            </a:r>
            <a:endParaRPr lang="en-US" sz="1600" b="0" u="none" strike="noStrike">
              <a:solidFill>
                <a:srgbClr val="FFFFFF"/>
              </a:solidFill>
              <a:effectLst/>
              <a:uFillTx/>
              <a:latin typeface="Arial"/>
            </a:endParaRPr>
          </a:p>
        </p:txBody>
      </p:sp>
      <p:sp>
        <p:nvSpPr>
          <p:cNvPr id="665" name="TextBox 31"/>
          <p:cNvSpPr/>
          <p:nvPr/>
        </p:nvSpPr>
        <p:spPr>
          <a:xfrm>
            <a:off x="457200" y="604404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66" name="TextBox 32"/>
          <p:cNvSpPr/>
          <p:nvPr/>
        </p:nvSpPr>
        <p:spPr>
          <a:xfrm>
            <a:off x="777240" y="601668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Fundamentals of Azure, 2nd Edition (Microsoft Press)</a:t>
            </a:r>
            <a:endParaRPr lang="en-US" sz="1600" b="0" u="none" strike="noStrike">
              <a:solidFill>
                <a:srgbClr val="FFFFFF"/>
              </a:solidFill>
              <a:effectLst/>
              <a:uFillTx/>
              <a:latin typeface="Arial"/>
            </a:endParaRPr>
          </a:p>
        </p:txBody>
      </p:sp>
      <p:sp>
        <p:nvSpPr>
          <p:cNvPr id="667" name="TextBox 33"/>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
        <p:nvSpPr>
          <p:cNvPr id="668" name="TextBox 34"/>
          <p:cNvSpPr/>
          <p:nvPr/>
        </p:nvSpPr>
        <p:spPr>
          <a:xfrm>
            <a:off x="10972800" y="6446520"/>
            <a:ext cx="1096920" cy="30384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44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669" name="TextBox 1" descr="Questions and answers slide." title="Questions and answers slide."/>
          <p:cNvSpPr/>
          <p:nvPr/>
        </p:nvSpPr>
        <p:spPr>
          <a:xfrm>
            <a:off x="411840" y="1371600"/>
            <a:ext cx="11246760" cy="28328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8000" b="1" u="none" strike="noStrike">
                <a:solidFill>
                  <a:srgbClr val="00FF41"/>
                </a:solidFill>
                <a:effectLst/>
                <a:uFillTx/>
                <a:latin typeface="Calibri"/>
              </a:rPr>
              <a:t>Вопросы и ответы*</a:t>
            </a:r>
            <a:endParaRPr lang="en-US" sz="18000" b="0" u="none" strike="noStrike">
              <a:solidFill>
                <a:srgbClr val="FFFFFF"/>
              </a:solidFill>
              <a:effectLst/>
              <a:uFillTx/>
              <a:latin typeface="Arial"/>
            </a:endParaRPr>
          </a:p>
        </p:txBody>
      </p:sp>
      <p:sp>
        <p:nvSpPr>
          <p:cNvPr id="670" name="TextBox 2"/>
          <p:cNvSpPr/>
          <p:nvPr/>
        </p:nvSpPr>
        <p:spPr>
          <a:xfrm>
            <a:off x="457200" y="4754880"/>
            <a:ext cx="11246760" cy="63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600" b="0" u="none" strike="noStrike">
                <a:solidFill>
                  <a:srgbClr val="FFFFFF"/>
                </a:solidFill>
                <a:effectLst/>
                <a:uFillTx/>
                <a:latin typeface="Calibri"/>
              </a:rPr>
              <a:t>A == Пустые взгляды</a:t>
            </a:r>
            <a:endParaRPr lang="en-US" sz="3600" b="0" u="none" strike="noStrike">
              <a:solidFill>
                <a:srgbClr val="FFFFFF"/>
              </a:solidFill>
              <a:effectLst/>
              <a:uFillTx/>
              <a:latin typeface="Arial"/>
            </a:endParaRPr>
          </a:p>
        </p:txBody>
      </p:sp>
      <p:sp>
        <p:nvSpPr>
          <p:cNvPr id="671" name="TextBox 3"/>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Базы данных для хакеров</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TotalTime>
  <Application>LibreOffice/26.2.3.2$MacOSX_AARCH64 LibreOffice_project/70e089b17412e4cb7773e41413306b17a2328c34</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2026-06-04T07:38:35Z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