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1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 id="281" r:id="rId29"/>
    <p:sldId id="282" r:id="rId30"/>
    <p:sldId id="283" r:id="rId31"/>
    <p:sldId id="284" r:id="rId32"/>
    <p:sldId id="285" r:id="rId33"/>
    <p:sldId id="286" r:id="rId34"/>
    <p:sldId id="287" r:id="rId35"/>
    <p:sldId id="288" r:id="rId36"/>
    <p:sldId id="289" r:id="rId37"/>
    <p:sldId id="290" r:id="rId38"/>
    <p:sldId id="291" r:id="rId39"/>
    <p:sldId id="292" r:id="rId40"/>
    <p:sldId id="293" r:id="rId41"/>
    <p:sldId id="294" r:id="rId42"/>
    <p:sldId id="295" r:id="rId43"/>
    <p:sldId id="296" r:id="rId44"/>
    <p:sldId id="297" r:id="rId45"/>
    <p:sldId id="298" r:id="rId46"/>
    <p:sldId id="299" r:id="rId47"/>
    <p:sldId id="300" r:id="rId48"/>
  </p:sldIdLst>
  <p:sldSz cx="12192000" cy="6858000"/>
  <p:notesSz cx="6858000" cy="9144000"/>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slide" Target="slides/slide23.xml"/><Relationship Id="rId27" Type="http://schemas.openxmlformats.org/officeDocument/2006/relationships/slide" Target="slides/slide24.xml"/><Relationship Id="rId28" Type="http://schemas.openxmlformats.org/officeDocument/2006/relationships/slide" Target="slides/slide25.xml"/><Relationship Id="rId29" Type="http://schemas.openxmlformats.org/officeDocument/2006/relationships/slide" Target="slides/slide26.xml"/><Relationship Id="rId30" Type="http://schemas.openxmlformats.org/officeDocument/2006/relationships/slide" Target="slides/slide27.xml"/><Relationship Id="rId31" Type="http://schemas.openxmlformats.org/officeDocument/2006/relationships/slide" Target="slides/slide28.xml"/><Relationship Id="rId32" Type="http://schemas.openxmlformats.org/officeDocument/2006/relationships/slide" Target="slides/slide29.xml"/><Relationship Id="rId33" Type="http://schemas.openxmlformats.org/officeDocument/2006/relationships/slide" Target="slides/slide30.xml"/><Relationship Id="rId34" Type="http://schemas.openxmlformats.org/officeDocument/2006/relationships/slide" Target="slides/slide31.xml"/><Relationship Id="rId35" Type="http://schemas.openxmlformats.org/officeDocument/2006/relationships/slide" Target="slides/slide32.xml"/><Relationship Id="rId36" Type="http://schemas.openxmlformats.org/officeDocument/2006/relationships/slide" Target="slides/slide33.xml"/><Relationship Id="rId37" Type="http://schemas.openxmlformats.org/officeDocument/2006/relationships/slide" Target="slides/slide34.xml"/><Relationship Id="rId38" Type="http://schemas.openxmlformats.org/officeDocument/2006/relationships/slide" Target="slides/slide35.xml"/><Relationship Id="rId39" Type="http://schemas.openxmlformats.org/officeDocument/2006/relationships/slide" Target="slides/slide36.xml"/><Relationship Id="rId40" Type="http://schemas.openxmlformats.org/officeDocument/2006/relationships/slide" Target="slides/slide37.xml"/><Relationship Id="rId41" Type="http://schemas.openxmlformats.org/officeDocument/2006/relationships/slide" Target="slides/slide38.xml"/><Relationship Id="rId42" Type="http://schemas.openxmlformats.org/officeDocument/2006/relationships/slide" Target="slides/slide39.xml"/><Relationship Id="rId43" Type="http://schemas.openxmlformats.org/officeDocument/2006/relationships/slide" Target="slides/slide40.xml"/><Relationship Id="rId44" Type="http://schemas.openxmlformats.org/officeDocument/2006/relationships/slide" Target="slides/slide41.xml"/><Relationship Id="rId45" Type="http://schemas.openxmlformats.org/officeDocument/2006/relationships/slide" Target="slides/slide42.xml"/><Relationship Id="rId46" Type="http://schemas.openxmlformats.org/officeDocument/2006/relationships/slide" Target="slides/slide43.xml"/><Relationship Id="rId47" Type="http://schemas.openxmlformats.org/officeDocument/2006/relationships/slide" Target="slides/slide44.xml"/><Relationship Id="rId48" Type="http://schemas.openxmlformats.org/officeDocument/2006/relationships/slide" Target="slides/slide45.xml"/><Relationship Id="rId49"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2.xml"/></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1" name="PlaceHolder 1"/>
          <p:cNvSpPr>
            <a:spLocks noGrp="1"/>
          </p:cNvSpPr>
          <p:nvPr>
            <p:ph type="sldImg"/>
          </p:nvPr>
        </p:nvSpPr>
        <p:spPr>
          <a:xfrm>
            <a:off x="0" y="764280"/>
            <a:ext cx="0" cy="0"/>
          </a:xfrm>
          <a:prstGeom prst="rect">
            <a:avLst/>
          </a:prstGeom>
          <a:noFill/>
          <a:ln w="0">
            <a:noFill/>
          </a:ln>
        </p:spPr>
        <p:txBody>
          <a:bodyPr lIns="0" tIns="0" rIns="0" bIns="0" anchor="ctr">
            <a:noAutofit/>
          </a:bodyPr>
          <a:p>
            <a:pPr algn="ctr" defTabSz="457200"/>
            <a:r>
              <a:rPr lang="en-US" sz="4400" b="0" u="none" strike="noStrike">
                <a:solidFill>
                  <a:schemeClr val="dk1"/>
                </a:solidFill>
                <a:effectLst/>
                <a:uFillTx/>
                <a:latin typeface="Calibri"/>
              </a:rPr>
              <a:t>Click to move the slide</a:t>
            </a:r>
            <a:endParaRPr lang="en-US" sz="4400" b="0" u="none" strike="noStrike">
              <a:solidFill>
                <a:schemeClr val="dk1"/>
              </a:solidFill>
              <a:effectLst/>
              <a:uFillTx/>
              <a:latin typeface="Calibri"/>
            </a:endParaRPr>
          </a:p>
        </p:txBody>
      </p:sp>
      <p:sp>
        <p:nvSpPr>
          <p:cNvPr id="62" name="PlaceHolder 2"/>
          <p:cNvSpPr>
            <a:spLocks noGrp="1"/>
          </p:cNvSpPr>
          <p:nvPr>
            <p:ph type="body"/>
          </p:nvPr>
        </p:nvSpPr>
        <p:spPr>
          <a:xfrm>
            <a:off x="777240" y="4777560"/>
            <a:ext cx="6217560" cy="4525920"/>
          </a:xfrm>
          <a:prstGeom prst="rect">
            <a:avLst/>
          </a:prstGeom>
          <a:noFill/>
          <a:ln w="0">
            <a:noFill/>
          </a:ln>
        </p:spPr>
        <p:txBody>
          <a:bodyPr lIns="0" tIns="0" rIns="0" bIns="0" anchor="t">
            <a:noAutofit/>
          </a:bodyPr>
          <a:p>
            <a:pPr indent="0" algn="l">
              <a:buNone/>
            </a:pPr>
            <a:r>
              <a:rPr lang="en-US" sz="2000" b="0" u="none" strike="noStrike">
                <a:solidFill>
                  <a:srgbClr val="000000"/>
                </a:solidFill>
                <a:effectLst/>
                <a:uFillTx/>
                <a:latin typeface="Arial"/>
              </a:rPr>
              <a:t>Click to edit the notes format</a:t>
            </a:r>
            <a:endParaRPr lang="en-US" sz="2000" b="0" u="none" strike="noStrike">
              <a:solidFill>
                <a:srgbClr val="000000"/>
              </a:solidFill>
              <a:effectLst/>
              <a:uFillTx/>
              <a:latin typeface="Arial"/>
            </a:endParaRPr>
          </a:p>
        </p:txBody>
      </p:sp>
      <p:sp>
        <p:nvSpPr>
          <p:cNvPr id="63" name="PlaceHolder 3"/>
          <p:cNvSpPr>
            <a:spLocks noGrp="1"/>
          </p:cNvSpPr>
          <p:nvPr>
            <p:ph type="hdr"/>
          </p:nvPr>
        </p:nvSpPr>
        <p:spPr>
          <a:xfrm>
            <a:off x="0" y="0"/>
            <a:ext cx="3372840" cy="502560"/>
          </a:xfrm>
          <a:prstGeom prst="rect">
            <a:avLst/>
          </a:prstGeom>
          <a:noFill/>
          <a:ln w="0">
            <a:noFill/>
          </a:ln>
        </p:spPr>
        <p:txBody>
          <a:bodyPr lIns="0" tIns="0" rIns="0" bIns="0" anchor="t">
            <a:noAutofit/>
          </a:bodyPr>
          <a:p>
            <a:pPr indent="0" algn="l">
              <a:buNone/>
            </a:pPr>
            <a:r>
              <a:rPr lang="en-US" sz="1400" b="0" u="none" strike="noStrike">
                <a:solidFill>
                  <a:srgbClr val="000000"/>
                </a:solidFill>
                <a:effectLst/>
                <a:uFillTx/>
                <a:latin typeface="Times New Roman"/>
              </a:rPr>
              <a:t>&lt;header&gt;</a:t>
            </a:r>
            <a:endParaRPr lang="en-US" sz="1400" b="0" u="none" strike="noStrike">
              <a:solidFill>
                <a:srgbClr val="000000"/>
              </a:solidFill>
              <a:effectLst/>
              <a:uFillTx/>
              <a:latin typeface="Times New Roman"/>
            </a:endParaRPr>
          </a:p>
        </p:txBody>
      </p:sp>
      <p:sp>
        <p:nvSpPr>
          <p:cNvPr id="64" name="PlaceHolder 4"/>
          <p:cNvSpPr>
            <a:spLocks noGrp="1"/>
          </p:cNvSpPr>
          <p:nvPr>
            <p:ph type="dt" idx="34"/>
          </p:nvPr>
        </p:nvSpPr>
        <p:spPr>
          <a:xfrm>
            <a:off x="4399200" y="0"/>
            <a:ext cx="3372840" cy="50256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&lt;date/time&gt;</a:t>
            </a:r>
            <a:endParaRPr lang="en-US" sz="1400" b="0" u="none" strike="noStrike">
              <a:solidFill>
                <a:srgbClr val="000000"/>
              </a:solidFill>
              <a:effectLst/>
              <a:uFillTx/>
              <a:latin typeface="Times New Roman"/>
            </a:endParaRPr>
          </a:p>
        </p:txBody>
      </p:sp>
      <p:sp>
        <p:nvSpPr>
          <p:cNvPr id="65" name="PlaceHolder 5"/>
          <p:cNvSpPr>
            <a:spLocks noGrp="1"/>
          </p:cNvSpPr>
          <p:nvPr>
            <p:ph type="ftr" idx="35"/>
          </p:nvPr>
        </p:nvSpPr>
        <p:spPr>
          <a:xfrm>
            <a:off x="0" y="9555480"/>
            <a:ext cx="3372840" cy="502560"/>
          </a:xfrm>
          <a:prstGeom prst="rect">
            <a:avLst/>
          </a:prstGeom>
          <a:noFill/>
          <a:ln w="0">
            <a:noFill/>
          </a:ln>
        </p:spPr>
        <p:txBody>
          <a:bodyPr lIns="0" tIns="0" rIns="0" bIns="0" anchor="b">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66" name="PlaceHolder 6"/>
          <p:cNvSpPr>
            <a:spLocks noGrp="1"/>
          </p:cNvSpPr>
          <p:nvPr>
            <p:ph type="sldNum" idx="36"/>
          </p:nvPr>
        </p:nvSpPr>
        <p:spPr>
          <a:xfrm>
            <a:off x="4399200" y="9555480"/>
            <a:ext cx="3372840" cy="50256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67D68741-070C-4AE3-AD19-11384171AC7E}" type="slidenum">
              <a:rPr lang="en-US" sz="1400" b="0" u="none" strike="noStrike">
                <a:solidFill>
                  <a:srgbClr val="000000"/>
                </a:solidFill>
                <a:effectLst/>
                <a:uFillTx/>
                <a:latin typeface="Times New Roman"/>
              </a:rPr>
              <a:t>&lt;number&gt;</a:t>
            </a:fld>
            <a:endParaRPr lang="en-US" sz="1400" b="0" u="none" strike="noStrike">
              <a:solidFill>
                <a:srgbClr val="000000"/>
              </a:solidFill>
              <a:effectLst/>
              <a:uFillTx/>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standalone='yes'?>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slide" Target="../slides/slide39.xml"/><Relationship Id="rId2"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slide" Target="../slides/slide40.xml"/><Relationship Id="rId2"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slide" Target="../slides/slide41.xml"/><Relationship Id="rId2"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slide" Target="../slides/slide42.xml"/><Relationship Id="rId2"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slide" Target="../slides/slide43.xml"/><Relationship Id="rId2"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slide" Target="../slides/slide44.xml"/><Relationship Id="rId2"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slide" Target="../slides/slide45.xml"/><Relationship Id="rId2" Type="http://schemas.openxmlformats.org/officeDocument/2006/relationships/notesMaster" Target="../notesMasters/notesMaster1.xml"/></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72" name="PlaceHolder 1"/>
          <p:cNvSpPr>
            <a:spLocks noGrp="1"/>
          </p:cNvSpPr>
          <p:nvPr>
            <p:ph type="sldImg"/>
          </p:nvPr>
        </p:nvSpPr>
        <p:spPr>
          <a:xfrm>
            <a:off x="1143000" y="685800"/>
            <a:ext cx="4571640" cy="3428640"/>
          </a:xfrm>
          <a:prstGeom prst="rect">
            <a:avLst/>
          </a:prstGeom>
          <a:ln w="0">
            <a:noFill/>
          </a:ln>
        </p:spPr>
      </p:sp>
      <p:sp>
        <p:nvSpPr>
          <p:cNvPr id="673"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Welcome. This is a 45-minute talk for new security analysts. No computer-science background required. There's a script, slides, and a recording — nothing to memorize.</a:t>
            </a:r>
            <a:endParaRPr lang="en-US" sz="2000" b="0" u="none" strike="noStrike">
              <a:solidFill>
                <a:srgbClr val="000000"/>
              </a:solidFill>
              <a:effectLst/>
              <a:uFillTx/>
              <a:latin typeface="Arial"/>
            </a:endParaRPr>
          </a:p>
        </p:txBody>
      </p:sp>
      <p:sp>
        <p:nvSpPr>
          <p:cNvPr id="674" name="PlaceHolder 3"/>
          <p:cNvSpPr>
            <a:spLocks noGrp="1"/>
          </p:cNvSpPr>
          <p:nvPr>
            <p:ph type="sldNum" idx="37"/>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3BE1352F-AE15-4FB6-9A2D-D4F624A01386}"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75" name="PlaceHolder 1"/>
          <p:cNvSpPr>
            <a:spLocks noGrp="1"/>
          </p:cNvSpPr>
          <p:nvPr>
            <p:ph type="sldImg"/>
          </p:nvPr>
        </p:nvSpPr>
        <p:spPr>
          <a:xfrm>
            <a:off x="1143000" y="685800"/>
            <a:ext cx="4571640" cy="3428640"/>
          </a:xfrm>
          <a:prstGeom prst="rect">
            <a:avLst/>
          </a:prstGeom>
          <a:ln w="0">
            <a:noFill/>
          </a:ln>
        </p:spPr>
      </p:sp>
      <p:sp>
        <p:nvSpPr>
          <p:cNvPr id="676"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Introduce yourself. Aaron K. Clark, Ronin 48. Brief pause, let the audience settle.</a:t>
            </a:r>
            <a:endParaRPr lang="en-US" sz="2000" b="0" u="none" strike="noStrike">
              <a:solidFill>
                <a:srgbClr val="000000"/>
              </a:solidFill>
              <a:effectLst/>
              <a:uFillTx/>
              <a:latin typeface="Arial"/>
            </a:endParaRPr>
          </a:p>
        </p:txBody>
      </p:sp>
      <p:sp>
        <p:nvSpPr>
          <p:cNvPr id="677" name="PlaceHolder 3"/>
          <p:cNvSpPr>
            <a:spLocks noGrp="1"/>
          </p:cNvSpPr>
          <p:nvPr>
            <p:ph type="sldNum" idx="38"/>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50EEF7A2-6551-4F71-83DA-1861A6CB79E0}"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78" name="PlaceHolder 1"/>
          <p:cNvSpPr>
            <a:spLocks noGrp="1"/>
          </p:cNvSpPr>
          <p:nvPr>
            <p:ph type="sldImg"/>
          </p:nvPr>
        </p:nvSpPr>
        <p:spPr>
          <a:xfrm>
            <a:off x="1143000" y="685800"/>
            <a:ext cx="4571640" cy="3428640"/>
          </a:xfrm>
          <a:prstGeom prst="rect">
            <a:avLst/>
          </a:prstGeom>
          <a:ln w="0">
            <a:noFill/>
          </a:ln>
        </p:spPr>
      </p:sp>
      <p:sp>
        <p:nvSpPr>
          <p:cNvPr id="679"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Equifax, Capital One, MOVEit, SolarWinds, T-Mobile, LinkedIn, OPM, Marriott — every one of those breaches ended at a database. Attackers care about data, not architecture diagrams. </a:t>
            </a:r>
            <a:br>
              <a:rPr sz="2000"/>
            </a:br>
            <a:br>
              <a:rPr sz="2000"/>
            </a:br>
            <a:r>
              <a:rPr lang="en-US" sz="2000" b="0" u="none" strike="noStrike">
                <a:solidFill>
                  <a:srgbClr val="000000"/>
                </a:solidFill>
                <a:effectLst/>
                <a:uFillTx/>
                <a:latin typeface="Arial"/>
              </a:rPr>
              <a:t>* Except where it didn’t</a:t>
            </a:r>
            <a:endParaRPr lang="en-US" sz="2000" b="0" u="none" strike="noStrike">
              <a:solidFill>
                <a:srgbClr val="000000"/>
              </a:solidFill>
              <a:effectLst/>
              <a:uFillTx/>
              <a:latin typeface="Arial"/>
            </a:endParaRPr>
          </a:p>
        </p:txBody>
      </p:sp>
      <p:sp>
        <p:nvSpPr>
          <p:cNvPr id="680" name="PlaceHolder 3"/>
          <p:cNvSpPr>
            <a:spLocks noGrp="1"/>
          </p:cNvSpPr>
          <p:nvPr>
            <p:ph type="sldNum" idx="39"/>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DC63972C-0984-4E8A-A148-C8688852C7AB}"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81" name="PlaceHolder 1"/>
          <p:cNvSpPr>
            <a:spLocks noGrp="1"/>
          </p:cNvSpPr>
          <p:nvPr>
            <p:ph type="sldImg"/>
          </p:nvPr>
        </p:nvSpPr>
        <p:spPr>
          <a:xfrm>
            <a:off x="1143000" y="685800"/>
            <a:ext cx="4571640" cy="3428640"/>
          </a:xfrm>
          <a:prstGeom prst="rect">
            <a:avLst/>
          </a:prstGeom>
          <a:ln w="0">
            <a:noFill/>
          </a:ln>
        </p:spPr>
      </p:sp>
      <p:sp>
        <p:nvSpPr>
          <p:cNvPr id="682"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Attackers don't care about your beautiful SPA or your microservices diagram. They care about the data — the crown jewels — because that's what converts into money, leverage, or headlines.</a:t>
            </a:r>
            <a:endParaRPr lang="en-US" sz="2000" b="0" u="none" strike="noStrike">
              <a:solidFill>
                <a:srgbClr val="000000"/>
              </a:solidFill>
              <a:effectLst/>
              <a:uFillTx/>
              <a:latin typeface="Arial"/>
            </a:endParaRPr>
          </a:p>
        </p:txBody>
      </p:sp>
      <p:sp>
        <p:nvSpPr>
          <p:cNvPr id="683" name="PlaceHolder 3"/>
          <p:cNvSpPr>
            <a:spLocks noGrp="1"/>
          </p:cNvSpPr>
          <p:nvPr>
            <p:ph type="sldNum" idx="40"/>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ACA42F3E-B692-43D2-8F9A-E2F0F74411C5}"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84" name="PlaceHolder 1"/>
          <p:cNvSpPr>
            <a:spLocks noGrp="1"/>
          </p:cNvSpPr>
          <p:nvPr>
            <p:ph type="sldImg"/>
          </p:nvPr>
        </p:nvSpPr>
        <p:spPr>
          <a:xfrm>
            <a:off x="1143000" y="685800"/>
            <a:ext cx="4571640" cy="3428640"/>
          </a:xfrm>
          <a:prstGeom prst="rect">
            <a:avLst/>
          </a:prstGeom>
          <a:ln w="0">
            <a:noFill/>
          </a:ln>
        </p:spPr>
      </p:sp>
      <p:sp>
        <p:nvSpPr>
          <p:cNvPr id="685"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Strip the jargon: organized storage plus a query language. If you've used Ctrl-F in Excel, you've used a database. Real databases add scale, speed, concurrency, and a formal query language.</a:t>
            </a:r>
            <a:endParaRPr lang="en-US" sz="2000" b="0" u="none" strike="noStrike">
              <a:solidFill>
                <a:srgbClr val="000000"/>
              </a:solidFill>
              <a:effectLst/>
              <a:uFillTx/>
              <a:latin typeface="Arial"/>
            </a:endParaRPr>
          </a:p>
        </p:txBody>
      </p:sp>
      <p:sp>
        <p:nvSpPr>
          <p:cNvPr id="686" name="PlaceHolder 3"/>
          <p:cNvSpPr>
            <a:spLocks noGrp="1"/>
          </p:cNvSpPr>
          <p:nvPr>
            <p:ph type="sldNum" idx="41"/>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893085B2-6AD0-4680-B019-05D1B1CA1C76}"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87" name="PlaceHolder 1"/>
          <p:cNvSpPr>
            <a:spLocks noGrp="1"/>
          </p:cNvSpPr>
          <p:nvPr>
            <p:ph type="sldImg"/>
          </p:nvPr>
        </p:nvSpPr>
        <p:spPr>
          <a:xfrm>
            <a:off x="1143000" y="685800"/>
            <a:ext cx="4571640" cy="3428640"/>
          </a:xfrm>
          <a:prstGeom prst="rect">
            <a:avLst/>
          </a:prstGeom>
          <a:ln w="0">
            <a:noFill/>
          </a:ln>
        </p:spPr>
      </p:sp>
      <p:sp>
        <p:nvSpPr>
          <p:cNvPr id="688"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Memorize these six words and you can hold a real conversation with a DBA. Table is a tab, row is a record, column is an attribute, query is a question, schema is the shape, index is the bookmark. CRUD covers every action: create, read, update, delete.</a:t>
            </a:r>
            <a:endParaRPr lang="en-US" sz="2000" b="0" u="none" strike="noStrike">
              <a:solidFill>
                <a:srgbClr val="000000"/>
              </a:solidFill>
              <a:effectLst/>
              <a:uFillTx/>
              <a:latin typeface="Arial"/>
            </a:endParaRPr>
          </a:p>
        </p:txBody>
      </p:sp>
      <p:sp>
        <p:nvSpPr>
          <p:cNvPr id="689" name="PlaceHolder 3"/>
          <p:cNvSpPr>
            <a:spLocks noGrp="1"/>
          </p:cNvSpPr>
          <p:nvPr>
            <p:ph type="sldNum" idx="42"/>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C9D71965-AC47-4220-99FB-2E0429DD7143}"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90" name="PlaceHolder 1"/>
          <p:cNvSpPr>
            <a:spLocks noGrp="1"/>
          </p:cNvSpPr>
          <p:nvPr>
            <p:ph type="sldImg"/>
          </p:nvPr>
        </p:nvSpPr>
        <p:spPr>
          <a:xfrm>
            <a:off x="1143000" y="685800"/>
            <a:ext cx="4571640" cy="3428640"/>
          </a:xfrm>
          <a:prstGeom prst="rect">
            <a:avLst/>
          </a:prstGeom>
          <a:ln w="0">
            <a:noFill/>
          </a:ln>
        </p:spPr>
      </p:sp>
      <p:sp>
        <p:nvSpPr>
          <p:cNvPr id="691"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Every weird thing you'll see in a real environment is a fossil from one of these eras. Knowing which era something comes from is a real superpower in incident response and pentesting.</a:t>
            </a:r>
            <a:endParaRPr lang="en-US" sz="2000" b="0" u="none" strike="noStrike">
              <a:solidFill>
                <a:srgbClr val="000000"/>
              </a:solidFill>
              <a:effectLst/>
              <a:uFillTx/>
              <a:latin typeface="Arial"/>
            </a:endParaRPr>
          </a:p>
        </p:txBody>
      </p:sp>
      <p:sp>
        <p:nvSpPr>
          <p:cNvPr id="692" name="PlaceHolder 3"/>
          <p:cNvSpPr>
            <a:spLocks noGrp="1"/>
          </p:cNvSpPr>
          <p:nvPr>
            <p:ph type="sldNum" idx="43"/>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D6F4F706-402B-4506-8469-0C9D97D42C17}"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93" name="PlaceHolder 1"/>
          <p:cNvSpPr>
            <a:spLocks noGrp="1"/>
          </p:cNvSpPr>
          <p:nvPr>
            <p:ph type="sldImg"/>
          </p:nvPr>
        </p:nvSpPr>
        <p:spPr>
          <a:xfrm>
            <a:off x="1143000" y="685800"/>
            <a:ext cx="4571640" cy="3428640"/>
          </a:xfrm>
          <a:prstGeom prst="rect">
            <a:avLst/>
          </a:prstGeom>
          <a:ln w="0">
            <a:noFill/>
          </a:ln>
        </p:spPr>
      </p:sp>
      <p:sp>
        <p:nvSpPr>
          <p:cNvPr id="694"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Ten families you'll meet in the wild. For each: what it stores, what it's for, key products, and the security gotcha.</a:t>
            </a:r>
            <a:endParaRPr lang="en-US" sz="2000" b="0" u="none" strike="noStrike">
              <a:solidFill>
                <a:srgbClr val="000000"/>
              </a:solidFill>
              <a:effectLst/>
              <a:uFillTx/>
              <a:latin typeface="Arial"/>
            </a:endParaRPr>
          </a:p>
        </p:txBody>
      </p:sp>
      <p:sp>
        <p:nvSpPr>
          <p:cNvPr id="695" name="PlaceHolder 3"/>
          <p:cNvSpPr>
            <a:spLocks noGrp="1"/>
          </p:cNvSpPr>
          <p:nvPr>
            <p:ph type="sldNum" idx="44"/>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80B219C9-ED69-4663-B568-C458999B688B}"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96" name="PlaceHolder 1"/>
          <p:cNvSpPr>
            <a:spLocks noGrp="1"/>
          </p:cNvSpPr>
          <p:nvPr>
            <p:ph type="sldImg"/>
          </p:nvPr>
        </p:nvSpPr>
        <p:spPr>
          <a:xfrm>
            <a:off x="1143000" y="685800"/>
            <a:ext cx="4571640" cy="3428640"/>
          </a:xfrm>
          <a:prstGeom prst="rect">
            <a:avLst/>
          </a:prstGeom>
          <a:ln w="0">
            <a:noFill/>
          </a:ln>
        </p:spPr>
      </p:sp>
      <p:sp>
        <p:nvSpPr>
          <p:cNvPr id="697"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Family 1: Relational / SQL. Products include PostgreSQL  •  MySQL/MariaDB  •  SQL Server  •  Oracle. Clear relationships, consistency required — finance, regulated data. Security gotcha: SQL injection when developers concatenate user input into queries.</a:t>
            </a:r>
            <a:endParaRPr lang="en-US" sz="2000" b="0" u="none" strike="noStrike">
              <a:solidFill>
                <a:srgbClr val="000000"/>
              </a:solidFill>
              <a:effectLst/>
              <a:uFillTx/>
              <a:latin typeface="Arial"/>
            </a:endParaRPr>
          </a:p>
        </p:txBody>
      </p:sp>
      <p:sp>
        <p:nvSpPr>
          <p:cNvPr id="698" name="PlaceHolder 3"/>
          <p:cNvSpPr>
            <a:spLocks noGrp="1"/>
          </p:cNvSpPr>
          <p:nvPr>
            <p:ph type="sldNum" idx="45"/>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13F47FC2-2234-49D1-B8B2-6A98C6480628}"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99" name="PlaceHolder 1"/>
          <p:cNvSpPr>
            <a:spLocks noGrp="1"/>
          </p:cNvSpPr>
          <p:nvPr>
            <p:ph type="sldImg"/>
          </p:nvPr>
        </p:nvSpPr>
        <p:spPr>
          <a:xfrm>
            <a:off x="1143000" y="685800"/>
            <a:ext cx="4571640" cy="3428640"/>
          </a:xfrm>
          <a:prstGeom prst="rect">
            <a:avLst/>
          </a:prstGeom>
          <a:ln w="0">
            <a:noFill/>
          </a:ln>
        </p:spPr>
      </p:sp>
      <p:sp>
        <p:nvSpPr>
          <p:cNvPr id="700"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Family 2: Document Stores. Products include MongoDB  •  Couchbase  •  Firestore. Naturally nested data; the shape changes over time. Security gotcha: NoSQL injection via query operators ($ne, $gt, $where). Default no-auth.</a:t>
            </a:r>
            <a:endParaRPr lang="en-US" sz="2000" b="0" u="none" strike="noStrike">
              <a:solidFill>
                <a:srgbClr val="000000"/>
              </a:solidFill>
              <a:effectLst/>
              <a:uFillTx/>
              <a:latin typeface="Arial"/>
            </a:endParaRPr>
          </a:p>
        </p:txBody>
      </p:sp>
      <p:sp>
        <p:nvSpPr>
          <p:cNvPr id="701" name="PlaceHolder 3"/>
          <p:cNvSpPr>
            <a:spLocks noGrp="1"/>
          </p:cNvSpPr>
          <p:nvPr>
            <p:ph type="sldNum" idx="46"/>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05722488-A93E-41A1-8FBC-E82B81520A85}"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02" name="PlaceHolder 1"/>
          <p:cNvSpPr>
            <a:spLocks noGrp="1"/>
          </p:cNvSpPr>
          <p:nvPr>
            <p:ph type="sldImg"/>
          </p:nvPr>
        </p:nvSpPr>
        <p:spPr>
          <a:xfrm>
            <a:off x="1143000" y="685800"/>
            <a:ext cx="4571640" cy="3428640"/>
          </a:xfrm>
          <a:prstGeom prst="rect">
            <a:avLst/>
          </a:prstGeom>
          <a:ln w="0">
            <a:noFill/>
          </a:ln>
        </p:spPr>
      </p:sp>
      <p:sp>
        <p:nvSpPr>
          <p:cNvPr id="703"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Family 3: Key-Value Stores. Products include Redis  •  Memcached  •  DynamoDB. Caches, session stores, rate limiters, leaderboards. Security gotcha: Default no-auth Redis + CONFIG SET → writing SSH keys to disk.</a:t>
            </a:r>
            <a:endParaRPr lang="en-US" sz="2000" b="0" u="none" strike="noStrike">
              <a:solidFill>
                <a:srgbClr val="000000"/>
              </a:solidFill>
              <a:effectLst/>
              <a:uFillTx/>
              <a:latin typeface="Arial"/>
            </a:endParaRPr>
          </a:p>
        </p:txBody>
      </p:sp>
      <p:sp>
        <p:nvSpPr>
          <p:cNvPr id="704" name="PlaceHolder 3"/>
          <p:cNvSpPr>
            <a:spLocks noGrp="1"/>
          </p:cNvSpPr>
          <p:nvPr>
            <p:ph type="sldNum" idx="47"/>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50A296E8-F0D1-499F-9EDD-8D848FA8A7C3}"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05" name="PlaceHolder 1"/>
          <p:cNvSpPr>
            <a:spLocks noGrp="1"/>
          </p:cNvSpPr>
          <p:nvPr>
            <p:ph type="sldImg"/>
          </p:nvPr>
        </p:nvSpPr>
        <p:spPr>
          <a:xfrm>
            <a:off x="1143000" y="685800"/>
            <a:ext cx="4571640" cy="3428640"/>
          </a:xfrm>
          <a:prstGeom prst="rect">
            <a:avLst/>
          </a:prstGeom>
          <a:ln w="0">
            <a:noFill/>
          </a:ln>
        </p:spPr>
      </p:sp>
      <p:sp>
        <p:nvSpPr>
          <p:cNvPr id="706"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Family 4: Column-Family. Products include Apache Cassandra  •  HBase  •  ScyllaDB. Massive scale across many machines; no complex joins needed. Security gotcha: Clusters trust each other on gossip ports — mgmt network = root.</a:t>
            </a:r>
            <a:endParaRPr lang="en-US" sz="2000" b="0" u="none" strike="noStrike">
              <a:solidFill>
                <a:srgbClr val="000000"/>
              </a:solidFill>
              <a:effectLst/>
              <a:uFillTx/>
              <a:latin typeface="Arial"/>
            </a:endParaRPr>
          </a:p>
        </p:txBody>
      </p:sp>
      <p:sp>
        <p:nvSpPr>
          <p:cNvPr id="707" name="PlaceHolder 3"/>
          <p:cNvSpPr>
            <a:spLocks noGrp="1"/>
          </p:cNvSpPr>
          <p:nvPr>
            <p:ph type="sldNum" idx="48"/>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07A863D0-B30E-4FEC-9A1D-B82090AD8A41}"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08" name="PlaceHolder 1"/>
          <p:cNvSpPr>
            <a:spLocks noGrp="1"/>
          </p:cNvSpPr>
          <p:nvPr>
            <p:ph type="sldImg"/>
          </p:nvPr>
        </p:nvSpPr>
        <p:spPr>
          <a:xfrm>
            <a:off x="1143000" y="685800"/>
            <a:ext cx="4571640" cy="3428640"/>
          </a:xfrm>
          <a:prstGeom prst="rect">
            <a:avLst/>
          </a:prstGeom>
          <a:ln w="0">
            <a:noFill/>
          </a:ln>
        </p:spPr>
      </p:sp>
      <p:sp>
        <p:nvSpPr>
          <p:cNvPr id="709"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Family 5: Graph Databases. Products include Neo4j  •  Amazon Neptune  •  ArangoDB. Social networks, fraud detection, IAM analysis (e.g. BloodHound). Security gotcha: Query languages like Cypher are injectable too. NoSQLi isn't just Mongo.</a:t>
            </a:r>
            <a:endParaRPr lang="en-US" sz="2000" b="0" u="none" strike="noStrike">
              <a:solidFill>
                <a:srgbClr val="000000"/>
              </a:solidFill>
              <a:effectLst/>
              <a:uFillTx/>
              <a:latin typeface="Arial"/>
            </a:endParaRPr>
          </a:p>
        </p:txBody>
      </p:sp>
      <p:sp>
        <p:nvSpPr>
          <p:cNvPr id="710" name="PlaceHolder 3"/>
          <p:cNvSpPr>
            <a:spLocks noGrp="1"/>
          </p:cNvSpPr>
          <p:nvPr>
            <p:ph type="sldNum" idx="49"/>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CDAECD6E-E4FB-4F3A-B4B8-D918A888D73E}"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11" name="PlaceHolder 1"/>
          <p:cNvSpPr>
            <a:spLocks noGrp="1"/>
          </p:cNvSpPr>
          <p:nvPr>
            <p:ph type="sldImg"/>
          </p:nvPr>
        </p:nvSpPr>
        <p:spPr>
          <a:xfrm>
            <a:off x="1143000" y="685800"/>
            <a:ext cx="4571640" cy="3428640"/>
          </a:xfrm>
          <a:prstGeom prst="rect">
            <a:avLst/>
          </a:prstGeom>
          <a:ln w="0">
            <a:noFill/>
          </a:ln>
        </p:spPr>
      </p:sp>
      <p:sp>
        <p:nvSpPr>
          <p:cNvPr id="712"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Family 6: Search Engines. Products include Elasticsearch  •  OpenSearch  •  Solr. Log search, SIEM backbones, e-commerce site search. Security gotcha: No built-in auth historically — billions of records exposed on Shodan.</a:t>
            </a:r>
            <a:endParaRPr lang="en-US" sz="2000" b="0" u="none" strike="noStrike">
              <a:solidFill>
                <a:srgbClr val="000000"/>
              </a:solidFill>
              <a:effectLst/>
              <a:uFillTx/>
              <a:latin typeface="Arial"/>
            </a:endParaRPr>
          </a:p>
        </p:txBody>
      </p:sp>
      <p:sp>
        <p:nvSpPr>
          <p:cNvPr id="713" name="PlaceHolder 3"/>
          <p:cNvSpPr>
            <a:spLocks noGrp="1"/>
          </p:cNvSpPr>
          <p:nvPr>
            <p:ph type="sldNum" idx="50"/>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F665A6C1-FC86-46A8-B12C-80D3769A1EAA}"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14" name="PlaceHolder 1"/>
          <p:cNvSpPr>
            <a:spLocks noGrp="1"/>
          </p:cNvSpPr>
          <p:nvPr>
            <p:ph type="sldImg"/>
          </p:nvPr>
        </p:nvSpPr>
        <p:spPr>
          <a:xfrm>
            <a:off x="1143000" y="685800"/>
            <a:ext cx="4571640" cy="3428640"/>
          </a:xfrm>
          <a:prstGeom prst="rect">
            <a:avLst/>
          </a:prstGeom>
          <a:ln w="0">
            <a:noFill/>
          </a:ln>
        </p:spPr>
      </p:sp>
      <p:sp>
        <p:nvSpPr>
          <p:cNvPr id="715"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Family 7: Time-Series. Products include InfluxDB  •  TimescaleDB  •  Prometheus. Metrics, observability, IoT telemetry. Security gotcha: Usually inside the perimeter, often unauthenticated.</a:t>
            </a:r>
            <a:endParaRPr lang="en-US" sz="2000" b="0" u="none" strike="noStrike">
              <a:solidFill>
                <a:srgbClr val="000000"/>
              </a:solidFill>
              <a:effectLst/>
              <a:uFillTx/>
              <a:latin typeface="Arial"/>
            </a:endParaRPr>
          </a:p>
        </p:txBody>
      </p:sp>
      <p:sp>
        <p:nvSpPr>
          <p:cNvPr id="716" name="PlaceHolder 3"/>
          <p:cNvSpPr>
            <a:spLocks noGrp="1"/>
          </p:cNvSpPr>
          <p:nvPr>
            <p:ph type="sldNum" idx="51"/>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D4500C33-800C-43BF-A9C0-CDCEEC11A37F}"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17" name="PlaceHolder 1"/>
          <p:cNvSpPr>
            <a:spLocks noGrp="1"/>
          </p:cNvSpPr>
          <p:nvPr>
            <p:ph type="sldImg"/>
          </p:nvPr>
        </p:nvSpPr>
        <p:spPr>
          <a:xfrm>
            <a:off x="1143000" y="685800"/>
            <a:ext cx="4571640" cy="3428640"/>
          </a:xfrm>
          <a:prstGeom prst="rect">
            <a:avLst/>
          </a:prstGeom>
          <a:ln w="0">
            <a:noFill/>
          </a:ln>
        </p:spPr>
      </p:sp>
      <p:sp>
        <p:nvSpPr>
          <p:cNvPr id="718"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Family 8: Vector Databases. Products include Pinecone  •  Milvus  •  Weaviate  •  pgvector. RAG, recommendation engines, semantic search. Security gotcha: Data poisoning — sneak in a doc, the LLM quotes it as truth.</a:t>
            </a:r>
            <a:endParaRPr lang="en-US" sz="2000" b="0" u="none" strike="noStrike">
              <a:solidFill>
                <a:srgbClr val="000000"/>
              </a:solidFill>
              <a:effectLst/>
              <a:uFillTx/>
              <a:latin typeface="Arial"/>
            </a:endParaRPr>
          </a:p>
        </p:txBody>
      </p:sp>
      <p:sp>
        <p:nvSpPr>
          <p:cNvPr id="719" name="PlaceHolder 3"/>
          <p:cNvSpPr>
            <a:spLocks noGrp="1"/>
          </p:cNvSpPr>
          <p:nvPr>
            <p:ph type="sldNum" idx="52"/>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087CBBC2-49BC-4CE4-9F20-2C89647A4412}"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0" name="PlaceHolder 1"/>
          <p:cNvSpPr>
            <a:spLocks noGrp="1"/>
          </p:cNvSpPr>
          <p:nvPr>
            <p:ph type="sldImg"/>
          </p:nvPr>
        </p:nvSpPr>
        <p:spPr>
          <a:xfrm>
            <a:off x="1143000" y="685800"/>
            <a:ext cx="4571640" cy="3428640"/>
          </a:xfrm>
          <a:prstGeom prst="rect">
            <a:avLst/>
          </a:prstGeom>
          <a:ln w="0">
            <a:noFill/>
          </a:ln>
        </p:spPr>
      </p:sp>
      <p:sp>
        <p:nvSpPr>
          <p:cNvPr id="721"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Family 9: Embedded / Edge. Products include SQLite  •  DuckDB  •  LevelDB. In-app storage — browsers, phones, every modern airplane. Security gotcha: DB is a file — attack is 'steal the file'. Mobile pentest world.</a:t>
            </a:r>
            <a:endParaRPr lang="en-US" sz="2000" b="0" u="none" strike="noStrike">
              <a:solidFill>
                <a:srgbClr val="000000"/>
              </a:solidFill>
              <a:effectLst/>
              <a:uFillTx/>
              <a:latin typeface="Arial"/>
            </a:endParaRPr>
          </a:p>
        </p:txBody>
      </p:sp>
      <p:sp>
        <p:nvSpPr>
          <p:cNvPr id="722" name="PlaceHolder 3"/>
          <p:cNvSpPr>
            <a:spLocks noGrp="1"/>
          </p:cNvSpPr>
          <p:nvPr>
            <p:ph type="sldNum" idx="53"/>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3C818390-E5FA-4DE9-8805-1540285BAD59}"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3" name="PlaceHolder 1"/>
          <p:cNvSpPr>
            <a:spLocks noGrp="1"/>
          </p:cNvSpPr>
          <p:nvPr>
            <p:ph type="sldImg"/>
          </p:nvPr>
        </p:nvSpPr>
        <p:spPr>
          <a:xfrm>
            <a:off x="1143000" y="685800"/>
            <a:ext cx="4571640" cy="3428640"/>
          </a:xfrm>
          <a:prstGeom prst="rect">
            <a:avLst/>
          </a:prstGeom>
          <a:ln w="0">
            <a:noFill/>
          </a:ln>
        </p:spPr>
      </p:sp>
      <p:sp>
        <p:nvSpPr>
          <p:cNvPr id="724"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Family 10: Data Lakes / Lakehouses. Products include S3 + Athena  •  Delta Lake  •  Iceberg  •  Snowflake. Schema-on-read instead of schema-on-write. Dump now, query later. Security gotcha: Giant S3 pools + permissive IAM, no encryption-at-rest enforcement.</a:t>
            </a:r>
            <a:endParaRPr lang="en-US" sz="2000" b="0" u="none" strike="noStrike">
              <a:solidFill>
                <a:srgbClr val="000000"/>
              </a:solidFill>
              <a:effectLst/>
              <a:uFillTx/>
              <a:latin typeface="Arial"/>
            </a:endParaRPr>
          </a:p>
        </p:txBody>
      </p:sp>
      <p:sp>
        <p:nvSpPr>
          <p:cNvPr id="725" name="PlaceHolder 3"/>
          <p:cNvSpPr>
            <a:spLocks noGrp="1"/>
          </p:cNvSpPr>
          <p:nvPr>
            <p:ph type="sldNum" idx="54"/>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92482BD9-25C3-445B-A76A-5B58C179018F}"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6" name="PlaceHolder 1"/>
          <p:cNvSpPr>
            <a:spLocks noGrp="1"/>
          </p:cNvSpPr>
          <p:nvPr>
            <p:ph type="sldImg"/>
          </p:nvPr>
        </p:nvSpPr>
        <p:spPr>
          <a:xfrm>
            <a:off x="1143000" y="685800"/>
            <a:ext cx="4571640" cy="3428640"/>
          </a:xfrm>
          <a:prstGeom prst="rect">
            <a:avLst/>
          </a:prstGeom>
          <a:ln w="0">
            <a:noFill/>
          </a:ln>
        </p:spPr>
      </p:sp>
      <p:sp>
        <p:nvSpPr>
          <p:cNvPr id="727"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Know the cloud vendor names — that's how databases appear in alerts, IAM policies, and incident response. AWS RDS/Aurora, GCP Cloud SQL, Azure SQL. Document side: DynamoDB, Firestore, Cosmos DB.</a:t>
            </a:r>
            <a:endParaRPr lang="en-US" sz="2000" b="0" u="none" strike="noStrike">
              <a:solidFill>
                <a:srgbClr val="000000"/>
              </a:solidFill>
              <a:effectLst/>
              <a:uFillTx/>
              <a:latin typeface="Arial"/>
            </a:endParaRPr>
          </a:p>
        </p:txBody>
      </p:sp>
      <p:sp>
        <p:nvSpPr>
          <p:cNvPr id="728" name="PlaceHolder 3"/>
          <p:cNvSpPr>
            <a:spLocks noGrp="1"/>
          </p:cNvSpPr>
          <p:nvPr>
            <p:ph type="sldNum" idx="55"/>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8051E937-AB40-4E5E-BC61-E8434BCF8030}"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9" name="PlaceHolder 1"/>
          <p:cNvSpPr>
            <a:spLocks noGrp="1"/>
          </p:cNvSpPr>
          <p:nvPr>
            <p:ph type="sldImg"/>
          </p:nvPr>
        </p:nvSpPr>
        <p:spPr>
          <a:xfrm>
            <a:off x="1143000" y="685800"/>
            <a:ext cx="4571640" cy="3428640"/>
          </a:xfrm>
          <a:prstGeom prst="rect">
            <a:avLst/>
          </a:prstGeom>
          <a:ln w="0">
            <a:noFill/>
          </a:ln>
        </p:spPr>
      </p:sp>
      <p:sp>
        <p:nvSpPr>
          <p:cNvPr id="730"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Side-by-side table. Memorize the row labels — those are the categories. The vendor columns rotate with the market.</a:t>
            </a:r>
            <a:endParaRPr lang="en-US" sz="2000" b="0" u="none" strike="noStrike">
              <a:solidFill>
                <a:srgbClr val="000000"/>
              </a:solidFill>
              <a:effectLst/>
              <a:uFillTx/>
              <a:latin typeface="Arial"/>
            </a:endParaRPr>
          </a:p>
        </p:txBody>
      </p:sp>
      <p:sp>
        <p:nvSpPr>
          <p:cNvPr id="731" name="PlaceHolder 3"/>
          <p:cNvSpPr>
            <a:spLocks noGrp="1"/>
          </p:cNvSpPr>
          <p:nvPr>
            <p:ph type="sldNum" idx="56"/>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E314DDBB-53E0-469E-B433-5D45616EC056}"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32" name="PlaceHolder 1"/>
          <p:cNvSpPr>
            <a:spLocks noGrp="1"/>
          </p:cNvSpPr>
          <p:nvPr>
            <p:ph type="sldImg"/>
          </p:nvPr>
        </p:nvSpPr>
        <p:spPr>
          <a:xfrm>
            <a:off x="1143000" y="685800"/>
            <a:ext cx="4571640" cy="3428640"/>
          </a:xfrm>
          <a:prstGeom prst="rect">
            <a:avLst/>
          </a:prstGeom>
          <a:ln w="0">
            <a:noFill/>
          </a:ln>
        </p:spPr>
      </p:sp>
      <p:sp>
        <p:nvSpPr>
          <p:cNvPr id="733"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Cloud vendor patches hypervisor and engine. You own config, IAM, and the data. Almost every cloud DB breach is a customer-side misconfiguration — public S3, wide security group, snapshot shared to wrong account.</a:t>
            </a:r>
            <a:endParaRPr lang="en-US" sz="2000" b="0" u="none" strike="noStrike">
              <a:solidFill>
                <a:srgbClr val="000000"/>
              </a:solidFill>
              <a:effectLst/>
              <a:uFillTx/>
              <a:latin typeface="Arial"/>
            </a:endParaRPr>
          </a:p>
        </p:txBody>
      </p:sp>
      <p:sp>
        <p:nvSpPr>
          <p:cNvPr id="734" name="PlaceHolder 3"/>
          <p:cNvSpPr>
            <a:spLocks noGrp="1"/>
          </p:cNvSpPr>
          <p:nvPr>
            <p:ph type="sldNum" idx="57"/>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5C78ED2F-D546-4142-950D-3EC2423A67DC}"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35" name="PlaceHolder 1"/>
          <p:cNvSpPr>
            <a:spLocks noGrp="1"/>
          </p:cNvSpPr>
          <p:nvPr>
            <p:ph type="sldImg"/>
          </p:nvPr>
        </p:nvSpPr>
        <p:spPr>
          <a:xfrm>
            <a:off x="1143000" y="685800"/>
            <a:ext cx="4571640" cy="3428640"/>
          </a:xfrm>
          <a:prstGeom prst="rect">
            <a:avLst/>
          </a:prstGeom>
          <a:ln w="0">
            <a:noFill/>
          </a:ln>
        </p:spPr>
      </p:sp>
      <p:sp>
        <p:nvSpPr>
          <p:cNvPr id="736"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SOC analysts use these every day. Pentesters scan for them every day. If you see any of these exposed to the internet in a real environment, that's a finding.</a:t>
            </a:r>
            <a:endParaRPr lang="en-US" sz="2000" b="0" u="none" strike="noStrike">
              <a:solidFill>
                <a:srgbClr val="000000"/>
              </a:solidFill>
              <a:effectLst/>
              <a:uFillTx/>
              <a:latin typeface="Arial"/>
            </a:endParaRPr>
          </a:p>
        </p:txBody>
      </p:sp>
      <p:sp>
        <p:nvSpPr>
          <p:cNvPr id="737" name="PlaceHolder 3"/>
          <p:cNvSpPr>
            <a:spLocks noGrp="1"/>
          </p:cNvSpPr>
          <p:nvPr>
            <p:ph type="sldNum" idx="58"/>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C75702B6-EEA3-480B-92CD-409423D7B15B}"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38" name="PlaceHolder 1"/>
          <p:cNvSpPr>
            <a:spLocks noGrp="1"/>
          </p:cNvSpPr>
          <p:nvPr>
            <p:ph type="sldImg"/>
          </p:nvPr>
        </p:nvSpPr>
        <p:spPr>
          <a:xfrm>
            <a:off x="1143000" y="685800"/>
            <a:ext cx="4571640" cy="3428640"/>
          </a:xfrm>
          <a:prstGeom prst="rect">
            <a:avLst/>
          </a:prstGeom>
          <a:ln w="0">
            <a:noFill/>
          </a:ln>
        </p:spPr>
      </p:sp>
      <p:sp>
        <p:nvSpPr>
          <p:cNvPr id="739"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Markdown files are a database now — literally. Folder of .md files → embedder → vector DB → LLM prompt. This pattern is called RAG.</a:t>
            </a:r>
            <a:endParaRPr lang="en-US" sz="2000" b="0" u="none" strike="noStrike">
              <a:solidFill>
                <a:srgbClr val="000000"/>
              </a:solidFill>
              <a:effectLst/>
              <a:uFillTx/>
              <a:latin typeface="Arial"/>
            </a:endParaRPr>
          </a:p>
        </p:txBody>
      </p:sp>
      <p:sp>
        <p:nvSpPr>
          <p:cNvPr id="740" name="PlaceHolder 3"/>
          <p:cNvSpPr>
            <a:spLocks noGrp="1"/>
          </p:cNvSpPr>
          <p:nvPr>
            <p:ph type="sldNum" idx="59"/>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4909F91F-7AF8-429D-8850-C5E25E78AF2B}"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41" name="PlaceHolder 1"/>
          <p:cNvSpPr>
            <a:spLocks noGrp="1"/>
          </p:cNvSpPr>
          <p:nvPr>
            <p:ph type="sldImg"/>
          </p:nvPr>
        </p:nvSpPr>
        <p:spPr>
          <a:xfrm>
            <a:off x="1143000" y="685800"/>
            <a:ext cx="4571640" cy="3428640"/>
          </a:xfrm>
          <a:prstGeom prst="rect">
            <a:avLst/>
          </a:prstGeom>
          <a:ln w="0">
            <a:noFill/>
          </a:ln>
        </p:spPr>
      </p:sp>
      <p:sp>
        <p:nvSpPr>
          <p:cNvPr id="742"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Trust boundary is between whoever writes markdown and the embedder. Anyone who can edit those files can plant content the LLM will quote.</a:t>
            </a:r>
            <a:endParaRPr lang="en-US" sz="2000" b="0" u="none" strike="noStrike">
              <a:solidFill>
                <a:srgbClr val="000000"/>
              </a:solidFill>
              <a:effectLst/>
              <a:uFillTx/>
              <a:latin typeface="Arial"/>
            </a:endParaRPr>
          </a:p>
        </p:txBody>
      </p:sp>
      <p:sp>
        <p:nvSpPr>
          <p:cNvPr id="743" name="PlaceHolder 3"/>
          <p:cNvSpPr>
            <a:spLocks noGrp="1"/>
          </p:cNvSpPr>
          <p:nvPr>
            <p:ph type="sldNum" idx="60"/>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CBBBC146-01C7-4455-8D7A-6D9B6423C13B}"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44" name="PlaceHolder 1"/>
          <p:cNvSpPr>
            <a:spLocks noGrp="1"/>
          </p:cNvSpPr>
          <p:nvPr>
            <p:ph type="sldImg"/>
          </p:nvPr>
        </p:nvSpPr>
        <p:spPr>
          <a:xfrm>
            <a:off x="1143000" y="685800"/>
            <a:ext cx="4571640" cy="3428640"/>
          </a:xfrm>
          <a:prstGeom prst="rect">
            <a:avLst/>
          </a:prstGeom>
          <a:ln w="0">
            <a:noFill/>
          </a:ln>
        </p:spPr>
      </p:sp>
      <p:sp>
        <p:nvSpPr>
          <p:cNvPr id="745"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If your org is doing any kind of internal AI assistant, the markdown files feeding it are infrastructure. Treat them like infrastructure.</a:t>
            </a:r>
            <a:endParaRPr lang="en-US" sz="2000" b="0" u="none" strike="noStrike">
              <a:solidFill>
                <a:srgbClr val="000000"/>
              </a:solidFill>
              <a:effectLst/>
              <a:uFillTx/>
              <a:latin typeface="Arial"/>
            </a:endParaRPr>
          </a:p>
        </p:txBody>
      </p:sp>
      <p:sp>
        <p:nvSpPr>
          <p:cNvPr id="746" name="PlaceHolder 3"/>
          <p:cNvSpPr>
            <a:spLocks noGrp="1"/>
          </p:cNvSpPr>
          <p:nvPr>
            <p:ph type="sldNum" idx="61"/>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A199AB81-F463-4ECE-BADF-3EC60FDF4375}"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47" name="PlaceHolder 1"/>
          <p:cNvSpPr>
            <a:spLocks noGrp="1"/>
          </p:cNvSpPr>
          <p:nvPr>
            <p:ph type="sldImg"/>
          </p:nvPr>
        </p:nvSpPr>
        <p:spPr>
          <a:xfrm>
            <a:off x="1143000" y="685800"/>
            <a:ext cx="4571640" cy="3428640"/>
          </a:xfrm>
          <a:prstGeom prst="rect">
            <a:avLst/>
          </a:prstGeom>
          <a:ln w="0">
            <a:noFill/>
          </a:ln>
        </p:spPr>
      </p:sp>
      <p:sp>
        <p:nvSpPr>
          <p:cNvPr id="748"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Section divider: SECURITY — What's actually getting hit in 2026</a:t>
            </a:r>
            <a:endParaRPr lang="en-US" sz="2000" b="0" u="none" strike="noStrike">
              <a:solidFill>
                <a:srgbClr val="000000"/>
              </a:solidFill>
              <a:effectLst/>
              <a:uFillTx/>
              <a:latin typeface="Arial"/>
            </a:endParaRPr>
          </a:p>
        </p:txBody>
      </p:sp>
      <p:sp>
        <p:nvSpPr>
          <p:cNvPr id="749" name="PlaceHolder 3"/>
          <p:cNvSpPr>
            <a:spLocks noGrp="1"/>
          </p:cNvSpPr>
          <p:nvPr>
            <p:ph type="sldNum" idx="62"/>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FBCBBF95-5D12-476F-9F77-4EC9F8DC0B4B}"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50" name="PlaceHolder 1"/>
          <p:cNvSpPr>
            <a:spLocks noGrp="1"/>
          </p:cNvSpPr>
          <p:nvPr>
            <p:ph type="sldImg"/>
          </p:nvPr>
        </p:nvSpPr>
        <p:spPr>
          <a:xfrm>
            <a:off x="1143000" y="685800"/>
            <a:ext cx="4571640" cy="3428640"/>
          </a:xfrm>
          <a:prstGeom prst="rect">
            <a:avLst/>
          </a:prstGeom>
          <a:ln w="0">
            <a:noFill/>
          </a:ln>
        </p:spPr>
      </p:sp>
      <p:sp>
        <p:nvSpPr>
          <p:cNvPr id="751"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The most famous database attack of all time. xkcd #327. Mom names her kid Robert'); DROP TABLE Students;-- and the school's database disappears because someone built a query by gluing strings. Fix is parameterized queries.</a:t>
            </a:r>
            <a:endParaRPr lang="en-US" sz="2000" b="0" u="none" strike="noStrike">
              <a:solidFill>
                <a:srgbClr val="000000"/>
              </a:solidFill>
              <a:effectLst/>
              <a:uFillTx/>
              <a:latin typeface="Arial"/>
            </a:endParaRPr>
          </a:p>
        </p:txBody>
      </p:sp>
      <p:sp>
        <p:nvSpPr>
          <p:cNvPr id="752" name="PlaceHolder 3"/>
          <p:cNvSpPr>
            <a:spLocks noGrp="1"/>
          </p:cNvSpPr>
          <p:nvPr>
            <p:ph type="sldNum" idx="63"/>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F1F060F0-AA9B-4352-A15A-0DD56FCDB42A}"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53" name="PlaceHolder 1"/>
          <p:cNvSpPr>
            <a:spLocks noGrp="1"/>
          </p:cNvSpPr>
          <p:nvPr>
            <p:ph type="sldImg"/>
          </p:nvPr>
        </p:nvSpPr>
        <p:spPr>
          <a:xfrm>
            <a:off x="1143000" y="685800"/>
            <a:ext cx="4571640" cy="3428640"/>
          </a:xfrm>
          <a:prstGeom prst="rect">
            <a:avLst/>
          </a:prstGeom>
          <a:ln w="0">
            <a:noFill/>
          </a:ln>
        </p:spPr>
      </p:sp>
      <p:sp>
        <p:nvSpPr>
          <p:cNvPr id="754"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SQL injection is a success story — parameterized queries fixed it. But the attack surface didn't shrink, it expanded into new shapes.</a:t>
            </a:r>
            <a:endParaRPr lang="en-US" sz="2000" b="0" u="none" strike="noStrike">
              <a:solidFill>
                <a:srgbClr val="000000"/>
              </a:solidFill>
              <a:effectLst/>
              <a:uFillTx/>
              <a:latin typeface="Arial"/>
            </a:endParaRPr>
          </a:p>
        </p:txBody>
      </p:sp>
      <p:sp>
        <p:nvSpPr>
          <p:cNvPr id="755" name="PlaceHolder 3"/>
          <p:cNvSpPr>
            <a:spLocks noGrp="1"/>
          </p:cNvSpPr>
          <p:nvPr>
            <p:ph type="sldNum" idx="64"/>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31F2106A-BDF7-46A1-8E10-09CAA59042B2}"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56" name="PlaceHolder 1"/>
          <p:cNvSpPr>
            <a:spLocks noGrp="1"/>
          </p:cNvSpPr>
          <p:nvPr>
            <p:ph type="sldImg"/>
          </p:nvPr>
        </p:nvSpPr>
        <p:spPr>
          <a:xfrm>
            <a:off x="1143000" y="685800"/>
            <a:ext cx="4571640" cy="3428640"/>
          </a:xfrm>
          <a:prstGeom prst="rect">
            <a:avLst/>
          </a:prstGeom>
          <a:ln w="0">
            <a:noFill/>
          </a:ln>
        </p:spPr>
      </p:sp>
      <p:sp>
        <p:nvSpPr>
          <p:cNvPr id="757"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NoSQL Injection. MongoDB JSON queries + raw user input = SQLi reborn.  Login bypass: { username: 'alice', password: { $ne: 'x' } }  $where lets you inject JavaScript straight into the DB.  Couchbase N1QL is SQL-flavored — classic SQLi patterns apply.  Principle: ANY interpreter can be injected, not just SQL.</a:t>
            </a:r>
            <a:endParaRPr lang="en-US" sz="2000" b="0" u="none" strike="noStrike">
              <a:solidFill>
                <a:srgbClr val="000000"/>
              </a:solidFill>
              <a:effectLst/>
              <a:uFillTx/>
              <a:latin typeface="Arial"/>
            </a:endParaRPr>
          </a:p>
        </p:txBody>
      </p:sp>
      <p:sp>
        <p:nvSpPr>
          <p:cNvPr id="758" name="PlaceHolder 3"/>
          <p:cNvSpPr>
            <a:spLocks noGrp="1"/>
          </p:cNvSpPr>
          <p:nvPr>
            <p:ph type="sldNum" idx="65"/>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C413CF6D-E3CC-4C91-BB61-857F039D5CC8}"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3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59" name="PlaceHolder 1"/>
          <p:cNvSpPr>
            <a:spLocks noGrp="1"/>
          </p:cNvSpPr>
          <p:nvPr>
            <p:ph type="sldImg"/>
          </p:nvPr>
        </p:nvSpPr>
        <p:spPr>
          <a:xfrm>
            <a:off x="1143000" y="685800"/>
            <a:ext cx="4571640" cy="3428640"/>
          </a:xfrm>
          <a:prstGeom prst="rect">
            <a:avLst/>
          </a:prstGeom>
          <a:ln w="0">
            <a:noFill/>
          </a:ln>
        </p:spPr>
      </p:sp>
      <p:sp>
        <p:nvSpPr>
          <p:cNvPr id="760"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Exposed &amp; Misconfigured Databases. Shodan and Censys are full of databases that should not be there.  MongoDB bound to 0.0.0.0 with no auth.  Elasticsearch clusters wide open. Redis with no password.  Postgres pg_hba.conf set to 'host all all 0.0.0.0/0 trust'.  Meow attacks (2020): bots wiped thousands of open DBs for fun.</a:t>
            </a:r>
            <a:endParaRPr lang="en-US" sz="2000" b="0" u="none" strike="noStrike">
              <a:solidFill>
                <a:srgbClr val="000000"/>
              </a:solidFill>
              <a:effectLst/>
              <a:uFillTx/>
              <a:latin typeface="Arial"/>
            </a:endParaRPr>
          </a:p>
        </p:txBody>
      </p:sp>
      <p:sp>
        <p:nvSpPr>
          <p:cNvPr id="761" name="PlaceHolder 3"/>
          <p:cNvSpPr>
            <a:spLocks noGrp="1"/>
          </p:cNvSpPr>
          <p:nvPr>
            <p:ph type="sldNum" idx="66"/>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3F14A9EA-BC2F-44A5-A1B7-D0C477DE50F9}"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3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62" name="PlaceHolder 1"/>
          <p:cNvSpPr>
            <a:spLocks noGrp="1"/>
          </p:cNvSpPr>
          <p:nvPr>
            <p:ph type="sldImg"/>
          </p:nvPr>
        </p:nvSpPr>
        <p:spPr>
          <a:xfrm>
            <a:off x="1143000" y="685800"/>
            <a:ext cx="4571640" cy="3428640"/>
          </a:xfrm>
          <a:prstGeom prst="rect">
            <a:avLst/>
          </a:prstGeom>
          <a:ln w="0">
            <a:noFill/>
          </a:ln>
        </p:spPr>
      </p:sp>
      <p:sp>
        <p:nvSpPr>
          <p:cNvPr id="763"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Cloud Misconfigurations. In cloud, the bug is rarely the engine. It's the policy around it.  Public S3 buckets full of DB dumps (Accenture, Verizon, etc.).  Capital One 2019: SSRF tricked a WAF into leaking its IAM creds → S3.  Lambda with s3:* on * because it 'worked the first time'.  Security groups: 0.0.0.0/0 on port 5432.</a:t>
            </a:r>
            <a:endParaRPr lang="en-US" sz="2000" b="0" u="none" strike="noStrike">
              <a:solidFill>
                <a:srgbClr val="000000"/>
              </a:solidFill>
              <a:effectLst/>
              <a:uFillTx/>
              <a:latin typeface="Arial"/>
            </a:endParaRPr>
          </a:p>
        </p:txBody>
      </p:sp>
      <p:sp>
        <p:nvSpPr>
          <p:cNvPr id="764" name="PlaceHolder 3"/>
          <p:cNvSpPr>
            <a:spLocks noGrp="1"/>
          </p:cNvSpPr>
          <p:nvPr>
            <p:ph type="sldNum" idx="67"/>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14CBB130-6887-4D3E-91E0-9561BD97F974}"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3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65" name="PlaceHolder 1"/>
          <p:cNvSpPr>
            <a:spLocks noGrp="1"/>
          </p:cNvSpPr>
          <p:nvPr>
            <p:ph type="sldImg"/>
          </p:nvPr>
        </p:nvSpPr>
        <p:spPr>
          <a:xfrm>
            <a:off x="1143000" y="685800"/>
            <a:ext cx="4571640" cy="3428640"/>
          </a:xfrm>
          <a:prstGeom prst="rect">
            <a:avLst/>
          </a:prstGeom>
          <a:ln w="0">
            <a:noFill/>
          </a:ln>
        </p:spPr>
      </p:sp>
      <p:sp>
        <p:nvSpPr>
          <p:cNvPr id="766"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Privilege Escalation: DB → OS. Database accounts can become shell access. Three classic moves.  MS SQL: xp_cmdshell — runs shell commands as the DB process.  PostgreSQL: COPY ... TO PROGRAM — pipes output to a shell.  MySQL: load a UDF .so file → sys_exec on the OS.  Pattern: every privileged DB feature is part of the attack surface.</a:t>
            </a:r>
            <a:endParaRPr lang="en-US" sz="2000" b="0" u="none" strike="noStrike">
              <a:solidFill>
                <a:srgbClr val="000000"/>
              </a:solidFill>
              <a:effectLst/>
              <a:uFillTx/>
              <a:latin typeface="Arial"/>
            </a:endParaRPr>
          </a:p>
        </p:txBody>
      </p:sp>
      <p:sp>
        <p:nvSpPr>
          <p:cNvPr id="767" name="PlaceHolder 3"/>
          <p:cNvSpPr>
            <a:spLocks noGrp="1"/>
          </p:cNvSpPr>
          <p:nvPr>
            <p:ph type="sldNum" idx="68"/>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3D053435-AB42-4381-A58A-2176026FB65E}"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3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68" name="PlaceHolder 1"/>
          <p:cNvSpPr>
            <a:spLocks noGrp="1"/>
          </p:cNvSpPr>
          <p:nvPr>
            <p:ph type="sldImg"/>
          </p:nvPr>
        </p:nvSpPr>
        <p:spPr>
          <a:xfrm>
            <a:off x="1143000" y="685800"/>
            <a:ext cx="4571640" cy="3428640"/>
          </a:xfrm>
          <a:prstGeom prst="rect">
            <a:avLst/>
          </a:prstGeom>
          <a:ln w="0">
            <a:noFill/>
          </a:ln>
        </p:spPr>
      </p:sp>
      <p:sp>
        <p:nvSpPr>
          <p:cNvPr id="769"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Data Lake Security Gaps. Everything ends up in S3 — including things you didn't mean to put there.  Permissive IAM leaks from compute roles to humans.  No encryption-at-rest enforcement on bucket keys.  No write-side validation — anyone can drop poisoned data.  First question: WHO can write to the lake? WHO can read?</a:t>
            </a:r>
            <a:endParaRPr lang="en-US" sz="2000" b="0" u="none" strike="noStrike">
              <a:solidFill>
                <a:srgbClr val="000000"/>
              </a:solidFill>
              <a:effectLst/>
              <a:uFillTx/>
              <a:latin typeface="Arial"/>
            </a:endParaRPr>
          </a:p>
        </p:txBody>
      </p:sp>
      <p:sp>
        <p:nvSpPr>
          <p:cNvPr id="770" name="PlaceHolder 3"/>
          <p:cNvSpPr>
            <a:spLocks noGrp="1"/>
          </p:cNvSpPr>
          <p:nvPr>
            <p:ph type="sldNum" idx="69"/>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CCC1B3C1-4D54-435F-911C-D4ABC6AE5B43}"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3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71" name="PlaceHolder 1"/>
          <p:cNvSpPr>
            <a:spLocks noGrp="1"/>
          </p:cNvSpPr>
          <p:nvPr>
            <p:ph type="sldImg"/>
          </p:nvPr>
        </p:nvSpPr>
        <p:spPr>
          <a:xfrm>
            <a:off x="1143000" y="685800"/>
            <a:ext cx="4571640" cy="3428640"/>
          </a:xfrm>
          <a:prstGeom prst="rect">
            <a:avLst/>
          </a:prstGeom>
          <a:ln w="0">
            <a:noFill/>
          </a:ln>
        </p:spPr>
      </p:sp>
      <p:sp>
        <p:nvSpPr>
          <p:cNvPr id="772"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Ransomware Loves Databases. The DB is the thing the business needs back — maximum leverage.  Encrypt the live database.  Encrypt the BACKUPS (otherwise customer just restores).  Exfil a copy first — extort with disclosure even if they restore.  Defense: offline, immutable backups + tested restores.</a:t>
            </a:r>
            <a:endParaRPr lang="en-US" sz="2000" b="0" u="none" strike="noStrike">
              <a:solidFill>
                <a:srgbClr val="000000"/>
              </a:solidFill>
              <a:effectLst/>
              <a:uFillTx/>
              <a:latin typeface="Arial"/>
            </a:endParaRPr>
          </a:p>
        </p:txBody>
      </p:sp>
      <p:sp>
        <p:nvSpPr>
          <p:cNvPr id="773" name="PlaceHolder 3"/>
          <p:cNvSpPr>
            <a:spLocks noGrp="1"/>
          </p:cNvSpPr>
          <p:nvPr>
            <p:ph type="sldNum" idx="70"/>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26FE2354-ED73-459D-BC3D-9F3FC30FDD81}"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3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74" name="PlaceHolder 1"/>
          <p:cNvSpPr>
            <a:spLocks noGrp="1"/>
          </p:cNvSpPr>
          <p:nvPr>
            <p:ph type="sldImg"/>
          </p:nvPr>
        </p:nvSpPr>
        <p:spPr>
          <a:xfrm>
            <a:off x="1143000" y="685800"/>
            <a:ext cx="4571640" cy="3428640"/>
          </a:xfrm>
          <a:prstGeom prst="rect">
            <a:avLst/>
          </a:prstGeom>
          <a:ln w="0">
            <a:noFill/>
          </a:ln>
        </p:spPr>
      </p:sp>
      <p:sp>
        <p:nvSpPr>
          <p:cNvPr id="775"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Credential Attacks. Default creds and leaked connection strings — two old, durable bugs.  Redis: no password by default for years.  Elastic: no auth in the free tier — also for years.  Connection strings (postgres://user:pass@host) committed to Git.  Pre-commit secret scanning — fix this week.</a:t>
            </a:r>
            <a:endParaRPr lang="en-US" sz="2000" b="0" u="none" strike="noStrike">
              <a:solidFill>
                <a:srgbClr val="000000"/>
              </a:solidFill>
              <a:effectLst/>
              <a:uFillTx/>
              <a:latin typeface="Arial"/>
            </a:endParaRPr>
          </a:p>
        </p:txBody>
      </p:sp>
      <p:sp>
        <p:nvSpPr>
          <p:cNvPr id="776" name="PlaceHolder 3"/>
          <p:cNvSpPr>
            <a:spLocks noGrp="1"/>
          </p:cNvSpPr>
          <p:nvPr>
            <p:ph type="sldNum" idx="71"/>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DB317AD9-5830-4F78-839E-A4E2738C77F4}"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3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77" name="PlaceHolder 1"/>
          <p:cNvSpPr>
            <a:spLocks noGrp="1"/>
          </p:cNvSpPr>
          <p:nvPr>
            <p:ph type="sldImg"/>
          </p:nvPr>
        </p:nvSpPr>
        <p:spPr>
          <a:xfrm>
            <a:off x="1143000" y="685800"/>
            <a:ext cx="4571640" cy="3428640"/>
          </a:xfrm>
          <a:prstGeom prst="rect">
            <a:avLst/>
          </a:prstGeom>
          <a:ln w="0">
            <a:noFill/>
          </a:ln>
        </p:spPr>
      </p:sp>
      <p:sp>
        <p:nvSpPr>
          <p:cNvPr id="778"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Supply Chain — The DB Libraries You Trust. Your DB driver came from npm/PyPI/Maven. So did everyone else's.  Malicious npm packages posing as ORMs / drivers.  Trojanized Docker Hub images for popular databases.  Compromised PostgreSQL extensions / MySQL plugins.  Extensions run with DB privileges — usually a lot.</a:t>
            </a:r>
            <a:endParaRPr lang="en-US" sz="2000" b="0" u="none" strike="noStrike">
              <a:solidFill>
                <a:srgbClr val="000000"/>
              </a:solidFill>
              <a:effectLst/>
              <a:uFillTx/>
              <a:latin typeface="Arial"/>
            </a:endParaRPr>
          </a:p>
        </p:txBody>
      </p:sp>
      <p:sp>
        <p:nvSpPr>
          <p:cNvPr id="779" name="PlaceHolder 3"/>
          <p:cNvSpPr>
            <a:spLocks noGrp="1"/>
          </p:cNvSpPr>
          <p:nvPr>
            <p:ph type="sldNum" idx="72"/>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94FD9980-AF43-4E65-B484-98B1E2AD727C}"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3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80" name="PlaceHolder 1"/>
          <p:cNvSpPr>
            <a:spLocks noGrp="1"/>
          </p:cNvSpPr>
          <p:nvPr>
            <p:ph type="sldImg"/>
          </p:nvPr>
        </p:nvSpPr>
        <p:spPr>
          <a:xfrm>
            <a:off x="1143000" y="685800"/>
            <a:ext cx="4571640" cy="3428640"/>
          </a:xfrm>
          <a:prstGeom prst="rect">
            <a:avLst/>
          </a:prstGeom>
          <a:ln w="0">
            <a:noFill/>
          </a:ln>
        </p:spPr>
      </p:sp>
      <p:sp>
        <p:nvSpPr>
          <p:cNvPr id="781"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RAG / LLM Data Poisoning. Stored XSS for the AI era. Write into the knowledge base → LLM quotes it.  Poisoned support article: 'To reset, send your password to...'  Poisoned internal doc: 'Company policy is to wire transfer to...'  Prompt injection embedded in retrieved documents.  Defense: strict write ACLs, provenance tags, human-in-the-loop.</a:t>
            </a:r>
            <a:endParaRPr lang="en-US" sz="2000" b="0" u="none" strike="noStrike">
              <a:solidFill>
                <a:srgbClr val="000000"/>
              </a:solidFill>
              <a:effectLst/>
              <a:uFillTx/>
              <a:latin typeface="Arial"/>
            </a:endParaRPr>
          </a:p>
        </p:txBody>
      </p:sp>
      <p:sp>
        <p:nvSpPr>
          <p:cNvPr id="782" name="PlaceHolder 3"/>
          <p:cNvSpPr>
            <a:spLocks noGrp="1"/>
          </p:cNvSpPr>
          <p:nvPr>
            <p:ph type="sldNum" idx="73"/>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5413E76A-4F00-4D84-A61A-5BDDF63D751F}"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3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83" name="PlaceHolder 1"/>
          <p:cNvSpPr>
            <a:spLocks noGrp="1"/>
          </p:cNvSpPr>
          <p:nvPr>
            <p:ph type="sldImg"/>
          </p:nvPr>
        </p:nvSpPr>
        <p:spPr>
          <a:xfrm>
            <a:off x="1143000" y="685800"/>
            <a:ext cx="4571640" cy="3428640"/>
          </a:xfrm>
          <a:prstGeom prst="rect">
            <a:avLst/>
          </a:prstGeom>
          <a:ln w="0">
            <a:noFill/>
          </a:ln>
        </p:spPr>
      </p:sp>
      <p:sp>
        <p:nvSpPr>
          <p:cNvPr id="784"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Insider Threats &amp; DB-to-DB Lateral Movement. Databases aren't endpoints. They're nodes in a graph.  Over-permissioned service accounts. Engineers with prod read.  DBAs with no audit trail.  Oracle DB_LINK, SQL Server linked servers, Postgres FDW.  Stored credentials → compromise A, hop to B, hop to C.</a:t>
            </a:r>
            <a:endParaRPr lang="en-US" sz="2000" b="0" u="none" strike="noStrike">
              <a:solidFill>
                <a:srgbClr val="000000"/>
              </a:solidFill>
              <a:effectLst/>
              <a:uFillTx/>
              <a:latin typeface="Arial"/>
            </a:endParaRPr>
          </a:p>
        </p:txBody>
      </p:sp>
      <p:sp>
        <p:nvSpPr>
          <p:cNvPr id="785" name="PlaceHolder 3"/>
          <p:cNvSpPr>
            <a:spLocks noGrp="1"/>
          </p:cNvSpPr>
          <p:nvPr>
            <p:ph type="sldNum" idx="74"/>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ED5ACF6D-C176-4605-9956-196272BAC8D7}"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3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86" name="PlaceHolder 1"/>
          <p:cNvSpPr>
            <a:spLocks noGrp="1"/>
          </p:cNvSpPr>
          <p:nvPr>
            <p:ph type="sldImg"/>
          </p:nvPr>
        </p:nvSpPr>
        <p:spPr>
          <a:xfrm>
            <a:off x="1143000" y="685800"/>
            <a:ext cx="4571640" cy="3428640"/>
          </a:xfrm>
          <a:prstGeom prst="rect">
            <a:avLst/>
          </a:prstGeom>
          <a:ln w="0">
            <a:noFill/>
          </a:ln>
        </p:spPr>
      </p:sp>
      <p:sp>
        <p:nvSpPr>
          <p:cNvPr id="787"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Backup &amp; Snapshot Exposure. Same data as prod, half the love.  Unencrypted DB backups on shares readable by Domain Users.  Cloud snapshots shared cross-account, never un-shared.  Off-site backups to vendors whose posture you never checked.  Backups are last resort. Apply identify-authN-authZ-audit.</a:t>
            </a:r>
            <a:endParaRPr lang="en-US" sz="2000" b="0" u="none" strike="noStrike">
              <a:solidFill>
                <a:srgbClr val="000000"/>
              </a:solidFill>
              <a:effectLst/>
              <a:uFillTx/>
              <a:latin typeface="Arial"/>
            </a:endParaRPr>
          </a:p>
        </p:txBody>
      </p:sp>
      <p:sp>
        <p:nvSpPr>
          <p:cNvPr id="788" name="PlaceHolder 3"/>
          <p:cNvSpPr>
            <a:spLocks noGrp="1"/>
          </p:cNvSpPr>
          <p:nvPr>
            <p:ph type="sldNum" idx="75"/>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A2D936D3-ADB3-4A6A-AB7C-E4D68629B4AB}"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4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89" name="PlaceHolder 1"/>
          <p:cNvSpPr>
            <a:spLocks noGrp="1"/>
          </p:cNvSpPr>
          <p:nvPr>
            <p:ph type="sldImg"/>
          </p:nvPr>
        </p:nvSpPr>
        <p:spPr>
          <a:xfrm>
            <a:off x="1143000" y="685800"/>
            <a:ext cx="4571640" cy="3428640"/>
          </a:xfrm>
          <a:prstGeom prst="rect">
            <a:avLst/>
          </a:prstGeom>
          <a:ln w="0">
            <a:noFill/>
          </a:ln>
        </p:spPr>
      </p:sp>
      <p:sp>
        <p:nvSpPr>
          <p:cNvPr id="790"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Recap. Database is storage + questions. Ten families. Cloud is shared responsibility. Markdown is a database for LLMs. SQLi got fixed but the surface expanded.</a:t>
            </a:r>
            <a:endParaRPr lang="en-US" sz="2000" b="0" u="none" strike="noStrike">
              <a:solidFill>
                <a:srgbClr val="000000"/>
              </a:solidFill>
              <a:effectLst/>
              <a:uFillTx/>
              <a:latin typeface="Arial"/>
            </a:endParaRPr>
          </a:p>
        </p:txBody>
      </p:sp>
      <p:sp>
        <p:nvSpPr>
          <p:cNvPr id="791" name="PlaceHolder 3"/>
          <p:cNvSpPr>
            <a:spLocks noGrp="1"/>
          </p:cNvSpPr>
          <p:nvPr>
            <p:ph type="sldNum" idx="76"/>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4EB4DE6A-D90B-4591-B0D1-ADF241B22F0A}"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4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92" name="PlaceHolder 1"/>
          <p:cNvSpPr>
            <a:spLocks noGrp="1"/>
          </p:cNvSpPr>
          <p:nvPr>
            <p:ph type="sldImg"/>
          </p:nvPr>
        </p:nvSpPr>
        <p:spPr>
          <a:xfrm>
            <a:off x="1143000" y="685800"/>
            <a:ext cx="4571640" cy="3428640"/>
          </a:xfrm>
          <a:prstGeom prst="rect">
            <a:avLst/>
          </a:prstGeom>
          <a:ln w="0">
            <a:noFill/>
          </a:ln>
        </p:spPr>
      </p:sp>
      <p:sp>
        <p:nvSpPr>
          <p:cNvPr id="793"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Five concrete next-week actions. Install Postgres. PortSwigger labs. Browse Shodan legally. Read a breach report. List your org's DBs.</a:t>
            </a:r>
            <a:endParaRPr lang="en-US" sz="2000" b="0" u="none" strike="noStrike">
              <a:solidFill>
                <a:srgbClr val="000000"/>
              </a:solidFill>
              <a:effectLst/>
              <a:uFillTx/>
              <a:latin typeface="Arial"/>
            </a:endParaRPr>
          </a:p>
        </p:txBody>
      </p:sp>
      <p:sp>
        <p:nvSpPr>
          <p:cNvPr id="794" name="PlaceHolder 3"/>
          <p:cNvSpPr>
            <a:spLocks noGrp="1"/>
          </p:cNvSpPr>
          <p:nvPr>
            <p:ph type="sldNum" idx="77"/>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7A7A93D3-EDA2-4325-92C2-C804C842FBB1}"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4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95" name="PlaceHolder 1"/>
          <p:cNvSpPr>
            <a:spLocks noGrp="1"/>
          </p:cNvSpPr>
          <p:nvPr>
            <p:ph type="sldImg"/>
          </p:nvPr>
        </p:nvSpPr>
        <p:spPr>
          <a:xfrm>
            <a:off x="1143000" y="685800"/>
            <a:ext cx="4571640" cy="3428640"/>
          </a:xfrm>
          <a:prstGeom prst="rect">
            <a:avLst/>
          </a:prstGeom>
          <a:ln w="0">
            <a:noFill/>
          </a:ln>
        </p:spPr>
      </p:sp>
      <p:sp>
        <p:nvSpPr>
          <p:cNvPr id="796"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PortSwigger for SQLi labs. SQLBolt for learning SQL. Use The Index, Luke for deep DB internals. DB-Engines for popularity rankings. OWASP Top 10 for the canonical web vuln list.</a:t>
            </a:r>
            <a:endParaRPr lang="en-US" sz="2000" b="0" u="none" strike="noStrike">
              <a:solidFill>
                <a:srgbClr val="000000"/>
              </a:solidFill>
              <a:effectLst/>
              <a:uFillTx/>
              <a:latin typeface="Arial"/>
            </a:endParaRPr>
          </a:p>
        </p:txBody>
      </p:sp>
      <p:sp>
        <p:nvSpPr>
          <p:cNvPr id="797" name="PlaceHolder 3"/>
          <p:cNvSpPr>
            <a:spLocks noGrp="1"/>
          </p:cNvSpPr>
          <p:nvPr>
            <p:ph type="sldNum" idx="78"/>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600B38DE-DF95-42F1-98E6-6B22CD48F3FF}"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4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98" name="PlaceHolder 1"/>
          <p:cNvSpPr>
            <a:spLocks noGrp="1"/>
          </p:cNvSpPr>
          <p:nvPr>
            <p:ph type="sldImg"/>
          </p:nvPr>
        </p:nvSpPr>
        <p:spPr>
          <a:xfrm>
            <a:off x="1143000" y="685800"/>
            <a:ext cx="4571640" cy="3428640"/>
          </a:xfrm>
          <a:prstGeom prst="rect">
            <a:avLst/>
          </a:prstGeom>
          <a:ln w="0">
            <a:noFill/>
          </a:ln>
        </p:spPr>
      </p:sp>
      <p:sp>
        <p:nvSpPr>
          <p:cNvPr id="799"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Closing. Willie Sutton said he robbed banks because that's where the money was. In 2026, the money is in databases.</a:t>
            </a:r>
            <a:endParaRPr lang="en-US" sz="2000" b="0" u="none" strike="noStrike">
              <a:solidFill>
                <a:srgbClr val="000000"/>
              </a:solidFill>
              <a:effectLst/>
              <a:uFillTx/>
              <a:latin typeface="Arial"/>
            </a:endParaRPr>
          </a:p>
        </p:txBody>
      </p:sp>
      <p:sp>
        <p:nvSpPr>
          <p:cNvPr id="800" name="PlaceHolder 3"/>
          <p:cNvSpPr>
            <a:spLocks noGrp="1"/>
          </p:cNvSpPr>
          <p:nvPr>
            <p:ph type="sldNum" idx="79"/>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D3537C0A-B6AD-43BC-9712-4F7C5B98A245}"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4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01" name="PlaceHolder 1"/>
          <p:cNvSpPr>
            <a:spLocks noGrp="1"/>
          </p:cNvSpPr>
          <p:nvPr>
            <p:ph type="sldImg"/>
          </p:nvPr>
        </p:nvSpPr>
        <p:spPr>
          <a:xfrm>
            <a:off x="1143000" y="685800"/>
            <a:ext cx="4571640" cy="3428640"/>
          </a:xfrm>
          <a:prstGeom prst="rect">
            <a:avLst/>
          </a:prstGeom>
          <a:ln w="0">
            <a:noFill/>
          </a:ln>
        </p:spPr>
      </p:sp>
      <p:sp>
        <p:nvSpPr>
          <p:cNvPr id="802"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All books cited throughout the talk. Worth picking any of these up — they're the durable references.</a:t>
            </a:r>
            <a:endParaRPr lang="en-US" sz="2000" b="0" u="none" strike="noStrike">
              <a:solidFill>
                <a:srgbClr val="000000"/>
              </a:solidFill>
              <a:effectLst/>
              <a:uFillTx/>
              <a:latin typeface="Arial"/>
            </a:endParaRPr>
          </a:p>
        </p:txBody>
      </p:sp>
      <p:sp>
        <p:nvSpPr>
          <p:cNvPr id="803" name="PlaceHolder 3"/>
          <p:cNvSpPr>
            <a:spLocks noGrp="1"/>
          </p:cNvSpPr>
          <p:nvPr>
            <p:ph type="sldNum" idx="80"/>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27F3B69F-F765-4B16-A63E-7C87CA6FB7C7}"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4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04" name="PlaceHolder 1"/>
          <p:cNvSpPr>
            <a:spLocks noGrp="1"/>
          </p:cNvSpPr>
          <p:nvPr>
            <p:ph type="sldImg"/>
          </p:nvPr>
        </p:nvSpPr>
        <p:spPr>
          <a:xfrm>
            <a:off x="1143000" y="685800"/>
            <a:ext cx="4571640" cy="3428640"/>
          </a:xfrm>
          <a:prstGeom prst="rect">
            <a:avLst/>
          </a:prstGeom>
          <a:ln w="0">
            <a:noFill/>
          </a:ln>
        </p:spPr>
      </p:sp>
      <p:sp>
        <p:nvSpPr>
          <p:cNvPr id="805"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Open the floor for five minutes of questions.</a:t>
            </a:r>
            <a:endParaRPr lang="en-US" sz="2000" b="0" u="none" strike="noStrike">
              <a:solidFill>
                <a:srgbClr val="000000"/>
              </a:solidFill>
              <a:effectLst/>
              <a:uFillTx/>
              <a:latin typeface="Arial"/>
            </a:endParaRPr>
          </a:p>
        </p:txBody>
      </p:sp>
      <p:sp>
        <p:nvSpPr>
          <p:cNvPr id="806" name="PlaceHolder 3"/>
          <p:cNvSpPr>
            <a:spLocks noGrp="1"/>
          </p:cNvSpPr>
          <p:nvPr>
            <p:ph type="sldNum" idx="81"/>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9A9EFEC3-B900-46E9-BB49-EC29641DEE9C}"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Title Slide">
    <p:bg>
      <p:bgPr>
        <a:solidFill>
          <a:srgbClr val="FFFFFF"/>
        </a:solidFill>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685800" y="2130480"/>
            <a:ext cx="7772040" cy="146952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3" name="PlaceHolder 2"/>
          <p:cNvSpPr>
            <a:spLocks noGrp="1"/>
          </p:cNvSpPr>
          <p:nvPr>
            <p:ph type="dt" idx="1"/>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4" name="PlaceHolder 3"/>
          <p:cNvSpPr>
            <a:spLocks noGrp="1"/>
          </p:cNvSpPr>
          <p:nvPr>
            <p:ph type="ftr" idx="2"/>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5" name="PlaceHolder 4"/>
          <p:cNvSpPr>
            <a:spLocks noGrp="1"/>
          </p:cNvSpPr>
          <p:nvPr>
            <p:ph type="sldNum" idx="3"/>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E457F1F4-BBD6-452C-8ADB-1AA8D707A4E0}"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Title and Vertical Text">
    <p:bg>
      <p:bgPr>
        <a:solidFill>
          <a:srgbClr val="FFFFFF"/>
        </a:solidFill>
      </p:bgPr>
    </p:bg>
    <p:spTree>
      <p:nvGrpSpPr>
        <p:cNvPr id="1" name=""/>
        <p:cNvGrpSpPr/>
        <p:nvPr/>
      </p:nvGrpSpPr>
      <p:grpSpPr>
        <a:xfrm>
          <a:off x="0" y="0"/>
          <a:ext cx="0" cy="0"/>
          <a:chOff x="0" y="0"/>
          <a:chExt cx="0" cy="0"/>
        </a:xfrm>
      </p:grpSpPr>
      <p:sp>
        <p:nvSpPr>
          <p:cNvPr id="6"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7" name="PlaceHolder 2"/>
          <p:cNvSpPr>
            <a:spLocks noGrp="1"/>
          </p:cNvSpPr>
          <p:nvPr>
            <p:ph type="body"/>
          </p:nvPr>
        </p:nvSpPr>
        <p:spPr>
          <a:xfrm>
            <a:off x="457200" y="1600200"/>
            <a:ext cx="8229240" cy="4525560"/>
          </a:xfrm>
          <a:prstGeom prst="rect">
            <a:avLst/>
          </a:prstGeom>
          <a:noFill/>
          <a:ln w="0">
            <a:noFill/>
          </a:ln>
        </p:spPr>
        <p:txBody>
          <a:bodyPr lIns="91440" tIns="45720" rIns="91440" bIns="45720" anchor="t" vert="eaVe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endParaRPr lang="en-US" sz="3200" b="0" u="none" strike="noStrike">
              <a:solidFill>
                <a:schemeClr val="dk1"/>
              </a:solidFill>
              <a:effectLst/>
              <a:uFillTx/>
              <a:latin typeface="Calibri"/>
            </a:endParaRP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endParaRPr lang="en-US" sz="2800" b="0" u="none" strike="noStrike">
              <a:solidFill>
                <a:schemeClr val="dk1"/>
              </a:solidFill>
              <a:effectLst/>
              <a:uFillTx/>
              <a:latin typeface="Calibri"/>
            </a:endParaRP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endParaRPr lang="en-US" sz="2400" b="0" u="none" strike="noStrike">
              <a:solidFill>
                <a:schemeClr val="dk1"/>
              </a:solidFill>
              <a:effectLst/>
              <a:uFillTx/>
              <a:latin typeface="Calibri"/>
            </a:endParaRP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endParaRPr lang="en-US" sz="2000" b="0" u="none" strike="noStrike">
              <a:solidFill>
                <a:schemeClr val="dk1"/>
              </a:solidFill>
              <a:effectLst/>
              <a:uFillTx/>
              <a:latin typeface="Calibri"/>
            </a:endParaRP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endParaRPr lang="en-US" sz="2000" b="0" u="none" strike="noStrike">
              <a:solidFill>
                <a:schemeClr val="dk1"/>
              </a:solidFill>
              <a:effectLst/>
              <a:uFillTx/>
              <a:latin typeface="Calibri"/>
            </a:endParaRPr>
          </a:p>
        </p:txBody>
      </p:sp>
      <p:sp>
        <p:nvSpPr>
          <p:cNvPr id="8" name="PlaceHolder 3"/>
          <p:cNvSpPr>
            <a:spLocks noGrp="1"/>
          </p:cNvSpPr>
          <p:nvPr>
            <p:ph type="dt" idx="4"/>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9" name="PlaceHolder 4"/>
          <p:cNvSpPr>
            <a:spLocks noGrp="1"/>
          </p:cNvSpPr>
          <p:nvPr>
            <p:ph type="ftr" idx="5"/>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10" name="PlaceHolder 5"/>
          <p:cNvSpPr>
            <a:spLocks noGrp="1"/>
          </p:cNvSpPr>
          <p:nvPr>
            <p:ph type="sldNum" idx="6"/>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53152F58-772C-4B56-A91A-FF0DF293E665}"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Vertical Title and Text">
    <p:bg>
      <p:bgPr>
        <a:solidFill>
          <a:srgbClr val="FFFFFF"/>
        </a:solidFill>
      </p:bgPr>
    </p:bg>
    <p:spTree>
      <p:nvGrpSpPr>
        <p:cNvPr id="1" name=""/>
        <p:cNvGrpSpPr/>
        <p:nvPr/>
      </p:nvGrpSpPr>
      <p:grpSpPr>
        <a:xfrm>
          <a:off x="0" y="0"/>
          <a:ext cx="0" cy="0"/>
          <a:chOff x="0" y="0"/>
          <a:chExt cx="0" cy="0"/>
        </a:xfrm>
      </p:grpSpPr>
      <p:sp>
        <p:nvSpPr>
          <p:cNvPr id="11" name="PlaceHolder 1"/>
          <p:cNvSpPr>
            <a:spLocks noGrp="1"/>
          </p:cNvSpPr>
          <p:nvPr>
            <p:ph type="title"/>
          </p:nvPr>
        </p:nvSpPr>
        <p:spPr>
          <a:xfrm>
            <a:off x="6629400" y="274680"/>
            <a:ext cx="2057040" cy="5851080"/>
          </a:xfrm>
          <a:prstGeom prst="rect">
            <a:avLst/>
          </a:prstGeom>
          <a:noFill/>
          <a:ln w="0">
            <a:noFill/>
          </a:ln>
        </p:spPr>
        <p:txBody>
          <a:bodyPr lIns="91440" tIns="45720" rIns="91440" bIns="45720" anchor="ctr" vert="eaVert">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12" name="PlaceHolder 2"/>
          <p:cNvSpPr>
            <a:spLocks noGrp="1"/>
          </p:cNvSpPr>
          <p:nvPr>
            <p:ph type="body"/>
          </p:nvPr>
        </p:nvSpPr>
        <p:spPr>
          <a:xfrm>
            <a:off x="457200" y="274680"/>
            <a:ext cx="6019560" cy="5851080"/>
          </a:xfrm>
          <a:prstGeom prst="rect">
            <a:avLst/>
          </a:prstGeom>
          <a:noFill/>
          <a:ln w="0">
            <a:noFill/>
          </a:ln>
        </p:spPr>
        <p:txBody>
          <a:bodyPr lIns="91440" tIns="45720" rIns="91440" bIns="45720" anchor="t" vert="eaVe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endParaRPr lang="en-US" sz="3200" b="0" u="none" strike="noStrike">
              <a:solidFill>
                <a:schemeClr val="dk1"/>
              </a:solidFill>
              <a:effectLst/>
              <a:uFillTx/>
              <a:latin typeface="Calibri"/>
            </a:endParaRP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endParaRPr lang="en-US" sz="2800" b="0" u="none" strike="noStrike">
              <a:solidFill>
                <a:schemeClr val="dk1"/>
              </a:solidFill>
              <a:effectLst/>
              <a:uFillTx/>
              <a:latin typeface="Calibri"/>
            </a:endParaRP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endParaRPr lang="en-US" sz="2400" b="0" u="none" strike="noStrike">
              <a:solidFill>
                <a:schemeClr val="dk1"/>
              </a:solidFill>
              <a:effectLst/>
              <a:uFillTx/>
              <a:latin typeface="Calibri"/>
            </a:endParaRP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endParaRPr lang="en-US" sz="2000" b="0" u="none" strike="noStrike">
              <a:solidFill>
                <a:schemeClr val="dk1"/>
              </a:solidFill>
              <a:effectLst/>
              <a:uFillTx/>
              <a:latin typeface="Calibri"/>
            </a:endParaRP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endParaRPr lang="en-US" sz="2000" b="0" u="none" strike="noStrike">
              <a:solidFill>
                <a:schemeClr val="dk1"/>
              </a:solidFill>
              <a:effectLst/>
              <a:uFillTx/>
              <a:latin typeface="Calibri"/>
            </a:endParaRPr>
          </a:p>
        </p:txBody>
      </p:sp>
      <p:sp>
        <p:nvSpPr>
          <p:cNvPr id="13" name="PlaceHolder 3"/>
          <p:cNvSpPr>
            <a:spLocks noGrp="1"/>
          </p:cNvSpPr>
          <p:nvPr>
            <p:ph type="dt" idx="7"/>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14" name="PlaceHolder 4"/>
          <p:cNvSpPr>
            <a:spLocks noGrp="1"/>
          </p:cNvSpPr>
          <p:nvPr>
            <p:ph type="ftr" idx="8"/>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15" name="PlaceHolder 5"/>
          <p:cNvSpPr>
            <a:spLocks noGrp="1"/>
          </p:cNvSpPr>
          <p:nvPr>
            <p:ph type="sldNum" idx="9"/>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A1D5D44B-8F25-4232-A3AB-6DD794CB7982}"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and Content">
    <p:bg>
      <p:bgPr>
        <a:solidFill>
          <a:srgbClr val="FFFFFF"/>
        </a:solidFill>
      </p:bgPr>
    </p:bg>
    <p:spTree>
      <p:nvGrpSpPr>
        <p:cNvPr id="1" name=""/>
        <p:cNvGrpSpPr/>
        <p:nvPr/>
      </p:nvGrpSpPr>
      <p:grpSpPr>
        <a:xfrm>
          <a:off x="0" y="0"/>
          <a:ext cx="0" cy="0"/>
          <a:chOff x="0" y="0"/>
          <a:chExt cx="0" cy="0"/>
        </a:xfrm>
      </p:grpSpPr>
      <p:sp>
        <p:nvSpPr>
          <p:cNvPr id="16"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17" name="PlaceHolder 2"/>
          <p:cNvSpPr>
            <a:spLocks noGrp="1"/>
          </p:cNvSpPr>
          <p:nvPr>
            <p:ph type="body"/>
          </p:nvPr>
        </p:nvSpPr>
        <p:spPr>
          <a:xfrm>
            <a:off x="457200" y="1600200"/>
            <a:ext cx="8229240" cy="4525560"/>
          </a:xfrm>
          <a:prstGeom prst="rect">
            <a:avLst/>
          </a:prstGeom>
          <a:noFill/>
          <a:ln w="0">
            <a:noFill/>
          </a:ln>
        </p:spPr>
        <p:txBody>
          <a:bodyPr lIns="91440" tIns="45720" rIns="91440" bIns="45720" ancho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endParaRPr lang="en-US" sz="3200" b="0" u="none" strike="noStrike">
              <a:solidFill>
                <a:schemeClr val="dk1"/>
              </a:solidFill>
              <a:effectLst/>
              <a:uFillTx/>
              <a:latin typeface="Calibri"/>
            </a:endParaRP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endParaRPr lang="en-US" sz="2800" b="0" u="none" strike="noStrike">
              <a:solidFill>
                <a:schemeClr val="dk1"/>
              </a:solidFill>
              <a:effectLst/>
              <a:uFillTx/>
              <a:latin typeface="Calibri"/>
            </a:endParaRP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endParaRPr lang="en-US" sz="2400" b="0" u="none" strike="noStrike">
              <a:solidFill>
                <a:schemeClr val="dk1"/>
              </a:solidFill>
              <a:effectLst/>
              <a:uFillTx/>
              <a:latin typeface="Calibri"/>
            </a:endParaRP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endParaRPr lang="en-US" sz="2000" b="0" u="none" strike="noStrike">
              <a:solidFill>
                <a:schemeClr val="dk1"/>
              </a:solidFill>
              <a:effectLst/>
              <a:uFillTx/>
              <a:latin typeface="Calibri"/>
            </a:endParaRP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endParaRPr lang="en-US" sz="2000" b="0" u="none" strike="noStrike">
              <a:solidFill>
                <a:schemeClr val="dk1"/>
              </a:solidFill>
              <a:effectLst/>
              <a:uFillTx/>
              <a:latin typeface="Calibri"/>
            </a:endParaRPr>
          </a:p>
        </p:txBody>
      </p:sp>
      <p:sp>
        <p:nvSpPr>
          <p:cNvPr id="18" name="PlaceHolder 3"/>
          <p:cNvSpPr>
            <a:spLocks noGrp="1"/>
          </p:cNvSpPr>
          <p:nvPr>
            <p:ph type="dt" idx="10"/>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19" name="PlaceHolder 4"/>
          <p:cNvSpPr>
            <a:spLocks noGrp="1"/>
          </p:cNvSpPr>
          <p:nvPr>
            <p:ph type="ftr" idx="11"/>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20" name="PlaceHolder 5"/>
          <p:cNvSpPr>
            <a:spLocks noGrp="1"/>
          </p:cNvSpPr>
          <p:nvPr>
            <p:ph type="sldNum" idx="12"/>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FEA8692A-667E-4307-A8C8-4CB3F9B3B8D1}"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on Header">
    <p:bg>
      <p:bgPr>
        <a:solidFill>
          <a:srgbClr val="FFFFFF"/>
        </a:solidFill>
      </p:bgPr>
    </p:bg>
    <p:spTree>
      <p:nvGrpSpPr>
        <p:cNvPr id="1" name=""/>
        <p:cNvGrpSpPr/>
        <p:nvPr/>
      </p:nvGrpSpPr>
      <p:grpSpPr>
        <a:xfrm>
          <a:off x="0" y="0"/>
          <a:ext cx="0" cy="0"/>
          <a:chOff x="0" y="0"/>
          <a:chExt cx="0" cy="0"/>
        </a:xfrm>
      </p:grpSpPr>
      <p:sp>
        <p:nvSpPr>
          <p:cNvPr id="21" name="PlaceHolder 1"/>
          <p:cNvSpPr>
            <a:spLocks noGrp="1"/>
          </p:cNvSpPr>
          <p:nvPr>
            <p:ph type="title"/>
          </p:nvPr>
        </p:nvSpPr>
        <p:spPr>
          <a:xfrm>
            <a:off x="722160" y="4406760"/>
            <a:ext cx="7772040" cy="1361880"/>
          </a:xfrm>
          <a:prstGeom prst="rect">
            <a:avLst/>
          </a:prstGeom>
          <a:noFill/>
          <a:ln w="0">
            <a:noFill/>
          </a:ln>
        </p:spPr>
        <p:txBody>
          <a:bodyPr lIns="91440" tIns="45720" rIns="91440" bIns="45720" anchor="t">
            <a:noAutofit/>
          </a:bodyPr>
          <a:lstStyle>
            <a:lvl1pPr indent="0" algn="l" defTabSz="457200">
              <a:lnSpc>
                <a:spcPct val="100000"/>
              </a:lnSpc>
              <a:buNone/>
              <a:defRPr lang="en-US" sz="4000" b="1" u="none" strike="noStrike" cap="all">
                <a:solidFill>
                  <a:schemeClr val="dk1"/>
                </a:solidFill>
                <a:effectLst/>
                <a:uFillTx/>
                <a:latin typeface="Calibri"/>
              </a:defRPr>
            </a:lvl1pPr>
          </a:lstStyle>
          <a:p>
            <a:pPr indent="0" algn="l" defTabSz="457200">
              <a:lnSpc>
                <a:spcPct val="100000"/>
              </a:lnSpc>
              <a:buNone/>
            </a:pPr>
            <a:r>
              <a:rPr lang="en-US" sz="4000" b="1" u="none" strike="noStrike" cap="all">
                <a:solidFill>
                  <a:schemeClr val="dk1"/>
                </a:solidFill>
                <a:effectLst/>
                <a:uFillTx/>
                <a:latin typeface="Calibri"/>
              </a:rPr>
              <a:t>Click to edit Master title style</a:t>
            </a:r>
            <a:endParaRPr lang="en-US" sz="4000" b="1" u="none" strike="noStrike" cap="all">
              <a:solidFill>
                <a:schemeClr val="dk1"/>
              </a:solidFill>
              <a:effectLst/>
              <a:uFillTx/>
              <a:latin typeface="Calibri"/>
            </a:endParaRPr>
          </a:p>
        </p:txBody>
      </p:sp>
      <p:sp>
        <p:nvSpPr>
          <p:cNvPr id="22" name="PlaceHolder 2"/>
          <p:cNvSpPr>
            <a:spLocks noGrp="1"/>
          </p:cNvSpPr>
          <p:nvPr>
            <p:ph type="body"/>
          </p:nvPr>
        </p:nvSpPr>
        <p:spPr>
          <a:xfrm>
            <a:off x="722160" y="2906640"/>
            <a:ext cx="7772040" cy="1499760"/>
          </a:xfrm>
          <a:prstGeom prst="rect">
            <a:avLst/>
          </a:prstGeom>
          <a:noFill/>
          <a:ln w="0">
            <a:noFill/>
          </a:ln>
        </p:spPr>
        <p:txBody>
          <a:bodyPr lIns="91440" tIns="45720" rIns="91440" bIns="45720" anchor="b">
            <a:noAutofit/>
          </a:bodyPr>
          <a:lstStyle>
            <a:lvl1pPr indent="0" algn="l" defTabSz="457200">
              <a:lnSpc>
                <a:spcPct val="100000"/>
              </a:lnSpc>
              <a:spcBef>
                <a:spcPts val="400"/>
              </a:spcBef>
              <a:buNone/>
              <a:tabLst>
                <a:tab pos="0" algn="l"/>
              </a:tabLst>
              <a:defRPr lang="en-US" sz="2000" b="0" u="none" strike="noStrike">
                <a:solidFill>
                  <a:schemeClr val="dk1">
                    <a:tint val="75000"/>
                  </a:schemeClr>
                </a:solidFill>
                <a:effectLst/>
                <a:uFillTx/>
                <a:latin typeface="Calibri"/>
              </a:defRPr>
            </a:lvl1pPr>
          </a:lstStyle>
          <a:p>
            <a:pPr indent="0" algn="l" defTabSz="457200">
              <a:lnSpc>
                <a:spcPct val="100000"/>
              </a:lnSpc>
              <a:spcBef>
                <a:spcPts val="400"/>
              </a:spcBef>
              <a:buNone/>
              <a:tabLst>
                <a:tab pos="0" algn="l"/>
              </a:tabLst>
            </a:pPr>
            <a:r>
              <a:rPr lang="en-US" sz="2000" b="0" u="none" strike="noStrike">
                <a:solidFill>
                  <a:schemeClr val="dk1">
                    <a:tint val="75000"/>
                  </a:schemeClr>
                </a:solidFill>
                <a:effectLst/>
                <a:uFillTx/>
                <a:latin typeface="Calibri"/>
              </a:rPr>
              <a:t>Click to edit Master text styles</a:t>
            </a:r>
            <a:endParaRPr lang="en-US" sz="2000" b="0" u="none" strike="noStrike">
              <a:solidFill>
                <a:schemeClr val="dk1">
                  <a:tint val="75000"/>
                </a:schemeClr>
              </a:solidFill>
              <a:effectLst/>
              <a:uFillTx/>
              <a:latin typeface="Calibri"/>
            </a:endParaRPr>
          </a:p>
        </p:txBody>
      </p:sp>
      <p:sp>
        <p:nvSpPr>
          <p:cNvPr id="23" name="PlaceHolder 3"/>
          <p:cNvSpPr>
            <a:spLocks noGrp="1"/>
          </p:cNvSpPr>
          <p:nvPr>
            <p:ph type="dt" idx="13"/>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24" name="PlaceHolder 4"/>
          <p:cNvSpPr>
            <a:spLocks noGrp="1"/>
          </p:cNvSpPr>
          <p:nvPr>
            <p:ph type="ftr" idx="14"/>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25" name="PlaceHolder 5"/>
          <p:cNvSpPr>
            <a:spLocks noGrp="1"/>
          </p:cNvSpPr>
          <p:nvPr>
            <p:ph type="sldNum" idx="15"/>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C037269C-A5F5-4C3C-96D3-E136C7AF3F1A}"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wo Content">
    <p:bg>
      <p:bgPr>
        <a:solidFill>
          <a:srgbClr val="FFFFFF"/>
        </a:solidFill>
      </p:bgPr>
    </p:bg>
    <p:spTree>
      <p:nvGrpSpPr>
        <p:cNvPr id="1" name=""/>
        <p:cNvGrpSpPr/>
        <p:nvPr/>
      </p:nvGrpSpPr>
      <p:grpSpPr>
        <a:xfrm>
          <a:off x="0" y="0"/>
          <a:ext cx="0" cy="0"/>
          <a:chOff x="0" y="0"/>
          <a:chExt cx="0" cy="0"/>
        </a:xfrm>
      </p:grpSpPr>
      <p:sp>
        <p:nvSpPr>
          <p:cNvPr id="26"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27" name="PlaceHolder 2"/>
          <p:cNvSpPr>
            <a:spLocks noGrp="1"/>
          </p:cNvSpPr>
          <p:nvPr>
            <p:ph type="body"/>
          </p:nvPr>
        </p:nvSpPr>
        <p:spPr>
          <a:xfrm>
            <a:off x="457200" y="1600200"/>
            <a:ext cx="4038120" cy="4525560"/>
          </a:xfrm>
          <a:prstGeom prst="rect">
            <a:avLst/>
          </a:prstGeom>
          <a:noFill/>
          <a:ln w="0">
            <a:noFill/>
          </a:ln>
        </p:spPr>
        <p:txBody>
          <a:bodyPr lIns="91440" tIns="45720" rIns="91440" bIns="45720" anchor="t">
            <a:noAutofit/>
          </a:bodyPr>
          <a:lstStyle>
            <a:lvl1pPr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1pPr>
            <a:lvl2pPr lvl="1"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2pPr>
            <a:lvl3pPr lvl="2"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3pPr>
            <a:lvl4pPr lvl="3"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4pPr>
            <a:lvl5pPr lvl="4"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5pPr>
          </a:lstStyle>
          <a:p>
            <a:pPr marL="343080" indent="-34308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Click to edit Master text styles</a:t>
            </a:r>
            <a:endParaRPr lang="en-US" sz="2800" b="0" u="none" strike="noStrike">
              <a:solidFill>
                <a:schemeClr val="dk1"/>
              </a:solidFill>
              <a:effectLst/>
              <a:uFillTx/>
              <a:latin typeface="Calibri"/>
            </a:endParaRPr>
          </a:p>
          <a:p>
            <a:pPr marL="743040" lvl="1" indent="-28584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Second level</a:t>
            </a:r>
            <a:endParaRPr lang="en-US" sz="2400" b="0" u="none" strike="noStrike">
              <a:solidFill>
                <a:schemeClr val="dk1"/>
              </a:solidFill>
              <a:effectLst/>
              <a:uFillTx/>
              <a:latin typeface="Calibri"/>
            </a:endParaRPr>
          </a:p>
          <a:p>
            <a:pPr marL="1143000" lvl="2"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Third level</a:t>
            </a:r>
            <a:endParaRPr lang="en-US" sz="2000" b="0" u="none" strike="noStrike">
              <a:solidFill>
                <a:schemeClr val="dk1"/>
              </a:solidFill>
              <a:effectLst/>
              <a:uFillTx/>
              <a:latin typeface="Calibri"/>
            </a:endParaRPr>
          </a:p>
          <a:p>
            <a:pPr marL="1600200" lvl="3"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Fourth level</a:t>
            </a:r>
            <a:endParaRPr lang="en-US" sz="1800" b="0" u="none" strike="noStrike">
              <a:solidFill>
                <a:schemeClr val="dk1"/>
              </a:solidFill>
              <a:effectLst/>
              <a:uFillTx/>
              <a:latin typeface="Calibri"/>
            </a:endParaRPr>
          </a:p>
          <a:p>
            <a:pPr marL="2057400" lvl="4"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Fifth level</a:t>
            </a:r>
            <a:endParaRPr lang="en-US" sz="1800" b="0" u="none" strike="noStrike">
              <a:solidFill>
                <a:schemeClr val="dk1"/>
              </a:solidFill>
              <a:effectLst/>
              <a:uFillTx/>
              <a:latin typeface="Calibri"/>
            </a:endParaRPr>
          </a:p>
        </p:txBody>
      </p:sp>
      <p:sp>
        <p:nvSpPr>
          <p:cNvPr id="28" name="PlaceHolder 3"/>
          <p:cNvSpPr>
            <a:spLocks noGrp="1"/>
          </p:cNvSpPr>
          <p:nvPr>
            <p:ph type="body"/>
          </p:nvPr>
        </p:nvSpPr>
        <p:spPr>
          <a:xfrm>
            <a:off x="4648320" y="1600200"/>
            <a:ext cx="4038120" cy="4525560"/>
          </a:xfrm>
          <a:prstGeom prst="rect">
            <a:avLst/>
          </a:prstGeom>
          <a:noFill/>
          <a:ln w="0">
            <a:noFill/>
          </a:ln>
        </p:spPr>
        <p:txBody>
          <a:bodyPr lIns="91440" tIns="45720" rIns="91440" bIns="45720" anchor="t">
            <a:noAutofit/>
          </a:bodyPr>
          <a:lstStyle>
            <a:lvl1pPr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1pPr>
            <a:lvl2pPr lvl="1"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2pPr>
            <a:lvl3pPr lvl="2"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3pPr>
            <a:lvl4pPr lvl="3"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4pPr>
            <a:lvl5pPr lvl="4"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5pPr>
          </a:lstStyle>
          <a:p>
            <a:pPr marL="343080" indent="-34308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Click to edit Master text styles</a:t>
            </a:r>
            <a:endParaRPr lang="en-US" sz="2800" b="0" u="none" strike="noStrike">
              <a:solidFill>
                <a:schemeClr val="dk1"/>
              </a:solidFill>
              <a:effectLst/>
              <a:uFillTx/>
              <a:latin typeface="Calibri"/>
            </a:endParaRPr>
          </a:p>
          <a:p>
            <a:pPr marL="743040" lvl="1" indent="-28584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Second level</a:t>
            </a:r>
            <a:endParaRPr lang="en-US" sz="2400" b="0" u="none" strike="noStrike">
              <a:solidFill>
                <a:schemeClr val="dk1"/>
              </a:solidFill>
              <a:effectLst/>
              <a:uFillTx/>
              <a:latin typeface="Calibri"/>
            </a:endParaRPr>
          </a:p>
          <a:p>
            <a:pPr marL="1143000" lvl="2"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Third level</a:t>
            </a:r>
            <a:endParaRPr lang="en-US" sz="2000" b="0" u="none" strike="noStrike">
              <a:solidFill>
                <a:schemeClr val="dk1"/>
              </a:solidFill>
              <a:effectLst/>
              <a:uFillTx/>
              <a:latin typeface="Calibri"/>
            </a:endParaRPr>
          </a:p>
          <a:p>
            <a:pPr marL="1600200" lvl="3"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Fourth level</a:t>
            </a:r>
            <a:endParaRPr lang="en-US" sz="1800" b="0" u="none" strike="noStrike">
              <a:solidFill>
                <a:schemeClr val="dk1"/>
              </a:solidFill>
              <a:effectLst/>
              <a:uFillTx/>
              <a:latin typeface="Calibri"/>
            </a:endParaRPr>
          </a:p>
          <a:p>
            <a:pPr marL="2057400" lvl="4"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Fifth level</a:t>
            </a:r>
            <a:endParaRPr lang="en-US" sz="1800" b="0" u="none" strike="noStrike">
              <a:solidFill>
                <a:schemeClr val="dk1"/>
              </a:solidFill>
              <a:effectLst/>
              <a:uFillTx/>
              <a:latin typeface="Calibri"/>
            </a:endParaRPr>
          </a:p>
        </p:txBody>
      </p:sp>
      <p:sp>
        <p:nvSpPr>
          <p:cNvPr id="29" name="PlaceHolder 4"/>
          <p:cNvSpPr>
            <a:spLocks noGrp="1"/>
          </p:cNvSpPr>
          <p:nvPr>
            <p:ph type="dt" idx="16"/>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30" name="PlaceHolder 5"/>
          <p:cNvSpPr>
            <a:spLocks noGrp="1"/>
          </p:cNvSpPr>
          <p:nvPr>
            <p:ph type="ftr" idx="17"/>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31" name="PlaceHolder 6"/>
          <p:cNvSpPr>
            <a:spLocks noGrp="1"/>
          </p:cNvSpPr>
          <p:nvPr>
            <p:ph type="sldNum" idx="18"/>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1684BFB3-9243-47D8-80C6-1ABFDC64E4AE}"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mparison">
    <p:bg>
      <p:bgPr>
        <a:solidFill>
          <a:srgbClr val="FFFFFF"/>
        </a:solidFill>
      </p:bgPr>
    </p:bg>
    <p:spTree>
      <p:nvGrpSpPr>
        <p:cNvPr id="1" name=""/>
        <p:cNvGrpSpPr/>
        <p:nvPr/>
      </p:nvGrpSpPr>
      <p:grpSpPr>
        <a:xfrm>
          <a:off x="0" y="0"/>
          <a:ext cx="0" cy="0"/>
          <a:chOff x="0" y="0"/>
          <a:chExt cx="0" cy="0"/>
        </a:xfrm>
      </p:grpSpPr>
      <p:sp>
        <p:nvSpPr>
          <p:cNvPr id="32"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33" name="PlaceHolder 2"/>
          <p:cNvSpPr>
            <a:spLocks noGrp="1"/>
          </p:cNvSpPr>
          <p:nvPr>
            <p:ph type="body"/>
          </p:nvPr>
        </p:nvSpPr>
        <p:spPr>
          <a:xfrm>
            <a:off x="457200" y="1535040"/>
            <a:ext cx="4039920" cy="639360"/>
          </a:xfrm>
          <a:prstGeom prst="rect">
            <a:avLst/>
          </a:prstGeom>
          <a:noFill/>
          <a:ln w="0">
            <a:noFill/>
          </a:ln>
        </p:spPr>
        <p:txBody>
          <a:bodyPr lIns="91440" tIns="45720" rIns="91440" bIns="45720" anchor="b">
            <a:noAutofit/>
          </a:bodyPr>
          <a:lstStyle>
            <a:lvl1pPr indent="0" algn="l" defTabSz="457200">
              <a:lnSpc>
                <a:spcPct val="100000"/>
              </a:lnSpc>
              <a:spcBef>
                <a:spcPts val="479"/>
              </a:spcBef>
              <a:buNone/>
              <a:tabLst>
                <a:tab pos="0" algn="l"/>
              </a:tabLst>
              <a:defRPr lang="en-US" sz="2400" b="1" u="none" strike="noStrike">
                <a:solidFill>
                  <a:schemeClr val="dk1"/>
                </a:solidFill>
                <a:effectLst/>
                <a:uFillTx/>
                <a:latin typeface="Calibri"/>
              </a:defRPr>
            </a:lvl1pPr>
          </a:lstStyle>
          <a:p>
            <a:pPr indent="0" algn="l" defTabSz="457200">
              <a:lnSpc>
                <a:spcPct val="100000"/>
              </a:lnSpc>
              <a:spcBef>
                <a:spcPts val="479"/>
              </a:spcBef>
              <a:buNone/>
              <a:tabLst>
                <a:tab pos="0" algn="l"/>
              </a:tabLst>
            </a:pPr>
            <a:r>
              <a:rPr lang="en-US" sz="2400" b="1"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p:txBody>
      </p:sp>
      <p:sp>
        <p:nvSpPr>
          <p:cNvPr id="34" name="PlaceHolder 3"/>
          <p:cNvSpPr>
            <a:spLocks noGrp="1"/>
          </p:cNvSpPr>
          <p:nvPr>
            <p:ph type="body"/>
          </p:nvPr>
        </p:nvSpPr>
        <p:spPr>
          <a:xfrm>
            <a:off x="457200" y="2174760"/>
            <a:ext cx="4039920" cy="3951000"/>
          </a:xfrm>
          <a:prstGeom prst="rect">
            <a:avLst/>
          </a:prstGeom>
          <a:noFill/>
          <a:ln w="0">
            <a:noFill/>
          </a:ln>
        </p:spPr>
        <p:txBody>
          <a:bodyPr lIns="91440" tIns="45720" rIns="91440" bIns="45720" anchor="t">
            <a:noAutofit/>
          </a:bodyPr>
          <a:lstStyle>
            <a:lvl1pPr algn="l" defTabSz="457200">
              <a:lnSpc>
                <a:spcPct val="100000"/>
              </a:lnSpc>
              <a:spcBef>
                <a:spcPts val="479"/>
              </a:spcBef>
              <a:buClr>
                <a:srgbClr val="000000"/>
              </a:buClr>
              <a:buFont typeface="Arial"/>
              <a:buChar char="•"/>
              <a:tabLst>
                <a:tab pos="0" algn="l"/>
              </a:tabLst>
              <a:defRPr lang="en-US" sz="2400" b="0" u="none" strike="noStrike">
                <a:solidFill>
                  <a:schemeClr val="dk1"/>
                </a:solidFill>
                <a:effectLst/>
                <a:uFillTx/>
                <a:latin typeface="Calibri"/>
              </a:defRPr>
            </a:lvl1pPr>
            <a:lvl2pPr lvl="1" algn="l" defTabSz="457200">
              <a:lnSpc>
                <a:spcPct val="100000"/>
              </a:lnSpc>
              <a:spcBef>
                <a:spcPts val="400"/>
              </a:spcBef>
              <a:buClr>
                <a:srgbClr val="000000"/>
              </a:buClr>
              <a:buFont typeface="Arial"/>
              <a:buChar char="–"/>
              <a:tabLst>
                <a:tab pos="0" algn="l"/>
              </a:tabLst>
              <a:defRPr lang="en-US" sz="2000" b="0" u="none" strike="noStrike">
                <a:solidFill>
                  <a:schemeClr val="dk1"/>
                </a:solidFill>
                <a:effectLst/>
                <a:uFillTx/>
                <a:latin typeface="Calibri"/>
              </a:defRPr>
            </a:lvl2pPr>
            <a:lvl3pPr lvl="2" algn="l" defTabSz="457200">
              <a:lnSpc>
                <a:spcPct val="100000"/>
              </a:lnSpc>
              <a:spcBef>
                <a:spcPts val="360"/>
              </a:spcBef>
              <a:buClr>
                <a:srgbClr val="000000"/>
              </a:buClr>
              <a:buFont typeface="Arial"/>
              <a:buChar char="•"/>
              <a:tabLst>
                <a:tab pos="0" algn="l"/>
              </a:tabLst>
              <a:defRPr lang="en-US" sz="1800" b="0" u="none" strike="noStrike">
                <a:solidFill>
                  <a:schemeClr val="dk1"/>
                </a:solidFill>
                <a:effectLst/>
                <a:uFillTx/>
                <a:latin typeface="Calibri"/>
              </a:defRPr>
            </a:lvl3pPr>
            <a:lvl4pPr lvl="3"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4pPr>
            <a:lvl5pPr lvl="4"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5pPr>
          </a:lstStyle>
          <a:p>
            <a:pPr marL="343080" indent="-343080" algn="l" defTabSz="457200">
              <a:lnSpc>
                <a:spcPct val="100000"/>
              </a:lnSpc>
              <a:spcBef>
                <a:spcPts val="479"/>
              </a:spcBef>
              <a:buClr>
                <a:srgbClr val="000000"/>
              </a:buClr>
              <a:buFont typeface="Arial"/>
              <a:buChar char="•"/>
              <a:tabLst>
                <a:tab pos="0" algn="l"/>
              </a:tabLst>
            </a:pPr>
            <a:r>
              <a:rPr lang="en-US" sz="2400" b="0"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a:p>
            <a:pPr marL="743040" lvl="1" indent="-285840" algn="l" defTabSz="457200">
              <a:lnSpc>
                <a:spcPct val="100000"/>
              </a:lnSpc>
              <a:spcBef>
                <a:spcPts val="400"/>
              </a:spcBef>
              <a:buClr>
                <a:srgbClr val="000000"/>
              </a:buClr>
              <a:buFont typeface="Arial"/>
              <a:buChar char="–"/>
              <a:tabLst>
                <a:tab pos="0" algn="l"/>
              </a:tabLst>
            </a:pPr>
            <a:r>
              <a:rPr lang="en-US" sz="2000" b="0" u="none" strike="noStrike">
                <a:solidFill>
                  <a:schemeClr val="dk1"/>
                </a:solidFill>
                <a:effectLst/>
                <a:uFillTx/>
                <a:latin typeface="Calibri"/>
              </a:rPr>
              <a:t>Second level</a:t>
            </a:r>
            <a:endParaRPr lang="en-US" sz="2000" b="0" u="none" strike="noStrike">
              <a:solidFill>
                <a:schemeClr val="dk1"/>
              </a:solidFill>
              <a:effectLst/>
              <a:uFillTx/>
              <a:latin typeface="Calibri"/>
            </a:endParaRPr>
          </a:p>
          <a:p>
            <a:pPr marL="1143000" lvl="2" indent="-228600" algn="l" defTabSz="457200">
              <a:lnSpc>
                <a:spcPct val="100000"/>
              </a:lnSpc>
              <a:spcBef>
                <a:spcPts val="360"/>
              </a:spcBef>
              <a:buClr>
                <a:srgbClr val="000000"/>
              </a:buClr>
              <a:buFont typeface="Arial"/>
              <a:buChar char="•"/>
              <a:tabLst>
                <a:tab pos="0" algn="l"/>
              </a:tabLst>
            </a:pPr>
            <a:r>
              <a:rPr lang="en-US" sz="1800" b="0" u="none" strike="noStrike">
                <a:solidFill>
                  <a:schemeClr val="dk1"/>
                </a:solidFill>
                <a:effectLst/>
                <a:uFillTx/>
                <a:latin typeface="Calibri"/>
              </a:rPr>
              <a:t>Third level</a:t>
            </a:r>
            <a:endParaRPr lang="en-US" sz="1800" b="0" u="none" strike="noStrike">
              <a:solidFill>
                <a:schemeClr val="dk1"/>
              </a:solidFill>
              <a:effectLst/>
              <a:uFillTx/>
              <a:latin typeface="Calibri"/>
            </a:endParaRPr>
          </a:p>
          <a:p>
            <a:pPr marL="1600200" lvl="3"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Fourth level</a:t>
            </a:r>
            <a:endParaRPr lang="en-US" sz="1600" b="0" u="none" strike="noStrike">
              <a:solidFill>
                <a:schemeClr val="dk1"/>
              </a:solidFill>
              <a:effectLst/>
              <a:uFillTx/>
              <a:latin typeface="Calibri"/>
            </a:endParaRPr>
          </a:p>
          <a:p>
            <a:pPr marL="2057400" lvl="4"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Fifth level</a:t>
            </a:r>
            <a:endParaRPr lang="en-US" sz="1600" b="0" u="none" strike="noStrike">
              <a:solidFill>
                <a:schemeClr val="dk1"/>
              </a:solidFill>
              <a:effectLst/>
              <a:uFillTx/>
              <a:latin typeface="Calibri"/>
            </a:endParaRPr>
          </a:p>
        </p:txBody>
      </p:sp>
      <p:sp>
        <p:nvSpPr>
          <p:cNvPr id="35" name="PlaceHolder 4"/>
          <p:cNvSpPr>
            <a:spLocks noGrp="1"/>
          </p:cNvSpPr>
          <p:nvPr>
            <p:ph type="body"/>
          </p:nvPr>
        </p:nvSpPr>
        <p:spPr>
          <a:xfrm>
            <a:off x="4645080" y="1535040"/>
            <a:ext cx="4041360" cy="639360"/>
          </a:xfrm>
          <a:prstGeom prst="rect">
            <a:avLst/>
          </a:prstGeom>
          <a:noFill/>
          <a:ln w="0">
            <a:noFill/>
          </a:ln>
        </p:spPr>
        <p:txBody>
          <a:bodyPr lIns="91440" tIns="45720" rIns="91440" bIns="45720" anchor="b">
            <a:noAutofit/>
          </a:bodyPr>
          <a:lstStyle>
            <a:lvl1pPr indent="0" algn="l" defTabSz="457200">
              <a:lnSpc>
                <a:spcPct val="100000"/>
              </a:lnSpc>
              <a:spcBef>
                <a:spcPts val="479"/>
              </a:spcBef>
              <a:buNone/>
              <a:tabLst>
                <a:tab pos="0" algn="l"/>
              </a:tabLst>
              <a:defRPr lang="en-US" sz="2400" b="1" u="none" strike="noStrike">
                <a:solidFill>
                  <a:schemeClr val="dk1"/>
                </a:solidFill>
                <a:effectLst/>
                <a:uFillTx/>
                <a:latin typeface="Calibri"/>
              </a:defRPr>
            </a:lvl1pPr>
          </a:lstStyle>
          <a:p>
            <a:pPr indent="0" algn="l" defTabSz="457200">
              <a:lnSpc>
                <a:spcPct val="100000"/>
              </a:lnSpc>
              <a:spcBef>
                <a:spcPts val="479"/>
              </a:spcBef>
              <a:buNone/>
              <a:tabLst>
                <a:tab pos="0" algn="l"/>
              </a:tabLst>
            </a:pPr>
            <a:r>
              <a:rPr lang="en-US" sz="2400" b="1"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p:txBody>
      </p:sp>
      <p:sp>
        <p:nvSpPr>
          <p:cNvPr id="36" name="PlaceHolder 5"/>
          <p:cNvSpPr>
            <a:spLocks noGrp="1"/>
          </p:cNvSpPr>
          <p:nvPr>
            <p:ph type="body"/>
          </p:nvPr>
        </p:nvSpPr>
        <p:spPr>
          <a:xfrm>
            <a:off x="4645080" y="2174760"/>
            <a:ext cx="4041360" cy="3951000"/>
          </a:xfrm>
          <a:prstGeom prst="rect">
            <a:avLst/>
          </a:prstGeom>
          <a:noFill/>
          <a:ln w="0">
            <a:noFill/>
          </a:ln>
        </p:spPr>
        <p:txBody>
          <a:bodyPr lIns="91440" tIns="45720" rIns="91440" bIns="45720" anchor="t">
            <a:noAutofit/>
          </a:bodyPr>
          <a:lstStyle>
            <a:lvl1pPr algn="l" defTabSz="457200">
              <a:lnSpc>
                <a:spcPct val="100000"/>
              </a:lnSpc>
              <a:spcBef>
                <a:spcPts val="479"/>
              </a:spcBef>
              <a:buClr>
                <a:srgbClr val="000000"/>
              </a:buClr>
              <a:buFont typeface="Arial"/>
              <a:buChar char="•"/>
              <a:tabLst>
                <a:tab pos="0" algn="l"/>
              </a:tabLst>
              <a:defRPr lang="en-US" sz="2400" b="0" u="none" strike="noStrike">
                <a:solidFill>
                  <a:schemeClr val="dk1"/>
                </a:solidFill>
                <a:effectLst/>
                <a:uFillTx/>
                <a:latin typeface="Calibri"/>
              </a:defRPr>
            </a:lvl1pPr>
            <a:lvl2pPr lvl="1" algn="l" defTabSz="457200">
              <a:lnSpc>
                <a:spcPct val="100000"/>
              </a:lnSpc>
              <a:spcBef>
                <a:spcPts val="400"/>
              </a:spcBef>
              <a:buClr>
                <a:srgbClr val="000000"/>
              </a:buClr>
              <a:buFont typeface="Arial"/>
              <a:buChar char="–"/>
              <a:tabLst>
                <a:tab pos="0" algn="l"/>
              </a:tabLst>
              <a:defRPr lang="en-US" sz="2000" b="0" u="none" strike="noStrike">
                <a:solidFill>
                  <a:schemeClr val="dk1"/>
                </a:solidFill>
                <a:effectLst/>
                <a:uFillTx/>
                <a:latin typeface="Calibri"/>
              </a:defRPr>
            </a:lvl2pPr>
            <a:lvl3pPr lvl="2" algn="l" defTabSz="457200">
              <a:lnSpc>
                <a:spcPct val="100000"/>
              </a:lnSpc>
              <a:spcBef>
                <a:spcPts val="360"/>
              </a:spcBef>
              <a:buClr>
                <a:srgbClr val="000000"/>
              </a:buClr>
              <a:buFont typeface="Arial"/>
              <a:buChar char="•"/>
              <a:tabLst>
                <a:tab pos="0" algn="l"/>
              </a:tabLst>
              <a:defRPr lang="en-US" sz="1800" b="0" u="none" strike="noStrike">
                <a:solidFill>
                  <a:schemeClr val="dk1"/>
                </a:solidFill>
                <a:effectLst/>
                <a:uFillTx/>
                <a:latin typeface="Calibri"/>
              </a:defRPr>
            </a:lvl3pPr>
            <a:lvl4pPr lvl="3"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4pPr>
            <a:lvl5pPr lvl="4"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5pPr>
          </a:lstStyle>
          <a:p>
            <a:pPr marL="343080" indent="-343080" algn="l" defTabSz="457200">
              <a:lnSpc>
                <a:spcPct val="100000"/>
              </a:lnSpc>
              <a:spcBef>
                <a:spcPts val="479"/>
              </a:spcBef>
              <a:buClr>
                <a:srgbClr val="000000"/>
              </a:buClr>
              <a:buFont typeface="Arial"/>
              <a:buChar char="•"/>
              <a:tabLst>
                <a:tab pos="0" algn="l"/>
              </a:tabLst>
            </a:pPr>
            <a:r>
              <a:rPr lang="en-US" sz="2400" b="0"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a:p>
            <a:pPr marL="743040" lvl="1" indent="-285840" algn="l" defTabSz="457200">
              <a:lnSpc>
                <a:spcPct val="100000"/>
              </a:lnSpc>
              <a:spcBef>
                <a:spcPts val="400"/>
              </a:spcBef>
              <a:buClr>
                <a:srgbClr val="000000"/>
              </a:buClr>
              <a:buFont typeface="Arial"/>
              <a:buChar char="–"/>
              <a:tabLst>
                <a:tab pos="0" algn="l"/>
              </a:tabLst>
            </a:pPr>
            <a:r>
              <a:rPr lang="en-US" sz="2000" b="0" u="none" strike="noStrike">
                <a:solidFill>
                  <a:schemeClr val="dk1"/>
                </a:solidFill>
                <a:effectLst/>
                <a:uFillTx/>
                <a:latin typeface="Calibri"/>
              </a:rPr>
              <a:t>Second level</a:t>
            </a:r>
            <a:endParaRPr lang="en-US" sz="2000" b="0" u="none" strike="noStrike">
              <a:solidFill>
                <a:schemeClr val="dk1"/>
              </a:solidFill>
              <a:effectLst/>
              <a:uFillTx/>
              <a:latin typeface="Calibri"/>
            </a:endParaRPr>
          </a:p>
          <a:p>
            <a:pPr marL="1143000" lvl="2" indent="-228600" algn="l" defTabSz="457200">
              <a:lnSpc>
                <a:spcPct val="100000"/>
              </a:lnSpc>
              <a:spcBef>
                <a:spcPts val="360"/>
              </a:spcBef>
              <a:buClr>
                <a:srgbClr val="000000"/>
              </a:buClr>
              <a:buFont typeface="Arial"/>
              <a:buChar char="•"/>
              <a:tabLst>
                <a:tab pos="0" algn="l"/>
              </a:tabLst>
            </a:pPr>
            <a:r>
              <a:rPr lang="en-US" sz="1800" b="0" u="none" strike="noStrike">
                <a:solidFill>
                  <a:schemeClr val="dk1"/>
                </a:solidFill>
                <a:effectLst/>
                <a:uFillTx/>
                <a:latin typeface="Calibri"/>
              </a:rPr>
              <a:t>Third level</a:t>
            </a:r>
            <a:endParaRPr lang="en-US" sz="1800" b="0" u="none" strike="noStrike">
              <a:solidFill>
                <a:schemeClr val="dk1"/>
              </a:solidFill>
              <a:effectLst/>
              <a:uFillTx/>
              <a:latin typeface="Calibri"/>
            </a:endParaRPr>
          </a:p>
          <a:p>
            <a:pPr marL="1600200" lvl="3"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Fourth level</a:t>
            </a:r>
            <a:endParaRPr lang="en-US" sz="1600" b="0" u="none" strike="noStrike">
              <a:solidFill>
                <a:schemeClr val="dk1"/>
              </a:solidFill>
              <a:effectLst/>
              <a:uFillTx/>
              <a:latin typeface="Calibri"/>
            </a:endParaRPr>
          </a:p>
          <a:p>
            <a:pPr marL="2057400" lvl="4"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Fifth level</a:t>
            </a:r>
            <a:endParaRPr lang="en-US" sz="1600" b="0" u="none" strike="noStrike">
              <a:solidFill>
                <a:schemeClr val="dk1"/>
              </a:solidFill>
              <a:effectLst/>
              <a:uFillTx/>
              <a:latin typeface="Calibri"/>
            </a:endParaRPr>
          </a:p>
        </p:txBody>
      </p:sp>
      <p:sp>
        <p:nvSpPr>
          <p:cNvPr id="37" name="PlaceHolder 6"/>
          <p:cNvSpPr>
            <a:spLocks noGrp="1"/>
          </p:cNvSpPr>
          <p:nvPr>
            <p:ph type="dt" idx="19"/>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38" name="PlaceHolder 7"/>
          <p:cNvSpPr>
            <a:spLocks noGrp="1"/>
          </p:cNvSpPr>
          <p:nvPr>
            <p:ph type="ftr" idx="20"/>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39" name="PlaceHolder 8"/>
          <p:cNvSpPr>
            <a:spLocks noGrp="1"/>
          </p:cNvSpPr>
          <p:nvPr>
            <p:ph type="sldNum" idx="21"/>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373C5852-CA9B-46D5-8837-AFC5D07FDE1B}"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bg>
      <p:bgPr>
        <a:solidFill>
          <a:srgbClr val="FFFFFF"/>
        </a:solidFill>
      </p:bgPr>
    </p:bg>
    <p:spTree>
      <p:nvGrpSpPr>
        <p:cNvPr id="1" name=""/>
        <p:cNvGrpSpPr/>
        <p:nvPr/>
      </p:nvGrpSpPr>
      <p:grpSpPr>
        <a:xfrm>
          <a:off x="0" y="0"/>
          <a:ext cx="0" cy="0"/>
          <a:chOff x="0" y="0"/>
          <a:chExt cx="0" cy="0"/>
        </a:xfrm>
      </p:grpSpPr>
      <p:sp>
        <p:nvSpPr>
          <p:cNvPr id="40"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41" name="PlaceHolder 2"/>
          <p:cNvSpPr>
            <a:spLocks noGrp="1"/>
          </p:cNvSpPr>
          <p:nvPr>
            <p:ph type="dt" idx="22"/>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42" name="PlaceHolder 3"/>
          <p:cNvSpPr>
            <a:spLocks noGrp="1"/>
          </p:cNvSpPr>
          <p:nvPr>
            <p:ph type="ftr" idx="23"/>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43" name="PlaceHolder 4"/>
          <p:cNvSpPr>
            <a:spLocks noGrp="1"/>
          </p:cNvSpPr>
          <p:nvPr>
            <p:ph type="sldNum" idx="24"/>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B48851FB-3E8F-4394-B220-DA477E3E93D5}"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p:bg>
      <p:bgPr>
        <a:solidFill>
          <a:srgbClr val="FFFFFF"/>
        </a:solidFill>
      </p:bgPr>
    </p:bg>
    <p:spTree>
      <p:nvGrpSpPr>
        <p:cNvPr id="1" name=""/>
        <p:cNvGrpSpPr/>
        <p:nvPr/>
      </p:nvGrpSpPr>
      <p:grpSpPr>
        <a:xfrm>
          <a:off x="0" y="0"/>
          <a:ext cx="0" cy="0"/>
          <a:chOff x="0" y="0"/>
          <a:chExt cx="0" cy="0"/>
        </a:xfrm>
      </p:grpSpPr>
      <p:sp>
        <p:nvSpPr>
          <p:cNvPr id="44" name="PlaceHolder 1"/>
          <p:cNvSpPr>
            <a:spLocks noGrp="1"/>
          </p:cNvSpPr>
          <p:nvPr>
            <p:ph type="dt" idx="25"/>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45" name="PlaceHolder 2"/>
          <p:cNvSpPr>
            <a:spLocks noGrp="1"/>
          </p:cNvSpPr>
          <p:nvPr>
            <p:ph type="ftr" idx="26"/>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46" name="PlaceHolder 3"/>
          <p:cNvSpPr>
            <a:spLocks noGrp="1"/>
          </p:cNvSpPr>
          <p:nvPr>
            <p:ph type="sldNum" idx="27"/>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DDB7C714-D336-47DC-880C-4337074E09A6}"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
        <p:nvSpPr>
          <p:cNvPr id="47" name="PlaceHolder 4"/>
          <p:cNvSpPr>
            <a:spLocks noGrp="1"/>
          </p:cNvSpPr>
          <p:nvPr>
            <p:ph type="title"/>
          </p:nvPr>
        </p:nvSpPr>
        <p:spPr>
          <a:xfrm>
            <a:off x="609480" y="273600"/>
            <a:ext cx="10972080" cy="1144800"/>
          </a:xfrm>
          <a:prstGeom prst="rect">
            <a:avLst/>
          </a:prstGeom>
          <a:noFill/>
          <a:ln w="0">
            <a:noFill/>
          </a:ln>
        </p:spPr>
        <p:txBody>
          <a:bodyPr lIns="0" tIns="0" rIns="0" bIns="0" anchor="ctr">
            <a:noAutofit/>
          </a:bodyPr>
          <a:lstStyle>
            <a:lvl1pPr indent="0" algn="ctr" defTabSz="457200">
              <a:buNone/>
              <a:defRPr lang="en-US" sz="4400" b="0" u="none" strike="noStrike">
                <a:solidFill>
                  <a:schemeClr val="dk1"/>
                </a:solidFill>
                <a:effectLst/>
                <a:uFillTx/>
                <a:latin typeface="Calibri"/>
              </a:defRPr>
            </a:lvl1pPr>
          </a:lstStyle>
          <a:p>
            <a:pPr indent="0" algn="ctr" defTabSz="457200">
              <a:buNone/>
            </a:pPr>
            <a:r>
              <a:rPr lang="en-US" sz="4400" b="0" u="none" strike="noStrike">
                <a:solidFill>
                  <a:schemeClr val="dk1"/>
                </a:solidFill>
                <a:effectLst/>
                <a:uFillTx/>
                <a:latin typeface="Calibri"/>
              </a:rPr>
              <a:t>Click to edit the title text format</a:t>
            </a:r>
            <a:endParaRPr lang="en-US" sz="4400" b="0" u="none" strike="noStrike">
              <a:solidFill>
                <a:schemeClr val="dk1"/>
              </a:solidFill>
              <a:effectLst/>
              <a:uFillTx/>
              <a:latin typeface="Calibri"/>
            </a:endParaRPr>
          </a:p>
        </p:txBody>
      </p:sp>
      <p:sp>
        <p:nvSpPr>
          <p:cNvPr id="48" name="PlaceHolder 5"/>
          <p:cNvSpPr>
            <a:spLocks noGrp="1"/>
          </p:cNvSpPr>
          <p:nvPr>
            <p:ph type="body"/>
          </p:nvPr>
        </p:nvSpPr>
        <p:spPr>
          <a:xfrm>
            <a:off x="609480" y="1604520"/>
            <a:ext cx="10972080" cy="3977280"/>
          </a:xfrm>
          <a:prstGeom prst="rect">
            <a:avLst/>
          </a:prstGeom>
          <a:noFill/>
          <a:ln w="0">
            <a:noFill/>
          </a:ln>
        </p:spPr>
        <p:txBody>
          <a:bodyPr lIns="0" tIns="0" rIns="0" bIns="0" anchor="t">
            <a:normAutofit/>
          </a:bodyPr>
          <a:lstStyle>
            <a:lvl1pPr algn="l" defTabSz="457200">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spcBef>
                <a:spcPts val="561"/>
              </a:spcBef>
              <a:buClr>
                <a:srgbClr val="000000"/>
              </a:buClr>
              <a:buSzPct val="75000"/>
              <a:buFont typeface="Symbol" charset="2"/>
              <a:buChar char=""/>
              <a:defRPr lang="en-US" sz="2800" b="0" u="none" strike="noStrike">
                <a:solidFill>
                  <a:schemeClr val="dk1"/>
                </a:solidFill>
                <a:effectLst/>
                <a:uFillTx/>
                <a:latin typeface="Calibri"/>
              </a:defRPr>
            </a:lvl2pPr>
            <a:lvl3pPr lvl="2" algn="l" defTabSz="457200">
              <a:spcBef>
                <a:spcPts val="479"/>
              </a:spcBef>
              <a:buClr>
                <a:srgbClr val="000000"/>
              </a:buClr>
              <a:buSzPct val="45000"/>
              <a:buFont typeface="Wingdings" charset="2"/>
              <a:buChar char=""/>
              <a:defRPr lang="en-US" sz="2400" b="0" u="none" strike="noStrike">
                <a:solidFill>
                  <a:schemeClr val="dk1"/>
                </a:solidFill>
                <a:effectLst/>
                <a:uFillTx/>
                <a:latin typeface="Calibri"/>
              </a:defRPr>
            </a:lvl3pPr>
            <a:lvl4pPr lvl="3" algn="l" defTabSz="457200">
              <a:spcBef>
                <a:spcPts val="400"/>
              </a:spcBef>
              <a:buClr>
                <a:srgbClr val="000000"/>
              </a:buClr>
              <a:buSzPct val="75000"/>
              <a:buFont typeface="Symbol" charset="2"/>
              <a:buChar char=""/>
              <a:defRPr lang="en-US" sz="2000" b="0" u="none" strike="noStrike">
                <a:solidFill>
                  <a:schemeClr val="dk1"/>
                </a:solidFill>
                <a:effectLst/>
                <a:uFillTx/>
                <a:latin typeface="Calibri"/>
              </a:defRPr>
            </a:lvl4pPr>
            <a:lvl5pPr lvl="4" algn="l" defTabSz="457200">
              <a:spcBef>
                <a:spcPts val="400"/>
              </a:spcBef>
              <a:buClr>
                <a:srgbClr val="000000"/>
              </a:buClr>
              <a:buSzPct val="45000"/>
              <a:buFont typeface="Wingdings" charset="2"/>
              <a:buChar char=""/>
              <a:defRPr lang="en-US" sz="2000" b="0" u="none" strike="noStrike">
                <a:solidFill>
                  <a:schemeClr val="dk1"/>
                </a:solidFill>
                <a:effectLst/>
                <a:uFillTx/>
                <a:latin typeface="Calibri"/>
              </a:defRPr>
            </a:lvl5pPr>
            <a:lvl6pPr lvl="5" algn="l" defTabSz="457200">
              <a:spcBef>
                <a:spcPts val="283"/>
              </a:spcBef>
              <a:buClr>
                <a:srgbClr val="000000"/>
              </a:buClr>
              <a:buSzPct val="45000"/>
              <a:buFont typeface="Wingdings" charset="2"/>
              <a:buChar char=""/>
              <a:defRPr lang="en-US" sz="2000" b="0" u="none" strike="noStrike">
                <a:solidFill>
                  <a:schemeClr val="dk1"/>
                </a:solidFill>
                <a:effectLst/>
                <a:uFillTx/>
                <a:latin typeface="Calibri"/>
              </a:defRPr>
            </a:lvl6pPr>
            <a:lvl7pPr lvl="6" algn="l" defTabSz="457200">
              <a:spcBef>
                <a:spcPts val="283"/>
              </a:spcBef>
              <a:buClr>
                <a:srgbClr val="000000"/>
              </a:buClr>
              <a:buSzPct val="45000"/>
              <a:buFont typeface="Wingdings" charset="2"/>
              <a:buChar char=""/>
              <a:defRPr lang="en-US" sz="2000" b="0" u="none" strike="noStrike">
                <a:solidFill>
                  <a:schemeClr val="dk1"/>
                </a:solidFill>
                <a:effectLst/>
                <a:uFillTx/>
                <a:latin typeface="Calibri"/>
              </a:defRPr>
            </a:lvl7pPr>
          </a:lstStyle>
          <a:p>
            <a:pPr marL="343080" indent="-343080" algn="l" defTabSz="457200">
              <a:spcBef>
                <a:spcPts val="641"/>
              </a:spcBef>
              <a:buClr>
                <a:srgbClr val="000000"/>
              </a:buClr>
              <a:buFont typeface="Arial"/>
              <a:buChar char="•"/>
            </a:pPr>
            <a:r>
              <a:rPr lang="en-US" sz="3200" b="0" u="none" strike="noStrike">
                <a:solidFill>
                  <a:schemeClr val="dk1"/>
                </a:solidFill>
                <a:effectLst/>
                <a:uFillTx/>
                <a:latin typeface="Calibri"/>
              </a:rPr>
              <a:t>Click to edit the outline text format</a:t>
            </a:r>
            <a:endParaRPr lang="en-US" sz="3200" b="0" u="none" strike="noStrike">
              <a:solidFill>
                <a:schemeClr val="dk1"/>
              </a:solidFill>
              <a:effectLst/>
              <a:uFillTx/>
              <a:latin typeface="Calibri"/>
            </a:endParaRPr>
          </a:p>
          <a:p>
            <a:pPr marL="864000" lvl="1" indent="-324000" algn="l" defTabSz="457200">
              <a:spcBef>
                <a:spcPts val="561"/>
              </a:spcBef>
              <a:buClr>
                <a:srgbClr val="000000"/>
              </a:buClr>
              <a:buSzPct val="75000"/>
              <a:buFont typeface="Symbol" charset="2"/>
              <a:buChar char=""/>
            </a:pPr>
            <a:r>
              <a:rPr lang="en-US" sz="2800" b="0" u="none" strike="noStrike">
                <a:solidFill>
                  <a:schemeClr val="dk1"/>
                </a:solidFill>
                <a:effectLst/>
                <a:uFillTx/>
                <a:latin typeface="Calibri"/>
              </a:rPr>
              <a:t>Second Outline Level</a:t>
            </a:r>
            <a:endParaRPr lang="en-US" sz="2800" b="0" u="none" strike="noStrike">
              <a:solidFill>
                <a:schemeClr val="dk1"/>
              </a:solidFill>
              <a:effectLst/>
              <a:uFillTx/>
              <a:latin typeface="Calibri"/>
            </a:endParaRPr>
          </a:p>
          <a:p>
            <a:pPr marL="1296000" lvl="2" indent="-288000" algn="l" defTabSz="457200">
              <a:spcBef>
                <a:spcPts val="479"/>
              </a:spcBef>
              <a:buClr>
                <a:srgbClr val="000000"/>
              </a:buClr>
              <a:buSzPct val="45000"/>
              <a:buFont typeface="Wingdings" charset="2"/>
              <a:buChar char=""/>
            </a:pPr>
            <a:r>
              <a:rPr lang="en-US" sz="2400" b="0" u="none" strike="noStrike">
                <a:solidFill>
                  <a:schemeClr val="dk1"/>
                </a:solidFill>
                <a:effectLst/>
                <a:uFillTx/>
                <a:latin typeface="Calibri"/>
              </a:rPr>
              <a:t>Third Outline Level</a:t>
            </a:r>
            <a:endParaRPr lang="en-US" sz="2400" b="0" u="none" strike="noStrike">
              <a:solidFill>
                <a:schemeClr val="dk1"/>
              </a:solidFill>
              <a:effectLst/>
              <a:uFillTx/>
              <a:latin typeface="Calibri"/>
            </a:endParaRPr>
          </a:p>
          <a:p>
            <a:pPr marL="1728000" lvl="3" indent="-216000" algn="l" defTabSz="457200">
              <a:spcBef>
                <a:spcPts val="400"/>
              </a:spcBef>
              <a:buClr>
                <a:srgbClr val="000000"/>
              </a:buClr>
              <a:buSzPct val="75000"/>
              <a:buFont typeface="Symbol" charset="2"/>
              <a:buChar char=""/>
            </a:pPr>
            <a:r>
              <a:rPr lang="en-US" sz="2000" b="0" u="none" strike="noStrike">
                <a:solidFill>
                  <a:schemeClr val="dk1"/>
                </a:solidFill>
                <a:effectLst/>
                <a:uFillTx/>
                <a:latin typeface="Calibri"/>
              </a:rPr>
              <a:t>Fourth Outline Level</a:t>
            </a:r>
            <a:endParaRPr lang="en-US" sz="2000" b="0" u="none" strike="noStrike">
              <a:solidFill>
                <a:schemeClr val="dk1"/>
              </a:solidFill>
              <a:effectLst/>
              <a:uFillTx/>
              <a:latin typeface="Calibri"/>
            </a:endParaRPr>
          </a:p>
          <a:p>
            <a:pPr marL="2160000" lvl="4" indent="-216000" algn="l" defTabSz="457200">
              <a:spcBef>
                <a:spcPts val="400"/>
              </a:spcBef>
              <a:buClr>
                <a:srgbClr val="000000"/>
              </a:buClr>
              <a:buSzPct val="45000"/>
              <a:buFont typeface="Wingdings" charset="2"/>
              <a:buChar char=""/>
            </a:pPr>
            <a:r>
              <a:rPr lang="en-US" sz="2000" b="0" u="none" strike="noStrike">
                <a:solidFill>
                  <a:schemeClr val="dk1"/>
                </a:solidFill>
                <a:effectLst/>
                <a:uFillTx/>
                <a:latin typeface="Calibri"/>
              </a:rPr>
              <a:t>Fifth Outline Level</a:t>
            </a:r>
            <a:endParaRPr lang="en-US" sz="2000" b="0" u="none" strike="noStrike">
              <a:solidFill>
                <a:schemeClr val="dk1"/>
              </a:solidFill>
              <a:effectLst/>
              <a:uFillTx/>
              <a:latin typeface="Calibri"/>
            </a:endParaRPr>
          </a:p>
          <a:p>
            <a:pPr marL="2592000" lvl="5" indent="-216000" algn="l" defTabSz="457200">
              <a:spcBef>
                <a:spcPts val="283"/>
              </a:spcBef>
              <a:buClr>
                <a:srgbClr val="000000"/>
              </a:buClr>
              <a:buSzPct val="45000"/>
              <a:buFont typeface="Wingdings" charset="2"/>
              <a:buChar char=""/>
            </a:pPr>
            <a:r>
              <a:rPr lang="en-US" sz="2000" b="0" u="none" strike="noStrike">
                <a:solidFill>
                  <a:schemeClr val="dk1"/>
                </a:solidFill>
                <a:effectLst/>
                <a:uFillTx/>
                <a:latin typeface="Calibri"/>
              </a:rPr>
              <a:t>Sixth Outline Level</a:t>
            </a:r>
            <a:endParaRPr lang="en-US" sz="2000" b="0" u="none" strike="noStrike">
              <a:solidFill>
                <a:schemeClr val="dk1"/>
              </a:solidFill>
              <a:effectLst/>
              <a:uFillTx/>
              <a:latin typeface="Calibri"/>
            </a:endParaRPr>
          </a:p>
          <a:p>
            <a:pPr marL="3024000" lvl="6" indent="-216000" algn="l" defTabSz="457200">
              <a:spcBef>
                <a:spcPts val="283"/>
              </a:spcBef>
              <a:buClr>
                <a:srgbClr val="000000"/>
              </a:buClr>
              <a:buSzPct val="45000"/>
              <a:buFont typeface="Wingdings" charset="2"/>
              <a:buChar char=""/>
            </a:pPr>
            <a:r>
              <a:rPr lang="en-US" sz="2000" b="0" u="none" strike="noStrike">
                <a:solidFill>
                  <a:schemeClr val="dk1"/>
                </a:solidFill>
                <a:effectLst/>
                <a:uFillTx/>
                <a:latin typeface="Calibri"/>
              </a:rPr>
              <a:t>Seventh Outline Level</a:t>
            </a:r>
            <a:endParaRPr lang="en-US" sz="2000" b="0" u="none" strike="noStrike">
              <a:solidFill>
                <a:schemeClr val="dk1"/>
              </a:solidFill>
              <a:effectLst/>
              <a:uFillTx/>
              <a:latin typeface="Calibri"/>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ntent with Caption">
    <p:bg>
      <p:bgPr>
        <a:solidFill>
          <a:srgbClr val="FFFFFF"/>
        </a:solidFill>
      </p:bgPr>
    </p:bg>
    <p:spTree>
      <p:nvGrpSpPr>
        <p:cNvPr id="1" name=""/>
        <p:cNvGrpSpPr/>
        <p:nvPr/>
      </p:nvGrpSpPr>
      <p:grpSpPr>
        <a:xfrm>
          <a:off x="0" y="0"/>
          <a:ext cx="0" cy="0"/>
          <a:chOff x="0" y="0"/>
          <a:chExt cx="0" cy="0"/>
        </a:xfrm>
      </p:grpSpPr>
      <p:sp>
        <p:nvSpPr>
          <p:cNvPr id="49" name="PlaceHolder 1"/>
          <p:cNvSpPr>
            <a:spLocks noGrp="1"/>
          </p:cNvSpPr>
          <p:nvPr>
            <p:ph type="title"/>
          </p:nvPr>
        </p:nvSpPr>
        <p:spPr>
          <a:xfrm>
            <a:off x="457200" y="272880"/>
            <a:ext cx="3007800" cy="1161720"/>
          </a:xfrm>
          <a:prstGeom prst="rect">
            <a:avLst/>
          </a:prstGeom>
          <a:noFill/>
          <a:ln w="0">
            <a:noFill/>
          </a:ln>
        </p:spPr>
        <p:txBody>
          <a:bodyPr lIns="91440" tIns="45720" rIns="91440" bIns="45720" anchor="b">
            <a:noAutofit/>
          </a:bodyPr>
          <a:lstStyle>
            <a:lvl1pPr indent="0" algn="l" defTabSz="457200">
              <a:lnSpc>
                <a:spcPct val="100000"/>
              </a:lnSpc>
              <a:buNone/>
              <a:defRPr lang="en-US" sz="2000" b="1" u="none" strike="noStrike">
                <a:solidFill>
                  <a:schemeClr val="dk1"/>
                </a:solidFill>
                <a:effectLst/>
                <a:uFillTx/>
                <a:latin typeface="Calibri"/>
              </a:defRPr>
            </a:lvl1pPr>
          </a:lstStyle>
          <a:p>
            <a:pPr indent="0" algn="l" defTabSz="457200">
              <a:lnSpc>
                <a:spcPct val="100000"/>
              </a:lnSpc>
              <a:buNone/>
            </a:pPr>
            <a:r>
              <a:rPr lang="en-US" sz="2000" b="1" u="none" strike="noStrike">
                <a:solidFill>
                  <a:schemeClr val="dk1"/>
                </a:solidFill>
                <a:effectLst/>
                <a:uFillTx/>
                <a:latin typeface="Calibri"/>
              </a:rPr>
              <a:t>Click to edit Master title style</a:t>
            </a:r>
            <a:endParaRPr lang="en-US" sz="2000" b="1" u="none" strike="noStrike">
              <a:solidFill>
                <a:schemeClr val="dk1"/>
              </a:solidFill>
              <a:effectLst/>
              <a:uFillTx/>
              <a:latin typeface="Calibri"/>
            </a:endParaRPr>
          </a:p>
        </p:txBody>
      </p:sp>
      <p:sp>
        <p:nvSpPr>
          <p:cNvPr id="50" name="PlaceHolder 2"/>
          <p:cNvSpPr>
            <a:spLocks noGrp="1"/>
          </p:cNvSpPr>
          <p:nvPr>
            <p:ph type="body"/>
          </p:nvPr>
        </p:nvSpPr>
        <p:spPr>
          <a:xfrm>
            <a:off x="3575160" y="272880"/>
            <a:ext cx="5111280" cy="5852880"/>
          </a:xfrm>
          <a:prstGeom prst="rect">
            <a:avLst/>
          </a:prstGeom>
          <a:noFill/>
          <a:ln w="0">
            <a:noFill/>
          </a:ln>
        </p:spPr>
        <p:txBody>
          <a:bodyPr lIns="91440" tIns="45720" rIns="91440" bIns="45720" ancho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endParaRPr lang="en-US" sz="3200" b="0" u="none" strike="noStrike">
              <a:solidFill>
                <a:schemeClr val="dk1"/>
              </a:solidFill>
              <a:effectLst/>
              <a:uFillTx/>
              <a:latin typeface="Calibri"/>
            </a:endParaRP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endParaRPr lang="en-US" sz="2800" b="0" u="none" strike="noStrike">
              <a:solidFill>
                <a:schemeClr val="dk1"/>
              </a:solidFill>
              <a:effectLst/>
              <a:uFillTx/>
              <a:latin typeface="Calibri"/>
            </a:endParaRP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endParaRPr lang="en-US" sz="2400" b="0" u="none" strike="noStrike">
              <a:solidFill>
                <a:schemeClr val="dk1"/>
              </a:solidFill>
              <a:effectLst/>
              <a:uFillTx/>
              <a:latin typeface="Calibri"/>
            </a:endParaRP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endParaRPr lang="en-US" sz="2000" b="0" u="none" strike="noStrike">
              <a:solidFill>
                <a:schemeClr val="dk1"/>
              </a:solidFill>
              <a:effectLst/>
              <a:uFillTx/>
              <a:latin typeface="Calibri"/>
            </a:endParaRP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endParaRPr lang="en-US" sz="2000" b="0" u="none" strike="noStrike">
              <a:solidFill>
                <a:schemeClr val="dk1"/>
              </a:solidFill>
              <a:effectLst/>
              <a:uFillTx/>
              <a:latin typeface="Calibri"/>
            </a:endParaRPr>
          </a:p>
        </p:txBody>
      </p:sp>
      <p:sp>
        <p:nvSpPr>
          <p:cNvPr id="51" name="PlaceHolder 3"/>
          <p:cNvSpPr>
            <a:spLocks noGrp="1"/>
          </p:cNvSpPr>
          <p:nvPr>
            <p:ph type="body"/>
          </p:nvPr>
        </p:nvSpPr>
        <p:spPr>
          <a:xfrm>
            <a:off x="457200" y="1434960"/>
            <a:ext cx="3007800" cy="4690800"/>
          </a:xfrm>
          <a:prstGeom prst="rect">
            <a:avLst/>
          </a:prstGeom>
          <a:noFill/>
          <a:ln w="0">
            <a:noFill/>
          </a:ln>
        </p:spPr>
        <p:txBody>
          <a:bodyPr lIns="91440" tIns="45720" rIns="91440" bIns="45720" anchor="t">
            <a:noAutofit/>
          </a:bodyPr>
          <a:lstStyle>
            <a:lvl1pPr indent="0" algn="l" defTabSz="457200">
              <a:lnSpc>
                <a:spcPct val="100000"/>
              </a:lnSpc>
              <a:spcBef>
                <a:spcPts val="281"/>
              </a:spcBef>
              <a:buNone/>
              <a:tabLst>
                <a:tab pos="0" algn="l"/>
              </a:tabLst>
              <a:defRPr lang="en-US" sz="1400" b="0" u="none" strike="noStrike">
                <a:solidFill>
                  <a:schemeClr val="dk1"/>
                </a:solidFill>
                <a:effectLst/>
                <a:uFillTx/>
                <a:latin typeface="Calibri"/>
              </a:defRPr>
            </a:lvl1pPr>
          </a:lstStyle>
          <a:p>
            <a:pPr indent="0" algn="l" defTabSz="457200">
              <a:lnSpc>
                <a:spcPct val="100000"/>
              </a:lnSpc>
              <a:spcBef>
                <a:spcPts val="281"/>
              </a:spcBef>
              <a:buNone/>
              <a:tabLst>
                <a:tab pos="0" algn="l"/>
              </a:tabLst>
            </a:pPr>
            <a:r>
              <a:rPr lang="en-US" sz="1400" b="0" u="none" strike="noStrike">
                <a:solidFill>
                  <a:schemeClr val="dk1"/>
                </a:solidFill>
                <a:effectLst/>
                <a:uFillTx/>
                <a:latin typeface="Calibri"/>
              </a:rPr>
              <a:t>Click to edit Master text styles</a:t>
            </a:r>
            <a:endParaRPr lang="en-US" sz="1400" b="0" u="none" strike="noStrike">
              <a:solidFill>
                <a:schemeClr val="dk1"/>
              </a:solidFill>
              <a:effectLst/>
              <a:uFillTx/>
              <a:latin typeface="Calibri"/>
            </a:endParaRPr>
          </a:p>
        </p:txBody>
      </p:sp>
      <p:sp>
        <p:nvSpPr>
          <p:cNvPr id="52" name="PlaceHolder 4"/>
          <p:cNvSpPr>
            <a:spLocks noGrp="1"/>
          </p:cNvSpPr>
          <p:nvPr>
            <p:ph type="dt" idx="28"/>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53" name="PlaceHolder 5"/>
          <p:cNvSpPr>
            <a:spLocks noGrp="1"/>
          </p:cNvSpPr>
          <p:nvPr>
            <p:ph type="ftr" idx="29"/>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54" name="PlaceHolder 6"/>
          <p:cNvSpPr>
            <a:spLocks noGrp="1"/>
          </p:cNvSpPr>
          <p:nvPr>
            <p:ph type="sldNum" idx="30"/>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4F94C652-D21B-4E2A-8F57-28FEC59E44BC}"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icture with Caption">
    <p:bg>
      <p:bgPr>
        <a:solidFill>
          <a:srgbClr val="FFFFFF"/>
        </a:solidFill>
      </p:bgPr>
    </p:bg>
    <p:spTree>
      <p:nvGrpSpPr>
        <p:cNvPr id="1" name=""/>
        <p:cNvGrpSpPr/>
        <p:nvPr/>
      </p:nvGrpSpPr>
      <p:grpSpPr>
        <a:xfrm>
          <a:off x="0" y="0"/>
          <a:ext cx="0" cy="0"/>
          <a:chOff x="0" y="0"/>
          <a:chExt cx="0" cy="0"/>
        </a:xfrm>
      </p:grpSpPr>
      <p:sp>
        <p:nvSpPr>
          <p:cNvPr id="55" name="PlaceHolder 1"/>
          <p:cNvSpPr>
            <a:spLocks noGrp="1"/>
          </p:cNvSpPr>
          <p:nvPr>
            <p:ph type="title"/>
          </p:nvPr>
        </p:nvSpPr>
        <p:spPr>
          <a:xfrm>
            <a:off x="1792440" y="4800600"/>
            <a:ext cx="5486040" cy="566280"/>
          </a:xfrm>
          <a:prstGeom prst="rect">
            <a:avLst/>
          </a:prstGeom>
          <a:noFill/>
          <a:ln w="0">
            <a:noFill/>
          </a:ln>
        </p:spPr>
        <p:txBody>
          <a:bodyPr lIns="91440" tIns="45720" rIns="91440" bIns="45720" anchor="b">
            <a:noAutofit/>
          </a:bodyPr>
          <a:lstStyle>
            <a:lvl1pPr indent="0" algn="l" defTabSz="457200">
              <a:lnSpc>
                <a:spcPct val="100000"/>
              </a:lnSpc>
              <a:buNone/>
              <a:defRPr lang="en-US" sz="2000" b="1" u="none" strike="noStrike">
                <a:solidFill>
                  <a:schemeClr val="dk1"/>
                </a:solidFill>
                <a:effectLst/>
                <a:uFillTx/>
                <a:latin typeface="Calibri"/>
              </a:defRPr>
            </a:lvl1pPr>
          </a:lstStyle>
          <a:p>
            <a:pPr indent="0" algn="l" defTabSz="457200">
              <a:lnSpc>
                <a:spcPct val="100000"/>
              </a:lnSpc>
              <a:buNone/>
            </a:pPr>
            <a:r>
              <a:rPr lang="en-US" sz="2000" b="1" u="none" strike="noStrike">
                <a:solidFill>
                  <a:schemeClr val="dk1"/>
                </a:solidFill>
                <a:effectLst/>
                <a:uFillTx/>
                <a:latin typeface="Calibri"/>
              </a:rPr>
              <a:t>Click to edit Master title style</a:t>
            </a:r>
            <a:endParaRPr lang="en-US" sz="2000" b="1" u="none" strike="noStrike">
              <a:solidFill>
                <a:schemeClr val="dk1"/>
              </a:solidFill>
              <a:effectLst/>
              <a:uFillTx/>
              <a:latin typeface="Calibri"/>
            </a:endParaRPr>
          </a:p>
        </p:txBody>
      </p:sp>
      <p:sp>
        <p:nvSpPr>
          <p:cNvPr id="56" name="PlaceHolder 2"/>
          <p:cNvSpPr>
            <a:spLocks noGrp="1"/>
          </p:cNvSpPr>
          <p:nvPr>
            <p:ph type="body"/>
          </p:nvPr>
        </p:nvSpPr>
        <p:spPr>
          <a:xfrm>
            <a:off x="1792440" y="612720"/>
            <a:ext cx="5486040" cy="4114440"/>
          </a:xfrm>
          <a:prstGeom prst="rect">
            <a:avLst/>
          </a:prstGeom>
          <a:noFill/>
          <a:ln w="0">
            <a:noFill/>
          </a:ln>
        </p:spPr>
        <p:txBody>
          <a:bodyPr lIns="90000" tIns="45000" rIns="90000" bIns="45000" anchor="t">
            <a:noAutofit/>
          </a:bodyPr>
          <a:lstStyle>
            <a:lvl1pPr algn="l" defTabSz="457200">
              <a:spcBef>
                <a:spcPts val="281"/>
              </a:spcBef>
              <a:buClr>
                <a:srgbClr val="000000"/>
              </a:buClr>
              <a:buFont typeface="Arial"/>
              <a:buChar char="•"/>
              <a:tabLst>
                <a:tab pos="0" algn="l"/>
              </a:tabLst>
              <a:defRPr lang="en-US" sz="3200" b="0" u="none" strike="noStrike">
                <a:solidFill>
                  <a:schemeClr val="dk1"/>
                </a:solidFill>
                <a:effectLst/>
                <a:uFillTx/>
                <a:latin typeface="Calibri"/>
              </a:defRPr>
            </a:lvl1pPr>
            <a:lvl2pPr lvl="1" algn="l" defTabSz="457200">
              <a:spcBef>
                <a:spcPts val="561"/>
              </a:spcBef>
              <a:buClr>
                <a:srgbClr val="000000"/>
              </a:buClr>
              <a:buSzPct val="75000"/>
              <a:buFont typeface="Symbol" charset="2"/>
              <a:buChar char=""/>
              <a:defRPr lang="en-US" sz="3200" b="0" u="none" strike="noStrike">
                <a:solidFill>
                  <a:schemeClr val="dk1"/>
                </a:solidFill>
                <a:effectLst/>
                <a:uFillTx/>
                <a:latin typeface="Calibri"/>
              </a:defRPr>
            </a:lvl2pPr>
            <a:lvl3pPr lvl="2" algn="l" defTabSz="457200">
              <a:spcBef>
                <a:spcPts val="479"/>
              </a:spcBef>
              <a:buClr>
                <a:srgbClr val="000000"/>
              </a:buClr>
              <a:buSzPct val="45000"/>
              <a:buFont typeface="Wingdings" charset="2"/>
              <a:buChar char=""/>
              <a:defRPr lang="en-US" sz="3200" b="0" u="none" strike="noStrike">
                <a:solidFill>
                  <a:schemeClr val="dk1"/>
                </a:solidFill>
                <a:effectLst/>
                <a:uFillTx/>
                <a:latin typeface="Calibri"/>
              </a:defRPr>
            </a:lvl3pPr>
            <a:lvl4pPr lvl="3" algn="l" defTabSz="457200">
              <a:spcBef>
                <a:spcPts val="400"/>
              </a:spcBef>
              <a:buClr>
                <a:srgbClr val="000000"/>
              </a:buClr>
              <a:buSzPct val="75000"/>
              <a:buFont typeface="Symbol" charset="2"/>
              <a:buChar char=""/>
              <a:defRPr lang="en-US" sz="3200" b="0" u="none" strike="noStrike">
                <a:solidFill>
                  <a:schemeClr val="dk1"/>
                </a:solidFill>
                <a:effectLst/>
                <a:uFillTx/>
                <a:latin typeface="Calibri"/>
              </a:defRPr>
            </a:lvl4pPr>
            <a:lvl5pPr lvl="4" algn="l" defTabSz="457200">
              <a:spcBef>
                <a:spcPts val="400"/>
              </a:spcBef>
              <a:buClr>
                <a:srgbClr val="000000"/>
              </a:buClr>
              <a:buSzPct val="45000"/>
              <a:buFont typeface="Wingdings" charset="2"/>
              <a:buChar char=""/>
              <a:defRPr lang="en-US" sz="3200" b="0" u="none" strike="noStrike">
                <a:solidFill>
                  <a:schemeClr val="dk1"/>
                </a:solidFill>
                <a:effectLst/>
                <a:uFillTx/>
                <a:latin typeface="Calibri"/>
              </a:defRPr>
            </a:lvl5pPr>
            <a:lvl6pPr lvl="5" algn="l" defTabSz="457200">
              <a:spcBef>
                <a:spcPts val="283"/>
              </a:spcBef>
              <a:buClr>
                <a:srgbClr val="000000"/>
              </a:buClr>
              <a:buSzPct val="45000"/>
              <a:buFont typeface="Wingdings" charset="2"/>
              <a:buChar char=""/>
              <a:defRPr lang="en-US" sz="3200" b="0" u="none" strike="noStrike">
                <a:solidFill>
                  <a:schemeClr val="dk1"/>
                </a:solidFill>
                <a:effectLst/>
                <a:uFillTx/>
                <a:latin typeface="Calibri"/>
              </a:defRPr>
            </a:lvl6pPr>
            <a:lvl7pPr lvl="6" algn="l" defTabSz="457200">
              <a:spcBef>
                <a:spcPts val="283"/>
              </a:spcBef>
              <a:buClr>
                <a:srgbClr val="000000"/>
              </a:buClr>
              <a:buSzPct val="45000"/>
              <a:buFont typeface="Wingdings" charset="2"/>
              <a:buChar char=""/>
              <a:defRPr lang="en-US" sz="3200" b="0" u="none" strike="noStrike">
                <a:solidFill>
                  <a:schemeClr val="dk1"/>
                </a:solidFill>
                <a:effectLst/>
                <a:uFillTx/>
                <a:latin typeface="Calibri"/>
              </a:defRPr>
            </a:lvl7pPr>
          </a:lstStyle>
          <a:p>
            <a:pPr algn="l" defTabSz="457200">
              <a:spcBef>
                <a:spcPts val="281"/>
              </a:spcBef>
              <a:buClr>
                <a:srgbClr val="000000"/>
              </a:buClr>
              <a:buFont typeface="Arial"/>
              <a:buChar char="•"/>
              <a:tabLst>
                <a:tab pos="0" algn="l"/>
              </a:tabLst>
            </a:pPr>
            <a:r>
              <a:rPr lang="en-US" sz="3200" b="0" u="none" strike="noStrike">
                <a:solidFill>
                  <a:schemeClr val="dk1"/>
                </a:solidFill>
                <a:effectLst/>
                <a:uFillTx/>
                <a:latin typeface="Calibri"/>
              </a:rPr>
              <a:t>Click to edit the outline text format</a:t>
            </a:r>
            <a:endParaRPr lang="en-US" sz="3200" b="0" u="none" strike="noStrike">
              <a:solidFill>
                <a:schemeClr val="dk1"/>
              </a:solidFill>
              <a:effectLst/>
              <a:uFillTx/>
              <a:latin typeface="Calibri"/>
            </a:endParaRPr>
          </a:p>
          <a:p>
            <a:pPr marL="457200" lvl="1" algn="l" defTabSz="457200">
              <a:spcBef>
                <a:spcPts val="561"/>
              </a:spcBef>
              <a:buClr>
                <a:srgbClr val="000000"/>
              </a:buClr>
              <a:buSzPct val="75000"/>
              <a:buFont typeface="Symbol" charset="2"/>
              <a:buChar char=""/>
            </a:pPr>
            <a:r>
              <a:rPr lang="en-US" sz="3200" b="0" u="none" strike="noStrike">
                <a:solidFill>
                  <a:schemeClr val="dk1"/>
                </a:solidFill>
                <a:effectLst/>
                <a:uFillTx/>
                <a:latin typeface="Calibri"/>
              </a:rPr>
              <a:t>Second Outline Level</a:t>
            </a:r>
            <a:endParaRPr lang="en-US" sz="3200" b="0" u="none" strike="noStrike">
              <a:solidFill>
                <a:schemeClr val="dk1"/>
              </a:solidFill>
              <a:effectLst/>
              <a:uFillTx/>
              <a:latin typeface="Calibri"/>
            </a:endParaRPr>
          </a:p>
          <a:p>
            <a:pPr marL="914400" lvl="2" algn="l" defTabSz="457200">
              <a:spcBef>
                <a:spcPts val="479"/>
              </a:spcBef>
              <a:buClr>
                <a:srgbClr val="000000"/>
              </a:buClr>
              <a:buSzPct val="45000"/>
              <a:buFont typeface="Wingdings" charset="2"/>
              <a:buChar char=""/>
            </a:pPr>
            <a:r>
              <a:rPr lang="en-US" sz="3200" b="0" u="none" strike="noStrike">
                <a:solidFill>
                  <a:schemeClr val="dk1"/>
                </a:solidFill>
                <a:effectLst/>
                <a:uFillTx/>
                <a:latin typeface="Calibri"/>
              </a:rPr>
              <a:t>Third Outline Level</a:t>
            </a:r>
            <a:endParaRPr lang="en-US" sz="3200" b="0" u="none" strike="noStrike">
              <a:solidFill>
                <a:schemeClr val="dk1"/>
              </a:solidFill>
              <a:effectLst/>
              <a:uFillTx/>
              <a:latin typeface="Calibri"/>
            </a:endParaRPr>
          </a:p>
          <a:p>
            <a:pPr marL="1371600" lvl="3" algn="l" defTabSz="457200">
              <a:spcBef>
                <a:spcPts val="400"/>
              </a:spcBef>
              <a:buClr>
                <a:srgbClr val="000000"/>
              </a:buClr>
              <a:buSzPct val="75000"/>
              <a:buFont typeface="Symbol" charset="2"/>
              <a:buChar char=""/>
            </a:pPr>
            <a:r>
              <a:rPr lang="en-US" sz="3200" b="0" u="none" strike="noStrike">
                <a:solidFill>
                  <a:schemeClr val="dk1"/>
                </a:solidFill>
                <a:effectLst/>
                <a:uFillTx/>
                <a:latin typeface="Calibri"/>
              </a:rPr>
              <a:t>Fourth Outline Level</a:t>
            </a:r>
            <a:endParaRPr lang="en-US" sz="3200" b="0" u="none" strike="noStrike">
              <a:solidFill>
                <a:schemeClr val="dk1"/>
              </a:solidFill>
              <a:effectLst/>
              <a:uFillTx/>
              <a:latin typeface="Calibri"/>
            </a:endParaRPr>
          </a:p>
          <a:p>
            <a:pPr marL="1828800" lvl="4" algn="l" defTabSz="457200">
              <a:spcBef>
                <a:spcPts val="400"/>
              </a:spcBef>
              <a:buClr>
                <a:srgbClr val="000000"/>
              </a:buClr>
              <a:buSzPct val="45000"/>
              <a:buFont typeface="Wingdings" charset="2"/>
              <a:buChar char=""/>
            </a:pPr>
            <a:r>
              <a:rPr lang="en-US" sz="3200" b="0" u="none" strike="noStrike">
                <a:solidFill>
                  <a:schemeClr val="dk1"/>
                </a:solidFill>
                <a:effectLst/>
                <a:uFillTx/>
                <a:latin typeface="Calibri"/>
              </a:rPr>
              <a:t>Fifth Outline Level</a:t>
            </a:r>
            <a:endParaRPr lang="en-US" sz="3200" b="0" u="none" strike="noStrike">
              <a:solidFill>
                <a:schemeClr val="dk1"/>
              </a:solidFill>
              <a:effectLst/>
              <a:uFillTx/>
              <a:latin typeface="Calibri"/>
            </a:endParaRPr>
          </a:p>
          <a:p>
            <a:pPr marL="2286000" lvl="5" algn="l" defTabSz="457200">
              <a:spcBef>
                <a:spcPts val="283"/>
              </a:spcBef>
              <a:buClr>
                <a:srgbClr val="000000"/>
              </a:buClr>
              <a:buSzPct val="45000"/>
              <a:buFont typeface="Wingdings" charset="2"/>
              <a:buChar char=""/>
            </a:pPr>
            <a:r>
              <a:rPr lang="en-US" sz="3200" b="0" u="none" strike="noStrike">
                <a:solidFill>
                  <a:schemeClr val="dk1"/>
                </a:solidFill>
                <a:effectLst/>
                <a:uFillTx/>
                <a:latin typeface="Calibri"/>
              </a:rPr>
              <a:t>Sixth Outline Level</a:t>
            </a:r>
            <a:endParaRPr lang="en-US" sz="3200" b="0" u="none" strike="noStrike">
              <a:solidFill>
                <a:schemeClr val="dk1"/>
              </a:solidFill>
              <a:effectLst/>
              <a:uFillTx/>
              <a:latin typeface="Calibri"/>
            </a:endParaRPr>
          </a:p>
          <a:p>
            <a:pPr marL="2743200" lvl="6" algn="l" defTabSz="457200">
              <a:spcBef>
                <a:spcPts val="283"/>
              </a:spcBef>
              <a:buClr>
                <a:srgbClr val="000000"/>
              </a:buClr>
              <a:buSzPct val="45000"/>
              <a:buFont typeface="Wingdings" charset="2"/>
              <a:buChar char=""/>
            </a:pPr>
            <a:r>
              <a:rPr lang="en-US" sz="3200" b="0" u="none" strike="noStrike">
                <a:solidFill>
                  <a:schemeClr val="dk1"/>
                </a:solidFill>
                <a:effectLst/>
                <a:uFillTx/>
                <a:latin typeface="Calibri"/>
              </a:rPr>
              <a:t>Seventh Outline Level</a:t>
            </a:r>
            <a:endParaRPr lang="en-US" sz="3200" b="0" u="none" strike="noStrike">
              <a:solidFill>
                <a:schemeClr val="dk1"/>
              </a:solidFill>
              <a:effectLst/>
              <a:uFillTx/>
              <a:latin typeface="Calibri"/>
            </a:endParaRPr>
          </a:p>
        </p:txBody>
      </p:sp>
      <p:sp>
        <p:nvSpPr>
          <p:cNvPr id="57" name="PlaceHolder 3"/>
          <p:cNvSpPr>
            <a:spLocks noGrp="1"/>
          </p:cNvSpPr>
          <p:nvPr>
            <p:ph type="body"/>
          </p:nvPr>
        </p:nvSpPr>
        <p:spPr>
          <a:xfrm>
            <a:off x="1792440" y="5367240"/>
            <a:ext cx="5486040" cy="804600"/>
          </a:xfrm>
          <a:prstGeom prst="rect">
            <a:avLst/>
          </a:prstGeom>
          <a:noFill/>
          <a:ln w="0">
            <a:noFill/>
          </a:ln>
        </p:spPr>
        <p:txBody>
          <a:bodyPr lIns="91440" tIns="45720" rIns="91440" bIns="45720" anchor="t">
            <a:noAutofit/>
          </a:bodyPr>
          <a:lstStyle>
            <a:lvl1pPr indent="0" algn="l" defTabSz="457200">
              <a:lnSpc>
                <a:spcPct val="100000"/>
              </a:lnSpc>
              <a:spcBef>
                <a:spcPts val="281"/>
              </a:spcBef>
              <a:buNone/>
              <a:tabLst>
                <a:tab pos="0" algn="l"/>
              </a:tabLst>
              <a:defRPr lang="en-US" sz="1400" b="0" u="none" strike="noStrike">
                <a:solidFill>
                  <a:schemeClr val="dk1"/>
                </a:solidFill>
                <a:effectLst/>
                <a:uFillTx/>
                <a:latin typeface="Calibri"/>
              </a:defRPr>
            </a:lvl1pPr>
          </a:lstStyle>
          <a:p>
            <a:pPr indent="0" algn="l" defTabSz="457200">
              <a:lnSpc>
                <a:spcPct val="100000"/>
              </a:lnSpc>
              <a:spcBef>
                <a:spcPts val="281"/>
              </a:spcBef>
              <a:buNone/>
              <a:tabLst>
                <a:tab pos="0" algn="l"/>
              </a:tabLst>
            </a:pPr>
            <a:r>
              <a:rPr lang="en-US" sz="1400" b="0" u="none" strike="noStrike">
                <a:solidFill>
                  <a:schemeClr val="dk1"/>
                </a:solidFill>
                <a:effectLst/>
                <a:uFillTx/>
                <a:latin typeface="Calibri"/>
              </a:rPr>
              <a:t>Click to edit Master text styles</a:t>
            </a:r>
            <a:endParaRPr lang="en-US" sz="1400" b="0" u="none" strike="noStrike">
              <a:solidFill>
                <a:schemeClr val="dk1"/>
              </a:solidFill>
              <a:effectLst/>
              <a:uFillTx/>
              <a:latin typeface="Calibri"/>
            </a:endParaRPr>
          </a:p>
        </p:txBody>
      </p:sp>
      <p:sp>
        <p:nvSpPr>
          <p:cNvPr id="58" name="PlaceHolder 4"/>
          <p:cNvSpPr>
            <a:spLocks noGrp="1"/>
          </p:cNvSpPr>
          <p:nvPr>
            <p:ph type="dt" idx="31"/>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59" name="PlaceHolder 5"/>
          <p:cNvSpPr>
            <a:spLocks noGrp="1"/>
          </p:cNvSpPr>
          <p:nvPr>
            <p:ph type="ftr" idx="32"/>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60" name="PlaceHolder 6"/>
          <p:cNvSpPr>
            <a:spLocks noGrp="1"/>
          </p:cNvSpPr>
          <p:nvPr>
            <p:ph type="sldNum" idx="33"/>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9E337B5A-8161-474B-983B-CB7F5964406C}"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Masters/_rels/slideMaster1.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slideLayout" Target="../slideLayouts/slideLayout9.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5.xml"/></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67" name="TextBox 1" descr="Title slide: Databases for Hackers — A Ronin 48 stand-up talk." title="Title slide: Databases for Hackers — A Ronin 48 stand-up talk."/>
          <p:cNvSpPr/>
          <p:nvPr/>
        </p:nvSpPr>
        <p:spPr>
          <a:xfrm>
            <a:off x="457200" y="2103120"/>
            <a:ext cx="11246760" cy="13712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8300" b="1" u="none" strike="noStrike">
                <a:solidFill>
                  <a:srgbClr val="00FF41"/>
                </a:solidFill>
                <a:effectLst/>
                <a:uFillTx/>
                <a:latin typeface="Calibri"/>
              </a:rPr>
              <a:t>BASES DE DONNÉES</a:t>
            </a:r>
            <a:endParaRPr lang="en-US" sz="8400" b="0" u="none" strike="noStrike">
              <a:solidFill>
                <a:srgbClr val="FFFFFF"/>
              </a:solidFill>
              <a:effectLst/>
              <a:uFillTx/>
              <a:latin typeface="Arial"/>
            </a:endParaRPr>
          </a:p>
        </p:txBody>
      </p:sp>
      <p:sp>
        <p:nvSpPr>
          <p:cNvPr id="68" name="TextBox 2"/>
          <p:cNvSpPr/>
          <p:nvPr/>
        </p:nvSpPr>
        <p:spPr>
          <a:xfrm>
            <a:off x="457200" y="3108960"/>
            <a:ext cx="11246760" cy="100476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6000" b="1" u="none" strike="noStrike">
                <a:solidFill>
                  <a:srgbClr val="FFFFFF"/>
                </a:solidFill>
                <a:effectLst/>
                <a:uFillTx/>
                <a:latin typeface="Calibri"/>
              </a:rPr>
              <a:t>pour les hackers</a:t>
            </a:r>
            <a:endParaRPr lang="en-US" sz="6000" b="0" u="none" strike="noStrike">
              <a:solidFill>
                <a:srgbClr val="FFFFFF"/>
              </a:solidFill>
              <a:effectLst/>
              <a:uFillTx/>
              <a:latin typeface="Arial"/>
            </a:endParaRPr>
          </a:p>
        </p:txBody>
      </p:sp>
      <p:sp>
        <p:nvSpPr>
          <p:cNvPr id="69" name="Rectangle 3"/>
          <p:cNvSpPr/>
          <p:nvPr/>
        </p:nvSpPr>
        <p:spPr>
          <a:xfrm>
            <a:off x="5181840" y="4297680"/>
            <a:ext cx="1828440" cy="72720"/>
          </a:xfrm>
          <a:prstGeom prst="rect">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p>
            <a:endParaRPr lang="en-US" sz="1800" b="0" u="none" strike="noStrike">
              <a:solidFill>
                <a:schemeClr val="lt1"/>
              </a:solidFill>
              <a:effectLst/>
              <a:uFillTx/>
              <a:latin typeface="Calibri"/>
            </a:endParaRPr>
          </a:p>
        </p:txBody>
      </p:sp>
      <p:sp>
        <p:nvSpPr>
          <p:cNvPr id="70" name="TextBox 4"/>
          <p:cNvSpPr/>
          <p:nvPr/>
        </p:nvSpPr>
        <p:spPr>
          <a:xfrm>
            <a:off x="457200" y="4480560"/>
            <a:ext cx="11246760" cy="5774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3200" b="0" u="none" strike="noStrike">
                <a:solidFill>
                  <a:srgbClr val="00D4FF"/>
                </a:solidFill>
                <a:effectLst/>
                <a:uFillTx/>
                <a:latin typeface="Calibri"/>
              </a:rPr>
              <a:t>Présentation indépendante de CryptoJones</a:t>
            </a:r>
            <a:endParaRPr lang="en-US" sz="3200" b="0" u="none" strike="noStrike">
              <a:solidFill>
                <a:srgbClr val="FFFFFF"/>
              </a:solidFill>
              <a:effectLst/>
              <a:uFillTx/>
              <a:latin typeface="Arial"/>
            </a:endParaRPr>
          </a:p>
        </p:txBody>
      </p:sp>
      <p:sp>
        <p:nvSpPr>
          <p:cNvPr id="71" name="TextBox 5"/>
          <p:cNvSpPr/>
          <p:nvPr/>
        </p:nvSpPr>
        <p:spPr>
          <a:xfrm>
            <a:off x="457200" y="5120640"/>
            <a:ext cx="11246760" cy="5166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400" b="0" u="none" strike="noStrike">
                <a:solidFill>
                  <a:srgbClr val="CCCCD6"/>
                </a:solidFill>
                <a:effectLst/>
                <a:uFillTx/>
                <a:latin typeface="Calibri"/>
                <a:ea typeface="Arial Unicode MS"/>
              </a:rPr>
              <a:t>45 minutes</a:t>
            </a:r>
            <a:r>
              <a:rPr lang="en-US" sz="2800" b="1" u="none" strike="noStrike">
                <a:solidFill>
                  <a:srgbClr val="00FF41"/>
                </a:solidFill>
                <a:effectLst/>
                <a:uFillTx/>
                <a:latin typeface="Calibri"/>
                <a:ea typeface="Arial Unicode MS"/>
              </a:rPr>
              <a:t>*</a:t>
            </a:r>
            <a:r>
              <a:rPr lang="en-US" sz="2400" b="0" u="none" strike="noStrike">
                <a:solidFill>
                  <a:srgbClr val="CCCCD6"/>
                </a:solidFill>
                <a:effectLst/>
                <a:uFillTx/>
                <a:latin typeface="Calibri"/>
              </a:rPr>
              <a:t>  •  Aucun diplôme requis</a:t>
            </a:r>
            <a:endParaRPr lang="en-US" sz="2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72" name="TextBox 1"/>
          <p:cNvSpPr/>
          <p:nvPr/>
        </p:nvSpPr>
        <p:spPr>
          <a:xfrm>
            <a:off x="-1143000" y="2057400"/>
            <a:ext cx="9445320" cy="13712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5400" b="1" u="none" strike="noStrike">
                <a:solidFill>
                  <a:srgbClr val="00FF41"/>
                </a:solidFill>
                <a:effectLst/>
                <a:uFillTx/>
                <a:latin typeface="Calibri"/>
              </a:rPr>
              <a:t>Aaron K. Clark</a:t>
            </a:r>
            <a:endParaRPr lang="en-US" sz="5400" b="0" u="none" strike="noStrike">
              <a:solidFill>
                <a:srgbClr val="FFFFFF"/>
              </a:solidFill>
              <a:effectLst/>
              <a:uFillTx/>
              <a:latin typeface="Arial"/>
            </a:endParaRPr>
          </a:p>
        </p:txBody>
      </p:sp>
      <p:sp>
        <p:nvSpPr>
          <p:cNvPr id="73" name="TextBox 2"/>
          <p:cNvSpPr/>
          <p:nvPr/>
        </p:nvSpPr>
        <p:spPr>
          <a:xfrm>
            <a:off x="-758520" y="3018600"/>
            <a:ext cx="9445320" cy="6390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3300" b="0" u="none" strike="noStrike">
                <a:solidFill>
                  <a:srgbClr val="FFFFFF"/>
                </a:solidFill>
                <a:effectLst/>
                <a:uFillTx/>
                <a:latin typeface="Calibri"/>
              </a:rPr>
              <a:t>Étudiant en master, Eastern University*</a:t>
            </a:r>
            <a:endParaRPr lang="en-US" sz="3600" b="0" u="none" strike="noStrike">
              <a:solidFill>
                <a:srgbClr val="FFFFFF"/>
              </a:solidFill>
              <a:effectLst/>
              <a:uFillTx/>
              <a:latin typeface="Arial"/>
            </a:endParaRPr>
          </a:p>
        </p:txBody>
      </p:sp>
      <p:pic>
        <p:nvPicPr>
          <p:cNvPr id="74" name=""/>
          <p:cNvPicPr/>
          <p:nvPr/>
        </p:nvPicPr>
        <p:blipFill>
          <a:blip r:embed="rId1"/>
          <a:stretch/>
        </p:blipFill>
        <p:spPr>
          <a:xfrm>
            <a:off x="228600" y="6172200"/>
            <a:ext cx="457200" cy="457200"/>
          </a:xfrm>
          <a:prstGeom prst="rect">
            <a:avLst/>
          </a:prstGeom>
          <a:noFill/>
          <a:ln w="0">
            <a:noFill/>
          </a:ln>
        </p:spPr>
      </p:pic>
      <p:pic>
        <p:nvPicPr>
          <p:cNvPr id="75" name=""/>
          <p:cNvPicPr/>
          <p:nvPr/>
        </p:nvPicPr>
        <p:blipFill>
          <a:blip r:embed="rId2"/>
          <a:stretch/>
        </p:blipFill>
        <p:spPr>
          <a:xfrm>
            <a:off x="228600" y="228600"/>
            <a:ext cx="1371600" cy="1371600"/>
          </a:xfrm>
          <a:prstGeom prst="rect">
            <a:avLst/>
          </a:prstGeom>
          <a:noFill/>
          <a:ln w="0">
            <a:noFill/>
          </a:ln>
        </p:spPr>
      </p:pic>
      <p:pic>
        <p:nvPicPr>
          <p:cNvPr id="76" name=""/>
          <p:cNvPicPr/>
          <p:nvPr/>
        </p:nvPicPr>
        <p:blipFill>
          <a:blip r:embed="rId3"/>
          <a:stretch/>
        </p:blipFill>
        <p:spPr>
          <a:xfrm>
            <a:off x="9372600" y="228600"/>
            <a:ext cx="2514600" cy="914400"/>
          </a:xfrm>
          <a:prstGeom prst="rect">
            <a:avLst/>
          </a:prstGeom>
          <a:noFill/>
          <a:ln w="0">
            <a:noFill/>
          </a:ln>
        </p:spPr>
      </p:pic>
      <p:sp>
        <p:nvSpPr>
          <p:cNvPr id="77" name=""/>
          <p:cNvSpPr txBox="1"/>
          <p:nvPr/>
        </p:nvSpPr>
        <p:spPr>
          <a:xfrm>
            <a:off x="768240" y="6208200"/>
            <a:ext cx="3346560" cy="411120"/>
          </a:xfrm>
          <a:prstGeom prst="rect">
            <a:avLst/>
          </a:prstGeom>
          <a:noFill/>
          <a:ln w="0">
            <a:noFill/>
          </a:ln>
        </p:spPr>
        <p:txBody>
          <a:bodyPr lIns="90000" tIns="45000" rIns="90000" bIns="45000" anchor="t">
            <a:spAutoFit/>
          </a:bodyPr>
          <a:p>
            <a:r>
              <a:rPr lang="en-US" sz="2150" b="0" u="none" strike="noStrike">
                <a:solidFill>
                  <a:srgbClr val="FFFFFF"/>
                </a:solidFill>
                <a:effectLst/>
                <a:uFillTx/>
                <a:latin typeface="Calibri"/>
              </a:rPr>
              <a:t>github.com/CryptoJones</a:t>
            </a:r>
            <a:endParaRPr lang="en-US" sz="2400" b="0" u="none" strike="noStrike">
              <a:solidFill>
                <a:srgbClr val="FFFFFF"/>
              </a:solidFill>
              <a:effectLst/>
              <a:uFillTx/>
              <a:latin typeface="Arial"/>
            </a:endParaRPr>
          </a:p>
        </p:txBody>
      </p:sp>
      <p:pic>
        <p:nvPicPr>
          <p:cNvPr id="78" name=""/>
          <p:cNvPicPr/>
          <p:nvPr/>
        </p:nvPicPr>
        <p:blipFill>
          <a:blip r:embed="rId4"/>
          <a:stretch/>
        </p:blipFill>
        <p:spPr>
          <a:xfrm>
            <a:off x="7086600" y="6172200"/>
            <a:ext cx="399960" cy="457200"/>
          </a:xfrm>
          <a:prstGeom prst="rect">
            <a:avLst/>
          </a:prstGeom>
          <a:noFill/>
          <a:ln w="0">
            <a:noFill/>
          </a:ln>
        </p:spPr>
      </p:pic>
      <p:sp>
        <p:nvSpPr>
          <p:cNvPr id="79" name=""/>
          <p:cNvSpPr txBox="1"/>
          <p:nvPr/>
        </p:nvSpPr>
        <p:spPr>
          <a:xfrm>
            <a:off x="7590240" y="6208200"/>
            <a:ext cx="4224960" cy="395280"/>
          </a:xfrm>
          <a:prstGeom prst="rect">
            <a:avLst/>
          </a:prstGeom>
          <a:noFill/>
          <a:ln w="0">
            <a:noFill/>
          </a:ln>
        </p:spPr>
        <p:txBody>
          <a:bodyPr lIns="90000" tIns="45000" rIns="90000" bIns="45000" anchor="t">
            <a:spAutoFit/>
          </a:bodyPr>
          <a:p>
            <a:r>
              <a:rPr lang="en-US" sz="2150" b="0" u="none" strike="noStrike">
                <a:solidFill>
                  <a:srgbClr val="FFFFFF"/>
                </a:solidFill>
                <a:effectLst/>
                <a:uFillTx/>
                <a:latin typeface="Calibri"/>
              </a:rPr>
              <a:t>CryptoJones@infosec.exchange</a:t>
            </a:r>
            <a:endParaRPr lang="en-US" sz="2400" b="0" u="none" strike="noStrike">
              <a:solidFill>
                <a:srgbClr val="FFFFFF"/>
              </a:solidFill>
              <a:effectLst/>
              <a:uFillTx/>
              <a:latin typeface="Arial"/>
            </a:endParaRPr>
          </a:p>
        </p:txBody>
      </p:sp>
      <p:sp>
        <p:nvSpPr>
          <p:cNvPr id="80" name="TextBox 45"/>
          <p:cNvSpPr/>
          <p:nvPr/>
        </p:nvSpPr>
        <p:spPr>
          <a:xfrm>
            <a:off x="-457200" y="3704400"/>
            <a:ext cx="8458200" cy="6390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3300" b="1" u="none" strike="noStrike">
                <a:solidFill>
                  <a:srgbClr val="00FF41"/>
                </a:solidFill>
                <a:effectLst/>
                <a:uFillTx/>
                <a:latin typeface="Calibri"/>
              </a:rPr>
              <a:t>cryptojones@owasp.org</a:t>
            </a:r>
            <a:endParaRPr lang="en-US" sz="3600" b="0" u="none" strike="noStrike">
              <a:solidFill>
                <a:srgbClr val="FFFFFF"/>
              </a:solidFill>
              <a:effectLst/>
              <a:uFillTx/>
              <a:latin typeface="Arial"/>
            </a:endParaRPr>
          </a:p>
        </p:txBody>
      </p:sp>
      <p:pic>
        <p:nvPicPr>
          <p:cNvPr id="81" name=""/>
          <p:cNvPicPr/>
          <p:nvPr/>
        </p:nvPicPr>
        <p:blipFill>
          <a:blip r:embed="rId5"/>
          <a:stretch/>
        </p:blipFill>
        <p:spPr>
          <a:xfrm>
            <a:off x="8458200" y="2057400"/>
            <a:ext cx="3200400" cy="2971800"/>
          </a:xfrm>
          <a:prstGeom prst="rect">
            <a:avLst/>
          </a:prstGeom>
          <a:noFill/>
          <a:ln w="0">
            <a:noFill/>
          </a:ln>
        </p:spPr>
      </p:pic>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82" name="TextBox 1" descr="Headline slide: Every breach you have ever read about ends at a database." title="Headline slide: Every breach you have ever read about ends at a database."/>
          <p:cNvSpPr/>
          <p:nvPr/>
        </p:nvSpPr>
        <p:spPr>
          <a:xfrm>
            <a:off x="457200" y="1828800"/>
            <a:ext cx="11246760" cy="18284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5250" b="1" u="none" strike="noStrike">
                <a:solidFill>
                  <a:srgbClr val="FFFFFF"/>
                </a:solidFill>
                <a:effectLst/>
                <a:uFillTx/>
                <a:latin typeface="Calibri"/>
              </a:rPr>
              <a:t>Chaque violation dont vous avez</a:t>
            </a:r>
            <a:endParaRPr lang="en-US" sz="5600" b="0" u="none" strike="noStrike">
              <a:solidFill>
                <a:srgbClr val="FFFFFF"/>
              </a:solidFill>
              <a:effectLst/>
              <a:uFillTx/>
              <a:latin typeface="Arial"/>
            </a:endParaRPr>
          </a:p>
        </p:txBody>
      </p:sp>
      <p:sp>
        <p:nvSpPr>
          <p:cNvPr id="83" name="TextBox 2"/>
          <p:cNvSpPr/>
          <p:nvPr/>
        </p:nvSpPr>
        <p:spPr>
          <a:xfrm>
            <a:off x="457200" y="2834640"/>
            <a:ext cx="11246760" cy="18284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5250" b="1" u="none" strike="noStrike">
                <a:solidFill>
                  <a:srgbClr val="FFFFFF"/>
                </a:solidFill>
                <a:effectLst/>
                <a:uFillTx/>
                <a:latin typeface="Calibri"/>
              </a:rPr>
              <a:t>entendu parler finit dans une</a:t>
            </a:r>
            <a:endParaRPr lang="en-US" sz="5600" b="0" u="none" strike="noStrike">
              <a:solidFill>
                <a:srgbClr val="FFFFFF"/>
              </a:solidFill>
              <a:effectLst/>
              <a:uFillTx/>
              <a:latin typeface="Arial"/>
            </a:endParaRPr>
          </a:p>
        </p:txBody>
      </p:sp>
      <p:sp>
        <p:nvSpPr>
          <p:cNvPr id="84" name="TextBox 3"/>
          <p:cNvSpPr/>
          <p:nvPr/>
        </p:nvSpPr>
        <p:spPr>
          <a:xfrm>
            <a:off x="457200" y="3840480"/>
            <a:ext cx="11246760" cy="13705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8400" b="1" u="none" strike="noStrike">
                <a:solidFill>
                  <a:srgbClr val="00FF41"/>
                </a:solidFill>
                <a:effectLst/>
                <a:uFillTx/>
                <a:latin typeface="Calibri"/>
              </a:rPr>
              <a:t>BASE DE DONNÉES*</a:t>
            </a:r>
            <a:endParaRPr lang="en-US" sz="8400" b="0" u="none" strike="noStrike">
              <a:solidFill>
                <a:srgbClr val="FFFFFF"/>
              </a:solidFill>
              <a:effectLst/>
              <a:uFillTx/>
              <a:latin typeface="Arial"/>
            </a:endParaRPr>
          </a:p>
        </p:txBody>
      </p:sp>
      <p:sp>
        <p:nvSpPr>
          <p:cNvPr id="85" name="TextBox 4"/>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Les bases de données pour les hackers</a:t>
            </a:r>
            <a:endParaRPr lang="en-US" sz="1400" b="0" u="none" strike="noStrike">
              <a:solidFill>
                <a:srgbClr val="FFFFFF"/>
              </a:solidFill>
              <a:effectLst/>
              <a:uFillTx/>
              <a:latin typeface="Arial"/>
            </a:endParaRPr>
          </a:p>
        </p:txBody>
      </p:sp>
      <p:sp>
        <p:nvSpPr>
          <p:cNvPr id="86" name="TextBox 5"/>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2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87" name="TextBox 1" descr="A stylized vault icon next to four bullets explaining that attackers target the data, not the surrounding application or infrastructure." title="A stylized vault icon next to four bullets explaining that attackers target the "/>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00FF41"/>
                </a:solidFill>
                <a:effectLst/>
                <a:uFillTx/>
                <a:latin typeface="Calibri"/>
              </a:rPr>
              <a:t>Les joyaux de la couronne</a:t>
            </a:r>
            <a:endParaRPr lang="en-US" sz="4200" b="0" u="none" strike="noStrike">
              <a:solidFill>
                <a:srgbClr val="FFFFFF"/>
              </a:solidFill>
              <a:effectLst/>
              <a:uFillTx/>
              <a:latin typeface="Arial"/>
            </a:endParaRPr>
          </a:p>
        </p:txBody>
      </p:sp>
      <p:sp>
        <p:nvSpPr>
          <p:cNvPr id="88"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89" name="Rounded Rectangle 3"/>
          <p:cNvSpPr/>
          <p:nvPr/>
        </p:nvSpPr>
        <p:spPr>
          <a:xfrm>
            <a:off x="1371600" y="1828800"/>
            <a:ext cx="4114440" cy="3840120"/>
          </a:xfrm>
          <a:prstGeom prst="roundRect">
            <a:avLst>
              <a:gd name="adj" fmla="val 16667"/>
            </a:avLst>
          </a:prstGeom>
          <a:solidFill>
            <a:srgbClr val="2A2A44"/>
          </a:solidFill>
          <a:ln w="38100">
            <a:solidFill>
              <a:srgbClr val="00FF41"/>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90" name="Oval 4"/>
          <p:cNvSpPr/>
          <p:nvPr/>
        </p:nvSpPr>
        <p:spPr>
          <a:xfrm>
            <a:off x="2971800" y="3291840"/>
            <a:ext cx="914040" cy="914040"/>
          </a:xfrm>
          <a:prstGeom prst="ellipse">
            <a:avLst/>
          </a:prstGeom>
          <a:solidFill>
            <a:srgbClr val="00FF41"/>
          </a:solidFill>
          <a:ln>
            <a:solidFill>
              <a:srgbClr val="FFFF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91" name="TextBox 5"/>
          <p:cNvSpPr/>
          <p:nvPr/>
        </p:nvSpPr>
        <p:spPr>
          <a:xfrm>
            <a:off x="1371600" y="5577840"/>
            <a:ext cx="4114440" cy="4568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300" b="1" u="none" strike="noStrike">
                <a:solidFill>
                  <a:srgbClr val="00FF41"/>
                </a:solidFill>
                <a:effectLst/>
                <a:uFillTx/>
                <a:latin typeface="Calibri"/>
              </a:rPr>
              <a:t>COFFRE-FORT DE DONNÉES</a:t>
            </a:r>
            <a:endParaRPr lang="en-US" sz="2400" b="0" u="none" strike="noStrike">
              <a:solidFill>
                <a:srgbClr val="FFFFFF"/>
              </a:solidFill>
              <a:effectLst/>
              <a:uFillTx/>
              <a:latin typeface="Arial"/>
            </a:endParaRPr>
          </a:p>
        </p:txBody>
      </p:sp>
      <p:sp>
        <p:nvSpPr>
          <p:cNvPr id="92" name="TextBox 6"/>
          <p:cNvSpPr/>
          <p:nvPr/>
        </p:nvSpPr>
        <p:spPr>
          <a:xfrm>
            <a:off x="5943600" y="2011680"/>
            <a:ext cx="5943240" cy="384012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800" b="1" u="none" strike="noStrike">
                <a:solidFill>
                  <a:srgbClr val="00D4FF"/>
                </a:solidFill>
                <a:effectLst/>
                <a:uFillTx/>
                <a:latin typeface="Calibri"/>
              </a:rPr>
              <a:t>▶ </a:t>
            </a:r>
            <a:r>
              <a:rPr lang="en-US" sz="2800" b="0" u="none" strike="noStrike">
                <a:solidFill>
                  <a:srgbClr val="FFFFFF"/>
                </a:solidFill>
                <a:effectLst/>
                <a:uFillTx/>
                <a:latin typeface="Calibri"/>
              </a:rPr>
              <a:t>Pas votre application monopage.</a:t>
            </a:r>
            <a:endParaRPr lang="en-US" sz="3000" b="0" u="none" strike="noStrike">
              <a:solidFill>
                <a:srgbClr val="FFFFFF"/>
              </a:solidFill>
              <a:effectLst/>
              <a:uFillTx/>
              <a:latin typeface="Arial"/>
            </a:endParaRPr>
          </a:p>
          <a:p>
            <a:pPr defTabSz="457200">
              <a:lnSpc>
                <a:spcPct val="140000"/>
              </a:lnSpc>
            </a:pPr>
            <a:r>
              <a:rPr lang="en-US" sz="2800" b="1" u="none" strike="noStrike">
                <a:solidFill>
                  <a:srgbClr val="00D4FF"/>
                </a:solidFill>
                <a:effectLst/>
                <a:uFillTx/>
                <a:latin typeface="Calibri"/>
              </a:rPr>
              <a:t>▶ </a:t>
            </a:r>
            <a:r>
              <a:rPr lang="en-US" sz="2800" b="0" u="none" strike="noStrike">
                <a:solidFill>
                  <a:srgbClr val="FFFFFF"/>
                </a:solidFill>
                <a:effectLst/>
                <a:uFillTx/>
                <a:latin typeface="Calibri"/>
              </a:rPr>
              <a:t>Pas votre pare-feu.</a:t>
            </a:r>
            <a:endParaRPr lang="en-US" sz="3000" b="0" u="none" strike="noStrike">
              <a:solidFill>
                <a:srgbClr val="FFFFFF"/>
              </a:solidFill>
              <a:effectLst/>
              <a:uFillTx/>
              <a:latin typeface="Arial"/>
            </a:endParaRPr>
          </a:p>
          <a:p>
            <a:pPr defTabSz="457200">
              <a:lnSpc>
                <a:spcPct val="140000"/>
              </a:lnSpc>
            </a:pPr>
            <a:r>
              <a:rPr lang="en-US" sz="2800" b="1" u="none" strike="noStrike">
                <a:solidFill>
                  <a:srgbClr val="00D4FF"/>
                </a:solidFill>
                <a:effectLst/>
                <a:uFillTx/>
                <a:latin typeface="Calibri"/>
              </a:rPr>
              <a:t>▶ </a:t>
            </a:r>
            <a:r>
              <a:rPr lang="en-US" sz="2800" b="0" u="none" strike="noStrike">
                <a:solidFill>
                  <a:srgbClr val="FFFFFF"/>
                </a:solidFill>
                <a:effectLst/>
                <a:uFillTx/>
                <a:latin typeface="Calibri"/>
              </a:rPr>
              <a:t>Pas vos microservices.</a:t>
            </a:r>
            <a:endParaRPr lang="en-US" sz="3000" b="0" u="none" strike="noStrike">
              <a:solidFill>
                <a:srgbClr val="FFFFFF"/>
              </a:solidFill>
              <a:effectLst/>
              <a:uFillTx/>
              <a:latin typeface="Arial"/>
            </a:endParaRPr>
          </a:p>
          <a:p>
            <a:pPr defTabSz="457200">
              <a:lnSpc>
                <a:spcPct val="140000"/>
              </a:lnSpc>
            </a:pPr>
            <a:r>
              <a:rPr lang="en-US" sz="2800" b="1" u="none" strike="noStrike">
                <a:solidFill>
                  <a:srgbClr val="00D4FF"/>
                </a:solidFill>
                <a:effectLst/>
                <a:uFillTx/>
                <a:latin typeface="Calibri"/>
              </a:rPr>
              <a:t>▶ </a:t>
            </a:r>
            <a:r>
              <a:rPr lang="en-US" sz="2800" b="0" u="none" strike="noStrike">
                <a:solidFill>
                  <a:srgbClr val="FFFFFF"/>
                </a:solidFill>
                <a:effectLst/>
                <a:uFillTx/>
                <a:latin typeface="Calibri"/>
              </a:rPr>
              <a:t>LES DONNÉES. Toujours les données.</a:t>
            </a:r>
            <a:endParaRPr lang="en-US" sz="3000" b="0" u="none" strike="noStrike">
              <a:solidFill>
                <a:srgbClr val="FFFFFF"/>
              </a:solidFill>
              <a:effectLst/>
              <a:uFillTx/>
              <a:latin typeface="Arial"/>
            </a:endParaRPr>
          </a:p>
        </p:txBody>
      </p:sp>
      <p:sp>
        <p:nvSpPr>
          <p:cNvPr id="93" name="TextBox 7"/>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Les bases de données pour les hackers</a:t>
            </a:r>
            <a:endParaRPr lang="en-US" sz="1400" b="0" u="none" strike="noStrike">
              <a:solidFill>
                <a:srgbClr val="FFFFFF"/>
              </a:solidFill>
              <a:effectLst/>
              <a:uFillTx/>
              <a:latin typeface="Arial"/>
            </a:endParaRPr>
          </a:p>
        </p:txBody>
      </p:sp>
      <p:sp>
        <p:nvSpPr>
          <p:cNvPr id="94" name="TextBox 8"/>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3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95" name="TextBox 1" descr="Definition slide: A database is organized storage plus a way to ask questions, illustrated with filing-cabinet and Excel analogies." title="Definition slide: A database is organized storage plus a way to ask questions, i"/>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00FF41"/>
                </a:solidFill>
                <a:effectLst/>
                <a:uFillTx/>
                <a:latin typeface="Calibri"/>
              </a:rPr>
              <a:t>Qu'est-ce qu'une base de données ?</a:t>
            </a:r>
            <a:endParaRPr lang="en-US" sz="4200" b="0" u="none" strike="noStrike">
              <a:solidFill>
                <a:srgbClr val="FFFFFF"/>
              </a:solidFill>
              <a:effectLst/>
              <a:uFillTx/>
              <a:latin typeface="Arial"/>
            </a:endParaRPr>
          </a:p>
        </p:txBody>
      </p:sp>
      <p:sp>
        <p:nvSpPr>
          <p:cNvPr id="96"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97" name="TextBox 3"/>
          <p:cNvSpPr/>
          <p:nvPr/>
        </p:nvSpPr>
        <p:spPr>
          <a:xfrm>
            <a:off x="457200" y="2011680"/>
            <a:ext cx="11246760" cy="9140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3200" b="1" u="none" strike="noStrike">
                <a:solidFill>
                  <a:srgbClr val="FFFFFF"/>
                </a:solidFill>
                <a:effectLst/>
                <a:uFillTx/>
                <a:latin typeface="Calibri"/>
              </a:rPr>
              <a:t>Un stockage organisé  +  un moyen de poser des questions.</a:t>
            </a:r>
            <a:endParaRPr lang="en-US" sz="4000" b="0" u="none" strike="noStrike">
              <a:solidFill>
                <a:srgbClr val="FFFFFF"/>
              </a:solidFill>
              <a:effectLst/>
              <a:uFillTx/>
              <a:latin typeface="Arial"/>
            </a:endParaRPr>
          </a:p>
        </p:txBody>
      </p:sp>
      <p:sp>
        <p:nvSpPr>
          <p:cNvPr id="98" name="TextBox 4"/>
          <p:cNvSpPr/>
          <p:nvPr/>
        </p:nvSpPr>
        <p:spPr>
          <a:xfrm>
            <a:off x="457200" y="2926080"/>
            <a:ext cx="11246760" cy="54828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600" b="0" u="none" strike="noStrike">
                <a:solidFill>
                  <a:srgbClr val="00D4FF"/>
                </a:solidFill>
                <a:effectLst/>
                <a:uFillTx/>
                <a:latin typeface="Calibri"/>
              </a:rPr>
              <a:t>C'est tout. Le reste n'est que détail.</a:t>
            </a:r>
            <a:endParaRPr lang="en-US" sz="2600" b="0" u="none" strike="noStrike">
              <a:solidFill>
                <a:srgbClr val="FFFFFF"/>
              </a:solidFill>
              <a:effectLst/>
              <a:uFillTx/>
              <a:latin typeface="Arial"/>
            </a:endParaRPr>
          </a:p>
        </p:txBody>
      </p:sp>
      <p:sp>
        <p:nvSpPr>
          <p:cNvPr id="99" name="TextBox 5"/>
          <p:cNvSpPr/>
          <p:nvPr/>
        </p:nvSpPr>
        <p:spPr>
          <a:xfrm>
            <a:off x="914400" y="3931920"/>
            <a:ext cx="10332360" cy="2285640"/>
          </a:xfrm>
          <a:prstGeom prst="rect">
            <a:avLst/>
          </a:prstGeom>
          <a:noFill/>
          <a:ln w="0">
            <a:noFill/>
          </a:ln>
        </p:spPr>
        <p:style>
          <a:lnRef idx="0"/>
          <a:fillRef idx="0"/>
          <a:effectRef idx="0"/>
          <a:fontRef idx="minor"/>
        </p:style>
        <p:txBody>
          <a:bodyPr lIns="90000" tIns="45000" rIns="90000" bIns="45000" anchor="t">
            <a:spAutoFit/>
          </a:bodyPr>
          <a:p>
            <a:pPr defTabSz="457200">
              <a:lnSpc>
                <a:spcPct val="15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Classeur  =  stockage  +  vos yeux comme requête.</a:t>
            </a:r>
            <a:endParaRPr lang="en-US" sz="2600" b="0" u="none" strike="noStrike">
              <a:solidFill>
                <a:srgbClr val="FFFFFF"/>
              </a:solidFill>
              <a:effectLst/>
              <a:uFillTx/>
              <a:latin typeface="Arial"/>
            </a:endParaRPr>
          </a:p>
          <a:p>
            <a:pPr defTabSz="457200">
              <a:lnSpc>
                <a:spcPct val="15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Excel + Ctrl-F  =  stockage  +  rechercher-remplacer comme requête.</a:t>
            </a:r>
            <a:endParaRPr lang="en-US" sz="2600" b="0" u="none" strike="noStrike">
              <a:solidFill>
                <a:srgbClr val="FFFFFF"/>
              </a:solidFill>
              <a:effectLst/>
              <a:uFillTx/>
              <a:latin typeface="Arial"/>
            </a:endParaRPr>
          </a:p>
          <a:p>
            <a:pPr defTabSz="457200">
              <a:lnSpc>
                <a:spcPct val="15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Une vraie BD ajoute :  l'échelle, la vitesse, la concurrence, un langage formel.</a:t>
            </a:r>
            <a:endParaRPr lang="en-US" sz="2600" b="0" u="none" strike="noStrike">
              <a:solidFill>
                <a:srgbClr val="FFFFFF"/>
              </a:solidFill>
              <a:effectLst/>
              <a:uFillTx/>
              <a:latin typeface="Arial"/>
            </a:endParaRPr>
          </a:p>
        </p:txBody>
      </p:sp>
      <p:sp>
        <p:nvSpPr>
          <p:cNvPr id="100" name="TextBox 6"/>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Les bases de données pour les hackers</a:t>
            </a:r>
            <a:endParaRPr lang="en-US" sz="1400" b="0" u="none" strike="noStrike">
              <a:solidFill>
                <a:srgbClr val="FFFFFF"/>
              </a:solidFill>
              <a:effectLst/>
              <a:uFillTx/>
              <a:latin typeface="Arial"/>
            </a:endParaRPr>
          </a:p>
        </p:txBody>
      </p:sp>
      <p:sp>
        <p:nvSpPr>
          <p:cNvPr id="101" name="TextBox 7"/>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4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102" name="TextBox 1" descr="Vocabulary slide listing six core database terms: table, row, column, query, schema, index — plus the CRUD verbs." title="Vocabulary slide listing six core database terms: table, row, column, query, sch"/>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00FF41"/>
                </a:solidFill>
                <a:effectLst/>
                <a:uFillTx/>
                <a:latin typeface="Calibri"/>
              </a:rPr>
              <a:t>Les six mots dont vous avez besoin</a:t>
            </a:r>
            <a:endParaRPr lang="en-US" sz="4200" b="0" u="none" strike="noStrike">
              <a:solidFill>
                <a:srgbClr val="FFFFFF"/>
              </a:solidFill>
              <a:effectLst/>
              <a:uFillTx/>
              <a:latin typeface="Arial"/>
            </a:endParaRPr>
          </a:p>
        </p:txBody>
      </p:sp>
      <p:sp>
        <p:nvSpPr>
          <p:cNvPr id="103"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104" name="TextBox 3"/>
          <p:cNvSpPr/>
          <p:nvPr/>
        </p:nvSpPr>
        <p:spPr>
          <a:xfrm>
            <a:off x="731520" y="1691640"/>
            <a:ext cx="32000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00FF41"/>
                </a:solidFill>
                <a:effectLst/>
                <a:uFillTx/>
                <a:latin typeface="Calibri"/>
              </a:rPr>
              <a:t>TABLE</a:t>
            </a:r>
            <a:endParaRPr lang="en-US" sz="3200" b="0" u="none" strike="noStrike">
              <a:solidFill>
                <a:srgbClr val="FFFFFF"/>
              </a:solidFill>
              <a:effectLst/>
              <a:uFillTx/>
              <a:latin typeface="Arial"/>
            </a:endParaRPr>
          </a:p>
        </p:txBody>
      </p:sp>
      <p:sp>
        <p:nvSpPr>
          <p:cNvPr id="105" name="TextBox 4"/>
          <p:cNvSpPr/>
          <p:nvPr/>
        </p:nvSpPr>
        <p:spPr>
          <a:xfrm>
            <a:off x="3931920" y="1691640"/>
            <a:ext cx="45684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106" name="TextBox 5"/>
          <p:cNvSpPr/>
          <p:nvPr/>
        </p:nvSpPr>
        <p:spPr>
          <a:xfrm>
            <a:off x="4480560" y="1691640"/>
            <a:ext cx="73148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FFFFFF"/>
                </a:solidFill>
                <a:effectLst/>
                <a:uFillTx/>
                <a:latin typeface="Calibri"/>
              </a:rPr>
              <a:t>un onglet de tableur</a:t>
            </a:r>
            <a:endParaRPr lang="en-US" sz="2800" b="0" u="none" strike="noStrike">
              <a:solidFill>
                <a:srgbClr val="FFFFFF"/>
              </a:solidFill>
              <a:effectLst/>
              <a:uFillTx/>
              <a:latin typeface="Arial"/>
            </a:endParaRPr>
          </a:p>
        </p:txBody>
      </p:sp>
      <p:sp>
        <p:nvSpPr>
          <p:cNvPr id="107" name="TextBox 6"/>
          <p:cNvSpPr/>
          <p:nvPr/>
        </p:nvSpPr>
        <p:spPr>
          <a:xfrm>
            <a:off x="731520" y="2404800"/>
            <a:ext cx="32000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00FF41"/>
                </a:solidFill>
                <a:effectLst/>
                <a:uFillTx/>
                <a:latin typeface="Calibri"/>
              </a:rPr>
              <a:t>LIGNE</a:t>
            </a:r>
            <a:endParaRPr lang="en-US" sz="3200" b="0" u="none" strike="noStrike">
              <a:solidFill>
                <a:srgbClr val="FFFFFF"/>
              </a:solidFill>
              <a:effectLst/>
              <a:uFillTx/>
              <a:latin typeface="Arial"/>
            </a:endParaRPr>
          </a:p>
        </p:txBody>
      </p:sp>
      <p:sp>
        <p:nvSpPr>
          <p:cNvPr id="108" name="TextBox 7"/>
          <p:cNvSpPr/>
          <p:nvPr/>
        </p:nvSpPr>
        <p:spPr>
          <a:xfrm>
            <a:off x="3931920" y="2404800"/>
            <a:ext cx="45684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109" name="TextBox 8"/>
          <p:cNvSpPr/>
          <p:nvPr/>
        </p:nvSpPr>
        <p:spPr>
          <a:xfrm>
            <a:off x="4480560" y="2404800"/>
            <a:ext cx="73148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FFFFFF"/>
                </a:solidFill>
                <a:effectLst/>
                <a:uFillTx/>
                <a:latin typeface="Calibri"/>
              </a:rPr>
              <a:t>un enregistrement (un client, une alerte)</a:t>
            </a:r>
            <a:endParaRPr lang="en-US" sz="2800" b="0" u="none" strike="noStrike">
              <a:solidFill>
                <a:srgbClr val="FFFFFF"/>
              </a:solidFill>
              <a:effectLst/>
              <a:uFillTx/>
              <a:latin typeface="Arial"/>
            </a:endParaRPr>
          </a:p>
        </p:txBody>
      </p:sp>
      <p:sp>
        <p:nvSpPr>
          <p:cNvPr id="110" name="TextBox 9"/>
          <p:cNvSpPr/>
          <p:nvPr/>
        </p:nvSpPr>
        <p:spPr>
          <a:xfrm>
            <a:off x="731520" y="3117960"/>
            <a:ext cx="32000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00FF41"/>
                </a:solidFill>
                <a:effectLst/>
                <a:uFillTx/>
                <a:latin typeface="Calibri"/>
              </a:rPr>
              <a:t>COLONNE</a:t>
            </a:r>
            <a:endParaRPr lang="en-US" sz="3200" b="0" u="none" strike="noStrike">
              <a:solidFill>
                <a:srgbClr val="FFFFFF"/>
              </a:solidFill>
              <a:effectLst/>
              <a:uFillTx/>
              <a:latin typeface="Arial"/>
            </a:endParaRPr>
          </a:p>
        </p:txBody>
      </p:sp>
      <p:sp>
        <p:nvSpPr>
          <p:cNvPr id="111" name="TextBox 10"/>
          <p:cNvSpPr/>
          <p:nvPr/>
        </p:nvSpPr>
        <p:spPr>
          <a:xfrm>
            <a:off x="3931920" y="3117960"/>
            <a:ext cx="45684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112" name="TextBox 11"/>
          <p:cNvSpPr/>
          <p:nvPr/>
        </p:nvSpPr>
        <p:spPr>
          <a:xfrm>
            <a:off x="4480560" y="3117960"/>
            <a:ext cx="73148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FFFFFF"/>
                </a:solidFill>
                <a:effectLst/>
                <a:uFillTx/>
                <a:latin typeface="Calibri"/>
              </a:rPr>
              <a:t>un attribut (e-mail, IP, total)</a:t>
            </a:r>
            <a:endParaRPr lang="en-US" sz="2800" b="0" u="none" strike="noStrike">
              <a:solidFill>
                <a:srgbClr val="FFFFFF"/>
              </a:solidFill>
              <a:effectLst/>
              <a:uFillTx/>
              <a:latin typeface="Arial"/>
            </a:endParaRPr>
          </a:p>
        </p:txBody>
      </p:sp>
      <p:sp>
        <p:nvSpPr>
          <p:cNvPr id="113" name="TextBox 12"/>
          <p:cNvSpPr/>
          <p:nvPr/>
        </p:nvSpPr>
        <p:spPr>
          <a:xfrm>
            <a:off x="731520" y="3831480"/>
            <a:ext cx="32000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00FF41"/>
                </a:solidFill>
                <a:effectLst/>
                <a:uFillTx/>
                <a:latin typeface="Calibri"/>
              </a:rPr>
              <a:t>REQUÊTE</a:t>
            </a:r>
            <a:endParaRPr lang="en-US" sz="3200" b="0" u="none" strike="noStrike">
              <a:solidFill>
                <a:srgbClr val="FFFFFF"/>
              </a:solidFill>
              <a:effectLst/>
              <a:uFillTx/>
              <a:latin typeface="Arial"/>
            </a:endParaRPr>
          </a:p>
        </p:txBody>
      </p:sp>
      <p:sp>
        <p:nvSpPr>
          <p:cNvPr id="114" name="TextBox 13"/>
          <p:cNvSpPr/>
          <p:nvPr/>
        </p:nvSpPr>
        <p:spPr>
          <a:xfrm>
            <a:off x="3931920" y="3831480"/>
            <a:ext cx="45684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115" name="TextBox 14"/>
          <p:cNvSpPr/>
          <p:nvPr/>
        </p:nvSpPr>
        <p:spPr>
          <a:xfrm>
            <a:off x="4480560" y="3831480"/>
            <a:ext cx="73148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FFFFFF"/>
                </a:solidFill>
                <a:effectLst/>
                <a:uFillTx/>
                <a:latin typeface="Calibri"/>
              </a:rPr>
              <a:t>la question que vous posez</a:t>
            </a:r>
            <a:endParaRPr lang="en-US" sz="2800" b="0" u="none" strike="noStrike">
              <a:solidFill>
                <a:srgbClr val="FFFFFF"/>
              </a:solidFill>
              <a:effectLst/>
              <a:uFillTx/>
              <a:latin typeface="Arial"/>
            </a:endParaRPr>
          </a:p>
        </p:txBody>
      </p:sp>
      <p:sp>
        <p:nvSpPr>
          <p:cNvPr id="116" name="TextBox 15"/>
          <p:cNvSpPr/>
          <p:nvPr/>
        </p:nvSpPr>
        <p:spPr>
          <a:xfrm>
            <a:off x="731520" y="4544640"/>
            <a:ext cx="32000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00FF41"/>
                </a:solidFill>
                <a:effectLst/>
                <a:uFillTx/>
                <a:latin typeface="Calibri"/>
              </a:rPr>
              <a:t>SCHÉMA</a:t>
            </a:r>
            <a:endParaRPr lang="en-US" sz="3200" b="0" u="none" strike="noStrike">
              <a:solidFill>
                <a:srgbClr val="FFFFFF"/>
              </a:solidFill>
              <a:effectLst/>
              <a:uFillTx/>
              <a:latin typeface="Arial"/>
            </a:endParaRPr>
          </a:p>
        </p:txBody>
      </p:sp>
      <p:sp>
        <p:nvSpPr>
          <p:cNvPr id="117" name="TextBox 16"/>
          <p:cNvSpPr/>
          <p:nvPr/>
        </p:nvSpPr>
        <p:spPr>
          <a:xfrm>
            <a:off x="3931920" y="4544640"/>
            <a:ext cx="45684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118" name="TextBox 17"/>
          <p:cNvSpPr/>
          <p:nvPr/>
        </p:nvSpPr>
        <p:spPr>
          <a:xfrm>
            <a:off x="4480560" y="4544640"/>
            <a:ext cx="73148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FFFFFF"/>
                </a:solidFill>
                <a:effectLst/>
                <a:uFillTx/>
                <a:latin typeface="Calibri"/>
              </a:rPr>
              <a:t>la forme des données</a:t>
            </a:r>
            <a:endParaRPr lang="en-US" sz="2800" b="0" u="none" strike="noStrike">
              <a:solidFill>
                <a:srgbClr val="FFFFFF"/>
              </a:solidFill>
              <a:effectLst/>
              <a:uFillTx/>
              <a:latin typeface="Arial"/>
            </a:endParaRPr>
          </a:p>
        </p:txBody>
      </p:sp>
      <p:sp>
        <p:nvSpPr>
          <p:cNvPr id="119" name="TextBox 18"/>
          <p:cNvSpPr/>
          <p:nvPr/>
        </p:nvSpPr>
        <p:spPr>
          <a:xfrm>
            <a:off x="731520" y="5257800"/>
            <a:ext cx="32000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00FF41"/>
                </a:solidFill>
                <a:effectLst/>
                <a:uFillTx/>
                <a:latin typeface="Calibri"/>
              </a:rPr>
              <a:t>INDEX</a:t>
            </a:r>
            <a:endParaRPr lang="en-US" sz="3200" b="0" u="none" strike="noStrike">
              <a:solidFill>
                <a:srgbClr val="FFFFFF"/>
              </a:solidFill>
              <a:effectLst/>
              <a:uFillTx/>
              <a:latin typeface="Arial"/>
            </a:endParaRPr>
          </a:p>
        </p:txBody>
      </p:sp>
      <p:sp>
        <p:nvSpPr>
          <p:cNvPr id="120" name="TextBox 19"/>
          <p:cNvSpPr/>
          <p:nvPr/>
        </p:nvSpPr>
        <p:spPr>
          <a:xfrm>
            <a:off x="3931920" y="5257800"/>
            <a:ext cx="45684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121" name="TextBox 20"/>
          <p:cNvSpPr/>
          <p:nvPr/>
        </p:nvSpPr>
        <p:spPr>
          <a:xfrm>
            <a:off x="4480560" y="5257800"/>
            <a:ext cx="73148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750" b="0" u="none" strike="noStrike">
                <a:solidFill>
                  <a:srgbClr val="FFFFFF"/>
                </a:solidFill>
                <a:effectLst/>
                <a:uFillTx/>
                <a:latin typeface="Calibri"/>
              </a:rPr>
              <a:t>le marque-page qui accélère les recherches</a:t>
            </a:r>
            <a:endParaRPr lang="en-US" sz="2800" b="0" u="none" strike="noStrike">
              <a:solidFill>
                <a:srgbClr val="FFFFFF"/>
              </a:solidFill>
              <a:effectLst/>
              <a:uFillTx/>
              <a:latin typeface="Arial"/>
            </a:endParaRPr>
          </a:p>
        </p:txBody>
      </p:sp>
      <p:sp>
        <p:nvSpPr>
          <p:cNvPr id="122" name="TextBox 21"/>
          <p:cNvSpPr/>
          <p:nvPr/>
        </p:nvSpPr>
        <p:spPr>
          <a:xfrm>
            <a:off x="457200" y="5989320"/>
            <a:ext cx="11246760" cy="4568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600" b="1" u="none" strike="noStrike">
                <a:solidFill>
                  <a:srgbClr val="FF6B35"/>
                </a:solidFill>
                <a:effectLst/>
                <a:uFillTx/>
                <a:latin typeface="Calibri"/>
              </a:rPr>
              <a:t>+  CRUD  =  Créer  •  Lire  •  Mettre à jour  •  Supprimer</a:t>
            </a:r>
            <a:endParaRPr lang="en-US" sz="2600" b="0" u="none" strike="noStrike">
              <a:solidFill>
                <a:srgbClr val="FFFFFF"/>
              </a:solidFill>
              <a:effectLst/>
              <a:uFillTx/>
              <a:latin typeface="Arial"/>
            </a:endParaRPr>
          </a:p>
        </p:txBody>
      </p:sp>
      <p:sp>
        <p:nvSpPr>
          <p:cNvPr id="123" name="TextBox 22"/>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Les bases de données pour les hackers</a:t>
            </a:r>
            <a:endParaRPr lang="en-US" sz="1400" b="0" u="none" strike="noStrike">
              <a:solidFill>
                <a:srgbClr val="FFFFFF"/>
              </a:solidFill>
              <a:effectLst/>
              <a:uFillTx/>
              <a:latin typeface="Arial"/>
            </a:endParaRPr>
          </a:p>
        </p:txBody>
      </p:sp>
      <p:sp>
        <p:nvSpPr>
          <p:cNvPr id="124" name="TextBox 23"/>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5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125" name="TextBox 1" descr="Timeline of database eras from 1960s flat files to 2020s vector databases, each annotated with its security implication." title="Timeline of database eras from 1960s flat files to 2020s vector databases, each "/>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000" b="1" u="none" strike="noStrike">
                <a:solidFill>
                  <a:srgbClr val="00FF41"/>
                </a:solidFill>
                <a:effectLst/>
                <a:uFillTx/>
                <a:latin typeface="Calibri"/>
              </a:rPr>
              <a:t>Tour d'histoire — Les fossiles que vous verrez en prod</a:t>
            </a:r>
            <a:endParaRPr lang="en-US" sz="4200" b="0" u="none" strike="noStrike">
              <a:solidFill>
                <a:srgbClr val="FFFFFF"/>
              </a:solidFill>
              <a:effectLst/>
              <a:uFillTx/>
              <a:latin typeface="Arial"/>
            </a:endParaRPr>
          </a:p>
        </p:txBody>
      </p:sp>
      <p:sp>
        <p:nvSpPr>
          <p:cNvPr id="126"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127" name="TextBox 3"/>
          <p:cNvSpPr/>
          <p:nvPr/>
        </p:nvSpPr>
        <p:spPr>
          <a:xfrm>
            <a:off x="457200" y="1600200"/>
            <a:ext cx="18284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D4FF"/>
                </a:solidFill>
                <a:effectLst/>
                <a:uFillTx/>
                <a:latin typeface="Calibri"/>
              </a:rPr>
              <a:t>1960s</a:t>
            </a:r>
            <a:endParaRPr lang="en-US" sz="2200" b="0" u="none" strike="noStrike">
              <a:solidFill>
                <a:srgbClr val="FFFFFF"/>
              </a:solidFill>
              <a:effectLst/>
              <a:uFillTx/>
              <a:latin typeface="Arial"/>
            </a:endParaRPr>
          </a:p>
        </p:txBody>
      </p:sp>
      <p:sp>
        <p:nvSpPr>
          <p:cNvPr id="128" name="TextBox 4"/>
          <p:cNvSpPr/>
          <p:nvPr/>
        </p:nvSpPr>
        <p:spPr>
          <a:xfrm>
            <a:off x="2286000" y="1600200"/>
            <a:ext cx="36572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Fichiers plats</a:t>
            </a:r>
            <a:endParaRPr lang="en-US" sz="2200" b="0" u="none" strike="noStrike">
              <a:solidFill>
                <a:srgbClr val="FFFFFF"/>
              </a:solidFill>
              <a:effectLst/>
              <a:uFillTx/>
              <a:latin typeface="Arial"/>
            </a:endParaRPr>
          </a:p>
        </p:txBody>
      </p:sp>
      <p:sp>
        <p:nvSpPr>
          <p:cNvPr id="129" name="TextBox 5"/>
          <p:cNvSpPr/>
          <p:nvPr/>
        </p:nvSpPr>
        <p:spPr>
          <a:xfrm>
            <a:off x="5943600" y="1600200"/>
            <a:ext cx="3654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6B35"/>
                </a:solidFill>
                <a:effectLst/>
                <a:uFillTx/>
                <a:latin typeface="Calibri"/>
              </a:rPr>
              <a:t>▶</a:t>
            </a:r>
            <a:endParaRPr lang="en-US" sz="2000" b="0" u="none" strike="noStrike">
              <a:solidFill>
                <a:srgbClr val="FFFFFF"/>
              </a:solidFill>
              <a:effectLst/>
              <a:uFillTx/>
              <a:latin typeface="Arial"/>
            </a:endParaRPr>
          </a:p>
        </p:txBody>
      </p:sp>
      <p:sp>
        <p:nvSpPr>
          <p:cNvPr id="130" name="TextBox 6"/>
          <p:cNvSpPr/>
          <p:nvPr/>
        </p:nvSpPr>
        <p:spPr>
          <a:xfrm>
            <a:off x="6309360" y="1600200"/>
            <a:ext cx="57603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CCCCD6"/>
                </a:solidFill>
                <a:effectLst/>
                <a:uFillTx/>
                <a:latin typeface="Calibri"/>
              </a:rPr>
              <a:t>les permissions du système de fichiers = seul contrôle d'accès</a:t>
            </a:r>
            <a:endParaRPr lang="en-US" sz="2000" b="0" u="none" strike="noStrike">
              <a:solidFill>
                <a:srgbClr val="FFFFFF"/>
              </a:solidFill>
              <a:effectLst/>
              <a:uFillTx/>
              <a:latin typeface="Arial"/>
            </a:endParaRPr>
          </a:p>
        </p:txBody>
      </p:sp>
      <p:sp>
        <p:nvSpPr>
          <p:cNvPr id="131" name="TextBox 7"/>
          <p:cNvSpPr/>
          <p:nvPr/>
        </p:nvSpPr>
        <p:spPr>
          <a:xfrm>
            <a:off x="457200" y="2112120"/>
            <a:ext cx="18284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1" u="none" strike="noStrike">
                <a:solidFill>
                  <a:srgbClr val="00D4FF"/>
                </a:solidFill>
                <a:effectLst/>
                <a:uFillTx/>
                <a:latin typeface="Calibri"/>
              </a:rPr>
              <a:t>Fin des années 1960</a:t>
            </a:r>
            <a:endParaRPr lang="en-US" sz="2200" b="0" u="none" strike="noStrike">
              <a:solidFill>
                <a:srgbClr val="FFFFFF"/>
              </a:solidFill>
              <a:effectLst/>
              <a:uFillTx/>
              <a:latin typeface="Arial"/>
            </a:endParaRPr>
          </a:p>
        </p:txBody>
      </p:sp>
      <p:sp>
        <p:nvSpPr>
          <p:cNvPr id="132" name="TextBox 8"/>
          <p:cNvSpPr/>
          <p:nvPr/>
        </p:nvSpPr>
        <p:spPr>
          <a:xfrm>
            <a:off x="2286000" y="2112120"/>
            <a:ext cx="36572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Hiérarchique (IMS)</a:t>
            </a:r>
            <a:endParaRPr lang="en-US" sz="2200" b="0" u="none" strike="noStrike">
              <a:solidFill>
                <a:srgbClr val="FFFFFF"/>
              </a:solidFill>
              <a:effectLst/>
              <a:uFillTx/>
              <a:latin typeface="Arial"/>
            </a:endParaRPr>
          </a:p>
        </p:txBody>
      </p:sp>
      <p:sp>
        <p:nvSpPr>
          <p:cNvPr id="133" name="TextBox 9"/>
          <p:cNvSpPr/>
          <p:nvPr/>
        </p:nvSpPr>
        <p:spPr>
          <a:xfrm>
            <a:off x="5943600" y="2112120"/>
            <a:ext cx="3654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6B35"/>
                </a:solidFill>
                <a:effectLst/>
                <a:uFillTx/>
                <a:latin typeface="Calibri"/>
              </a:rPr>
              <a:t>▶</a:t>
            </a:r>
            <a:endParaRPr lang="en-US" sz="2000" b="0" u="none" strike="noStrike">
              <a:solidFill>
                <a:srgbClr val="FFFFFF"/>
              </a:solidFill>
              <a:effectLst/>
              <a:uFillTx/>
              <a:latin typeface="Arial"/>
            </a:endParaRPr>
          </a:p>
        </p:txBody>
      </p:sp>
      <p:sp>
        <p:nvSpPr>
          <p:cNvPr id="134" name="TextBox 10"/>
          <p:cNvSpPr/>
          <p:nvPr/>
        </p:nvSpPr>
        <p:spPr>
          <a:xfrm>
            <a:off x="6309360" y="2112120"/>
            <a:ext cx="57603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50" b="0" u="none" strike="noStrike">
                <a:solidFill>
                  <a:srgbClr val="CCCCD6"/>
                </a:solidFill>
                <a:effectLst/>
                <a:uFillTx/>
                <a:latin typeface="Calibri"/>
              </a:rPr>
              <a:t>ère des mainframes, modèle de menace physique</a:t>
            </a:r>
            <a:endParaRPr lang="en-US" sz="2000" b="0" u="none" strike="noStrike">
              <a:solidFill>
                <a:srgbClr val="FFFFFF"/>
              </a:solidFill>
              <a:effectLst/>
              <a:uFillTx/>
              <a:latin typeface="Arial"/>
            </a:endParaRPr>
          </a:p>
        </p:txBody>
      </p:sp>
      <p:sp>
        <p:nvSpPr>
          <p:cNvPr id="135" name="TextBox 11"/>
          <p:cNvSpPr/>
          <p:nvPr/>
        </p:nvSpPr>
        <p:spPr>
          <a:xfrm>
            <a:off x="457200" y="2624400"/>
            <a:ext cx="18284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D4FF"/>
                </a:solidFill>
                <a:effectLst/>
                <a:uFillTx/>
                <a:latin typeface="Calibri"/>
              </a:rPr>
              <a:t>1970s</a:t>
            </a:r>
            <a:endParaRPr lang="en-US" sz="2200" b="0" u="none" strike="noStrike">
              <a:solidFill>
                <a:srgbClr val="FFFFFF"/>
              </a:solidFill>
              <a:effectLst/>
              <a:uFillTx/>
              <a:latin typeface="Arial"/>
            </a:endParaRPr>
          </a:p>
        </p:txBody>
      </p:sp>
      <p:sp>
        <p:nvSpPr>
          <p:cNvPr id="136" name="TextBox 12"/>
          <p:cNvSpPr/>
          <p:nvPr/>
        </p:nvSpPr>
        <p:spPr>
          <a:xfrm>
            <a:off x="2286000" y="2624400"/>
            <a:ext cx="36572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Réseau / CODASYL</a:t>
            </a:r>
            <a:endParaRPr lang="en-US" sz="2200" b="0" u="none" strike="noStrike">
              <a:solidFill>
                <a:srgbClr val="FFFFFF"/>
              </a:solidFill>
              <a:effectLst/>
              <a:uFillTx/>
              <a:latin typeface="Arial"/>
            </a:endParaRPr>
          </a:p>
        </p:txBody>
      </p:sp>
      <p:sp>
        <p:nvSpPr>
          <p:cNvPr id="137" name="TextBox 13"/>
          <p:cNvSpPr/>
          <p:nvPr/>
        </p:nvSpPr>
        <p:spPr>
          <a:xfrm>
            <a:off x="5943600" y="2624400"/>
            <a:ext cx="3654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6B35"/>
                </a:solidFill>
                <a:effectLst/>
                <a:uFillTx/>
                <a:latin typeface="Calibri"/>
              </a:rPr>
              <a:t>▶</a:t>
            </a:r>
            <a:endParaRPr lang="en-US" sz="2000" b="0" u="none" strike="noStrike">
              <a:solidFill>
                <a:srgbClr val="FFFFFF"/>
              </a:solidFill>
              <a:effectLst/>
              <a:uFillTx/>
              <a:latin typeface="Arial"/>
            </a:endParaRPr>
          </a:p>
        </p:txBody>
      </p:sp>
      <p:sp>
        <p:nvSpPr>
          <p:cNvPr id="138" name="TextBox 14"/>
          <p:cNvSpPr/>
          <p:nvPr/>
        </p:nvSpPr>
        <p:spPr>
          <a:xfrm>
            <a:off x="6309360" y="2624400"/>
            <a:ext cx="57603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CCCCD6"/>
                </a:solidFill>
                <a:effectLst/>
                <a:uFillTx/>
                <a:latin typeface="Calibri"/>
              </a:rPr>
              <a:t>toujours en service dans l'arrière-boutique de votre banque</a:t>
            </a:r>
            <a:endParaRPr lang="en-US" sz="2000" b="0" u="none" strike="noStrike">
              <a:solidFill>
                <a:srgbClr val="FFFFFF"/>
              </a:solidFill>
              <a:effectLst/>
              <a:uFillTx/>
              <a:latin typeface="Arial"/>
            </a:endParaRPr>
          </a:p>
        </p:txBody>
      </p:sp>
      <p:sp>
        <p:nvSpPr>
          <p:cNvPr id="139" name="TextBox 15"/>
          <p:cNvSpPr/>
          <p:nvPr/>
        </p:nvSpPr>
        <p:spPr>
          <a:xfrm>
            <a:off x="457200" y="3136320"/>
            <a:ext cx="18284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D4FF"/>
                </a:solidFill>
                <a:effectLst/>
                <a:uFillTx/>
                <a:latin typeface="Calibri"/>
              </a:rPr>
              <a:t>1970</a:t>
            </a:r>
            <a:endParaRPr lang="en-US" sz="2200" b="0" u="none" strike="noStrike">
              <a:solidFill>
                <a:srgbClr val="FFFFFF"/>
              </a:solidFill>
              <a:effectLst/>
              <a:uFillTx/>
              <a:latin typeface="Arial"/>
            </a:endParaRPr>
          </a:p>
        </p:txBody>
      </p:sp>
      <p:sp>
        <p:nvSpPr>
          <p:cNvPr id="140" name="TextBox 16"/>
          <p:cNvSpPr/>
          <p:nvPr/>
        </p:nvSpPr>
        <p:spPr>
          <a:xfrm>
            <a:off x="2286000" y="3136320"/>
            <a:ext cx="36572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Le relationnel de Codd</a:t>
            </a:r>
            <a:endParaRPr lang="en-US" sz="2200" b="0" u="none" strike="noStrike">
              <a:solidFill>
                <a:srgbClr val="FFFFFF"/>
              </a:solidFill>
              <a:effectLst/>
              <a:uFillTx/>
              <a:latin typeface="Arial"/>
            </a:endParaRPr>
          </a:p>
        </p:txBody>
      </p:sp>
      <p:sp>
        <p:nvSpPr>
          <p:cNvPr id="141" name="TextBox 17"/>
          <p:cNvSpPr/>
          <p:nvPr/>
        </p:nvSpPr>
        <p:spPr>
          <a:xfrm>
            <a:off x="5943600" y="3136320"/>
            <a:ext cx="3654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6B35"/>
                </a:solidFill>
                <a:effectLst/>
                <a:uFillTx/>
                <a:latin typeface="Calibri"/>
              </a:rPr>
              <a:t>▶</a:t>
            </a:r>
            <a:endParaRPr lang="en-US" sz="2000" b="0" u="none" strike="noStrike">
              <a:solidFill>
                <a:srgbClr val="FFFFFF"/>
              </a:solidFill>
              <a:effectLst/>
              <a:uFillTx/>
              <a:latin typeface="Arial"/>
            </a:endParaRPr>
          </a:p>
        </p:txBody>
      </p:sp>
      <p:sp>
        <p:nvSpPr>
          <p:cNvPr id="142" name="TextBox 18"/>
          <p:cNvSpPr/>
          <p:nvPr/>
        </p:nvSpPr>
        <p:spPr>
          <a:xfrm>
            <a:off x="6309360" y="3136320"/>
            <a:ext cx="57603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900" b="0" u="none" strike="noStrike">
                <a:solidFill>
                  <a:srgbClr val="CCCCD6"/>
                </a:solidFill>
                <a:effectLst/>
                <a:uFillTx/>
                <a:latin typeface="Calibri"/>
              </a:rPr>
              <a:t>GRANT, rôles — contrôle d'accès au sein de la BD</a:t>
            </a:r>
            <a:endParaRPr lang="en-US" sz="2000" b="0" u="none" strike="noStrike">
              <a:solidFill>
                <a:srgbClr val="FFFFFF"/>
              </a:solidFill>
              <a:effectLst/>
              <a:uFillTx/>
              <a:latin typeface="Arial"/>
            </a:endParaRPr>
          </a:p>
        </p:txBody>
      </p:sp>
      <p:sp>
        <p:nvSpPr>
          <p:cNvPr id="143" name="TextBox 19"/>
          <p:cNvSpPr/>
          <p:nvPr/>
        </p:nvSpPr>
        <p:spPr>
          <a:xfrm>
            <a:off x="457200" y="3648600"/>
            <a:ext cx="18284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D4FF"/>
                </a:solidFill>
                <a:effectLst/>
                <a:uFillTx/>
                <a:latin typeface="Calibri"/>
              </a:rPr>
              <a:t>1980s</a:t>
            </a:r>
            <a:endParaRPr lang="en-US" sz="2200" b="0" u="none" strike="noStrike">
              <a:solidFill>
                <a:srgbClr val="FFFFFF"/>
              </a:solidFill>
              <a:effectLst/>
              <a:uFillTx/>
              <a:latin typeface="Arial"/>
            </a:endParaRPr>
          </a:p>
        </p:txBody>
      </p:sp>
      <p:sp>
        <p:nvSpPr>
          <p:cNvPr id="144" name="TextBox 20"/>
          <p:cNvSpPr/>
          <p:nvPr/>
        </p:nvSpPr>
        <p:spPr>
          <a:xfrm>
            <a:off x="2286000" y="3648600"/>
            <a:ext cx="36572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Oracle, DB2, SQL Svr</a:t>
            </a:r>
            <a:endParaRPr lang="en-US" sz="2200" b="0" u="none" strike="noStrike">
              <a:solidFill>
                <a:srgbClr val="FFFFFF"/>
              </a:solidFill>
              <a:effectLst/>
              <a:uFillTx/>
              <a:latin typeface="Arial"/>
            </a:endParaRPr>
          </a:p>
        </p:txBody>
      </p:sp>
      <p:sp>
        <p:nvSpPr>
          <p:cNvPr id="145" name="TextBox 21"/>
          <p:cNvSpPr/>
          <p:nvPr/>
        </p:nvSpPr>
        <p:spPr>
          <a:xfrm>
            <a:off x="5943600" y="3648600"/>
            <a:ext cx="3654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6B35"/>
                </a:solidFill>
                <a:effectLst/>
                <a:uFillTx/>
                <a:latin typeface="Calibri"/>
              </a:rPr>
              <a:t>▶</a:t>
            </a:r>
            <a:endParaRPr lang="en-US" sz="2000" b="0" u="none" strike="noStrike">
              <a:solidFill>
                <a:srgbClr val="FFFFFF"/>
              </a:solidFill>
              <a:effectLst/>
              <a:uFillTx/>
              <a:latin typeface="Arial"/>
            </a:endParaRPr>
          </a:p>
        </p:txBody>
      </p:sp>
      <p:sp>
        <p:nvSpPr>
          <p:cNvPr id="146" name="TextBox 22"/>
          <p:cNvSpPr/>
          <p:nvPr/>
        </p:nvSpPr>
        <p:spPr>
          <a:xfrm>
            <a:off x="6309360" y="3648600"/>
            <a:ext cx="57603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CCCCD6"/>
                </a:solidFill>
                <a:effectLst/>
                <a:uFillTx/>
                <a:latin typeface="Calibri"/>
              </a:rPr>
              <a:t>les bases de données sont mises en réseau → problème d'authentification</a:t>
            </a:r>
            <a:endParaRPr lang="en-US" sz="2000" b="0" u="none" strike="noStrike">
              <a:solidFill>
                <a:srgbClr val="FFFFFF"/>
              </a:solidFill>
              <a:effectLst/>
              <a:uFillTx/>
              <a:latin typeface="Arial"/>
            </a:endParaRPr>
          </a:p>
        </p:txBody>
      </p:sp>
      <p:sp>
        <p:nvSpPr>
          <p:cNvPr id="147" name="TextBox 23"/>
          <p:cNvSpPr/>
          <p:nvPr/>
        </p:nvSpPr>
        <p:spPr>
          <a:xfrm>
            <a:off x="457200" y="4160520"/>
            <a:ext cx="18284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D4FF"/>
                </a:solidFill>
                <a:effectLst/>
                <a:uFillTx/>
                <a:latin typeface="Calibri"/>
              </a:rPr>
              <a:t>1990s</a:t>
            </a:r>
            <a:endParaRPr lang="en-US" sz="2200" b="0" u="none" strike="noStrike">
              <a:solidFill>
                <a:srgbClr val="FFFFFF"/>
              </a:solidFill>
              <a:effectLst/>
              <a:uFillTx/>
              <a:latin typeface="Arial"/>
            </a:endParaRPr>
          </a:p>
        </p:txBody>
      </p:sp>
      <p:sp>
        <p:nvSpPr>
          <p:cNvPr id="148" name="TextBox 24"/>
          <p:cNvSpPr/>
          <p:nvPr/>
        </p:nvSpPr>
        <p:spPr>
          <a:xfrm>
            <a:off x="2286000" y="4160520"/>
            <a:ext cx="36572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Client-serveur, OSS</a:t>
            </a:r>
            <a:endParaRPr lang="en-US" sz="2200" b="0" u="none" strike="noStrike">
              <a:solidFill>
                <a:srgbClr val="FFFFFF"/>
              </a:solidFill>
              <a:effectLst/>
              <a:uFillTx/>
              <a:latin typeface="Arial"/>
            </a:endParaRPr>
          </a:p>
        </p:txBody>
      </p:sp>
      <p:sp>
        <p:nvSpPr>
          <p:cNvPr id="149" name="TextBox 25"/>
          <p:cNvSpPr/>
          <p:nvPr/>
        </p:nvSpPr>
        <p:spPr>
          <a:xfrm>
            <a:off x="5943600" y="4160520"/>
            <a:ext cx="3654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6B35"/>
                </a:solidFill>
                <a:effectLst/>
                <a:uFillTx/>
                <a:latin typeface="Calibri"/>
              </a:rPr>
              <a:t>▶</a:t>
            </a:r>
            <a:endParaRPr lang="en-US" sz="2000" b="0" u="none" strike="noStrike">
              <a:solidFill>
                <a:srgbClr val="FFFFFF"/>
              </a:solidFill>
              <a:effectLst/>
              <a:uFillTx/>
              <a:latin typeface="Arial"/>
            </a:endParaRPr>
          </a:p>
        </p:txBody>
      </p:sp>
      <p:sp>
        <p:nvSpPr>
          <p:cNvPr id="150" name="TextBox 26"/>
          <p:cNvSpPr/>
          <p:nvPr/>
        </p:nvSpPr>
        <p:spPr>
          <a:xfrm>
            <a:off x="6309360" y="4160520"/>
            <a:ext cx="57603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CCCCD6"/>
                </a:solidFill>
                <a:effectLst/>
                <a:uFillTx/>
                <a:latin typeface="Calibri"/>
              </a:rPr>
              <a:t>l'injection SQL fait son apparition</a:t>
            </a:r>
            <a:endParaRPr lang="en-US" sz="2000" b="0" u="none" strike="noStrike">
              <a:solidFill>
                <a:srgbClr val="FFFFFF"/>
              </a:solidFill>
              <a:effectLst/>
              <a:uFillTx/>
              <a:latin typeface="Arial"/>
            </a:endParaRPr>
          </a:p>
        </p:txBody>
      </p:sp>
      <p:sp>
        <p:nvSpPr>
          <p:cNvPr id="151" name="TextBox 27"/>
          <p:cNvSpPr/>
          <p:nvPr/>
        </p:nvSpPr>
        <p:spPr>
          <a:xfrm>
            <a:off x="457200" y="4672440"/>
            <a:ext cx="18284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D4FF"/>
                </a:solidFill>
                <a:effectLst/>
                <a:uFillTx/>
                <a:latin typeface="Calibri"/>
              </a:rPr>
              <a:t>2000s</a:t>
            </a:r>
            <a:endParaRPr lang="en-US" sz="2200" b="0" u="none" strike="noStrike">
              <a:solidFill>
                <a:srgbClr val="FFFFFF"/>
              </a:solidFill>
              <a:effectLst/>
              <a:uFillTx/>
              <a:latin typeface="Arial"/>
            </a:endParaRPr>
          </a:p>
        </p:txBody>
      </p:sp>
      <p:sp>
        <p:nvSpPr>
          <p:cNvPr id="152" name="TextBox 28"/>
          <p:cNvSpPr/>
          <p:nvPr/>
        </p:nvSpPr>
        <p:spPr>
          <a:xfrm>
            <a:off x="2286000" y="4672440"/>
            <a:ext cx="36572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Essor du NoSQL</a:t>
            </a:r>
            <a:endParaRPr lang="en-US" sz="2200" b="0" u="none" strike="noStrike">
              <a:solidFill>
                <a:srgbClr val="FFFFFF"/>
              </a:solidFill>
              <a:effectLst/>
              <a:uFillTx/>
              <a:latin typeface="Arial"/>
            </a:endParaRPr>
          </a:p>
        </p:txBody>
      </p:sp>
      <p:sp>
        <p:nvSpPr>
          <p:cNvPr id="153" name="TextBox 29"/>
          <p:cNvSpPr/>
          <p:nvPr/>
        </p:nvSpPr>
        <p:spPr>
          <a:xfrm>
            <a:off x="5943600" y="4672440"/>
            <a:ext cx="3654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6B35"/>
                </a:solidFill>
                <a:effectLst/>
                <a:uFillTx/>
                <a:latin typeface="Calibri"/>
              </a:rPr>
              <a:t>▶</a:t>
            </a:r>
            <a:endParaRPr lang="en-US" sz="2000" b="0" u="none" strike="noStrike">
              <a:solidFill>
                <a:srgbClr val="FFFFFF"/>
              </a:solidFill>
              <a:effectLst/>
              <a:uFillTx/>
              <a:latin typeface="Arial"/>
            </a:endParaRPr>
          </a:p>
        </p:txBody>
      </p:sp>
      <p:sp>
        <p:nvSpPr>
          <p:cNvPr id="154" name="TextBox 30"/>
          <p:cNvSpPr/>
          <p:nvPr/>
        </p:nvSpPr>
        <p:spPr>
          <a:xfrm>
            <a:off x="6309360" y="4672440"/>
            <a:ext cx="57603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50" b="0" u="none" strike="noStrike">
                <a:solidFill>
                  <a:srgbClr val="CCCCD6"/>
                </a:solidFill>
                <a:effectLst/>
                <a:uFillTx/>
                <a:latin typeface="Calibri"/>
              </a:rPr>
              <a:t>« on a jeté les fondations » — y compris la sécurité</a:t>
            </a:r>
            <a:endParaRPr lang="en-US" sz="2000" b="0" u="none" strike="noStrike">
              <a:solidFill>
                <a:srgbClr val="FFFFFF"/>
              </a:solidFill>
              <a:effectLst/>
              <a:uFillTx/>
              <a:latin typeface="Arial"/>
            </a:endParaRPr>
          </a:p>
        </p:txBody>
      </p:sp>
      <p:sp>
        <p:nvSpPr>
          <p:cNvPr id="155" name="TextBox 31"/>
          <p:cNvSpPr/>
          <p:nvPr/>
        </p:nvSpPr>
        <p:spPr>
          <a:xfrm>
            <a:off x="457200" y="5184720"/>
            <a:ext cx="18284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D4FF"/>
                </a:solidFill>
                <a:effectLst/>
                <a:uFillTx/>
                <a:latin typeface="Calibri"/>
              </a:rPr>
              <a:t>2010s</a:t>
            </a:r>
            <a:endParaRPr lang="en-US" sz="2200" b="0" u="none" strike="noStrike">
              <a:solidFill>
                <a:srgbClr val="FFFFFF"/>
              </a:solidFill>
              <a:effectLst/>
              <a:uFillTx/>
              <a:latin typeface="Arial"/>
            </a:endParaRPr>
          </a:p>
        </p:txBody>
      </p:sp>
      <p:sp>
        <p:nvSpPr>
          <p:cNvPr id="156" name="TextBox 32"/>
          <p:cNvSpPr/>
          <p:nvPr/>
        </p:nvSpPr>
        <p:spPr>
          <a:xfrm>
            <a:off x="2286000" y="5184720"/>
            <a:ext cx="36572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Cloud / NewSQL</a:t>
            </a:r>
            <a:endParaRPr lang="en-US" sz="2200" b="0" u="none" strike="noStrike">
              <a:solidFill>
                <a:srgbClr val="FFFFFF"/>
              </a:solidFill>
              <a:effectLst/>
              <a:uFillTx/>
              <a:latin typeface="Arial"/>
            </a:endParaRPr>
          </a:p>
        </p:txBody>
      </p:sp>
      <p:sp>
        <p:nvSpPr>
          <p:cNvPr id="157" name="TextBox 33"/>
          <p:cNvSpPr/>
          <p:nvPr/>
        </p:nvSpPr>
        <p:spPr>
          <a:xfrm>
            <a:off x="5943600" y="5184720"/>
            <a:ext cx="3654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6B35"/>
                </a:solidFill>
                <a:effectLst/>
                <a:uFillTx/>
                <a:latin typeface="Calibri"/>
              </a:rPr>
              <a:t>▶</a:t>
            </a:r>
            <a:endParaRPr lang="en-US" sz="2000" b="0" u="none" strike="noStrike">
              <a:solidFill>
                <a:srgbClr val="FFFFFF"/>
              </a:solidFill>
              <a:effectLst/>
              <a:uFillTx/>
              <a:latin typeface="Arial"/>
            </a:endParaRPr>
          </a:p>
        </p:txBody>
      </p:sp>
      <p:sp>
        <p:nvSpPr>
          <p:cNvPr id="158" name="TextBox 34"/>
          <p:cNvSpPr/>
          <p:nvPr/>
        </p:nvSpPr>
        <p:spPr>
          <a:xfrm>
            <a:off x="6309360" y="5184720"/>
            <a:ext cx="57603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CCCCD6"/>
                </a:solidFill>
                <a:effectLst/>
                <a:uFillTx/>
                <a:latin typeface="Calibri"/>
              </a:rPr>
              <a:t>responsabilité partagée, mauvaises configurations des clients</a:t>
            </a:r>
            <a:endParaRPr lang="en-US" sz="2000" b="0" u="none" strike="noStrike">
              <a:solidFill>
                <a:srgbClr val="FFFFFF"/>
              </a:solidFill>
              <a:effectLst/>
              <a:uFillTx/>
              <a:latin typeface="Arial"/>
            </a:endParaRPr>
          </a:p>
        </p:txBody>
      </p:sp>
      <p:sp>
        <p:nvSpPr>
          <p:cNvPr id="159" name="TextBox 35"/>
          <p:cNvSpPr/>
          <p:nvPr/>
        </p:nvSpPr>
        <p:spPr>
          <a:xfrm>
            <a:off x="457200" y="5696640"/>
            <a:ext cx="18284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D4FF"/>
                </a:solidFill>
                <a:effectLst/>
                <a:uFillTx/>
                <a:latin typeface="Calibri"/>
              </a:rPr>
              <a:t>2020s</a:t>
            </a:r>
            <a:endParaRPr lang="en-US" sz="2200" b="0" u="none" strike="noStrike">
              <a:solidFill>
                <a:srgbClr val="FFFFFF"/>
              </a:solidFill>
              <a:effectLst/>
              <a:uFillTx/>
              <a:latin typeface="Arial"/>
            </a:endParaRPr>
          </a:p>
        </p:txBody>
      </p:sp>
      <p:sp>
        <p:nvSpPr>
          <p:cNvPr id="160" name="TextBox 36"/>
          <p:cNvSpPr/>
          <p:nvPr/>
        </p:nvSpPr>
        <p:spPr>
          <a:xfrm>
            <a:off x="2286000" y="5696640"/>
            <a:ext cx="36572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Vectoriel / serverless</a:t>
            </a:r>
            <a:endParaRPr lang="en-US" sz="2200" b="0" u="none" strike="noStrike">
              <a:solidFill>
                <a:srgbClr val="FFFFFF"/>
              </a:solidFill>
              <a:effectLst/>
              <a:uFillTx/>
              <a:latin typeface="Arial"/>
            </a:endParaRPr>
          </a:p>
        </p:txBody>
      </p:sp>
      <p:sp>
        <p:nvSpPr>
          <p:cNvPr id="161" name="TextBox 37"/>
          <p:cNvSpPr/>
          <p:nvPr/>
        </p:nvSpPr>
        <p:spPr>
          <a:xfrm>
            <a:off x="5943600" y="5696640"/>
            <a:ext cx="3654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6B35"/>
                </a:solidFill>
                <a:effectLst/>
                <a:uFillTx/>
                <a:latin typeface="Calibri"/>
              </a:rPr>
              <a:t>▶</a:t>
            </a:r>
            <a:endParaRPr lang="en-US" sz="2000" b="0" u="none" strike="noStrike">
              <a:solidFill>
                <a:srgbClr val="FFFFFF"/>
              </a:solidFill>
              <a:effectLst/>
              <a:uFillTx/>
              <a:latin typeface="Arial"/>
            </a:endParaRPr>
          </a:p>
        </p:txBody>
      </p:sp>
      <p:sp>
        <p:nvSpPr>
          <p:cNvPr id="162" name="TextBox 38"/>
          <p:cNvSpPr/>
          <p:nvPr/>
        </p:nvSpPr>
        <p:spPr>
          <a:xfrm>
            <a:off x="6309360" y="5696640"/>
            <a:ext cx="57603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CCCCD6"/>
                </a:solidFill>
                <a:effectLst/>
                <a:uFillTx/>
                <a:latin typeface="Calibri"/>
              </a:rPr>
              <a:t>empoisonnement des données, injection de prompt</a:t>
            </a:r>
            <a:endParaRPr lang="en-US" sz="2000" b="0" u="none" strike="noStrike">
              <a:solidFill>
                <a:srgbClr val="FFFFFF"/>
              </a:solidFill>
              <a:effectLst/>
              <a:uFillTx/>
              <a:latin typeface="Arial"/>
            </a:endParaRPr>
          </a:p>
        </p:txBody>
      </p:sp>
      <p:sp>
        <p:nvSpPr>
          <p:cNvPr id="163" name="TextBox 39"/>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Les bases de données pour les hackers</a:t>
            </a:r>
            <a:endParaRPr lang="en-US" sz="1400" b="0" u="none" strike="noStrike">
              <a:solidFill>
                <a:srgbClr val="FFFFFF"/>
              </a:solidFill>
              <a:effectLst/>
              <a:uFillTx/>
              <a:latin typeface="Arial"/>
            </a:endParaRPr>
          </a:p>
        </p:txBody>
      </p:sp>
      <p:sp>
        <p:nvSpPr>
          <p:cNvPr id="164" name="TextBox 40"/>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6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165" name="TextBox 1" descr="Grid of the ten database families with example products: relational, document, key-value, column-family, graph, search, time-series, vector, embedded, and data lake." title="Grid of the ten database families with example products: relational, document, k"/>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00FF41"/>
                </a:solidFill>
                <a:effectLst/>
                <a:uFillTx/>
                <a:latin typeface="Calibri"/>
              </a:rPr>
              <a:t>Dix familles de bases de données</a:t>
            </a:r>
            <a:endParaRPr lang="en-US" sz="4200" b="0" u="none" strike="noStrike">
              <a:solidFill>
                <a:srgbClr val="FFFFFF"/>
              </a:solidFill>
              <a:effectLst/>
              <a:uFillTx/>
              <a:latin typeface="Arial"/>
            </a:endParaRPr>
          </a:p>
        </p:txBody>
      </p:sp>
      <p:sp>
        <p:nvSpPr>
          <p:cNvPr id="166"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167" name="Rounded Rectangle 3"/>
          <p:cNvSpPr/>
          <p:nvPr/>
        </p:nvSpPr>
        <p:spPr>
          <a:xfrm>
            <a:off x="548640" y="1691640"/>
            <a:ext cx="5577480" cy="914040"/>
          </a:xfrm>
          <a:prstGeom prst="roundRect">
            <a:avLst>
              <a:gd name="adj" fmla="val 16667"/>
            </a:avLst>
          </a:prstGeom>
          <a:solidFill>
            <a:srgbClr val="24243E"/>
          </a:solidFill>
          <a:ln w="1905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68" name="TextBox 4"/>
          <p:cNvSpPr/>
          <p:nvPr/>
        </p:nvSpPr>
        <p:spPr>
          <a:xfrm>
            <a:off x="685800" y="1783080"/>
            <a:ext cx="10969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FF41"/>
                </a:solidFill>
                <a:effectLst/>
                <a:uFillTx/>
                <a:latin typeface="Calibri"/>
              </a:rPr>
              <a:t>◆ 1.</a:t>
            </a:r>
            <a:endParaRPr lang="en-US" sz="2200" b="0" u="none" strike="noStrike">
              <a:solidFill>
                <a:srgbClr val="FFFFFF"/>
              </a:solidFill>
              <a:effectLst/>
              <a:uFillTx/>
              <a:latin typeface="Arial"/>
            </a:endParaRPr>
          </a:p>
        </p:txBody>
      </p:sp>
      <p:sp>
        <p:nvSpPr>
          <p:cNvPr id="169" name="TextBox 5"/>
          <p:cNvSpPr/>
          <p:nvPr/>
        </p:nvSpPr>
        <p:spPr>
          <a:xfrm>
            <a:off x="1737360" y="178308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Relationnel</a:t>
            </a:r>
            <a:endParaRPr lang="en-US" sz="2200" b="0" u="none" strike="noStrike">
              <a:solidFill>
                <a:srgbClr val="FFFFFF"/>
              </a:solidFill>
              <a:effectLst/>
              <a:uFillTx/>
              <a:latin typeface="Arial"/>
            </a:endParaRPr>
          </a:p>
        </p:txBody>
      </p:sp>
      <p:sp>
        <p:nvSpPr>
          <p:cNvPr id="170" name="TextBox 6"/>
          <p:cNvSpPr/>
          <p:nvPr/>
        </p:nvSpPr>
        <p:spPr>
          <a:xfrm>
            <a:off x="1737360" y="214884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CCCCD6"/>
                </a:solidFill>
                <a:effectLst/>
                <a:uFillTx/>
                <a:latin typeface="Calibri"/>
              </a:rPr>
              <a:t>SQL  •  PostgreSQL, MySQL</a:t>
            </a:r>
            <a:endParaRPr lang="en-US" sz="1800" b="0" u="none" strike="noStrike">
              <a:solidFill>
                <a:srgbClr val="FFFFFF"/>
              </a:solidFill>
              <a:effectLst/>
              <a:uFillTx/>
              <a:latin typeface="Arial"/>
            </a:endParaRPr>
          </a:p>
        </p:txBody>
      </p:sp>
      <p:sp>
        <p:nvSpPr>
          <p:cNvPr id="171" name="Rounded Rectangle 7"/>
          <p:cNvSpPr/>
          <p:nvPr/>
        </p:nvSpPr>
        <p:spPr>
          <a:xfrm>
            <a:off x="6217920" y="1691640"/>
            <a:ext cx="5577480" cy="914040"/>
          </a:xfrm>
          <a:prstGeom prst="roundRect">
            <a:avLst>
              <a:gd name="adj" fmla="val 16667"/>
            </a:avLst>
          </a:prstGeom>
          <a:solidFill>
            <a:srgbClr val="24243E"/>
          </a:solidFill>
          <a:ln w="1905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72" name="TextBox 8"/>
          <p:cNvSpPr/>
          <p:nvPr/>
        </p:nvSpPr>
        <p:spPr>
          <a:xfrm>
            <a:off x="6355080" y="1783080"/>
            <a:ext cx="10969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FF41"/>
                </a:solidFill>
                <a:effectLst/>
                <a:uFillTx/>
                <a:latin typeface="Calibri"/>
              </a:rPr>
              <a:t>◆ 2.</a:t>
            </a:r>
            <a:endParaRPr lang="en-US" sz="2200" b="0" u="none" strike="noStrike">
              <a:solidFill>
                <a:srgbClr val="FFFFFF"/>
              </a:solidFill>
              <a:effectLst/>
              <a:uFillTx/>
              <a:latin typeface="Arial"/>
            </a:endParaRPr>
          </a:p>
        </p:txBody>
      </p:sp>
      <p:sp>
        <p:nvSpPr>
          <p:cNvPr id="173" name="TextBox 9"/>
          <p:cNvSpPr/>
          <p:nvPr/>
        </p:nvSpPr>
        <p:spPr>
          <a:xfrm>
            <a:off x="7406640" y="178308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Document</a:t>
            </a:r>
            <a:endParaRPr lang="en-US" sz="2200" b="0" u="none" strike="noStrike">
              <a:solidFill>
                <a:srgbClr val="FFFFFF"/>
              </a:solidFill>
              <a:effectLst/>
              <a:uFillTx/>
              <a:latin typeface="Arial"/>
            </a:endParaRPr>
          </a:p>
        </p:txBody>
      </p:sp>
      <p:sp>
        <p:nvSpPr>
          <p:cNvPr id="174" name="TextBox 10"/>
          <p:cNvSpPr/>
          <p:nvPr/>
        </p:nvSpPr>
        <p:spPr>
          <a:xfrm>
            <a:off x="7406640" y="214884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CCCCD6"/>
                </a:solidFill>
                <a:effectLst/>
                <a:uFillTx/>
                <a:latin typeface="Calibri"/>
              </a:rPr>
              <a:t>JSON  •  MongoDB, Firestore</a:t>
            </a:r>
            <a:endParaRPr lang="en-US" sz="1800" b="0" u="none" strike="noStrike">
              <a:solidFill>
                <a:srgbClr val="FFFFFF"/>
              </a:solidFill>
              <a:effectLst/>
              <a:uFillTx/>
              <a:latin typeface="Arial"/>
            </a:endParaRPr>
          </a:p>
        </p:txBody>
      </p:sp>
      <p:sp>
        <p:nvSpPr>
          <p:cNvPr id="175" name="Rounded Rectangle 11"/>
          <p:cNvSpPr/>
          <p:nvPr/>
        </p:nvSpPr>
        <p:spPr>
          <a:xfrm>
            <a:off x="548640" y="2651760"/>
            <a:ext cx="5577480" cy="914040"/>
          </a:xfrm>
          <a:prstGeom prst="roundRect">
            <a:avLst>
              <a:gd name="adj" fmla="val 16667"/>
            </a:avLst>
          </a:prstGeom>
          <a:solidFill>
            <a:srgbClr val="24243E"/>
          </a:solidFill>
          <a:ln w="1905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76" name="TextBox 12"/>
          <p:cNvSpPr/>
          <p:nvPr/>
        </p:nvSpPr>
        <p:spPr>
          <a:xfrm>
            <a:off x="685800" y="2743200"/>
            <a:ext cx="10969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FF41"/>
                </a:solidFill>
                <a:effectLst/>
                <a:uFillTx/>
                <a:latin typeface="Calibri"/>
              </a:rPr>
              <a:t>◆ 3.</a:t>
            </a:r>
            <a:endParaRPr lang="en-US" sz="2200" b="0" u="none" strike="noStrike">
              <a:solidFill>
                <a:srgbClr val="FFFFFF"/>
              </a:solidFill>
              <a:effectLst/>
              <a:uFillTx/>
              <a:latin typeface="Arial"/>
            </a:endParaRPr>
          </a:p>
        </p:txBody>
      </p:sp>
      <p:sp>
        <p:nvSpPr>
          <p:cNvPr id="177" name="TextBox 13"/>
          <p:cNvSpPr/>
          <p:nvPr/>
        </p:nvSpPr>
        <p:spPr>
          <a:xfrm>
            <a:off x="1737360" y="274320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Clé-valeur</a:t>
            </a:r>
            <a:endParaRPr lang="en-US" sz="2200" b="0" u="none" strike="noStrike">
              <a:solidFill>
                <a:srgbClr val="FFFFFF"/>
              </a:solidFill>
              <a:effectLst/>
              <a:uFillTx/>
              <a:latin typeface="Arial"/>
            </a:endParaRPr>
          </a:p>
        </p:txBody>
      </p:sp>
      <p:sp>
        <p:nvSpPr>
          <p:cNvPr id="178" name="TextBox 14"/>
          <p:cNvSpPr/>
          <p:nvPr/>
        </p:nvSpPr>
        <p:spPr>
          <a:xfrm>
            <a:off x="1737360" y="310896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CCCCD6"/>
                </a:solidFill>
                <a:effectLst/>
                <a:uFillTx/>
                <a:latin typeface="Calibri"/>
              </a:rPr>
              <a:t>dictionnaire  •  Redis, DynamoDB</a:t>
            </a:r>
            <a:endParaRPr lang="en-US" sz="1800" b="0" u="none" strike="noStrike">
              <a:solidFill>
                <a:srgbClr val="FFFFFF"/>
              </a:solidFill>
              <a:effectLst/>
              <a:uFillTx/>
              <a:latin typeface="Arial"/>
            </a:endParaRPr>
          </a:p>
        </p:txBody>
      </p:sp>
      <p:sp>
        <p:nvSpPr>
          <p:cNvPr id="179" name="Rounded Rectangle 15"/>
          <p:cNvSpPr/>
          <p:nvPr/>
        </p:nvSpPr>
        <p:spPr>
          <a:xfrm>
            <a:off x="6217920" y="2651760"/>
            <a:ext cx="5577480" cy="914040"/>
          </a:xfrm>
          <a:prstGeom prst="roundRect">
            <a:avLst>
              <a:gd name="adj" fmla="val 16667"/>
            </a:avLst>
          </a:prstGeom>
          <a:solidFill>
            <a:srgbClr val="24243E"/>
          </a:solidFill>
          <a:ln w="1905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80" name="TextBox 16"/>
          <p:cNvSpPr/>
          <p:nvPr/>
        </p:nvSpPr>
        <p:spPr>
          <a:xfrm>
            <a:off x="6355080" y="2743200"/>
            <a:ext cx="10969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FF41"/>
                </a:solidFill>
                <a:effectLst/>
                <a:uFillTx/>
                <a:latin typeface="Calibri"/>
              </a:rPr>
              <a:t>◆ 4.</a:t>
            </a:r>
            <a:endParaRPr lang="en-US" sz="2200" b="0" u="none" strike="noStrike">
              <a:solidFill>
                <a:srgbClr val="FFFFFF"/>
              </a:solidFill>
              <a:effectLst/>
              <a:uFillTx/>
              <a:latin typeface="Arial"/>
            </a:endParaRPr>
          </a:p>
        </p:txBody>
      </p:sp>
      <p:sp>
        <p:nvSpPr>
          <p:cNvPr id="181" name="TextBox 17"/>
          <p:cNvSpPr/>
          <p:nvPr/>
        </p:nvSpPr>
        <p:spPr>
          <a:xfrm>
            <a:off x="7406640" y="274320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Famille de colonnes</a:t>
            </a:r>
            <a:endParaRPr lang="en-US" sz="2200" b="0" u="none" strike="noStrike">
              <a:solidFill>
                <a:srgbClr val="FFFFFF"/>
              </a:solidFill>
              <a:effectLst/>
              <a:uFillTx/>
              <a:latin typeface="Arial"/>
            </a:endParaRPr>
          </a:p>
        </p:txBody>
      </p:sp>
      <p:sp>
        <p:nvSpPr>
          <p:cNvPr id="182" name="TextBox 18"/>
          <p:cNvSpPr/>
          <p:nvPr/>
        </p:nvSpPr>
        <p:spPr>
          <a:xfrm>
            <a:off x="7406640" y="310896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CCCCD6"/>
                </a:solidFill>
                <a:effectLst/>
                <a:uFillTx/>
                <a:latin typeface="Calibri"/>
              </a:rPr>
              <a:t>colonnes larges  •  Cassandra, HBase</a:t>
            </a:r>
            <a:endParaRPr lang="en-US" sz="1800" b="0" u="none" strike="noStrike">
              <a:solidFill>
                <a:srgbClr val="FFFFFF"/>
              </a:solidFill>
              <a:effectLst/>
              <a:uFillTx/>
              <a:latin typeface="Arial"/>
            </a:endParaRPr>
          </a:p>
        </p:txBody>
      </p:sp>
      <p:sp>
        <p:nvSpPr>
          <p:cNvPr id="183" name="Rounded Rectangle 19"/>
          <p:cNvSpPr/>
          <p:nvPr/>
        </p:nvSpPr>
        <p:spPr>
          <a:xfrm>
            <a:off x="548640" y="3611880"/>
            <a:ext cx="5577480" cy="914040"/>
          </a:xfrm>
          <a:prstGeom prst="roundRect">
            <a:avLst>
              <a:gd name="adj" fmla="val 16667"/>
            </a:avLst>
          </a:prstGeom>
          <a:solidFill>
            <a:srgbClr val="24243E"/>
          </a:solidFill>
          <a:ln w="1905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84" name="TextBox 20"/>
          <p:cNvSpPr/>
          <p:nvPr/>
        </p:nvSpPr>
        <p:spPr>
          <a:xfrm>
            <a:off x="685800" y="3703320"/>
            <a:ext cx="10969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FF41"/>
                </a:solidFill>
                <a:effectLst/>
                <a:uFillTx/>
                <a:latin typeface="Calibri"/>
              </a:rPr>
              <a:t>◆ 5.</a:t>
            </a:r>
            <a:endParaRPr lang="en-US" sz="2200" b="0" u="none" strike="noStrike">
              <a:solidFill>
                <a:srgbClr val="FFFFFF"/>
              </a:solidFill>
              <a:effectLst/>
              <a:uFillTx/>
              <a:latin typeface="Arial"/>
            </a:endParaRPr>
          </a:p>
        </p:txBody>
      </p:sp>
      <p:sp>
        <p:nvSpPr>
          <p:cNvPr id="185" name="TextBox 21"/>
          <p:cNvSpPr/>
          <p:nvPr/>
        </p:nvSpPr>
        <p:spPr>
          <a:xfrm>
            <a:off x="1737360" y="370332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Graphe</a:t>
            </a:r>
            <a:endParaRPr lang="en-US" sz="2200" b="0" u="none" strike="noStrike">
              <a:solidFill>
                <a:srgbClr val="FFFFFF"/>
              </a:solidFill>
              <a:effectLst/>
              <a:uFillTx/>
              <a:latin typeface="Arial"/>
            </a:endParaRPr>
          </a:p>
        </p:txBody>
      </p:sp>
      <p:sp>
        <p:nvSpPr>
          <p:cNvPr id="186" name="TextBox 22"/>
          <p:cNvSpPr/>
          <p:nvPr/>
        </p:nvSpPr>
        <p:spPr>
          <a:xfrm>
            <a:off x="1737360" y="406908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CCCCD6"/>
                </a:solidFill>
                <a:effectLst/>
                <a:uFillTx/>
                <a:latin typeface="Calibri"/>
              </a:rPr>
              <a:t>nœuds+arêtes  •  Neo4j, Neptune</a:t>
            </a:r>
            <a:endParaRPr lang="en-US" sz="1800" b="0" u="none" strike="noStrike">
              <a:solidFill>
                <a:srgbClr val="FFFFFF"/>
              </a:solidFill>
              <a:effectLst/>
              <a:uFillTx/>
              <a:latin typeface="Arial"/>
            </a:endParaRPr>
          </a:p>
        </p:txBody>
      </p:sp>
      <p:sp>
        <p:nvSpPr>
          <p:cNvPr id="187" name="Rounded Rectangle 23"/>
          <p:cNvSpPr/>
          <p:nvPr/>
        </p:nvSpPr>
        <p:spPr>
          <a:xfrm>
            <a:off x="6217920" y="3611880"/>
            <a:ext cx="5577480" cy="914040"/>
          </a:xfrm>
          <a:prstGeom prst="roundRect">
            <a:avLst>
              <a:gd name="adj" fmla="val 16667"/>
            </a:avLst>
          </a:prstGeom>
          <a:solidFill>
            <a:srgbClr val="24243E"/>
          </a:solidFill>
          <a:ln w="1905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88" name="TextBox 24"/>
          <p:cNvSpPr/>
          <p:nvPr/>
        </p:nvSpPr>
        <p:spPr>
          <a:xfrm>
            <a:off x="6355080" y="3703320"/>
            <a:ext cx="10969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FF41"/>
                </a:solidFill>
                <a:effectLst/>
                <a:uFillTx/>
                <a:latin typeface="Calibri"/>
              </a:rPr>
              <a:t>◆ 6.</a:t>
            </a:r>
            <a:endParaRPr lang="en-US" sz="2200" b="0" u="none" strike="noStrike">
              <a:solidFill>
                <a:srgbClr val="FFFFFF"/>
              </a:solidFill>
              <a:effectLst/>
              <a:uFillTx/>
              <a:latin typeface="Arial"/>
            </a:endParaRPr>
          </a:p>
        </p:txBody>
      </p:sp>
      <p:sp>
        <p:nvSpPr>
          <p:cNvPr id="189" name="TextBox 25"/>
          <p:cNvSpPr/>
          <p:nvPr/>
        </p:nvSpPr>
        <p:spPr>
          <a:xfrm>
            <a:off x="7406640" y="370332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Recherche</a:t>
            </a:r>
            <a:endParaRPr lang="en-US" sz="2200" b="0" u="none" strike="noStrike">
              <a:solidFill>
                <a:srgbClr val="FFFFFF"/>
              </a:solidFill>
              <a:effectLst/>
              <a:uFillTx/>
              <a:latin typeface="Arial"/>
            </a:endParaRPr>
          </a:p>
        </p:txBody>
      </p:sp>
      <p:sp>
        <p:nvSpPr>
          <p:cNvPr id="190" name="TextBox 26"/>
          <p:cNvSpPr/>
          <p:nvPr/>
        </p:nvSpPr>
        <p:spPr>
          <a:xfrm>
            <a:off x="7406640" y="406908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CCCCD6"/>
                </a:solidFill>
                <a:effectLst/>
                <a:uFillTx/>
                <a:latin typeface="Calibri"/>
              </a:rPr>
              <a:t>texte intégral  •  Elastic, OpenSearch</a:t>
            </a:r>
            <a:endParaRPr lang="en-US" sz="1800" b="0" u="none" strike="noStrike">
              <a:solidFill>
                <a:srgbClr val="FFFFFF"/>
              </a:solidFill>
              <a:effectLst/>
              <a:uFillTx/>
              <a:latin typeface="Arial"/>
            </a:endParaRPr>
          </a:p>
        </p:txBody>
      </p:sp>
      <p:sp>
        <p:nvSpPr>
          <p:cNvPr id="191" name="Rounded Rectangle 27"/>
          <p:cNvSpPr/>
          <p:nvPr/>
        </p:nvSpPr>
        <p:spPr>
          <a:xfrm>
            <a:off x="548640" y="4572000"/>
            <a:ext cx="5577480" cy="914040"/>
          </a:xfrm>
          <a:prstGeom prst="roundRect">
            <a:avLst>
              <a:gd name="adj" fmla="val 16667"/>
            </a:avLst>
          </a:prstGeom>
          <a:solidFill>
            <a:srgbClr val="24243E"/>
          </a:solidFill>
          <a:ln w="1905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92" name="TextBox 28"/>
          <p:cNvSpPr/>
          <p:nvPr/>
        </p:nvSpPr>
        <p:spPr>
          <a:xfrm>
            <a:off x="685800" y="4663440"/>
            <a:ext cx="10969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FF41"/>
                </a:solidFill>
                <a:effectLst/>
                <a:uFillTx/>
                <a:latin typeface="Calibri"/>
              </a:rPr>
              <a:t>◆ 7.</a:t>
            </a:r>
            <a:endParaRPr lang="en-US" sz="2200" b="0" u="none" strike="noStrike">
              <a:solidFill>
                <a:srgbClr val="FFFFFF"/>
              </a:solidFill>
              <a:effectLst/>
              <a:uFillTx/>
              <a:latin typeface="Arial"/>
            </a:endParaRPr>
          </a:p>
        </p:txBody>
      </p:sp>
      <p:sp>
        <p:nvSpPr>
          <p:cNvPr id="193" name="TextBox 29"/>
          <p:cNvSpPr/>
          <p:nvPr/>
        </p:nvSpPr>
        <p:spPr>
          <a:xfrm>
            <a:off x="1737360" y="466344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Séries temporelles</a:t>
            </a:r>
            <a:endParaRPr lang="en-US" sz="2200" b="0" u="none" strike="noStrike">
              <a:solidFill>
                <a:srgbClr val="FFFFFF"/>
              </a:solidFill>
              <a:effectLst/>
              <a:uFillTx/>
              <a:latin typeface="Arial"/>
            </a:endParaRPr>
          </a:p>
        </p:txBody>
      </p:sp>
      <p:sp>
        <p:nvSpPr>
          <p:cNvPr id="194" name="TextBox 30"/>
          <p:cNvSpPr/>
          <p:nvPr/>
        </p:nvSpPr>
        <p:spPr>
          <a:xfrm>
            <a:off x="1737360" y="502920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CCCCD6"/>
                </a:solidFill>
                <a:effectLst/>
                <a:uFillTx/>
                <a:latin typeface="Calibri"/>
              </a:rPr>
              <a:t>métriques  •  Influx, Prometheus</a:t>
            </a:r>
            <a:endParaRPr lang="en-US" sz="1800" b="0" u="none" strike="noStrike">
              <a:solidFill>
                <a:srgbClr val="FFFFFF"/>
              </a:solidFill>
              <a:effectLst/>
              <a:uFillTx/>
              <a:latin typeface="Arial"/>
            </a:endParaRPr>
          </a:p>
        </p:txBody>
      </p:sp>
      <p:sp>
        <p:nvSpPr>
          <p:cNvPr id="195" name="Rounded Rectangle 31"/>
          <p:cNvSpPr/>
          <p:nvPr/>
        </p:nvSpPr>
        <p:spPr>
          <a:xfrm>
            <a:off x="6217920" y="4572000"/>
            <a:ext cx="5577480" cy="914040"/>
          </a:xfrm>
          <a:prstGeom prst="roundRect">
            <a:avLst>
              <a:gd name="adj" fmla="val 16667"/>
            </a:avLst>
          </a:prstGeom>
          <a:solidFill>
            <a:srgbClr val="24243E"/>
          </a:solidFill>
          <a:ln w="1905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96" name="TextBox 32"/>
          <p:cNvSpPr/>
          <p:nvPr/>
        </p:nvSpPr>
        <p:spPr>
          <a:xfrm>
            <a:off x="6355080" y="4663440"/>
            <a:ext cx="10969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FF41"/>
                </a:solidFill>
                <a:effectLst/>
                <a:uFillTx/>
                <a:latin typeface="Calibri"/>
              </a:rPr>
              <a:t>◆ 8.</a:t>
            </a:r>
            <a:endParaRPr lang="en-US" sz="2200" b="0" u="none" strike="noStrike">
              <a:solidFill>
                <a:srgbClr val="FFFFFF"/>
              </a:solidFill>
              <a:effectLst/>
              <a:uFillTx/>
              <a:latin typeface="Arial"/>
            </a:endParaRPr>
          </a:p>
        </p:txBody>
      </p:sp>
      <p:sp>
        <p:nvSpPr>
          <p:cNvPr id="197" name="TextBox 33"/>
          <p:cNvSpPr/>
          <p:nvPr/>
        </p:nvSpPr>
        <p:spPr>
          <a:xfrm>
            <a:off x="7406640" y="466344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Vectoriel</a:t>
            </a:r>
            <a:endParaRPr lang="en-US" sz="2200" b="0" u="none" strike="noStrike">
              <a:solidFill>
                <a:srgbClr val="FFFFFF"/>
              </a:solidFill>
              <a:effectLst/>
              <a:uFillTx/>
              <a:latin typeface="Arial"/>
            </a:endParaRPr>
          </a:p>
        </p:txBody>
      </p:sp>
      <p:sp>
        <p:nvSpPr>
          <p:cNvPr id="198" name="TextBox 34"/>
          <p:cNvSpPr/>
          <p:nvPr/>
        </p:nvSpPr>
        <p:spPr>
          <a:xfrm>
            <a:off x="7406640" y="502920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CCCCD6"/>
                </a:solidFill>
                <a:effectLst/>
                <a:uFillTx/>
                <a:latin typeface="Calibri"/>
              </a:rPr>
              <a:t>embeddings  •  Pinecone, pgvector</a:t>
            </a:r>
            <a:endParaRPr lang="en-US" sz="1800" b="0" u="none" strike="noStrike">
              <a:solidFill>
                <a:srgbClr val="FFFFFF"/>
              </a:solidFill>
              <a:effectLst/>
              <a:uFillTx/>
              <a:latin typeface="Arial"/>
            </a:endParaRPr>
          </a:p>
        </p:txBody>
      </p:sp>
      <p:sp>
        <p:nvSpPr>
          <p:cNvPr id="199" name="Rounded Rectangle 35"/>
          <p:cNvSpPr/>
          <p:nvPr/>
        </p:nvSpPr>
        <p:spPr>
          <a:xfrm>
            <a:off x="548640" y="5532120"/>
            <a:ext cx="5577480" cy="914040"/>
          </a:xfrm>
          <a:prstGeom prst="roundRect">
            <a:avLst>
              <a:gd name="adj" fmla="val 16667"/>
            </a:avLst>
          </a:prstGeom>
          <a:solidFill>
            <a:srgbClr val="24243E"/>
          </a:solidFill>
          <a:ln w="1905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00" name="TextBox 36"/>
          <p:cNvSpPr/>
          <p:nvPr/>
        </p:nvSpPr>
        <p:spPr>
          <a:xfrm>
            <a:off x="685800" y="5623560"/>
            <a:ext cx="10969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FF41"/>
                </a:solidFill>
                <a:effectLst/>
                <a:uFillTx/>
                <a:latin typeface="Calibri"/>
              </a:rPr>
              <a:t>◆ 9.</a:t>
            </a:r>
            <a:endParaRPr lang="en-US" sz="2200" b="0" u="none" strike="noStrike">
              <a:solidFill>
                <a:srgbClr val="FFFFFF"/>
              </a:solidFill>
              <a:effectLst/>
              <a:uFillTx/>
              <a:latin typeface="Arial"/>
            </a:endParaRPr>
          </a:p>
        </p:txBody>
      </p:sp>
      <p:sp>
        <p:nvSpPr>
          <p:cNvPr id="201" name="TextBox 37"/>
          <p:cNvSpPr/>
          <p:nvPr/>
        </p:nvSpPr>
        <p:spPr>
          <a:xfrm>
            <a:off x="1737360" y="562356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Embarqué/Edge</a:t>
            </a:r>
            <a:endParaRPr lang="en-US" sz="2200" b="0" u="none" strike="noStrike">
              <a:solidFill>
                <a:srgbClr val="FFFFFF"/>
              </a:solidFill>
              <a:effectLst/>
              <a:uFillTx/>
              <a:latin typeface="Arial"/>
            </a:endParaRPr>
          </a:p>
        </p:txBody>
      </p:sp>
      <p:sp>
        <p:nvSpPr>
          <p:cNvPr id="202" name="TextBox 38"/>
          <p:cNvSpPr/>
          <p:nvPr/>
        </p:nvSpPr>
        <p:spPr>
          <a:xfrm>
            <a:off x="1737360" y="598932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CCCCD6"/>
                </a:solidFill>
                <a:effectLst/>
                <a:uFillTx/>
                <a:latin typeface="Calibri"/>
              </a:rPr>
              <a:t>intégré à l'app  •  SQLite, DuckDB</a:t>
            </a:r>
            <a:endParaRPr lang="en-US" sz="1800" b="0" u="none" strike="noStrike">
              <a:solidFill>
                <a:srgbClr val="FFFFFF"/>
              </a:solidFill>
              <a:effectLst/>
              <a:uFillTx/>
              <a:latin typeface="Arial"/>
            </a:endParaRPr>
          </a:p>
        </p:txBody>
      </p:sp>
      <p:sp>
        <p:nvSpPr>
          <p:cNvPr id="203" name="Rounded Rectangle 39"/>
          <p:cNvSpPr/>
          <p:nvPr/>
        </p:nvSpPr>
        <p:spPr>
          <a:xfrm>
            <a:off x="6217920" y="5532120"/>
            <a:ext cx="5577480" cy="914040"/>
          </a:xfrm>
          <a:prstGeom prst="roundRect">
            <a:avLst>
              <a:gd name="adj" fmla="val 16667"/>
            </a:avLst>
          </a:prstGeom>
          <a:solidFill>
            <a:srgbClr val="24243E"/>
          </a:solidFill>
          <a:ln w="1905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04" name="TextBox 40"/>
          <p:cNvSpPr/>
          <p:nvPr/>
        </p:nvSpPr>
        <p:spPr>
          <a:xfrm>
            <a:off x="6355080" y="5623560"/>
            <a:ext cx="10969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FF41"/>
                </a:solidFill>
                <a:effectLst/>
                <a:uFillTx/>
                <a:latin typeface="Calibri"/>
              </a:rPr>
              <a:t>◆ 10.</a:t>
            </a:r>
            <a:endParaRPr lang="en-US" sz="2200" b="0" u="none" strike="noStrike">
              <a:solidFill>
                <a:srgbClr val="FFFFFF"/>
              </a:solidFill>
              <a:effectLst/>
              <a:uFillTx/>
              <a:latin typeface="Arial"/>
            </a:endParaRPr>
          </a:p>
        </p:txBody>
      </p:sp>
      <p:sp>
        <p:nvSpPr>
          <p:cNvPr id="205" name="TextBox 41"/>
          <p:cNvSpPr/>
          <p:nvPr/>
        </p:nvSpPr>
        <p:spPr>
          <a:xfrm>
            <a:off x="7406640" y="562356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Data Lake</a:t>
            </a:r>
            <a:endParaRPr lang="en-US" sz="2200" b="0" u="none" strike="noStrike">
              <a:solidFill>
                <a:srgbClr val="FFFFFF"/>
              </a:solidFill>
              <a:effectLst/>
              <a:uFillTx/>
              <a:latin typeface="Arial"/>
            </a:endParaRPr>
          </a:p>
        </p:txBody>
      </p:sp>
      <p:sp>
        <p:nvSpPr>
          <p:cNvPr id="206" name="TextBox 42"/>
          <p:cNvSpPr/>
          <p:nvPr/>
        </p:nvSpPr>
        <p:spPr>
          <a:xfrm>
            <a:off x="7406640" y="598932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50" b="0" u="none" strike="noStrike">
                <a:solidFill>
                  <a:srgbClr val="CCCCD6"/>
                </a:solidFill>
                <a:effectLst/>
                <a:uFillTx/>
                <a:latin typeface="Calibri"/>
              </a:rPr>
              <a:t>schéma à la lecture  •  S3+Athena, Iceberg</a:t>
            </a:r>
            <a:endParaRPr lang="en-US" sz="1800" b="0" u="none" strike="noStrike">
              <a:solidFill>
                <a:srgbClr val="FFFFFF"/>
              </a:solidFill>
              <a:effectLst/>
              <a:uFillTx/>
              <a:latin typeface="Arial"/>
            </a:endParaRPr>
          </a:p>
        </p:txBody>
      </p:sp>
      <p:sp>
        <p:nvSpPr>
          <p:cNvPr id="207" name="TextBox 43"/>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Les bases de données pour les hackers</a:t>
            </a:r>
            <a:endParaRPr lang="en-US" sz="1400" b="0" u="none" strike="noStrike">
              <a:solidFill>
                <a:srgbClr val="FFFFFF"/>
              </a:solidFill>
              <a:effectLst/>
              <a:uFillTx/>
              <a:latin typeface="Arial"/>
            </a:endParaRPr>
          </a:p>
        </p:txBody>
      </p:sp>
      <p:sp>
        <p:nvSpPr>
          <p:cNvPr id="208" name="TextBox 44"/>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7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209" name="Oval 1" descr="Family card #1: Relational / SQL. Products: PostgreSQL  •  MySQL/MariaDB  •  SQL Server  •  Oracle. Use case: Clear relationships, consistency required — finance, regulated data.. Security gotcha: SQL injection when developers concatenate user input into queries.." title="Family card #1: Relational / SQL. Products: PostgreSQL  •  MySQL/MariaDB  •  SQL"/>
          <p:cNvSpPr/>
          <p:nvPr/>
        </p:nvSpPr>
        <p:spPr>
          <a:xfrm>
            <a:off x="457200" y="365760"/>
            <a:ext cx="1096920" cy="1096920"/>
          </a:xfrm>
          <a:prstGeom prst="ellipse">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10" name="TextBox 2"/>
          <p:cNvSpPr/>
          <p:nvPr/>
        </p:nvSpPr>
        <p:spPr>
          <a:xfrm>
            <a:off x="457200" y="502920"/>
            <a:ext cx="1096920" cy="8683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400" b="1" u="none" strike="noStrike">
                <a:solidFill>
                  <a:srgbClr val="1A1A2E"/>
                </a:solidFill>
                <a:effectLst/>
                <a:uFillTx/>
                <a:latin typeface="Calibri"/>
              </a:rPr>
              <a:t>1</a:t>
            </a:r>
            <a:endParaRPr lang="en-US" sz="4400" b="0" u="none" strike="noStrike">
              <a:solidFill>
                <a:srgbClr val="FFFFFF"/>
              </a:solidFill>
              <a:effectLst/>
              <a:uFillTx/>
              <a:latin typeface="Arial"/>
            </a:endParaRPr>
          </a:p>
        </p:txBody>
      </p:sp>
      <p:sp>
        <p:nvSpPr>
          <p:cNvPr id="211" name="TextBox 3"/>
          <p:cNvSpPr/>
          <p:nvPr/>
        </p:nvSpPr>
        <p:spPr>
          <a:xfrm>
            <a:off x="1737360" y="411480"/>
            <a:ext cx="1005804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600" b="1" u="none" strike="noStrike">
                <a:solidFill>
                  <a:srgbClr val="00FF41"/>
                </a:solidFill>
                <a:effectLst/>
                <a:uFillTx/>
                <a:latin typeface="Calibri"/>
              </a:rPr>
              <a:t>Relationnel / SQL</a:t>
            </a:r>
            <a:endParaRPr lang="en-US" sz="4600" b="0" u="none" strike="noStrike">
              <a:solidFill>
                <a:srgbClr val="FFFFFF"/>
              </a:solidFill>
              <a:effectLst/>
              <a:uFillTx/>
              <a:latin typeface="Arial"/>
            </a:endParaRPr>
          </a:p>
        </p:txBody>
      </p:sp>
      <p:sp>
        <p:nvSpPr>
          <p:cNvPr id="212" name="Rectangle 4"/>
          <p:cNvSpPr/>
          <p:nvPr/>
        </p:nvSpPr>
        <p:spPr>
          <a:xfrm>
            <a:off x="457200" y="146304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213" name="TextBox 5"/>
          <p:cNvSpPr/>
          <p:nvPr/>
        </p:nvSpPr>
        <p:spPr>
          <a:xfrm>
            <a:off x="457200" y="169164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PRODUITS</a:t>
            </a:r>
            <a:endParaRPr lang="en-US" sz="2000" b="0" u="none" strike="noStrike">
              <a:solidFill>
                <a:srgbClr val="FFFFFF"/>
              </a:solidFill>
              <a:effectLst/>
              <a:uFillTx/>
              <a:latin typeface="Arial"/>
            </a:endParaRPr>
          </a:p>
        </p:txBody>
      </p:sp>
      <p:sp>
        <p:nvSpPr>
          <p:cNvPr id="214" name="TextBox 6"/>
          <p:cNvSpPr/>
          <p:nvPr/>
        </p:nvSpPr>
        <p:spPr>
          <a:xfrm>
            <a:off x="457200" y="2103120"/>
            <a:ext cx="1124676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1" u="none" strike="noStrike">
                <a:solidFill>
                  <a:srgbClr val="FFFFFF"/>
                </a:solidFill>
                <a:effectLst/>
                <a:uFillTx/>
                <a:latin typeface="Calibri"/>
              </a:rPr>
              <a:t>PostgreSQL  •  MySQL/MariaDB  •  SQL Server  •  Oracle</a:t>
            </a:r>
            <a:endParaRPr lang="en-US" sz="2800" b="0" u="none" strike="noStrike">
              <a:solidFill>
                <a:srgbClr val="FFFFFF"/>
              </a:solidFill>
              <a:effectLst/>
              <a:uFillTx/>
              <a:latin typeface="Arial"/>
            </a:endParaRPr>
          </a:p>
        </p:txBody>
      </p:sp>
      <p:sp>
        <p:nvSpPr>
          <p:cNvPr id="215" name="TextBox 7"/>
          <p:cNvSpPr/>
          <p:nvPr/>
        </p:nvSpPr>
        <p:spPr>
          <a:xfrm>
            <a:off x="457200" y="292608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À UTILISER QUAND</a:t>
            </a:r>
            <a:endParaRPr lang="en-US" sz="2000" b="0" u="none" strike="noStrike">
              <a:solidFill>
                <a:srgbClr val="FFFFFF"/>
              </a:solidFill>
              <a:effectLst/>
              <a:uFillTx/>
              <a:latin typeface="Arial"/>
            </a:endParaRPr>
          </a:p>
        </p:txBody>
      </p:sp>
      <p:sp>
        <p:nvSpPr>
          <p:cNvPr id="216" name="TextBox 8"/>
          <p:cNvSpPr/>
          <p:nvPr/>
        </p:nvSpPr>
        <p:spPr>
          <a:xfrm>
            <a:off x="457200" y="3337560"/>
            <a:ext cx="11246760" cy="10969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Relations claires, cohérence requise — finance, données réglementées.</a:t>
            </a:r>
            <a:endParaRPr lang="en-US" sz="2400" b="0" u="none" strike="noStrike">
              <a:solidFill>
                <a:srgbClr val="FFFFFF"/>
              </a:solidFill>
              <a:effectLst/>
              <a:uFillTx/>
              <a:latin typeface="Arial"/>
            </a:endParaRPr>
          </a:p>
        </p:txBody>
      </p:sp>
      <p:sp>
        <p:nvSpPr>
          <p:cNvPr id="217" name="Rounded Rectangle 9"/>
          <p:cNvSpPr/>
          <p:nvPr/>
        </p:nvSpPr>
        <p:spPr>
          <a:xfrm>
            <a:off x="457200" y="4572000"/>
            <a:ext cx="11246760" cy="1554120"/>
          </a:xfrm>
          <a:prstGeom prst="roundRect">
            <a:avLst>
              <a:gd name="adj" fmla="val 16667"/>
            </a:avLst>
          </a:prstGeom>
          <a:solidFill>
            <a:srgbClr val="3A1F14"/>
          </a:solidFill>
          <a:ln w="31750">
            <a:solidFill>
              <a:srgbClr val="FF6B3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18" name="TextBox 10"/>
          <p:cNvSpPr/>
          <p:nvPr/>
        </p:nvSpPr>
        <p:spPr>
          <a:xfrm>
            <a:off x="685800" y="4681800"/>
            <a:ext cx="107895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6B35"/>
                </a:solidFill>
                <a:effectLst/>
                <a:uFillTx/>
                <a:latin typeface="Calibri"/>
              </a:rPr>
              <a:t>⚠  PIÈGE DE SÉCURITÉ</a:t>
            </a:r>
            <a:endParaRPr lang="en-US" sz="2000" b="0" u="none" strike="noStrike">
              <a:solidFill>
                <a:srgbClr val="FFFFFF"/>
              </a:solidFill>
              <a:effectLst/>
              <a:uFillTx/>
              <a:latin typeface="Arial"/>
            </a:endParaRPr>
          </a:p>
        </p:txBody>
      </p:sp>
      <p:sp>
        <p:nvSpPr>
          <p:cNvPr id="219" name="TextBox 11"/>
          <p:cNvSpPr/>
          <p:nvPr/>
        </p:nvSpPr>
        <p:spPr>
          <a:xfrm>
            <a:off x="685800" y="5120640"/>
            <a:ext cx="107895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Injection SQL lorsque les développeurs concatènent les entrées utilisateur dans les requêtes.</a:t>
            </a:r>
            <a:endParaRPr lang="en-US" sz="2400" b="0" u="none" strike="noStrike">
              <a:solidFill>
                <a:srgbClr val="FFFFFF"/>
              </a:solidFill>
              <a:effectLst/>
              <a:uFillTx/>
              <a:latin typeface="Arial"/>
            </a:endParaRPr>
          </a:p>
        </p:txBody>
      </p:sp>
      <p:sp>
        <p:nvSpPr>
          <p:cNvPr id="220" name="TextBox 12"/>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Les bases de données pour les hackers</a:t>
            </a:r>
            <a:endParaRPr lang="en-US" sz="1400" b="0" u="none" strike="noStrike">
              <a:solidFill>
                <a:srgbClr val="FFFFFF"/>
              </a:solidFill>
              <a:effectLst/>
              <a:uFillTx/>
              <a:latin typeface="Arial"/>
            </a:endParaRPr>
          </a:p>
        </p:txBody>
      </p:sp>
      <p:sp>
        <p:nvSpPr>
          <p:cNvPr id="221" name="TextBox 13"/>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8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222" name="Oval 1" descr="Family card #2: Document Stores. Products: MongoDB  •  Couchbase  •  Firestore. Use case: Naturally nested data; the shape changes over time.. Security gotcha: NoSQL injection via query operators ($ne, $gt, $where). Default no-auth.." title="Family card #2: Document Stores. Products: MongoDB  •  Couchbase  •  Firestore. "/>
          <p:cNvSpPr/>
          <p:nvPr/>
        </p:nvSpPr>
        <p:spPr>
          <a:xfrm>
            <a:off x="457200" y="365760"/>
            <a:ext cx="1096920" cy="1096920"/>
          </a:xfrm>
          <a:prstGeom prst="ellipse">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23" name="TextBox 2"/>
          <p:cNvSpPr/>
          <p:nvPr/>
        </p:nvSpPr>
        <p:spPr>
          <a:xfrm>
            <a:off x="457200" y="502920"/>
            <a:ext cx="1096920" cy="8683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400" b="1" u="none" strike="noStrike">
                <a:solidFill>
                  <a:srgbClr val="1A1A2E"/>
                </a:solidFill>
                <a:effectLst/>
                <a:uFillTx/>
                <a:latin typeface="Calibri"/>
              </a:rPr>
              <a:t>2</a:t>
            </a:r>
            <a:endParaRPr lang="en-US" sz="4400" b="0" u="none" strike="noStrike">
              <a:solidFill>
                <a:srgbClr val="FFFFFF"/>
              </a:solidFill>
              <a:effectLst/>
              <a:uFillTx/>
              <a:latin typeface="Arial"/>
            </a:endParaRPr>
          </a:p>
        </p:txBody>
      </p:sp>
      <p:sp>
        <p:nvSpPr>
          <p:cNvPr id="224" name="TextBox 3"/>
          <p:cNvSpPr/>
          <p:nvPr/>
        </p:nvSpPr>
        <p:spPr>
          <a:xfrm>
            <a:off x="1737360" y="411480"/>
            <a:ext cx="1005804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600" b="1" u="none" strike="noStrike">
                <a:solidFill>
                  <a:srgbClr val="00FF41"/>
                </a:solidFill>
                <a:effectLst/>
                <a:uFillTx/>
                <a:latin typeface="Calibri"/>
              </a:rPr>
              <a:t>Magasins de documents</a:t>
            </a:r>
            <a:endParaRPr lang="en-US" sz="4600" b="0" u="none" strike="noStrike">
              <a:solidFill>
                <a:srgbClr val="FFFFFF"/>
              </a:solidFill>
              <a:effectLst/>
              <a:uFillTx/>
              <a:latin typeface="Arial"/>
            </a:endParaRPr>
          </a:p>
        </p:txBody>
      </p:sp>
      <p:sp>
        <p:nvSpPr>
          <p:cNvPr id="225" name="Rectangle 4"/>
          <p:cNvSpPr/>
          <p:nvPr/>
        </p:nvSpPr>
        <p:spPr>
          <a:xfrm>
            <a:off x="457200" y="146304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226" name="TextBox 5"/>
          <p:cNvSpPr/>
          <p:nvPr/>
        </p:nvSpPr>
        <p:spPr>
          <a:xfrm>
            <a:off x="457200" y="169164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PRODUITS</a:t>
            </a:r>
            <a:endParaRPr lang="en-US" sz="2000" b="0" u="none" strike="noStrike">
              <a:solidFill>
                <a:srgbClr val="FFFFFF"/>
              </a:solidFill>
              <a:effectLst/>
              <a:uFillTx/>
              <a:latin typeface="Arial"/>
            </a:endParaRPr>
          </a:p>
        </p:txBody>
      </p:sp>
      <p:sp>
        <p:nvSpPr>
          <p:cNvPr id="227" name="TextBox 6"/>
          <p:cNvSpPr/>
          <p:nvPr/>
        </p:nvSpPr>
        <p:spPr>
          <a:xfrm>
            <a:off x="457200" y="2103120"/>
            <a:ext cx="1124676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1" u="none" strike="noStrike">
                <a:solidFill>
                  <a:srgbClr val="FFFFFF"/>
                </a:solidFill>
                <a:effectLst/>
                <a:uFillTx/>
                <a:latin typeface="Calibri"/>
              </a:rPr>
              <a:t>MongoDB  •  Couchbase  •  Firestore</a:t>
            </a:r>
            <a:endParaRPr lang="en-US" sz="2800" b="0" u="none" strike="noStrike">
              <a:solidFill>
                <a:srgbClr val="FFFFFF"/>
              </a:solidFill>
              <a:effectLst/>
              <a:uFillTx/>
              <a:latin typeface="Arial"/>
            </a:endParaRPr>
          </a:p>
        </p:txBody>
      </p:sp>
      <p:sp>
        <p:nvSpPr>
          <p:cNvPr id="228" name="TextBox 7"/>
          <p:cNvSpPr/>
          <p:nvPr/>
        </p:nvSpPr>
        <p:spPr>
          <a:xfrm>
            <a:off x="457200" y="292608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À UTILISER QUAND</a:t>
            </a:r>
            <a:endParaRPr lang="en-US" sz="2000" b="0" u="none" strike="noStrike">
              <a:solidFill>
                <a:srgbClr val="FFFFFF"/>
              </a:solidFill>
              <a:effectLst/>
              <a:uFillTx/>
              <a:latin typeface="Arial"/>
            </a:endParaRPr>
          </a:p>
        </p:txBody>
      </p:sp>
      <p:sp>
        <p:nvSpPr>
          <p:cNvPr id="229" name="TextBox 8"/>
          <p:cNvSpPr/>
          <p:nvPr/>
        </p:nvSpPr>
        <p:spPr>
          <a:xfrm>
            <a:off x="457200" y="3337560"/>
            <a:ext cx="11246760" cy="10969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Données naturellement imbriquées ; la forme évolue avec le temps.</a:t>
            </a:r>
            <a:endParaRPr lang="en-US" sz="2400" b="0" u="none" strike="noStrike">
              <a:solidFill>
                <a:srgbClr val="FFFFFF"/>
              </a:solidFill>
              <a:effectLst/>
              <a:uFillTx/>
              <a:latin typeface="Arial"/>
            </a:endParaRPr>
          </a:p>
        </p:txBody>
      </p:sp>
      <p:sp>
        <p:nvSpPr>
          <p:cNvPr id="230" name="Rounded Rectangle 9"/>
          <p:cNvSpPr/>
          <p:nvPr/>
        </p:nvSpPr>
        <p:spPr>
          <a:xfrm>
            <a:off x="457200" y="4572000"/>
            <a:ext cx="11246760" cy="1554120"/>
          </a:xfrm>
          <a:prstGeom prst="roundRect">
            <a:avLst>
              <a:gd name="adj" fmla="val 16667"/>
            </a:avLst>
          </a:prstGeom>
          <a:solidFill>
            <a:srgbClr val="3A1F14"/>
          </a:solidFill>
          <a:ln w="31750">
            <a:solidFill>
              <a:srgbClr val="FF6B3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31" name="TextBox 10"/>
          <p:cNvSpPr/>
          <p:nvPr/>
        </p:nvSpPr>
        <p:spPr>
          <a:xfrm>
            <a:off x="685800" y="4681800"/>
            <a:ext cx="107895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6B35"/>
                </a:solidFill>
                <a:effectLst/>
                <a:uFillTx/>
                <a:latin typeface="Calibri"/>
              </a:rPr>
              <a:t>⚠  PIÈGE DE SÉCURITÉ</a:t>
            </a:r>
            <a:endParaRPr lang="en-US" sz="2000" b="0" u="none" strike="noStrike">
              <a:solidFill>
                <a:srgbClr val="FFFFFF"/>
              </a:solidFill>
              <a:effectLst/>
              <a:uFillTx/>
              <a:latin typeface="Arial"/>
            </a:endParaRPr>
          </a:p>
        </p:txBody>
      </p:sp>
      <p:sp>
        <p:nvSpPr>
          <p:cNvPr id="232" name="TextBox 11"/>
          <p:cNvSpPr/>
          <p:nvPr/>
        </p:nvSpPr>
        <p:spPr>
          <a:xfrm>
            <a:off x="685800" y="5120640"/>
            <a:ext cx="107895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Injection NoSQL via les opérateurs de requête ($ne, $gt, $where). Aucune authentification par défaut.</a:t>
            </a:r>
            <a:endParaRPr lang="en-US" sz="2400" b="0" u="none" strike="noStrike">
              <a:solidFill>
                <a:srgbClr val="FFFFFF"/>
              </a:solidFill>
              <a:effectLst/>
              <a:uFillTx/>
              <a:latin typeface="Arial"/>
            </a:endParaRPr>
          </a:p>
        </p:txBody>
      </p:sp>
      <p:sp>
        <p:nvSpPr>
          <p:cNvPr id="233" name="TextBox 12"/>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Les bases de données pour les hackers</a:t>
            </a:r>
            <a:endParaRPr lang="en-US" sz="1400" b="0" u="none" strike="noStrike">
              <a:solidFill>
                <a:srgbClr val="FFFFFF"/>
              </a:solidFill>
              <a:effectLst/>
              <a:uFillTx/>
              <a:latin typeface="Arial"/>
            </a:endParaRPr>
          </a:p>
        </p:txBody>
      </p:sp>
      <p:sp>
        <p:nvSpPr>
          <p:cNvPr id="234" name="TextBox 13"/>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9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235" name="Oval 1" descr="Family card #3: Key-Value Stores. Products: Redis  •  Memcached  •  DynamoDB. Use case: Caches, session stores, rate limiters, leaderboards.. Security gotcha: Default no-auth Redis + CONFIG SET → writing SSH keys to disk.." title="Family card #3: Key-Value Stores. Products: Redis  •  Memcached  •  DynamoDB. Us"/>
          <p:cNvSpPr/>
          <p:nvPr/>
        </p:nvSpPr>
        <p:spPr>
          <a:xfrm>
            <a:off x="457200" y="365760"/>
            <a:ext cx="1096920" cy="1096920"/>
          </a:xfrm>
          <a:prstGeom prst="ellipse">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36" name="TextBox 2"/>
          <p:cNvSpPr/>
          <p:nvPr/>
        </p:nvSpPr>
        <p:spPr>
          <a:xfrm>
            <a:off x="457200" y="502920"/>
            <a:ext cx="1096920" cy="8683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400" b="1" u="none" strike="noStrike">
                <a:solidFill>
                  <a:srgbClr val="1A1A2E"/>
                </a:solidFill>
                <a:effectLst/>
                <a:uFillTx/>
                <a:latin typeface="Calibri"/>
              </a:rPr>
              <a:t>3</a:t>
            </a:r>
            <a:endParaRPr lang="en-US" sz="4400" b="0" u="none" strike="noStrike">
              <a:solidFill>
                <a:srgbClr val="FFFFFF"/>
              </a:solidFill>
              <a:effectLst/>
              <a:uFillTx/>
              <a:latin typeface="Arial"/>
            </a:endParaRPr>
          </a:p>
        </p:txBody>
      </p:sp>
      <p:sp>
        <p:nvSpPr>
          <p:cNvPr id="237" name="TextBox 3"/>
          <p:cNvSpPr/>
          <p:nvPr/>
        </p:nvSpPr>
        <p:spPr>
          <a:xfrm>
            <a:off x="1737360" y="411480"/>
            <a:ext cx="1005804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600" b="1" u="none" strike="noStrike">
                <a:solidFill>
                  <a:srgbClr val="00FF41"/>
                </a:solidFill>
                <a:effectLst/>
                <a:uFillTx/>
                <a:latin typeface="Calibri"/>
              </a:rPr>
              <a:t>Magasins clé-valeur</a:t>
            </a:r>
            <a:endParaRPr lang="en-US" sz="4600" b="0" u="none" strike="noStrike">
              <a:solidFill>
                <a:srgbClr val="FFFFFF"/>
              </a:solidFill>
              <a:effectLst/>
              <a:uFillTx/>
              <a:latin typeface="Arial"/>
            </a:endParaRPr>
          </a:p>
        </p:txBody>
      </p:sp>
      <p:sp>
        <p:nvSpPr>
          <p:cNvPr id="238" name="Rectangle 4"/>
          <p:cNvSpPr/>
          <p:nvPr/>
        </p:nvSpPr>
        <p:spPr>
          <a:xfrm>
            <a:off x="457200" y="146304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239" name="TextBox 5"/>
          <p:cNvSpPr/>
          <p:nvPr/>
        </p:nvSpPr>
        <p:spPr>
          <a:xfrm>
            <a:off x="457200" y="169164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PRODUITS</a:t>
            </a:r>
            <a:endParaRPr lang="en-US" sz="2000" b="0" u="none" strike="noStrike">
              <a:solidFill>
                <a:srgbClr val="FFFFFF"/>
              </a:solidFill>
              <a:effectLst/>
              <a:uFillTx/>
              <a:latin typeface="Arial"/>
            </a:endParaRPr>
          </a:p>
        </p:txBody>
      </p:sp>
      <p:sp>
        <p:nvSpPr>
          <p:cNvPr id="240" name="TextBox 6"/>
          <p:cNvSpPr/>
          <p:nvPr/>
        </p:nvSpPr>
        <p:spPr>
          <a:xfrm>
            <a:off x="457200" y="2103120"/>
            <a:ext cx="1124676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1" u="none" strike="noStrike">
                <a:solidFill>
                  <a:srgbClr val="FFFFFF"/>
                </a:solidFill>
                <a:effectLst/>
                <a:uFillTx/>
                <a:latin typeface="Calibri"/>
              </a:rPr>
              <a:t>Redis  •  Memcached  •  DynamoDB</a:t>
            </a:r>
            <a:endParaRPr lang="en-US" sz="2800" b="0" u="none" strike="noStrike">
              <a:solidFill>
                <a:srgbClr val="FFFFFF"/>
              </a:solidFill>
              <a:effectLst/>
              <a:uFillTx/>
              <a:latin typeface="Arial"/>
            </a:endParaRPr>
          </a:p>
        </p:txBody>
      </p:sp>
      <p:sp>
        <p:nvSpPr>
          <p:cNvPr id="241" name="TextBox 7"/>
          <p:cNvSpPr/>
          <p:nvPr/>
        </p:nvSpPr>
        <p:spPr>
          <a:xfrm>
            <a:off x="457200" y="292608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À UTILISER QUAND</a:t>
            </a:r>
            <a:endParaRPr lang="en-US" sz="2000" b="0" u="none" strike="noStrike">
              <a:solidFill>
                <a:srgbClr val="FFFFFF"/>
              </a:solidFill>
              <a:effectLst/>
              <a:uFillTx/>
              <a:latin typeface="Arial"/>
            </a:endParaRPr>
          </a:p>
        </p:txBody>
      </p:sp>
      <p:sp>
        <p:nvSpPr>
          <p:cNvPr id="242" name="TextBox 8"/>
          <p:cNvSpPr/>
          <p:nvPr/>
        </p:nvSpPr>
        <p:spPr>
          <a:xfrm>
            <a:off x="457200" y="3337560"/>
            <a:ext cx="11246760" cy="10969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Caches, magasins de sessions, limiteurs de débit, classements.</a:t>
            </a:r>
            <a:endParaRPr lang="en-US" sz="2400" b="0" u="none" strike="noStrike">
              <a:solidFill>
                <a:srgbClr val="FFFFFF"/>
              </a:solidFill>
              <a:effectLst/>
              <a:uFillTx/>
              <a:latin typeface="Arial"/>
            </a:endParaRPr>
          </a:p>
        </p:txBody>
      </p:sp>
      <p:sp>
        <p:nvSpPr>
          <p:cNvPr id="243" name="Rounded Rectangle 9"/>
          <p:cNvSpPr/>
          <p:nvPr/>
        </p:nvSpPr>
        <p:spPr>
          <a:xfrm>
            <a:off x="457200" y="4572000"/>
            <a:ext cx="11246760" cy="1554120"/>
          </a:xfrm>
          <a:prstGeom prst="roundRect">
            <a:avLst>
              <a:gd name="adj" fmla="val 16667"/>
            </a:avLst>
          </a:prstGeom>
          <a:solidFill>
            <a:srgbClr val="3A1F14"/>
          </a:solidFill>
          <a:ln w="31750">
            <a:solidFill>
              <a:srgbClr val="FF6B3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44" name="TextBox 10"/>
          <p:cNvSpPr/>
          <p:nvPr/>
        </p:nvSpPr>
        <p:spPr>
          <a:xfrm>
            <a:off x="685800" y="4681800"/>
            <a:ext cx="107895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6B35"/>
                </a:solidFill>
                <a:effectLst/>
                <a:uFillTx/>
                <a:latin typeface="Calibri"/>
              </a:rPr>
              <a:t>⚠  PIÈGE DE SÉCURITÉ</a:t>
            </a:r>
            <a:endParaRPr lang="en-US" sz="2000" b="0" u="none" strike="noStrike">
              <a:solidFill>
                <a:srgbClr val="FFFFFF"/>
              </a:solidFill>
              <a:effectLst/>
              <a:uFillTx/>
              <a:latin typeface="Arial"/>
            </a:endParaRPr>
          </a:p>
        </p:txBody>
      </p:sp>
      <p:sp>
        <p:nvSpPr>
          <p:cNvPr id="245" name="TextBox 11"/>
          <p:cNvSpPr/>
          <p:nvPr/>
        </p:nvSpPr>
        <p:spPr>
          <a:xfrm>
            <a:off x="685800" y="5120640"/>
            <a:ext cx="107895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Redis sans authentification par défaut + CONFIG SET → écriture de clés SSH sur le disque.</a:t>
            </a:r>
            <a:endParaRPr lang="en-US" sz="2400" b="0" u="none" strike="noStrike">
              <a:solidFill>
                <a:srgbClr val="FFFFFF"/>
              </a:solidFill>
              <a:effectLst/>
              <a:uFillTx/>
              <a:latin typeface="Arial"/>
            </a:endParaRPr>
          </a:p>
        </p:txBody>
      </p:sp>
      <p:sp>
        <p:nvSpPr>
          <p:cNvPr id="246" name="TextBox 12"/>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Les bases de données pour les hackers</a:t>
            </a:r>
            <a:endParaRPr lang="en-US" sz="1400" b="0" u="none" strike="noStrike">
              <a:solidFill>
                <a:srgbClr val="FFFFFF"/>
              </a:solidFill>
              <a:effectLst/>
              <a:uFillTx/>
              <a:latin typeface="Arial"/>
            </a:endParaRPr>
          </a:p>
        </p:txBody>
      </p:sp>
      <p:sp>
        <p:nvSpPr>
          <p:cNvPr id="247" name="TextBox 13"/>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10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248" name="Oval 1" descr="Family card #4: Column-Family. Products: Apache Cassandra  •  HBase  •  ScyllaDB. Use case: Massive scale across many machines; no complex joins needed.. Security gotcha: Clusters trust each other on gossip ports — mgmt network = root.." title="Family card #4: Column-Family. Products: Apache Cassandra  •  HBase  •  ScyllaDB"/>
          <p:cNvSpPr/>
          <p:nvPr/>
        </p:nvSpPr>
        <p:spPr>
          <a:xfrm>
            <a:off x="457200" y="365760"/>
            <a:ext cx="1096920" cy="1096920"/>
          </a:xfrm>
          <a:prstGeom prst="ellipse">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49" name="TextBox 2"/>
          <p:cNvSpPr/>
          <p:nvPr/>
        </p:nvSpPr>
        <p:spPr>
          <a:xfrm>
            <a:off x="457200" y="502920"/>
            <a:ext cx="1096920" cy="8683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400" b="1" u="none" strike="noStrike">
                <a:solidFill>
                  <a:srgbClr val="1A1A2E"/>
                </a:solidFill>
                <a:effectLst/>
                <a:uFillTx/>
                <a:latin typeface="Calibri"/>
              </a:rPr>
              <a:t>4</a:t>
            </a:r>
            <a:endParaRPr lang="en-US" sz="4400" b="0" u="none" strike="noStrike">
              <a:solidFill>
                <a:srgbClr val="FFFFFF"/>
              </a:solidFill>
              <a:effectLst/>
              <a:uFillTx/>
              <a:latin typeface="Arial"/>
            </a:endParaRPr>
          </a:p>
        </p:txBody>
      </p:sp>
      <p:sp>
        <p:nvSpPr>
          <p:cNvPr id="250" name="TextBox 3"/>
          <p:cNvSpPr/>
          <p:nvPr/>
        </p:nvSpPr>
        <p:spPr>
          <a:xfrm>
            <a:off x="1737360" y="411480"/>
            <a:ext cx="1005804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600" b="1" u="none" strike="noStrike">
                <a:solidFill>
                  <a:srgbClr val="00FF41"/>
                </a:solidFill>
                <a:effectLst/>
                <a:uFillTx/>
                <a:latin typeface="Calibri"/>
              </a:rPr>
              <a:t>Famille de colonnes</a:t>
            </a:r>
            <a:endParaRPr lang="en-US" sz="4600" b="0" u="none" strike="noStrike">
              <a:solidFill>
                <a:srgbClr val="FFFFFF"/>
              </a:solidFill>
              <a:effectLst/>
              <a:uFillTx/>
              <a:latin typeface="Arial"/>
            </a:endParaRPr>
          </a:p>
        </p:txBody>
      </p:sp>
      <p:sp>
        <p:nvSpPr>
          <p:cNvPr id="251" name="Rectangle 4"/>
          <p:cNvSpPr/>
          <p:nvPr/>
        </p:nvSpPr>
        <p:spPr>
          <a:xfrm>
            <a:off x="457200" y="146304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252" name="TextBox 5"/>
          <p:cNvSpPr/>
          <p:nvPr/>
        </p:nvSpPr>
        <p:spPr>
          <a:xfrm>
            <a:off x="457200" y="169164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PRODUITS</a:t>
            </a:r>
            <a:endParaRPr lang="en-US" sz="2000" b="0" u="none" strike="noStrike">
              <a:solidFill>
                <a:srgbClr val="FFFFFF"/>
              </a:solidFill>
              <a:effectLst/>
              <a:uFillTx/>
              <a:latin typeface="Arial"/>
            </a:endParaRPr>
          </a:p>
        </p:txBody>
      </p:sp>
      <p:sp>
        <p:nvSpPr>
          <p:cNvPr id="253" name="TextBox 6"/>
          <p:cNvSpPr/>
          <p:nvPr/>
        </p:nvSpPr>
        <p:spPr>
          <a:xfrm>
            <a:off x="457200" y="2103120"/>
            <a:ext cx="1124676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1" u="none" strike="noStrike">
                <a:solidFill>
                  <a:srgbClr val="FFFFFF"/>
                </a:solidFill>
                <a:effectLst/>
                <a:uFillTx/>
                <a:latin typeface="Calibri"/>
              </a:rPr>
              <a:t>Apache Cassandra  •  HBase  •  ScyllaDB</a:t>
            </a:r>
            <a:endParaRPr lang="en-US" sz="2800" b="0" u="none" strike="noStrike">
              <a:solidFill>
                <a:srgbClr val="FFFFFF"/>
              </a:solidFill>
              <a:effectLst/>
              <a:uFillTx/>
              <a:latin typeface="Arial"/>
            </a:endParaRPr>
          </a:p>
        </p:txBody>
      </p:sp>
      <p:sp>
        <p:nvSpPr>
          <p:cNvPr id="254" name="TextBox 7"/>
          <p:cNvSpPr/>
          <p:nvPr/>
        </p:nvSpPr>
        <p:spPr>
          <a:xfrm>
            <a:off x="457200" y="292608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À UTILISER QUAND</a:t>
            </a:r>
            <a:endParaRPr lang="en-US" sz="2000" b="0" u="none" strike="noStrike">
              <a:solidFill>
                <a:srgbClr val="FFFFFF"/>
              </a:solidFill>
              <a:effectLst/>
              <a:uFillTx/>
              <a:latin typeface="Arial"/>
            </a:endParaRPr>
          </a:p>
        </p:txBody>
      </p:sp>
      <p:sp>
        <p:nvSpPr>
          <p:cNvPr id="255" name="TextBox 8"/>
          <p:cNvSpPr/>
          <p:nvPr/>
        </p:nvSpPr>
        <p:spPr>
          <a:xfrm>
            <a:off x="457200" y="3337560"/>
            <a:ext cx="11246760" cy="10969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Échelle massive sur de nombreuses machines ; pas de jointures complexes nécessaires.</a:t>
            </a:r>
            <a:endParaRPr lang="en-US" sz="2400" b="0" u="none" strike="noStrike">
              <a:solidFill>
                <a:srgbClr val="FFFFFF"/>
              </a:solidFill>
              <a:effectLst/>
              <a:uFillTx/>
              <a:latin typeface="Arial"/>
            </a:endParaRPr>
          </a:p>
        </p:txBody>
      </p:sp>
      <p:sp>
        <p:nvSpPr>
          <p:cNvPr id="256" name="Rounded Rectangle 9"/>
          <p:cNvSpPr/>
          <p:nvPr/>
        </p:nvSpPr>
        <p:spPr>
          <a:xfrm>
            <a:off x="457200" y="4572000"/>
            <a:ext cx="11246760" cy="1554120"/>
          </a:xfrm>
          <a:prstGeom prst="roundRect">
            <a:avLst>
              <a:gd name="adj" fmla="val 16667"/>
            </a:avLst>
          </a:prstGeom>
          <a:solidFill>
            <a:srgbClr val="3A1F14"/>
          </a:solidFill>
          <a:ln w="31750">
            <a:solidFill>
              <a:srgbClr val="FF6B3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57" name="TextBox 10"/>
          <p:cNvSpPr/>
          <p:nvPr/>
        </p:nvSpPr>
        <p:spPr>
          <a:xfrm>
            <a:off x="685800" y="4681800"/>
            <a:ext cx="107895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6B35"/>
                </a:solidFill>
                <a:effectLst/>
                <a:uFillTx/>
                <a:latin typeface="Calibri"/>
              </a:rPr>
              <a:t>⚠  PIÈGE DE SÉCURITÉ</a:t>
            </a:r>
            <a:endParaRPr lang="en-US" sz="2000" b="0" u="none" strike="noStrike">
              <a:solidFill>
                <a:srgbClr val="FFFFFF"/>
              </a:solidFill>
              <a:effectLst/>
              <a:uFillTx/>
              <a:latin typeface="Arial"/>
            </a:endParaRPr>
          </a:p>
        </p:txBody>
      </p:sp>
      <p:sp>
        <p:nvSpPr>
          <p:cNvPr id="258" name="TextBox 11"/>
          <p:cNvSpPr/>
          <p:nvPr/>
        </p:nvSpPr>
        <p:spPr>
          <a:xfrm>
            <a:off x="685800" y="5120640"/>
            <a:ext cx="107895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Les clusters se font confiance sur les ports gossip — réseau d'administration = root.</a:t>
            </a:r>
            <a:endParaRPr lang="en-US" sz="2400" b="0" u="none" strike="noStrike">
              <a:solidFill>
                <a:srgbClr val="FFFFFF"/>
              </a:solidFill>
              <a:effectLst/>
              <a:uFillTx/>
              <a:latin typeface="Arial"/>
            </a:endParaRPr>
          </a:p>
        </p:txBody>
      </p:sp>
      <p:sp>
        <p:nvSpPr>
          <p:cNvPr id="259" name="TextBox 12"/>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Les bases de données pour les hackers</a:t>
            </a:r>
            <a:endParaRPr lang="en-US" sz="1400" b="0" u="none" strike="noStrike">
              <a:solidFill>
                <a:srgbClr val="FFFFFF"/>
              </a:solidFill>
              <a:effectLst/>
              <a:uFillTx/>
              <a:latin typeface="Arial"/>
            </a:endParaRPr>
          </a:p>
        </p:txBody>
      </p:sp>
      <p:sp>
        <p:nvSpPr>
          <p:cNvPr id="260" name="TextBox 13"/>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11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261" name="Oval 1" descr="Family card #5: Graph Databases. Products: Neo4j  •  Amazon Neptune  •  ArangoDB. Use case: Social networks, fraud detection, IAM analysis (e.g. BloodHound).. Security gotcha: Query languages like Cypher are injectable too. NoSQLi isn't just Mongo.." title="Family card #5: Graph Databases. Products: Neo4j  •  Amazon Neptune  •  ArangoDB"/>
          <p:cNvSpPr/>
          <p:nvPr/>
        </p:nvSpPr>
        <p:spPr>
          <a:xfrm>
            <a:off x="457200" y="365760"/>
            <a:ext cx="1096920" cy="1096920"/>
          </a:xfrm>
          <a:prstGeom prst="ellipse">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62" name="TextBox 2"/>
          <p:cNvSpPr/>
          <p:nvPr/>
        </p:nvSpPr>
        <p:spPr>
          <a:xfrm>
            <a:off x="457200" y="502920"/>
            <a:ext cx="1096920" cy="8683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400" b="1" u="none" strike="noStrike">
                <a:solidFill>
                  <a:srgbClr val="1A1A2E"/>
                </a:solidFill>
                <a:effectLst/>
                <a:uFillTx/>
                <a:latin typeface="Calibri"/>
              </a:rPr>
              <a:t>5</a:t>
            </a:r>
            <a:endParaRPr lang="en-US" sz="4400" b="0" u="none" strike="noStrike">
              <a:solidFill>
                <a:srgbClr val="FFFFFF"/>
              </a:solidFill>
              <a:effectLst/>
              <a:uFillTx/>
              <a:latin typeface="Arial"/>
            </a:endParaRPr>
          </a:p>
        </p:txBody>
      </p:sp>
      <p:sp>
        <p:nvSpPr>
          <p:cNvPr id="263" name="TextBox 3"/>
          <p:cNvSpPr/>
          <p:nvPr/>
        </p:nvSpPr>
        <p:spPr>
          <a:xfrm>
            <a:off x="1737360" y="411480"/>
            <a:ext cx="1005804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600" b="1" u="none" strike="noStrike">
                <a:solidFill>
                  <a:srgbClr val="00FF41"/>
                </a:solidFill>
                <a:effectLst/>
                <a:uFillTx/>
                <a:latin typeface="Calibri"/>
              </a:rPr>
              <a:t>Bases de données graphe</a:t>
            </a:r>
            <a:endParaRPr lang="en-US" sz="4600" b="0" u="none" strike="noStrike">
              <a:solidFill>
                <a:srgbClr val="FFFFFF"/>
              </a:solidFill>
              <a:effectLst/>
              <a:uFillTx/>
              <a:latin typeface="Arial"/>
            </a:endParaRPr>
          </a:p>
        </p:txBody>
      </p:sp>
      <p:sp>
        <p:nvSpPr>
          <p:cNvPr id="264" name="Rectangle 4"/>
          <p:cNvSpPr/>
          <p:nvPr/>
        </p:nvSpPr>
        <p:spPr>
          <a:xfrm>
            <a:off x="457200" y="146304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265" name="TextBox 5"/>
          <p:cNvSpPr/>
          <p:nvPr/>
        </p:nvSpPr>
        <p:spPr>
          <a:xfrm>
            <a:off x="457200" y="169164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PRODUITS</a:t>
            </a:r>
            <a:endParaRPr lang="en-US" sz="2000" b="0" u="none" strike="noStrike">
              <a:solidFill>
                <a:srgbClr val="FFFFFF"/>
              </a:solidFill>
              <a:effectLst/>
              <a:uFillTx/>
              <a:latin typeface="Arial"/>
            </a:endParaRPr>
          </a:p>
        </p:txBody>
      </p:sp>
      <p:sp>
        <p:nvSpPr>
          <p:cNvPr id="266" name="TextBox 6"/>
          <p:cNvSpPr/>
          <p:nvPr/>
        </p:nvSpPr>
        <p:spPr>
          <a:xfrm>
            <a:off x="457200" y="2103120"/>
            <a:ext cx="1124676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1" u="none" strike="noStrike">
                <a:solidFill>
                  <a:srgbClr val="FFFFFF"/>
                </a:solidFill>
                <a:effectLst/>
                <a:uFillTx/>
                <a:latin typeface="Calibri"/>
              </a:rPr>
              <a:t>Neo4j  •  Amazon Neptune  •  ArangoDB</a:t>
            </a:r>
            <a:endParaRPr lang="en-US" sz="2800" b="0" u="none" strike="noStrike">
              <a:solidFill>
                <a:srgbClr val="FFFFFF"/>
              </a:solidFill>
              <a:effectLst/>
              <a:uFillTx/>
              <a:latin typeface="Arial"/>
            </a:endParaRPr>
          </a:p>
        </p:txBody>
      </p:sp>
      <p:sp>
        <p:nvSpPr>
          <p:cNvPr id="267" name="TextBox 7"/>
          <p:cNvSpPr/>
          <p:nvPr/>
        </p:nvSpPr>
        <p:spPr>
          <a:xfrm>
            <a:off x="457200" y="292608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À UTILISER QUAND</a:t>
            </a:r>
            <a:endParaRPr lang="en-US" sz="2000" b="0" u="none" strike="noStrike">
              <a:solidFill>
                <a:srgbClr val="FFFFFF"/>
              </a:solidFill>
              <a:effectLst/>
              <a:uFillTx/>
              <a:latin typeface="Arial"/>
            </a:endParaRPr>
          </a:p>
        </p:txBody>
      </p:sp>
      <p:sp>
        <p:nvSpPr>
          <p:cNvPr id="268" name="TextBox 8"/>
          <p:cNvSpPr/>
          <p:nvPr/>
        </p:nvSpPr>
        <p:spPr>
          <a:xfrm>
            <a:off x="457200" y="3337560"/>
            <a:ext cx="11246760" cy="10969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Réseaux sociaux, détection de fraude, analyse IAM (p. ex. BloodHound).</a:t>
            </a:r>
            <a:endParaRPr lang="en-US" sz="2400" b="0" u="none" strike="noStrike">
              <a:solidFill>
                <a:srgbClr val="FFFFFF"/>
              </a:solidFill>
              <a:effectLst/>
              <a:uFillTx/>
              <a:latin typeface="Arial"/>
            </a:endParaRPr>
          </a:p>
        </p:txBody>
      </p:sp>
      <p:sp>
        <p:nvSpPr>
          <p:cNvPr id="269" name="Rounded Rectangle 9"/>
          <p:cNvSpPr/>
          <p:nvPr/>
        </p:nvSpPr>
        <p:spPr>
          <a:xfrm>
            <a:off x="457200" y="4572000"/>
            <a:ext cx="11246760" cy="1554120"/>
          </a:xfrm>
          <a:prstGeom prst="roundRect">
            <a:avLst>
              <a:gd name="adj" fmla="val 16667"/>
            </a:avLst>
          </a:prstGeom>
          <a:solidFill>
            <a:srgbClr val="3A1F14"/>
          </a:solidFill>
          <a:ln w="31750">
            <a:solidFill>
              <a:srgbClr val="FF6B3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70" name="TextBox 10"/>
          <p:cNvSpPr/>
          <p:nvPr/>
        </p:nvSpPr>
        <p:spPr>
          <a:xfrm>
            <a:off x="685800" y="4681800"/>
            <a:ext cx="107895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6B35"/>
                </a:solidFill>
                <a:effectLst/>
                <a:uFillTx/>
                <a:latin typeface="Calibri"/>
              </a:rPr>
              <a:t>⚠  PIÈGE DE SÉCURITÉ</a:t>
            </a:r>
            <a:endParaRPr lang="en-US" sz="2000" b="0" u="none" strike="noStrike">
              <a:solidFill>
                <a:srgbClr val="FFFFFF"/>
              </a:solidFill>
              <a:effectLst/>
              <a:uFillTx/>
              <a:latin typeface="Arial"/>
            </a:endParaRPr>
          </a:p>
        </p:txBody>
      </p:sp>
      <p:sp>
        <p:nvSpPr>
          <p:cNvPr id="271" name="TextBox 11"/>
          <p:cNvSpPr/>
          <p:nvPr/>
        </p:nvSpPr>
        <p:spPr>
          <a:xfrm>
            <a:off x="685800" y="5120640"/>
            <a:ext cx="107895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Les langages de requête comme Cypher sont aussi injectables. Le NoSQLi ne se limite pas à Mongo.</a:t>
            </a:r>
            <a:endParaRPr lang="en-US" sz="2400" b="0" u="none" strike="noStrike">
              <a:solidFill>
                <a:srgbClr val="FFFFFF"/>
              </a:solidFill>
              <a:effectLst/>
              <a:uFillTx/>
              <a:latin typeface="Arial"/>
            </a:endParaRPr>
          </a:p>
        </p:txBody>
      </p:sp>
      <p:sp>
        <p:nvSpPr>
          <p:cNvPr id="272" name="TextBox 12"/>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Les bases de données pour les hackers</a:t>
            </a:r>
            <a:endParaRPr lang="en-US" sz="1400" b="0" u="none" strike="noStrike">
              <a:solidFill>
                <a:srgbClr val="FFFFFF"/>
              </a:solidFill>
              <a:effectLst/>
              <a:uFillTx/>
              <a:latin typeface="Arial"/>
            </a:endParaRPr>
          </a:p>
        </p:txBody>
      </p:sp>
      <p:sp>
        <p:nvSpPr>
          <p:cNvPr id="273" name="TextBox 13"/>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12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274" name="Oval 1" descr="Family card #6: Search Engines. Products: Elasticsearch  •  OpenSearch  •  Solr. Use case: Log search, SIEM backbones, e-commerce site search.. Security gotcha: No built-in auth historically — billions of records exposed on Shodan.." title="Family card #6: Search Engines. Products: Elasticsearch  •  OpenSearch  •  Solr."/>
          <p:cNvSpPr/>
          <p:nvPr/>
        </p:nvSpPr>
        <p:spPr>
          <a:xfrm>
            <a:off x="457200" y="365760"/>
            <a:ext cx="1096920" cy="1096920"/>
          </a:xfrm>
          <a:prstGeom prst="ellipse">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75" name="TextBox 2"/>
          <p:cNvSpPr/>
          <p:nvPr/>
        </p:nvSpPr>
        <p:spPr>
          <a:xfrm>
            <a:off x="457200" y="502920"/>
            <a:ext cx="1096920" cy="8683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400" b="1" u="none" strike="noStrike">
                <a:solidFill>
                  <a:srgbClr val="1A1A2E"/>
                </a:solidFill>
                <a:effectLst/>
                <a:uFillTx/>
                <a:latin typeface="Calibri"/>
              </a:rPr>
              <a:t>6</a:t>
            </a:r>
            <a:endParaRPr lang="en-US" sz="4400" b="0" u="none" strike="noStrike">
              <a:solidFill>
                <a:srgbClr val="FFFFFF"/>
              </a:solidFill>
              <a:effectLst/>
              <a:uFillTx/>
              <a:latin typeface="Arial"/>
            </a:endParaRPr>
          </a:p>
        </p:txBody>
      </p:sp>
      <p:sp>
        <p:nvSpPr>
          <p:cNvPr id="276" name="TextBox 3"/>
          <p:cNvSpPr/>
          <p:nvPr/>
        </p:nvSpPr>
        <p:spPr>
          <a:xfrm>
            <a:off x="1737360" y="411480"/>
            <a:ext cx="1005804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600" b="1" u="none" strike="noStrike">
                <a:solidFill>
                  <a:srgbClr val="00FF41"/>
                </a:solidFill>
                <a:effectLst/>
                <a:uFillTx/>
                <a:latin typeface="Calibri"/>
              </a:rPr>
              <a:t>Moteurs de recherche</a:t>
            </a:r>
            <a:endParaRPr lang="en-US" sz="4600" b="0" u="none" strike="noStrike">
              <a:solidFill>
                <a:srgbClr val="FFFFFF"/>
              </a:solidFill>
              <a:effectLst/>
              <a:uFillTx/>
              <a:latin typeface="Arial"/>
            </a:endParaRPr>
          </a:p>
        </p:txBody>
      </p:sp>
      <p:sp>
        <p:nvSpPr>
          <p:cNvPr id="277" name="Rectangle 4"/>
          <p:cNvSpPr/>
          <p:nvPr/>
        </p:nvSpPr>
        <p:spPr>
          <a:xfrm>
            <a:off x="457200" y="146304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278" name="TextBox 5"/>
          <p:cNvSpPr/>
          <p:nvPr/>
        </p:nvSpPr>
        <p:spPr>
          <a:xfrm>
            <a:off x="457200" y="169164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PRODUITS</a:t>
            </a:r>
            <a:endParaRPr lang="en-US" sz="2000" b="0" u="none" strike="noStrike">
              <a:solidFill>
                <a:srgbClr val="FFFFFF"/>
              </a:solidFill>
              <a:effectLst/>
              <a:uFillTx/>
              <a:latin typeface="Arial"/>
            </a:endParaRPr>
          </a:p>
        </p:txBody>
      </p:sp>
      <p:sp>
        <p:nvSpPr>
          <p:cNvPr id="279" name="TextBox 6"/>
          <p:cNvSpPr/>
          <p:nvPr/>
        </p:nvSpPr>
        <p:spPr>
          <a:xfrm>
            <a:off x="457200" y="2103120"/>
            <a:ext cx="11246760" cy="5173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1" u="none" strike="noStrike">
                <a:solidFill>
                  <a:srgbClr val="FFFFFF"/>
                </a:solidFill>
                <a:effectLst/>
                <a:uFillTx/>
                <a:latin typeface="Calibri"/>
                <a:ea typeface="Arial Unicode MS"/>
              </a:rPr>
              <a:t>Elasticsearch  •  OpenSearch  •  Solr </a:t>
            </a:r>
            <a:endParaRPr lang="en-US" sz="2800" b="0" u="none" strike="noStrike">
              <a:solidFill>
                <a:srgbClr val="FFFFFF"/>
              </a:solidFill>
              <a:effectLst/>
              <a:uFillTx/>
              <a:latin typeface="Arial"/>
            </a:endParaRPr>
          </a:p>
        </p:txBody>
      </p:sp>
      <p:sp>
        <p:nvSpPr>
          <p:cNvPr id="280" name="TextBox 7"/>
          <p:cNvSpPr/>
          <p:nvPr/>
        </p:nvSpPr>
        <p:spPr>
          <a:xfrm>
            <a:off x="457200" y="292608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À UTILISER QUAND</a:t>
            </a:r>
            <a:endParaRPr lang="en-US" sz="2000" b="0" u="none" strike="noStrike">
              <a:solidFill>
                <a:srgbClr val="FFFFFF"/>
              </a:solidFill>
              <a:effectLst/>
              <a:uFillTx/>
              <a:latin typeface="Arial"/>
            </a:endParaRPr>
          </a:p>
        </p:txBody>
      </p:sp>
      <p:sp>
        <p:nvSpPr>
          <p:cNvPr id="281" name="TextBox 8"/>
          <p:cNvSpPr/>
          <p:nvPr/>
        </p:nvSpPr>
        <p:spPr>
          <a:xfrm>
            <a:off x="457200" y="3337560"/>
            <a:ext cx="11246760" cy="10969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Recherche dans les journaux, épine dorsale des SIEM, recherche sur les sites e-commerce.</a:t>
            </a:r>
            <a:endParaRPr lang="en-US" sz="2400" b="0" u="none" strike="noStrike">
              <a:solidFill>
                <a:srgbClr val="FFFFFF"/>
              </a:solidFill>
              <a:effectLst/>
              <a:uFillTx/>
              <a:latin typeface="Arial"/>
            </a:endParaRPr>
          </a:p>
        </p:txBody>
      </p:sp>
      <p:sp>
        <p:nvSpPr>
          <p:cNvPr id="282" name="Rounded Rectangle 9"/>
          <p:cNvSpPr/>
          <p:nvPr/>
        </p:nvSpPr>
        <p:spPr>
          <a:xfrm>
            <a:off x="457200" y="4572000"/>
            <a:ext cx="11246760" cy="1554120"/>
          </a:xfrm>
          <a:prstGeom prst="roundRect">
            <a:avLst>
              <a:gd name="adj" fmla="val 16667"/>
            </a:avLst>
          </a:prstGeom>
          <a:solidFill>
            <a:srgbClr val="3A1F14"/>
          </a:solidFill>
          <a:ln w="31750">
            <a:solidFill>
              <a:srgbClr val="FF6B3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83" name="TextBox 10"/>
          <p:cNvSpPr/>
          <p:nvPr/>
        </p:nvSpPr>
        <p:spPr>
          <a:xfrm>
            <a:off x="685800" y="4681800"/>
            <a:ext cx="107895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6B35"/>
                </a:solidFill>
                <a:effectLst/>
                <a:uFillTx/>
                <a:latin typeface="Calibri"/>
              </a:rPr>
              <a:t>⚠  PIÈGE DE SÉCURITÉ</a:t>
            </a:r>
            <a:endParaRPr lang="en-US" sz="2000" b="0" u="none" strike="noStrike">
              <a:solidFill>
                <a:srgbClr val="FFFFFF"/>
              </a:solidFill>
              <a:effectLst/>
              <a:uFillTx/>
              <a:latin typeface="Arial"/>
            </a:endParaRPr>
          </a:p>
        </p:txBody>
      </p:sp>
      <p:sp>
        <p:nvSpPr>
          <p:cNvPr id="284" name="TextBox 11"/>
          <p:cNvSpPr/>
          <p:nvPr/>
        </p:nvSpPr>
        <p:spPr>
          <a:xfrm>
            <a:off x="685800" y="5120640"/>
            <a:ext cx="107895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Pas d'authentification intégrée historiquement — des milliards d'enregistrements exposés sur Shodan.</a:t>
            </a:r>
            <a:endParaRPr lang="en-US" sz="2400" b="0" u="none" strike="noStrike">
              <a:solidFill>
                <a:srgbClr val="FFFFFF"/>
              </a:solidFill>
              <a:effectLst/>
              <a:uFillTx/>
              <a:latin typeface="Arial"/>
            </a:endParaRPr>
          </a:p>
        </p:txBody>
      </p:sp>
      <p:sp>
        <p:nvSpPr>
          <p:cNvPr id="285" name="TextBox 12"/>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Les bases de données pour les hackers</a:t>
            </a:r>
            <a:endParaRPr lang="en-US" sz="1400" b="0" u="none" strike="noStrike">
              <a:solidFill>
                <a:srgbClr val="FFFFFF"/>
              </a:solidFill>
              <a:effectLst/>
              <a:uFillTx/>
              <a:latin typeface="Arial"/>
            </a:endParaRPr>
          </a:p>
        </p:txBody>
      </p:sp>
      <p:sp>
        <p:nvSpPr>
          <p:cNvPr id="286" name="TextBox 13"/>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13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287" name="Oval 1" descr="Family card #7: Time-Series. Products: InfluxDB  •  TimescaleDB  •  Prometheus. Use case: Metrics, observability, IoT telemetry.. Security gotcha: Usually inside the perimeter, often unauthenticated.." title="Family card #7: Time-Series. Products: InfluxDB  •  TimescaleDB  •  Prometheus. "/>
          <p:cNvSpPr/>
          <p:nvPr/>
        </p:nvSpPr>
        <p:spPr>
          <a:xfrm>
            <a:off x="457200" y="365760"/>
            <a:ext cx="1096920" cy="1096920"/>
          </a:xfrm>
          <a:prstGeom prst="ellipse">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88" name="TextBox 2"/>
          <p:cNvSpPr/>
          <p:nvPr/>
        </p:nvSpPr>
        <p:spPr>
          <a:xfrm>
            <a:off x="457200" y="502920"/>
            <a:ext cx="1096920" cy="8683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400" b="1" u="none" strike="noStrike">
                <a:solidFill>
                  <a:srgbClr val="1A1A2E"/>
                </a:solidFill>
                <a:effectLst/>
                <a:uFillTx/>
                <a:latin typeface="Calibri"/>
              </a:rPr>
              <a:t>7</a:t>
            </a:r>
            <a:endParaRPr lang="en-US" sz="4400" b="0" u="none" strike="noStrike">
              <a:solidFill>
                <a:srgbClr val="FFFFFF"/>
              </a:solidFill>
              <a:effectLst/>
              <a:uFillTx/>
              <a:latin typeface="Arial"/>
            </a:endParaRPr>
          </a:p>
        </p:txBody>
      </p:sp>
      <p:sp>
        <p:nvSpPr>
          <p:cNvPr id="289" name="TextBox 3"/>
          <p:cNvSpPr/>
          <p:nvPr/>
        </p:nvSpPr>
        <p:spPr>
          <a:xfrm>
            <a:off x="1737360" y="411480"/>
            <a:ext cx="1005804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600" b="1" u="none" strike="noStrike">
                <a:solidFill>
                  <a:srgbClr val="00FF41"/>
                </a:solidFill>
                <a:effectLst/>
                <a:uFillTx/>
                <a:latin typeface="Calibri"/>
              </a:rPr>
              <a:t>Séries temporelles</a:t>
            </a:r>
            <a:endParaRPr lang="en-US" sz="4600" b="0" u="none" strike="noStrike">
              <a:solidFill>
                <a:srgbClr val="FFFFFF"/>
              </a:solidFill>
              <a:effectLst/>
              <a:uFillTx/>
              <a:latin typeface="Arial"/>
            </a:endParaRPr>
          </a:p>
        </p:txBody>
      </p:sp>
      <p:sp>
        <p:nvSpPr>
          <p:cNvPr id="290" name="Rectangle 4"/>
          <p:cNvSpPr/>
          <p:nvPr/>
        </p:nvSpPr>
        <p:spPr>
          <a:xfrm>
            <a:off x="457200" y="146304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291" name="TextBox 5"/>
          <p:cNvSpPr/>
          <p:nvPr/>
        </p:nvSpPr>
        <p:spPr>
          <a:xfrm>
            <a:off x="457200" y="169164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PRODUITS</a:t>
            </a:r>
            <a:endParaRPr lang="en-US" sz="2000" b="0" u="none" strike="noStrike">
              <a:solidFill>
                <a:srgbClr val="FFFFFF"/>
              </a:solidFill>
              <a:effectLst/>
              <a:uFillTx/>
              <a:latin typeface="Arial"/>
            </a:endParaRPr>
          </a:p>
        </p:txBody>
      </p:sp>
      <p:sp>
        <p:nvSpPr>
          <p:cNvPr id="292" name="TextBox 6"/>
          <p:cNvSpPr/>
          <p:nvPr/>
        </p:nvSpPr>
        <p:spPr>
          <a:xfrm>
            <a:off x="457200" y="2103120"/>
            <a:ext cx="1124676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1" u="none" strike="noStrike">
                <a:solidFill>
                  <a:srgbClr val="FFFFFF"/>
                </a:solidFill>
                <a:effectLst/>
                <a:uFillTx/>
                <a:latin typeface="Calibri"/>
              </a:rPr>
              <a:t>InfluxDB  •  TimescaleDB  •  Prometheus</a:t>
            </a:r>
            <a:endParaRPr lang="en-US" sz="2800" b="0" u="none" strike="noStrike">
              <a:solidFill>
                <a:srgbClr val="FFFFFF"/>
              </a:solidFill>
              <a:effectLst/>
              <a:uFillTx/>
              <a:latin typeface="Arial"/>
            </a:endParaRPr>
          </a:p>
        </p:txBody>
      </p:sp>
      <p:sp>
        <p:nvSpPr>
          <p:cNvPr id="293" name="TextBox 7"/>
          <p:cNvSpPr/>
          <p:nvPr/>
        </p:nvSpPr>
        <p:spPr>
          <a:xfrm>
            <a:off x="457200" y="292608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À UTILISER QUAND</a:t>
            </a:r>
            <a:endParaRPr lang="en-US" sz="2000" b="0" u="none" strike="noStrike">
              <a:solidFill>
                <a:srgbClr val="FFFFFF"/>
              </a:solidFill>
              <a:effectLst/>
              <a:uFillTx/>
              <a:latin typeface="Arial"/>
            </a:endParaRPr>
          </a:p>
        </p:txBody>
      </p:sp>
      <p:sp>
        <p:nvSpPr>
          <p:cNvPr id="294" name="TextBox 8"/>
          <p:cNvSpPr/>
          <p:nvPr/>
        </p:nvSpPr>
        <p:spPr>
          <a:xfrm>
            <a:off x="457200" y="3337560"/>
            <a:ext cx="11246760" cy="10969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Métriques, observabilité, télémétrie IoT.</a:t>
            </a:r>
            <a:endParaRPr lang="en-US" sz="2400" b="0" u="none" strike="noStrike">
              <a:solidFill>
                <a:srgbClr val="FFFFFF"/>
              </a:solidFill>
              <a:effectLst/>
              <a:uFillTx/>
              <a:latin typeface="Arial"/>
            </a:endParaRPr>
          </a:p>
        </p:txBody>
      </p:sp>
      <p:sp>
        <p:nvSpPr>
          <p:cNvPr id="295" name="Rounded Rectangle 9"/>
          <p:cNvSpPr/>
          <p:nvPr/>
        </p:nvSpPr>
        <p:spPr>
          <a:xfrm>
            <a:off x="457200" y="4572000"/>
            <a:ext cx="11246760" cy="1554120"/>
          </a:xfrm>
          <a:prstGeom prst="roundRect">
            <a:avLst>
              <a:gd name="adj" fmla="val 16667"/>
            </a:avLst>
          </a:prstGeom>
          <a:solidFill>
            <a:srgbClr val="3A1F14"/>
          </a:solidFill>
          <a:ln w="31750">
            <a:solidFill>
              <a:srgbClr val="FF6B3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96" name="TextBox 10"/>
          <p:cNvSpPr/>
          <p:nvPr/>
        </p:nvSpPr>
        <p:spPr>
          <a:xfrm>
            <a:off x="685800" y="4681800"/>
            <a:ext cx="107895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6B35"/>
                </a:solidFill>
                <a:effectLst/>
                <a:uFillTx/>
                <a:latin typeface="Calibri"/>
              </a:rPr>
              <a:t>⚠  PIÈGE DE SÉCURITÉ</a:t>
            </a:r>
            <a:endParaRPr lang="en-US" sz="2000" b="0" u="none" strike="noStrike">
              <a:solidFill>
                <a:srgbClr val="FFFFFF"/>
              </a:solidFill>
              <a:effectLst/>
              <a:uFillTx/>
              <a:latin typeface="Arial"/>
            </a:endParaRPr>
          </a:p>
        </p:txBody>
      </p:sp>
      <p:sp>
        <p:nvSpPr>
          <p:cNvPr id="297" name="TextBox 11"/>
          <p:cNvSpPr/>
          <p:nvPr/>
        </p:nvSpPr>
        <p:spPr>
          <a:xfrm>
            <a:off x="685800" y="5120640"/>
            <a:ext cx="107895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Généralement à l'intérieur du périmètre, souvent sans authentification.</a:t>
            </a:r>
            <a:endParaRPr lang="en-US" sz="2400" b="0" u="none" strike="noStrike">
              <a:solidFill>
                <a:srgbClr val="FFFFFF"/>
              </a:solidFill>
              <a:effectLst/>
              <a:uFillTx/>
              <a:latin typeface="Arial"/>
            </a:endParaRPr>
          </a:p>
        </p:txBody>
      </p:sp>
      <p:sp>
        <p:nvSpPr>
          <p:cNvPr id="298" name="TextBox 12"/>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Les bases de données pour les hackers</a:t>
            </a:r>
            <a:endParaRPr lang="en-US" sz="1400" b="0" u="none" strike="noStrike">
              <a:solidFill>
                <a:srgbClr val="FFFFFF"/>
              </a:solidFill>
              <a:effectLst/>
              <a:uFillTx/>
              <a:latin typeface="Arial"/>
            </a:endParaRPr>
          </a:p>
        </p:txBody>
      </p:sp>
      <p:sp>
        <p:nvSpPr>
          <p:cNvPr id="299" name="TextBox 13"/>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14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300" name="Oval 1" descr="Family card #8: Vector Databases. Products: Pinecone  •  Milvus  •  Weaviate  •  pgvector. Use case: RAG, recommendation engines, semantic search.. Security gotcha: Data poisoning — sneak in a doc, the LLM quotes it as truth.." title="Family card #8: Vector Databases. Products: Pinecone  •  Milvus  •  Weaviate  • "/>
          <p:cNvSpPr/>
          <p:nvPr/>
        </p:nvSpPr>
        <p:spPr>
          <a:xfrm>
            <a:off x="457200" y="365760"/>
            <a:ext cx="1096920" cy="1096920"/>
          </a:xfrm>
          <a:prstGeom prst="ellipse">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01" name="TextBox 2"/>
          <p:cNvSpPr/>
          <p:nvPr/>
        </p:nvSpPr>
        <p:spPr>
          <a:xfrm>
            <a:off x="457200" y="502920"/>
            <a:ext cx="1096920" cy="8683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400" b="1" u="none" strike="noStrike">
                <a:solidFill>
                  <a:srgbClr val="1A1A2E"/>
                </a:solidFill>
                <a:effectLst/>
                <a:uFillTx/>
                <a:latin typeface="Calibri"/>
              </a:rPr>
              <a:t>8</a:t>
            </a:r>
            <a:endParaRPr lang="en-US" sz="4400" b="0" u="none" strike="noStrike">
              <a:solidFill>
                <a:srgbClr val="FFFFFF"/>
              </a:solidFill>
              <a:effectLst/>
              <a:uFillTx/>
              <a:latin typeface="Arial"/>
            </a:endParaRPr>
          </a:p>
        </p:txBody>
      </p:sp>
      <p:sp>
        <p:nvSpPr>
          <p:cNvPr id="302" name="TextBox 3"/>
          <p:cNvSpPr/>
          <p:nvPr/>
        </p:nvSpPr>
        <p:spPr>
          <a:xfrm>
            <a:off x="1737360" y="411480"/>
            <a:ext cx="1005804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600" b="1" u="none" strike="noStrike">
                <a:solidFill>
                  <a:srgbClr val="00FF41"/>
                </a:solidFill>
                <a:effectLst/>
                <a:uFillTx/>
                <a:latin typeface="Calibri"/>
              </a:rPr>
              <a:t>Bases de données vectorielles</a:t>
            </a:r>
            <a:endParaRPr lang="en-US" sz="4600" b="0" u="none" strike="noStrike">
              <a:solidFill>
                <a:srgbClr val="FFFFFF"/>
              </a:solidFill>
              <a:effectLst/>
              <a:uFillTx/>
              <a:latin typeface="Arial"/>
            </a:endParaRPr>
          </a:p>
        </p:txBody>
      </p:sp>
      <p:sp>
        <p:nvSpPr>
          <p:cNvPr id="303" name="Rectangle 4"/>
          <p:cNvSpPr/>
          <p:nvPr/>
        </p:nvSpPr>
        <p:spPr>
          <a:xfrm>
            <a:off x="457200" y="146304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304" name="TextBox 5"/>
          <p:cNvSpPr/>
          <p:nvPr/>
        </p:nvSpPr>
        <p:spPr>
          <a:xfrm>
            <a:off x="457200" y="169164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PRODUITS</a:t>
            </a:r>
            <a:endParaRPr lang="en-US" sz="2000" b="0" u="none" strike="noStrike">
              <a:solidFill>
                <a:srgbClr val="FFFFFF"/>
              </a:solidFill>
              <a:effectLst/>
              <a:uFillTx/>
              <a:latin typeface="Arial"/>
            </a:endParaRPr>
          </a:p>
        </p:txBody>
      </p:sp>
      <p:sp>
        <p:nvSpPr>
          <p:cNvPr id="305" name="TextBox 6"/>
          <p:cNvSpPr/>
          <p:nvPr/>
        </p:nvSpPr>
        <p:spPr>
          <a:xfrm>
            <a:off x="457200" y="2103120"/>
            <a:ext cx="1124676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1" u="none" strike="noStrike">
                <a:solidFill>
                  <a:srgbClr val="FFFFFF"/>
                </a:solidFill>
                <a:effectLst/>
                <a:uFillTx/>
                <a:latin typeface="Calibri"/>
              </a:rPr>
              <a:t>Pinecone  •  Milvus  •  Weaviate  •  pgvector</a:t>
            </a:r>
            <a:endParaRPr lang="en-US" sz="2800" b="0" u="none" strike="noStrike">
              <a:solidFill>
                <a:srgbClr val="FFFFFF"/>
              </a:solidFill>
              <a:effectLst/>
              <a:uFillTx/>
              <a:latin typeface="Arial"/>
            </a:endParaRPr>
          </a:p>
        </p:txBody>
      </p:sp>
      <p:sp>
        <p:nvSpPr>
          <p:cNvPr id="306" name="TextBox 7"/>
          <p:cNvSpPr/>
          <p:nvPr/>
        </p:nvSpPr>
        <p:spPr>
          <a:xfrm>
            <a:off x="457200" y="292608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À UTILISER QUAND</a:t>
            </a:r>
            <a:endParaRPr lang="en-US" sz="2000" b="0" u="none" strike="noStrike">
              <a:solidFill>
                <a:srgbClr val="FFFFFF"/>
              </a:solidFill>
              <a:effectLst/>
              <a:uFillTx/>
              <a:latin typeface="Arial"/>
            </a:endParaRPr>
          </a:p>
        </p:txBody>
      </p:sp>
      <p:sp>
        <p:nvSpPr>
          <p:cNvPr id="307" name="TextBox 8"/>
          <p:cNvSpPr/>
          <p:nvPr/>
        </p:nvSpPr>
        <p:spPr>
          <a:xfrm>
            <a:off x="457200" y="3337560"/>
            <a:ext cx="11246760" cy="10969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RAG, moteurs de recommandation, recherche sémantique.</a:t>
            </a:r>
            <a:endParaRPr lang="en-US" sz="2400" b="0" u="none" strike="noStrike">
              <a:solidFill>
                <a:srgbClr val="FFFFFF"/>
              </a:solidFill>
              <a:effectLst/>
              <a:uFillTx/>
              <a:latin typeface="Arial"/>
            </a:endParaRPr>
          </a:p>
        </p:txBody>
      </p:sp>
      <p:sp>
        <p:nvSpPr>
          <p:cNvPr id="308" name="Rounded Rectangle 9"/>
          <p:cNvSpPr/>
          <p:nvPr/>
        </p:nvSpPr>
        <p:spPr>
          <a:xfrm>
            <a:off x="457200" y="4572000"/>
            <a:ext cx="11246760" cy="1554120"/>
          </a:xfrm>
          <a:prstGeom prst="roundRect">
            <a:avLst>
              <a:gd name="adj" fmla="val 16667"/>
            </a:avLst>
          </a:prstGeom>
          <a:solidFill>
            <a:srgbClr val="3A1F14"/>
          </a:solidFill>
          <a:ln w="31750">
            <a:solidFill>
              <a:srgbClr val="FF6B3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09" name="TextBox 10"/>
          <p:cNvSpPr/>
          <p:nvPr/>
        </p:nvSpPr>
        <p:spPr>
          <a:xfrm>
            <a:off x="685800" y="4681800"/>
            <a:ext cx="107895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6B35"/>
                </a:solidFill>
                <a:effectLst/>
                <a:uFillTx/>
                <a:latin typeface="Calibri"/>
              </a:rPr>
              <a:t>⚠  PIÈGE DE SÉCURITÉ</a:t>
            </a:r>
            <a:endParaRPr lang="en-US" sz="2000" b="0" u="none" strike="noStrike">
              <a:solidFill>
                <a:srgbClr val="FFFFFF"/>
              </a:solidFill>
              <a:effectLst/>
              <a:uFillTx/>
              <a:latin typeface="Arial"/>
            </a:endParaRPr>
          </a:p>
        </p:txBody>
      </p:sp>
      <p:sp>
        <p:nvSpPr>
          <p:cNvPr id="310" name="TextBox 11"/>
          <p:cNvSpPr/>
          <p:nvPr/>
        </p:nvSpPr>
        <p:spPr>
          <a:xfrm>
            <a:off x="685800" y="5120640"/>
            <a:ext cx="107895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Empoisonnement des données — glissez un document, le LLM le cite comme vérité.</a:t>
            </a:r>
            <a:endParaRPr lang="en-US" sz="2400" b="0" u="none" strike="noStrike">
              <a:solidFill>
                <a:srgbClr val="FFFFFF"/>
              </a:solidFill>
              <a:effectLst/>
              <a:uFillTx/>
              <a:latin typeface="Arial"/>
            </a:endParaRPr>
          </a:p>
        </p:txBody>
      </p:sp>
      <p:sp>
        <p:nvSpPr>
          <p:cNvPr id="311" name="TextBox 12"/>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Les bases de données pour les hackers</a:t>
            </a:r>
            <a:endParaRPr lang="en-US" sz="1400" b="0" u="none" strike="noStrike">
              <a:solidFill>
                <a:srgbClr val="FFFFFF"/>
              </a:solidFill>
              <a:effectLst/>
              <a:uFillTx/>
              <a:latin typeface="Arial"/>
            </a:endParaRPr>
          </a:p>
        </p:txBody>
      </p:sp>
      <p:sp>
        <p:nvSpPr>
          <p:cNvPr id="312" name="TextBox 13"/>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15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313" name="Oval 1" descr="Family card #9: Embedded / Edge. Products: SQLite  •  DuckDB  •  LevelDB. Use case: In-app storage — browsers, phones, every modern airplane.. Security gotcha: DB is a file — attack is 'steal the file'. Mobile pentest world.." title="Family card #9: Embedded / Edge. Products: SQLite  •  DuckDB  •  LevelDB. Use ca"/>
          <p:cNvSpPr/>
          <p:nvPr/>
        </p:nvSpPr>
        <p:spPr>
          <a:xfrm>
            <a:off x="457200" y="365760"/>
            <a:ext cx="1096920" cy="1096920"/>
          </a:xfrm>
          <a:prstGeom prst="ellipse">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14" name="TextBox 2"/>
          <p:cNvSpPr/>
          <p:nvPr/>
        </p:nvSpPr>
        <p:spPr>
          <a:xfrm>
            <a:off x="457200" y="502920"/>
            <a:ext cx="1096920" cy="8683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400" b="1" u="none" strike="noStrike">
                <a:solidFill>
                  <a:srgbClr val="1A1A2E"/>
                </a:solidFill>
                <a:effectLst/>
                <a:uFillTx/>
                <a:latin typeface="Calibri"/>
              </a:rPr>
              <a:t>9</a:t>
            </a:r>
            <a:endParaRPr lang="en-US" sz="4400" b="0" u="none" strike="noStrike">
              <a:solidFill>
                <a:srgbClr val="FFFFFF"/>
              </a:solidFill>
              <a:effectLst/>
              <a:uFillTx/>
              <a:latin typeface="Arial"/>
            </a:endParaRPr>
          </a:p>
        </p:txBody>
      </p:sp>
      <p:sp>
        <p:nvSpPr>
          <p:cNvPr id="315" name="TextBox 3"/>
          <p:cNvSpPr/>
          <p:nvPr/>
        </p:nvSpPr>
        <p:spPr>
          <a:xfrm>
            <a:off x="1737360" y="411480"/>
            <a:ext cx="1005804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600" b="1" u="none" strike="noStrike">
                <a:solidFill>
                  <a:srgbClr val="00FF41"/>
                </a:solidFill>
                <a:effectLst/>
                <a:uFillTx/>
                <a:latin typeface="Calibri"/>
              </a:rPr>
              <a:t>Embarqué / Edge</a:t>
            </a:r>
            <a:endParaRPr lang="en-US" sz="4600" b="0" u="none" strike="noStrike">
              <a:solidFill>
                <a:srgbClr val="FFFFFF"/>
              </a:solidFill>
              <a:effectLst/>
              <a:uFillTx/>
              <a:latin typeface="Arial"/>
            </a:endParaRPr>
          </a:p>
        </p:txBody>
      </p:sp>
      <p:sp>
        <p:nvSpPr>
          <p:cNvPr id="316" name="Rectangle 4"/>
          <p:cNvSpPr/>
          <p:nvPr/>
        </p:nvSpPr>
        <p:spPr>
          <a:xfrm>
            <a:off x="457200" y="146304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317" name="TextBox 5"/>
          <p:cNvSpPr/>
          <p:nvPr/>
        </p:nvSpPr>
        <p:spPr>
          <a:xfrm>
            <a:off x="457200" y="169164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PRODUITS</a:t>
            </a:r>
            <a:endParaRPr lang="en-US" sz="2000" b="0" u="none" strike="noStrike">
              <a:solidFill>
                <a:srgbClr val="FFFFFF"/>
              </a:solidFill>
              <a:effectLst/>
              <a:uFillTx/>
              <a:latin typeface="Arial"/>
            </a:endParaRPr>
          </a:p>
        </p:txBody>
      </p:sp>
      <p:sp>
        <p:nvSpPr>
          <p:cNvPr id="318" name="TextBox 6"/>
          <p:cNvSpPr/>
          <p:nvPr/>
        </p:nvSpPr>
        <p:spPr>
          <a:xfrm>
            <a:off x="457200" y="2103120"/>
            <a:ext cx="1124676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1" u="none" strike="noStrike">
                <a:solidFill>
                  <a:srgbClr val="FFFFFF"/>
                </a:solidFill>
                <a:effectLst/>
                <a:uFillTx/>
                <a:latin typeface="Calibri"/>
              </a:rPr>
              <a:t>SQLite  •  DuckDB  •  LevelDB</a:t>
            </a:r>
            <a:endParaRPr lang="en-US" sz="2800" b="0" u="none" strike="noStrike">
              <a:solidFill>
                <a:srgbClr val="FFFFFF"/>
              </a:solidFill>
              <a:effectLst/>
              <a:uFillTx/>
              <a:latin typeface="Arial"/>
            </a:endParaRPr>
          </a:p>
        </p:txBody>
      </p:sp>
      <p:sp>
        <p:nvSpPr>
          <p:cNvPr id="319" name="TextBox 7"/>
          <p:cNvSpPr/>
          <p:nvPr/>
        </p:nvSpPr>
        <p:spPr>
          <a:xfrm>
            <a:off x="457200" y="292608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À UTILISER QUAND</a:t>
            </a:r>
            <a:endParaRPr lang="en-US" sz="2000" b="0" u="none" strike="noStrike">
              <a:solidFill>
                <a:srgbClr val="FFFFFF"/>
              </a:solidFill>
              <a:effectLst/>
              <a:uFillTx/>
              <a:latin typeface="Arial"/>
            </a:endParaRPr>
          </a:p>
        </p:txBody>
      </p:sp>
      <p:sp>
        <p:nvSpPr>
          <p:cNvPr id="320" name="TextBox 8"/>
          <p:cNvSpPr/>
          <p:nvPr/>
        </p:nvSpPr>
        <p:spPr>
          <a:xfrm>
            <a:off x="457200" y="3337560"/>
            <a:ext cx="11246760" cy="10969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Stockage intégré à l'app — navigateurs, téléphones, tous les avions modernes.</a:t>
            </a:r>
            <a:endParaRPr lang="en-US" sz="2400" b="0" u="none" strike="noStrike">
              <a:solidFill>
                <a:srgbClr val="FFFFFF"/>
              </a:solidFill>
              <a:effectLst/>
              <a:uFillTx/>
              <a:latin typeface="Arial"/>
            </a:endParaRPr>
          </a:p>
        </p:txBody>
      </p:sp>
      <p:sp>
        <p:nvSpPr>
          <p:cNvPr id="321" name="Rounded Rectangle 9"/>
          <p:cNvSpPr/>
          <p:nvPr/>
        </p:nvSpPr>
        <p:spPr>
          <a:xfrm>
            <a:off x="457200" y="4572000"/>
            <a:ext cx="11246760" cy="1554120"/>
          </a:xfrm>
          <a:prstGeom prst="roundRect">
            <a:avLst>
              <a:gd name="adj" fmla="val 16667"/>
            </a:avLst>
          </a:prstGeom>
          <a:solidFill>
            <a:srgbClr val="3A1F14"/>
          </a:solidFill>
          <a:ln w="31750">
            <a:solidFill>
              <a:srgbClr val="FF6B3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22" name="TextBox 10"/>
          <p:cNvSpPr/>
          <p:nvPr/>
        </p:nvSpPr>
        <p:spPr>
          <a:xfrm>
            <a:off x="685800" y="4681800"/>
            <a:ext cx="107895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6B35"/>
                </a:solidFill>
                <a:effectLst/>
                <a:uFillTx/>
                <a:latin typeface="Calibri"/>
              </a:rPr>
              <a:t>⚠  PIÈGE DE SÉCURITÉ</a:t>
            </a:r>
            <a:endParaRPr lang="en-US" sz="2000" b="0" u="none" strike="noStrike">
              <a:solidFill>
                <a:srgbClr val="FFFFFF"/>
              </a:solidFill>
              <a:effectLst/>
              <a:uFillTx/>
              <a:latin typeface="Arial"/>
            </a:endParaRPr>
          </a:p>
        </p:txBody>
      </p:sp>
      <p:sp>
        <p:nvSpPr>
          <p:cNvPr id="323" name="TextBox 11"/>
          <p:cNvSpPr/>
          <p:nvPr/>
        </p:nvSpPr>
        <p:spPr>
          <a:xfrm>
            <a:off x="685800" y="5120640"/>
            <a:ext cx="107895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La BD est un fichier — l'attaque consiste à « voler le fichier ». L'univers du pentest mobile.</a:t>
            </a:r>
            <a:endParaRPr lang="en-US" sz="2400" b="0" u="none" strike="noStrike">
              <a:solidFill>
                <a:srgbClr val="FFFFFF"/>
              </a:solidFill>
              <a:effectLst/>
              <a:uFillTx/>
              <a:latin typeface="Arial"/>
            </a:endParaRPr>
          </a:p>
        </p:txBody>
      </p:sp>
      <p:sp>
        <p:nvSpPr>
          <p:cNvPr id="324" name="TextBox 12"/>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Les bases de données pour les hackers</a:t>
            </a:r>
            <a:endParaRPr lang="en-US" sz="1400" b="0" u="none" strike="noStrike">
              <a:solidFill>
                <a:srgbClr val="FFFFFF"/>
              </a:solidFill>
              <a:effectLst/>
              <a:uFillTx/>
              <a:latin typeface="Arial"/>
            </a:endParaRPr>
          </a:p>
        </p:txBody>
      </p:sp>
      <p:sp>
        <p:nvSpPr>
          <p:cNvPr id="325" name="TextBox 13"/>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16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326" name="Oval 1" descr="Family card #10: Data Lakes / Lakehouses. Products: S3 + Athena  •  Delta Lake  •  Iceberg  •  Snowflake. Use case: Schema-on-read instead of schema-on-write. Dump now, query later.. Security gotcha: Giant S3 pools + permissive IAM, no encryption-at-rest enforcement.." title="Family card #10: Data Lakes / Lakehouses. Products: S3 + Athena  •  Delta Lake  "/>
          <p:cNvSpPr/>
          <p:nvPr/>
        </p:nvSpPr>
        <p:spPr>
          <a:xfrm>
            <a:off x="457200" y="365760"/>
            <a:ext cx="1096920" cy="1096920"/>
          </a:xfrm>
          <a:prstGeom prst="ellipse">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27" name="TextBox 2"/>
          <p:cNvSpPr/>
          <p:nvPr/>
        </p:nvSpPr>
        <p:spPr>
          <a:xfrm>
            <a:off x="457200" y="502920"/>
            <a:ext cx="1096920" cy="8683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400" b="1" u="none" strike="noStrike">
                <a:solidFill>
                  <a:srgbClr val="1A1A2E"/>
                </a:solidFill>
                <a:effectLst/>
                <a:uFillTx/>
                <a:latin typeface="Calibri"/>
              </a:rPr>
              <a:t>10</a:t>
            </a:r>
            <a:endParaRPr lang="en-US" sz="4400" b="0" u="none" strike="noStrike">
              <a:solidFill>
                <a:srgbClr val="FFFFFF"/>
              </a:solidFill>
              <a:effectLst/>
              <a:uFillTx/>
              <a:latin typeface="Arial"/>
            </a:endParaRPr>
          </a:p>
        </p:txBody>
      </p:sp>
      <p:sp>
        <p:nvSpPr>
          <p:cNvPr id="328" name="TextBox 3"/>
          <p:cNvSpPr/>
          <p:nvPr/>
        </p:nvSpPr>
        <p:spPr>
          <a:xfrm>
            <a:off x="1737360" y="411480"/>
            <a:ext cx="1005804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600" b="1" u="none" strike="noStrike">
                <a:solidFill>
                  <a:srgbClr val="00FF41"/>
                </a:solidFill>
                <a:effectLst/>
                <a:uFillTx/>
                <a:latin typeface="Calibri"/>
              </a:rPr>
              <a:t>Data Lakes / Lakehouses</a:t>
            </a:r>
            <a:endParaRPr lang="en-US" sz="4600" b="0" u="none" strike="noStrike">
              <a:solidFill>
                <a:srgbClr val="FFFFFF"/>
              </a:solidFill>
              <a:effectLst/>
              <a:uFillTx/>
              <a:latin typeface="Arial"/>
            </a:endParaRPr>
          </a:p>
        </p:txBody>
      </p:sp>
      <p:sp>
        <p:nvSpPr>
          <p:cNvPr id="329" name="Rectangle 4"/>
          <p:cNvSpPr/>
          <p:nvPr/>
        </p:nvSpPr>
        <p:spPr>
          <a:xfrm>
            <a:off x="457200" y="146304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330" name="TextBox 5"/>
          <p:cNvSpPr/>
          <p:nvPr/>
        </p:nvSpPr>
        <p:spPr>
          <a:xfrm>
            <a:off x="457200" y="169164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PRODUITS</a:t>
            </a:r>
            <a:endParaRPr lang="en-US" sz="2000" b="0" u="none" strike="noStrike">
              <a:solidFill>
                <a:srgbClr val="FFFFFF"/>
              </a:solidFill>
              <a:effectLst/>
              <a:uFillTx/>
              <a:latin typeface="Arial"/>
            </a:endParaRPr>
          </a:p>
        </p:txBody>
      </p:sp>
      <p:sp>
        <p:nvSpPr>
          <p:cNvPr id="331" name="TextBox 6"/>
          <p:cNvSpPr/>
          <p:nvPr/>
        </p:nvSpPr>
        <p:spPr>
          <a:xfrm>
            <a:off x="457200" y="2103120"/>
            <a:ext cx="1124676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1" u="none" strike="noStrike">
                <a:solidFill>
                  <a:srgbClr val="FFFFFF"/>
                </a:solidFill>
                <a:effectLst/>
                <a:uFillTx/>
                <a:latin typeface="Calibri"/>
              </a:rPr>
              <a:t>S3 + Athena  •  Delta Lake  •  Iceberg  •  Snowflake</a:t>
            </a:r>
            <a:endParaRPr lang="en-US" sz="2800" b="0" u="none" strike="noStrike">
              <a:solidFill>
                <a:srgbClr val="FFFFFF"/>
              </a:solidFill>
              <a:effectLst/>
              <a:uFillTx/>
              <a:latin typeface="Arial"/>
            </a:endParaRPr>
          </a:p>
        </p:txBody>
      </p:sp>
      <p:sp>
        <p:nvSpPr>
          <p:cNvPr id="332" name="TextBox 7"/>
          <p:cNvSpPr/>
          <p:nvPr/>
        </p:nvSpPr>
        <p:spPr>
          <a:xfrm>
            <a:off x="457200" y="292608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À UTILISER QUAND</a:t>
            </a:r>
            <a:endParaRPr lang="en-US" sz="2000" b="0" u="none" strike="noStrike">
              <a:solidFill>
                <a:srgbClr val="FFFFFF"/>
              </a:solidFill>
              <a:effectLst/>
              <a:uFillTx/>
              <a:latin typeface="Arial"/>
            </a:endParaRPr>
          </a:p>
        </p:txBody>
      </p:sp>
      <p:sp>
        <p:nvSpPr>
          <p:cNvPr id="333" name="TextBox 8"/>
          <p:cNvSpPr/>
          <p:nvPr/>
        </p:nvSpPr>
        <p:spPr>
          <a:xfrm>
            <a:off x="457200" y="3337560"/>
            <a:ext cx="11246760" cy="10969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Schéma à la lecture plutôt qu'à l'écriture. On vide maintenant, on interroge plus tard.</a:t>
            </a:r>
            <a:endParaRPr lang="en-US" sz="2400" b="0" u="none" strike="noStrike">
              <a:solidFill>
                <a:srgbClr val="FFFFFF"/>
              </a:solidFill>
              <a:effectLst/>
              <a:uFillTx/>
              <a:latin typeface="Arial"/>
            </a:endParaRPr>
          </a:p>
        </p:txBody>
      </p:sp>
      <p:sp>
        <p:nvSpPr>
          <p:cNvPr id="334" name="Rounded Rectangle 9"/>
          <p:cNvSpPr/>
          <p:nvPr/>
        </p:nvSpPr>
        <p:spPr>
          <a:xfrm>
            <a:off x="457200" y="4572000"/>
            <a:ext cx="11246760" cy="1554120"/>
          </a:xfrm>
          <a:prstGeom prst="roundRect">
            <a:avLst>
              <a:gd name="adj" fmla="val 16667"/>
            </a:avLst>
          </a:prstGeom>
          <a:solidFill>
            <a:srgbClr val="3A1F14"/>
          </a:solidFill>
          <a:ln w="31750">
            <a:solidFill>
              <a:srgbClr val="FF6B3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35" name="TextBox 10"/>
          <p:cNvSpPr/>
          <p:nvPr/>
        </p:nvSpPr>
        <p:spPr>
          <a:xfrm>
            <a:off x="685800" y="4681800"/>
            <a:ext cx="107895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6B35"/>
                </a:solidFill>
                <a:effectLst/>
                <a:uFillTx/>
                <a:latin typeface="Calibri"/>
              </a:rPr>
              <a:t>⚠  PIÈGE DE SÉCURITÉ</a:t>
            </a:r>
            <a:endParaRPr lang="en-US" sz="2000" b="0" u="none" strike="noStrike">
              <a:solidFill>
                <a:srgbClr val="FFFFFF"/>
              </a:solidFill>
              <a:effectLst/>
              <a:uFillTx/>
              <a:latin typeface="Arial"/>
            </a:endParaRPr>
          </a:p>
        </p:txBody>
      </p:sp>
      <p:sp>
        <p:nvSpPr>
          <p:cNvPr id="336" name="TextBox 11"/>
          <p:cNvSpPr/>
          <p:nvPr/>
        </p:nvSpPr>
        <p:spPr>
          <a:xfrm>
            <a:off x="685800" y="5120640"/>
            <a:ext cx="107895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Gigantesques pools S3 + IAM permissif, aucune obligation de chiffrement au repos.</a:t>
            </a:r>
            <a:endParaRPr lang="en-US" sz="2400" b="0" u="none" strike="noStrike">
              <a:solidFill>
                <a:srgbClr val="FFFFFF"/>
              </a:solidFill>
              <a:effectLst/>
              <a:uFillTx/>
              <a:latin typeface="Arial"/>
            </a:endParaRPr>
          </a:p>
        </p:txBody>
      </p:sp>
      <p:sp>
        <p:nvSpPr>
          <p:cNvPr id="337" name="TextBox 12"/>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Les bases de données pour les hackers</a:t>
            </a:r>
            <a:endParaRPr lang="en-US" sz="1400" b="0" u="none" strike="noStrike">
              <a:solidFill>
                <a:srgbClr val="FFFFFF"/>
              </a:solidFill>
              <a:effectLst/>
              <a:uFillTx/>
              <a:latin typeface="Arial"/>
            </a:endParaRPr>
          </a:p>
        </p:txBody>
      </p:sp>
      <p:sp>
        <p:nvSpPr>
          <p:cNvPr id="338" name="TextBox 13"/>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17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339" name="TextBox 1" descr="Three-column comparison of database services across AWS, GCP, and Azure: relational, document, warehouse, cache, graph, time-series, and object storage." title="Three-column comparison of database services across AWS, GCP, and Azure: relatio"/>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50" b="1" u="none" strike="noStrike">
                <a:solidFill>
                  <a:srgbClr val="00FF41"/>
                </a:solidFill>
                <a:effectLst/>
                <a:uFillTx/>
                <a:latin typeface="Calibri"/>
              </a:rPr>
              <a:t>Services de BD cloud — Vue d'ensemble du terrain</a:t>
            </a:r>
            <a:endParaRPr lang="en-US" sz="4200" b="0" u="none" strike="noStrike">
              <a:solidFill>
                <a:srgbClr val="FFFFFF"/>
              </a:solidFill>
              <a:effectLst/>
              <a:uFillTx/>
              <a:latin typeface="Arial"/>
            </a:endParaRPr>
          </a:p>
        </p:txBody>
      </p:sp>
      <p:sp>
        <p:nvSpPr>
          <p:cNvPr id="340"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341" name="Rectangle 3"/>
          <p:cNvSpPr/>
          <p:nvPr/>
        </p:nvSpPr>
        <p:spPr>
          <a:xfrm>
            <a:off x="457200" y="1554480"/>
            <a:ext cx="3748680" cy="63972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42" name="TextBox 4"/>
          <p:cNvSpPr/>
          <p:nvPr/>
        </p:nvSpPr>
        <p:spPr>
          <a:xfrm>
            <a:off x="457200" y="1600200"/>
            <a:ext cx="3748680" cy="54828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3200" b="1" u="none" strike="noStrike">
                <a:solidFill>
                  <a:srgbClr val="1A1A2E"/>
                </a:solidFill>
                <a:effectLst/>
                <a:uFillTx/>
                <a:latin typeface="Calibri"/>
              </a:rPr>
              <a:t>AWS</a:t>
            </a:r>
            <a:endParaRPr lang="en-US" sz="3200" b="0" u="none" strike="noStrike">
              <a:solidFill>
                <a:srgbClr val="FFFFFF"/>
              </a:solidFill>
              <a:effectLst/>
              <a:uFillTx/>
              <a:latin typeface="Arial"/>
            </a:endParaRPr>
          </a:p>
        </p:txBody>
      </p:sp>
      <p:sp>
        <p:nvSpPr>
          <p:cNvPr id="343" name="TextBox 5"/>
          <p:cNvSpPr/>
          <p:nvPr/>
        </p:nvSpPr>
        <p:spPr>
          <a:xfrm>
            <a:off x="548640" y="233172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RDS, Aurora</a:t>
            </a:r>
            <a:endParaRPr lang="en-US" sz="1800" b="0" u="none" strike="noStrike">
              <a:solidFill>
                <a:srgbClr val="FFFFFF"/>
              </a:solidFill>
              <a:effectLst/>
              <a:uFillTx/>
              <a:latin typeface="Arial"/>
            </a:endParaRPr>
          </a:p>
        </p:txBody>
      </p:sp>
      <p:sp>
        <p:nvSpPr>
          <p:cNvPr id="344" name="TextBox 6"/>
          <p:cNvSpPr/>
          <p:nvPr/>
        </p:nvSpPr>
        <p:spPr>
          <a:xfrm>
            <a:off x="548640" y="283464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DynamoDB, DocumentDB</a:t>
            </a:r>
            <a:endParaRPr lang="en-US" sz="1800" b="0" u="none" strike="noStrike">
              <a:solidFill>
                <a:srgbClr val="FFFFFF"/>
              </a:solidFill>
              <a:effectLst/>
              <a:uFillTx/>
              <a:latin typeface="Arial"/>
            </a:endParaRPr>
          </a:p>
        </p:txBody>
      </p:sp>
      <p:sp>
        <p:nvSpPr>
          <p:cNvPr id="345" name="TextBox 7"/>
          <p:cNvSpPr/>
          <p:nvPr/>
        </p:nvSpPr>
        <p:spPr>
          <a:xfrm>
            <a:off x="548640" y="333756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Redshift, S3 + Athena</a:t>
            </a:r>
            <a:endParaRPr lang="en-US" sz="1800" b="0" u="none" strike="noStrike">
              <a:solidFill>
                <a:srgbClr val="FFFFFF"/>
              </a:solidFill>
              <a:effectLst/>
              <a:uFillTx/>
              <a:latin typeface="Arial"/>
            </a:endParaRPr>
          </a:p>
        </p:txBody>
      </p:sp>
      <p:sp>
        <p:nvSpPr>
          <p:cNvPr id="346" name="TextBox 8"/>
          <p:cNvSpPr/>
          <p:nvPr/>
        </p:nvSpPr>
        <p:spPr>
          <a:xfrm>
            <a:off x="548640" y="384048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ElastiCache</a:t>
            </a:r>
            <a:endParaRPr lang="en-US" sz="1800" b="0" u="none" strike="noStrike">
              <a:solidFill>
                <a:srgbClr val="FFFFFF"/>
              </a:solidFill>
              <a:effectLst/>
              <a:uFillTx/>
              <a:latin typeface="Arial"/>
            </a:endParaRPr>
          </a:p>
        </p:txBody>
      </p:sp>
      <p:sp>
        <p:nvSpPr>
          <p:cNvPr id="347" name="TextBox 9"/>
          <p:cNvSpPr/>
          <p:nvPr/>
        </p:nvSpPr>
        <p:spPr>
          <a:xfrm>
            <a:off x="548640" y="434340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Neptune (graphe)</a:t>
            </a:r>
            <a:endParaRPr lang="en-US" sz="1800" b="0" u="none" strike="noStrike">
              <a:solidFill>
                <a:srgbClr val="FFFFFF"/>
              </a:solidFill>
              <a:effectLst/>
              <a:uFillTx/>
              <a:latin typeface="Arial"/>
            </a:endParaRPr>
          </a:p>
        </p:txBody>
      </p:sp>
      <p:sp>
        <p:nvSpPr>
          <p:cNvPr id="348" name="TextBox 10"/>
          <p:cNvSpPr/>
          <p:nvPr/>
        </p:nvSpPr>
        <p:spPr>
          <a:xfrm>
            <a:off x="548640" y="484632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Timestream</a:t>
            </a:r>
            <a:endParaRPr lang="en-US" sz="1800" b="0" u="none" strike="noStrike">
              <a:solidFill>
                <a:srgbClr val="FFFFFF"/>
              </a:solidFill>
              <a:effectLst/>
              <a:uFillTx/>
              <a:latin typeface="Arial"/>
            </a:endParaRPr>
          </a:p>
        </p:txBody>
      </p:sp>
      <p:sp>
        <p:nvSpPr>
          <p:cNvPr id="349" name="TextBox 11"/>
          <p:cNvSpPr/>
          <p:nvPr/>
        </p:nvSpPr>
        <p:spPr>
          <a:xfrm>
            <a:off x="548640" y="534924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S3 (stockage d'objets)</a:t>
            </a:r>
            <a:endParaRPr lang="en-US" sz="1800" b="0" u="none" strike="noStrike">
              <a:solidFill>
                <a:srgbClr val="FFFFFF"/>
              </a:solidFill>
              <a:effectLst/>
              <a:uFillTx/>
              <a:latin typeface="Arial"/>
            </a:endParaRPr>
          </a:p>
        </p:txBody>
      </p:sp>
      <p:sp>
        <p:nvSpPr>
          <p:cNvPr id="350" name="Rectangle 12"/>
          <p:cNvSpPr/>
          <p:nvPr/>
        </p:nvSpPr>
        <p:spPr>
          <a:xfrm>
            <a:off x="4297680" y="1554480"/>
            <a:ext cx="3748680" cy="639720"/>
          </a:xfrm>
          <a:prstGeom prst="rect">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51" name="TextBox 13"/>
          <p:cNvSpPr/>
          <p:nvPr/>
        </p:nvSpPr>
        <p:spPr>
          <a:xfrm>
            <a:off x="4297680" y="1600200"/>
            <a:ext cx="3748680" cy="54828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3200" b="1" u="none" strike="noStrike">
                <a:solidFill>
                  <a:srgbClr val="1A1A2E"/>
                </a:solidFill>
                <a:effectLst/>
                <a:uFillTx/>
                <a:latin typeface="Calibri"/>
              </a:rPr>
              <a:t>GCP</a:t>
            </a:r>
            <a:endParaRPr lang="en-US" sz="3200" b="0" u="none" strike="noStrike">
              <a:solidFill>
                <a:srgbClr val="FFFFFF"/>
              </a:solidFill>
              <a:effectLst/>
              <a:uFillTx/>
              <a:latin typeface="Arial"/>
            </a:endParaRPr>
          </a:p>
        </p:txBody>
      </p:sp>
      <p:sp>
        <p:nvSpPr>
          <p:cNvPr id="352" name="TextBox 14"/>
          <p:cNvSpPr/>
          <p:nvPr/>
        </p:nvSpPr>
        <p:spPr>
          <a:xfrm>
            <a:off x="4389120" y="233172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Cloud SQL, AlloyDB</a:t>
            </a:r>
            <a:endParaRPr lang="en-US" sz="1800" b="0" u="none" strike="noStrike">
              <a:solidFill>
                <a:srgbClr val="FFFFFF"/>
              </a:solidFill>
              <a:effectLst/>
              <a:uFillTx/>
              <a:latin typeface="Arial"/>
            </a:endParaRPr>
          </a:p>
        </p:txBody>
      </p:sp>
      <p:sp>
        <p:nvSpPr>
          <p:cNvPr id="353" name="TextBox 15"/>
          <p:cNvSpPr/>
          <p:nvPr/>
        </p:nvSpPr>
        <p:spPr>
          <a:xfrm>
            <a:off x="4389120" y="283464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Firestore, Bigtable</a:t>
            </a:r>
            <a:endParaRPr lang="en-US" sz="1800" b="0" u="none" strike="noStrike">
              <a:solidFill>
                <a:srgbClr val="FFFFFF"/>
              </a:solidFill>
              <a:effectLst/>
              <a:uFillTx/>
              <a:latin typeface="Arial"/>
            </a:endParaRPr>
          </a:p>
        </p:txBody>
      </p:sp>
      <p:sp>
        <p:nvSpPr>
          <p:cNvPr id="354" name="TextBox 16"/>
          <p:cNvSpPr/>
          <p:nvPr/>
        </p:nvSpPr>
        <p:spPr>
          <a:xfrm>
            <a:off x="4389120" y="333756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BigQuery</a:t>
            </a:r>
            <a:endParaRPr lang="en-US" sz="1800" b="0" u="none" strike="noStrike">
              <a:solidFill>
                <a:srgbClr val="FFFFFF"/>
              </a:solidFill>
              <a:effectLst/>
              <a:uFillTx/>
              <a:latin typeface="Arial"/>
            </a:endParaRPr>
          </a:p>
        </p:txBody>
      </p:sp>
      <p:sp>
        <p:nvSpPr>
          <p:cNvPr id="355" name="TextBox 17"/>
          <p:cNvSpPr/>
          <p:nvPr/>
        </p:nvSpPr>
        <p:spPr>
          <a:xfrm>
            <a:off x="4389120" y="384048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Memorystore</a:t>
            </a:r>
            <a:endParaRPr lang="en-US" sz="1800" b="0" u="none" strike="noStrike">
              <a:solidFill>
                <a:srgbClr val="FFFFFF"/>
              </a:solidFill>
              <a:effectLst/>
              <a:uFillTx/>
              <a:latin typeface="Arial"/>
            </a:endParaRPr>
          </a:p>
        </p:txBody>
      </p:sp>
      <p:sp>
        <p:nvSpPr>
          <p:cNvPr id="356" name="TextBox 18"/>
          <p:cNvSpPr/>
          <p:nvPr/>
        </p:nvSpPr>
        <p:spPr>
          <a:xfrm>
            <a:off x="4389120" y="434340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 (bientôt disponible)</a:t>
            </a:r>
            <a:endParaRPr lang="en-US" sz="1800" b="0" u="none" strike="noStrike">
              <a:solidFill>
                <a:srgbClr val="FFFFFF"/>
              </a:solidFill>
              <a:effectLst/>
              <a:uFillTx/>
              <a:latin typeface="Arial"/>
            </a:endParaRPr>
          </a:p>
        </p:txBody>
      </p:sp>
      <p:sp>
        <p:nvSpPr>
          <p:cNvPr id="357" name="TextBox 19"/>
          <p:cNvSpPr/>
          <p:nvPr/>
        </p:nvSpPr>
        <p:spPr>
          <a:xfrm>
            <a:off x="4389120" y="484632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 (à fournir soi-même)</a:t>
            </a:r>
            <a:endParaRPr lang="en-US" sz="1800" b="0" u="none" strike="noStrike">
              <a:solidFill>
                <a:srgbClr val="FFFFFF"/>
              </a:solidFill>
              <a:effectLst/>
              <a:uFillTx/>
              <a:latin typeface="Arial"/>
            </a:endParaRPr>
          </a:p>
        </p:txBody>
      </p:sp>
      <p:sp>
        <p:nvSpPr>
          <p:cNvPr id="358" name="TextBox 20"/>
          <p:cNvSpPr/>
          <p:nvPr/>
        </p:nvSpPr>
        <p:spPr>
          <a:xfrm>
            <a:off x="4389120" y="534924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Cloud Storage</a:t>
            </a:r>
            <a:endParaRPr lang="en-US" sz="1800" b="0" u="none" strike="noStrike">
              <a:solidFill>
                <a:srgbClr val="FFFFFF"/>
              </a:solidFill>
              <a:effectLst/>
              <a:uFillTx/>
              <a:latin typeface="Arial"/>
            </a:endParaRPr>
          </a:p>
        </p:txBody>
      </p:sp>
      <p:sp>
        <p:nvSpPr>
          <p:cNvPr id="359" name="Rectangle 21"/>
          <p:cNvSpPr/>
          <p:nvPr/>
        </p:nvSpPr>
        <p:spPr>
          <a:xfrm>
            <a:off x="8138160" y="1554480"/>
            <a:ext cx="3748680" cy="63972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60" name="TextBox 22"/>
          <p:cNvSpPr/>
          <p:nvPr/>
        </p:nvSpPr>
        <p:spPr>
          <a:xfrm>
            <a:off x="8138160" y="1600200"/>
            <a:ext cx="3748680" cy="54828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3200" b="1" u="none" strike="noStrike">
                <a:solidFill>
                  <a:srgbClr val="1A1A2E"/>
                </a:solidFill>
                <a:effectLst/>
                <a:uFillTx/>
                <a:latin typeface="Calibri"/>
              </a:rPr>
              <a:t>Azure</a:t>
            </a:r>
            <a:endParaRPr lang="en-US" sz="3200" b="0" u="none" strike="noStrike">
              <a:solidFill>
                <a:srgbClr val="FFFFFF"/>
              </a:solidFill>
              <a:effectLst/>
              <a:uFillTx/>
              <a:latin typeface="Arial"/>
            </a:endParaRPr>
          </a:p>
        </p:txBody>
      </p:sp>
      <p:sp>
        <p:nvSpPr>
          <p:cNvPr id="361" name="TextBox 23"/>
          <p:cNvSpPr/>
          <p:nvPr/>
        </p:nvSpPr>
        <p:spPr>
          <a:xfrm>
            <a:off x="8229600" y="233172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Azure SQL DB</a:t>
            </a:r>
            <a:endParaRPr lang="en-US" sz="1800" b="0" u="none" strike="noStrike">
              <a:solidFill>
                <a:srgbClr val="FFFFFF"/>
              </a:solidFill>
              <a:effectLst/>
              <a:uFillTx/>
              <a:latin typeface="Arial"/>
            </a:endParaRPr>
          </a:p>
        </p:txBody>
      </p:sp>
      <p:sp>
        <p:nvSpPr>
          <p:cNvPr id="362" name="TextBox 24"/>
          <p:cNvSpPr/>
          <p:nvPr/>
        </p:nvSpPr>
        <p:spPr>
          <a:xfrm>
            <a:off x="8229600" y="283464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Cosmos DB (caméléon)</a:t>
            </a:r>
            <a:endParaRPr lang="en-US" sz="1800" b="0" u="none" strike="noStrike">
              <a:solidFill>
                <a:srgbClr val="FFFFFF"/>
              </a:solidFill>
              <a:effectLst/>
              <a:uFillTx/>
              <a:latin typeface="Arial"/>
            </a:endParaRPr>
          </a:p>
        </p:txBody>
      </p:sp>
      <p:sp>
        <p:nvSpPr>
          <p:cNvPr id="363" name="TextBox 25"/>
          <p:cNvSpPr/>
          <p:nvPr/>
        </p:nvSpPr>
        <p:spPr>
          <a:xfrm>
            <a:off x="8229600" y="333756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Synapse Analytics</a:t>
            </a:r>
            <a:endParaRPr lang="en-US" sz="1800" b="0" u="none" strike="noStrike">
              <a:solidFill>
                <a:srgbClr val="FFFFFF"/>
              </a:solidFill>
              <a:effectLst/>
              <a:uFillTx/>
              <a:latin typeface="Arial"/>
            </a:endParaRPr>
          </a:p>
        </p:txBody>
      </p:sp>
      <p:sp>
        <p:nvSpPr>
          <p:cNvPr id="364" name="TextBox 26"/>
          <p:cNvSpPr/>
          <p:nvPr/>
        </p:nvSpPr>
        <p:spPr>
          <a:xfrm>
            <a:off x="8229600" y="384048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Azure Cache for Redis</a:t>
            </a:r>
            <a:endParaRPr lang="en-US" sz="1800" b="0" u="none" strike="noStrike">
              <a:solidFill>
                <a:srgbClr val="FFFFFF"/>
              </a:solidFill>
              <a:effectLst/>
              <a:uFillTx/>
              <a:latin typeface="Arial"/>
            </a:endParaRPr>
          </a:p>
        </p:txBody>
      </p:sp>
      <p:sp>
        <p:nvSpPr>
          <p:cNvPr id="365" name="TextBox 27"/>
          <p:cNvSpPr/>
          <p:nvPr/>
        </p:nvSpPr>
        <p:spPr>
          <a:xfrm>
            <a:off x="8229600" y="434340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Cosmos DB mode graphe</a:t>
            </a:r>
            <a:endParaRPr lang="en-US" sz="1800" b="0" u="none" strike="noStrike">
              <a:solidFill>
                <a:srgbClr val="FFFFFF"/>
              </a:solidFill>
              <a:effectLst/>
              <a:uFillTx/>
              <a:latin typeface="Arial"/>
            </a:endParaRPr>
          </a:p>
        </p:txBody>
      </p:sp>
      <p:sp>
        <p:nvSpPr>
          <p:cNvPr id="366" name="TextBox 28"/>
          <p:cNvSpPr/>
          <p:nvPr/>
        </p:nvSpPr>
        <p:spPr>
          <a:xfrm>
            <a:off x="8229600" y="484632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 (à fournir soi-même)</a:t>
            </a:r>
            <a:endParaRPr lang="en-US" sz="1800" b="0" u="none" strike="noStrike">
              <a:solidFill>
                <a:srgbClr val="FFFFFF"/>
              </a:solidFill>
              <a:effectLst/>
              <a:uFillTx/>
              <a:latin typeface="Arial"/>
            </a:endParaRPr>
          </a:p>
        </p:txBody>
      </p:sp>
      <p:sp>
        <p:nvSpPr>
          <p:cNvPr id="367" name="TextBox 29"/>
          <p:cNvSpPr/>
          <p:nvPr/>
        </p:nvSpPr>
        <p:spPr>
          <a:xfrm>
            <a:off x="8229600" y="534924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Blob Storage</a:t>
            </a:r>
            <a:endParaRPr lang="en-US" sz="1800" b="0" u="none" strike="noStrike">
              <a:solidFill>
                <a:srgbClr val="FFFFFF"/>
              </a:solidFill>
              <a:effectLst/>
              <a:uFillTx/>
              <a:latin typeface="Arial"/>
            </a:endParaRPr>
          </a:p>
        </p:txBody>
      </p:sp>
      <p:sp>
        <p:nvSpPr>
          <p:cNvPr id="368" name="TextBox 30"/>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Les bases de données pour les hackers</a:t>
            </a:r>
            <a:endParaRPr lang="en-US" sz="1400" b="0" u="none" strike="noStrike">
              <a:solidFill>
                <a:srgbClr val="FFFFFF"/>
              </a:solidFill>
              <a:effectLst/>
              <a:uFillTx/>
              <a:latin typeface="Arial"/>
            </a:endParaRPr>
          </a:p>
        </p:txBody>
      </p:sp>
      <p:sp>
        <p:nvSpPr>
          <p:cNvPr id="369" name="TextBox 31"/>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18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370" name="TextBox 1" descr="Cheat-sheet table comparing AWS, GCP, and Azure services across eight database categories." title="Cheat-sheet table comparing AWS, GCP, and Azure services across eight database c"/>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800" b="1" u="none" strike="noStrike">
                <a:solidFill>
                  <a:srgbClr val="00FF41"/>
                </a:solidFill>
                <a:effectLst/>
                <a:uFillTx/>
                <a:latin typeface="Calibri"/>
              </a:rPr>
              <a:t>Aide-mémoire des BD cloud</a:t>
            </a:r>
            <a:endParaRPr lang="en-US" sz="3800" b="0" u="none" strike="noStrike">
              <a:solidFill>
                <a:srgbClr val="FFFFFF"/>
              </a:solidFill>
              <a:effectLst/>
              <a:uFillTx/>
              <a:latin typeface="Arial"/>
            </a:endParaRPr>
          </a:p>
        </p:txBody>
      </p:sp>
      <p:sp>
        <p:nvSpPr>
          <p:cNvPr id="371"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372" name="Rectangle 3"/>
          <p:cNvSpPr/>
          <p:nvPr/>
        </p:nvSpPr>
        <p:spPr>
          <a:xfrm>
            <a:off x="457200" y="1600200"/>
            <a:ext cx="11246760" cy="5025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73" name="TextBox 4"/>
          <p:cNvSpPr/>
          <p:nvPr/>
        </p:nvSpPr>
        <p:spPr>
          <a:xfrm>
            <a:off x="548640" y="1645920"/>
            <a:ext cx="26514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1A1A2E"/>
                </a:solidFill>
                <a:effectLst/>
                <a:uFillTx/>
                <a:latin typeface="Calibri"/>
              </a:rPr>
              <a:t>CATÉGORIE</a:t>
            </a:r>
            <a:endParaRPr lang="en-US" sz="2000" b="0" u="none" strike="noStrike">
              <a:solidFill>
                <a:srgbClr val="FFFFFF"/>
              </a:solidFill>
              <a:effectLst/>
              <a:uFillTx/>
              <a:latin typeface="Arial"/>
            </a:endParaRPr>
          </a:p>
        </p:txBody>
      </p:sp>
      <p:sp>
        <p:nvSpPr>
          <p:cNvPr id="374" name="TextBox 5"/>
          <p:cNvSpPr/>
          <p:nvPr/>
        </p:nvSpPr>
        <p:spPr>
          <a:xfrm>
            <a:off x="3291840" y="164592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1A1A2E"/>
                </a:solidFill>
                <a:effectLst/>
                <a:uFillTx/>
                <a:latin typeface="Calibri"/>
              </a:rPr>
              <a:t>AWS</a:t>
            </a:r>
            <a:endParaRPr lang="en-US" sz="2000" b="0" u="none" strike="noStrike">
              <a:solidFill>
                <a:srgbClr val="FFFFFF"/>
              </a:solidFill>
              <a:effectLst/>
              <a:uFillTx/>
              <a:latin typeface="Arial"/>
            </a:endParaRPr>
          </a:p>
        </p:txBody>
      </p:sp>
      <p:sp>
        <p:nvSpPr>
          <p:cNvPr id="375" name="TextBox 6"/>
          <p:cNvSpPr/>
          <p:nvPr/>
        </p:nvSpPr>
        <p:spPr>
          <a:xfrm>
            <a:off x="5943600" y="164592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1A1A2E"/>
                </a:solidFill>
                <a:effectLst/>
                <a:uFillTx/>
                <a:latin typeface="Calibri"/>
              </a:rPr>
              <a:t>GCP</a:t>
            </a:r>
            <a:endParaRPr lang="en-US" sz="2000" b="0" u="none" strike="noStrike">
              <a:solidFill>
                <a:srgbClr val="FFFFFF"/>
              </a:solidFill>
              <a:effectLst/>
              <a:uFillTx/>
              <a:latin typeface="Arial"/>
            </a:endParaRPr>
          </a:p>
        </p:txBody>
      </p:sp>
      <p:sp>
        <p:nvSpPr>
          <p:cNvPr id="376" name="TextBox 7"/>
          <p:cNvSpPr/>
          <p:nvPr/>
        </p:nvSpPr>
        <p:spPr>
          <a:xfrm>
            <a:off x="8595360" y="1645920"/>
            <a:ext cx="31086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1A1A2E"/>
                </a:solidFill>
                <a:effectLst/>
                <a:uFillTx/>
                <a:latin typeface="Calibri"/>
              </a:rPr>
              <a:t>AZURE</a:t>
            </a:r>
            <a:endParaRPr lang="en-US" sz="2000" b="0" u="none" strike="noStrike">
              <a:solidFill>
                <a:srgbClr val="FFFFFF"/>
              </a:solidFill>
              <a:effectLst/>
              <a:uFillTx/>
              <a:latin typeface="Arial"/>
            </a:endParaRPr>
          </a:p>
        </p:txBody>
      </p:sp>
      <p:sp>
        <p:nvSpPr>
          <p:cNvPr id="377" name="TextBox 8"/>
          <p:cNvSpPr/>
          <p:nvPr/>
        </p:nvSpPr>
        <p:spPr>
          <a:xfrm>
            <a:off x="548640" y="2148840"/>
            <a:ext cx="26514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FFFF"/>
                </a:solidFill>
                <a:effectLst/>
                <a:uFillTx/>
                <a:latin typeface="Calibri"/>
              </a:rPr>
              <a:t>Relationnel</a:t>
            </a:r>
            <a:endParaRPr lang="en-US" sz="2000" b="0" u="none" strike="noStrike">
              <a:solidFill>
                <a:srgbClr val="FFFFFF"/>
              </a:solidFill>
              <a:effectLst/>
              <a:uFillTx/>
              <a:latin typeface="Arial"/>
            </a:endParaRPr>
          </a:p>
        </p:txBody>
      </p:sp>
      <p:sp>
        <p:nvSpPr>
          <p:cNvPr id="378" name="TextBox 9"/>
          <p:cNvSpPr/>
          <p:nvPr/>
        </p:nvSpPr>
        <p:spPr>
          <a:xfrm>
            <a:off x="3291840" y="214884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RDS / Aurora</a:t>
            </a:r>
            <a:endParaRPr lang="en-US" sz="2000" b="0" u="none" strike="noStrike">
              <a:solidFill>
                <a:srgbClr val="FFFFFF"/>
              </a:solidFill>
              <a:effectLst/>
              <a:uFillTx/>
              <a:latin typeface="Arial"/>
            </a:endParaRPr>
          </a:p>
        </p:txBody>
      </p:sp>
      <p:sp>
        <p:nvSpPr>
          <p:cNvPr id="379" name="TextBox 10"/>
          <p:cNvSpPr/>
          <p:nvPr/>
        </p:nvSpPr>
        <p:spPr>
          <a:xfrm>
            <a:off x="5943600" y="214884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950" b="0" u="none" strike="noStrike">
                <a:solidFill>
                  <a:srgbClr val="FFFFFF"/>
                </a:solidFill>
                <a:effectLst/>
                <a:uFillTx/>
                <a:latin typeface="Calibri"/>
              </a:rPr>
              <a:t>Cloud SQL / AlloyDB</a:t>
            </a:r>
            <a:endParaRPr lang="en-US" sz="2000" b="0" u="none" strike="noStrike">
              <a:solidFill>
                <a:srgbClr val="FFFFFF"/>
              </a:solidFill>
              <a:effectLst/>
              <a:uFillTx/>
              <a:latin typeface="Arial"/>
            </a:endParaRPr>
          </a:p>
        </p:txBody>
      </p:sp>
      <p:sp>
        <p:nvSpPr>
          <p:cNvPr id="380" name="TextBox 11"/>
          <p:cNvSpPr/>
          <p:nvPr/>
        </p:nvSpPr>
        <p:spPr>
          <a:xfrm>
            <a:off x="8595360" y="2148840"/>
            <a:ext cx="31086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Azure SQL DB</a:t>
            </a:r>
            <a:endParaRPr lang="en-US" sz="2000" b="0" u="none" strike="noStrike">
              <a:solidFill>
                <a:srgbClr val="FFFFFF"/>
              </a:solidFill>
              <a:effectLst/>
              <a:uFillTx/>
              <a:latin typeface="Arial"/>
            </a:endParaRPr>
          </a:p>
        </p:txBody>
      </p:sp>
      <p:sp>
        <p:nvSpPr>
          <p:cNvPr id="381" name="Rectangle 12"/>
          <p:cNvSpPr/>
          <p:nvPr/>
        </p:nvSpPr>
        <p:spPr>
          <a:xfrm>
            <a:off x="457200" y="2606040"/>
            <a:ext cx="11246760" cy="502560"/>
          </a:xfrm>
          <a:prstGeom prst="rect">
            <a:avLst/>
          </a:prstGeom>
          <a:solidFill>
            <a:srgbClr val="24243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82" name="TextBox 13"/>
          <p:cNvSpPr/>
          <p:nvPr/>
        </p:nvSpPr>
        <p:spPr>
          <a:xfrm>
            <a:off x="548640" y="2651760"/>
            <a:ext cx="26514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FFFF"/>
                </a:solidFill>
                <a:effectLst/>
                <a:uFillTx/>
                <a:latin typeface="Calibri"/>
              </a:rPr>
              <a:t>Document/NoSQL</a:t>
            </a:r>
            <a:endParaRPr lang="en-US" sz="2000" b="0" u="none" strike="noStrike">
              <a:solidFill>
                <a:srgbClr val="FFFFFF"/>
              </a:solidFill>
              <a:effectLst/>
              <a:uFillTx/>
              <a:latin typeface="Arial"/>
            </a:endParaRPr>
          </a:p>
        </p:txBody>
      </p:sp>
      <p:sp>
        <p:nvSpPr>
          <p:cNvPr id="383" name="TextBox 14"/>
          <p:cNvSpPr/>
          <p:nvPr/>
        </p:nvSpPr>
        <p:spPr>
          <a:xfrm>
            <a:off x="3291840" y="265176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950" b="0" u="none" strike="noStrike">
                <a:solidFill>
                  <a:srgbClr val="FFFFFF"/>
                </a:solidFill>
                <a:effectLst/>
                <a:uFillTx/>
                <a:latin typeface="Calibri"/>
              </a:rPr>
              <a:t>DynamoDB / DocDB</a:t>
            </a:r>
            <a:endParaRPr lang="en-US" sz="2000" b="0" u="none" strike="noStrike">
              <a:solidFill>
                <a:srgbClr val="FFFFFF"/>
              </a:solidFill>
              <a:effectLst/>
              <a:uFillTx/>
              <a:latin typeface="Arial"/>
            </a:endParaRPr>
          </a:p>
        </p:txBody>
      </p:sp>
      <p:sp>
        <p:nvSpPr>
          <p:cNvPr id="384" name="TextBox 15"/>
          <p:cNvSpPr/>
          <p:nvPr/>
        </p:nvSpPr>
        <p:spPr>
          <a:xfrm>
            <a:off x="5943600" y="265176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Firestore / Bigtable</a:t>
            </a:r>
            <a:endParaRPr lang="en-US" sz="2000" b="0" u="none" strike="noStrike">
              <a:solidFill>
                <a:srgbClr val="FFFFFF"/>
              </a:solidFill>
              <a:effectLst/>
              <a:uFillTx/>
              <a:latin typeface="Arial"/>
            </a:endParaRPr>
          </a:p>
        </p:txBody>
      </p:sp>
      <p:sp>
        <p:nvSpPr>
          <p:cNvPr id="385" name="TextBox 16"/>
          <p:cNvSpPr/>
          <p:nvPr/>
        </p:nvSpPr>
        <p:spPr>
          <a:xfrm>
            <a:off x="8595360" y="2651760"/>
            <a:ext cx="31086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Cosmos DB</a:t>
            </a:r>
            <a:endParaRPr lang="en-US" sz="2000" b="0" u="none" strike="noStrike">
              <a:solidFill>
                <a:srgbClr val="FFFFFF"/>
              </a:solidFill>
              <a:effectLst/>
              <a:uFillTx/>
              <a:latin typeface="Arial"/>
            </a:endParaRPr>
          </a:p>
        </p:txBody>
      </p:sp>
      <p:sp>
        <p:nvSpPr>
          <p:cNvPr id="386" name="TextBox 17"/>
          <p:cNvSpPr/>
          <p:nvPr/>
        </p:nvSpPr>
        <p:spPr>
          <a:xfrm>
            <a:off x="548640" y="3154680"/>
            <a:ext cx="26514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FFFF"/>
                </a:solidFill>
                <a:effectLst/>
                <a:uFillTx/>
                <a:latin typeface="Calibri"/>
              </a:rPr>
              <a:t>Entrepôt</a:t>
            </a:r>
            <a:endParaRPr lang="en-US" sz="2000" b="0" u="none" strike="noStrike">
              <a:solidFill>
                <a:srgbClr val="FFFFFF"/>
              </a:solidFill>
              <a:effectLst/>
              <a:uFillTx/>
              <a:latin typeface="Arial"/>
            </a:endParaRPr>
          </a:p>
        </p:txBody>
      </p:sp>
      <p:sp>
        <p:nvSpPr>
          <p:cNvPr id="387" name="TextBox 18"/>
          <p:cNvSpPr/>
          <p:nvPr/>
        </p:nvSpPr>
        <p:spPr>
          <a:xfrm>
            <a:off x="3291840" y="315468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Redshift / Athena</a:t>
            </a:r>
            <a:endParaRPr lang="en-US" sz="2000" b="0" u="none" strike="noStrike">
              <a:solidFill>
                <a:srgbClr val="FFFFFF"/>
              </a:solidFill>
              <a:effectLst/>
              <a:uFillTx/>
              <a:latin typeface="Arial"/>
            </a:endParaRPr>
          </a:p>
        </p:txBody>
      </p:sp>
      <p:sp>
        <p:nvSpPr>
          <p:cNvPr id="388" name="TextBox 19"/>
          <p:cNvSpPr/>
          <p:nvPr/>
        </p:nvSpPr>
        <p:spPr>
          <a:xfrm>
            <a:off x="5943600" y="315468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BigQuery</a:t>
            </a:r>
            <a:endParaRPr lang="en-US" sz="2000" b="0" u="none" strike="noStrike">
              <a:solidFill>
                <a:srgbClr val="FFFFFF"/>
              </a:solidFill>
              <a:effectLst/>
              <a:uFillTx/>
              <a:latin typeface="Arial"/>
            </a:endParaRPr>
          </a:p>
        </p:txBody>
      </p:sp>
      <p:sp>
        <p:nvSpPr>
          <p:cNvPr id="389" name="TextBox 20"/>
          <p:cNvSpPr/>
          <p:nvPr/>
        </p:nvSpPr>
        <p:spPr>
          <a:xfrm>
            <a:off x="8595360" y="3154680"/>
            <a:ext cx="31086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Synapse</a:t>
            </a:r>
            <a:endParaRPr lang="en-US" sz="2000" b="0" u="none" strike="noStrike">
              <a:solidFill>
                <a:srgbClr val="FFFFFF"/>
              </a:solidFill>
              <a:effectLst/>
              <a:uFillTx/>
              <a:latin typeface="Arial"/>
            </a:endParaRPr>
          </a:p>
        </p:txBody>
      </p:sp>
      <p:sp>
        <p:nvSpPr>
          <p:cNvPr id="390" name="Rectangle 21"/>
          <p:cNvSpPr/>
          <p:nvPr/>
        </p:nvSpPr>
        <p:spPr>
          <a:xfrm>
            <a:off x="457200" y="3611880"/>
            <a:ext cx="11246760" cy="502560"/>
          </a:xfrm>
          <a:prstGeom prst="rect">
            <a:avLst/>
          </a:prstGeom>
          <a:solidFill>
            <a:srgbClr val="24243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91" name="TextBox 22"/>
          <p:cNvSpPr/>
          <p:nvPr/>
        </p:nvSpPr>
        <p:spPr>
          <a:xfrm>
            <a:off x="548640" y="3657600"/>
            <a:ext cx="26514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FFFF"/>
                </a:solidFill>
                <a:effectLst/>
                <a:uFillTx/>
                <a:latin typeface="Calibri"/>
              </a:rPr>
              <a:t>Cache</a:t>
            </a:r>
            <a:endParaRPr lang="en-US" sz="2000" b="0" u="none" strike="noStrike">
              <a:solidFill>
                <a:srgbClr val="FFFFFF"/>
              </a:solidFill>
              <a:effectLst/>
              <a:uFillTx/>
              <a:latin typeface="Arial"/>
            </a:endParaRPr>
          </a:p>
        </p:txBody>
      </p:sp>
      <p:sp>
        <p:nvSpPr>
          <p:cNvPr id="392" name="TextBox 23"/>
          <p:cNvSpPr/>
          <p:nvPr/>
        </p:nvSpPr>
        <p:spPr>
          <a:xfrm>
            <a:off x="3291840" y="365760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ElastiCache</a:t>
            </a:r>
            <a:endParaRPr lang="en-US" sz="2000" b="0" u="none" strike="noStrike">
              <a:solidFill>
                <a:srgbClr val="FFFFFF"/>
              </a:solidFill>
              <a:effectLst/>
              <a:uFillTx/>
              <a:latin typeface="Arial"/>
            </a:endParaRPr>
          </a:p>
        </p:txBody>
      </p:sp>
      <p:sp>
        <p:nvSpPr>
          <p:cNvPr id="393" name="TextBox 24"/>
          <p:cNvSpPr/>
          <p:nvPr/>
        </p:nvSpPr>
        <p:spPr>
          <a:xfrm>
            <a:off x="5943600" y="365760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Memorystore</a:t>
            </a:r>
            <a:endParaRPr lang="en-US" sz="2000" b="0" u="none" strike="noStrike">
              <a:solidFill>
                <a:srgbClr val="FFFFFF"/>
              </a:solidFill>
              <a:effectLst/>
              <a:uFillTx/>
              <a:latin typeface="Arial"/>
            </a:endParaRPr>
          </a:p>
        </p:txBody>
      </p:sp>
      <p:sp>
        <p:nvSpPr>
          <p:cNvPr id="394" name="TextBox 25"/>
          <p:cNvSpPr/>
          <p:nvPr/>
        </p:nvSpPr>
        <p:spPr>
          <a:xfrm>
            <a:off x="8595360" y="3657600"/>
            <a:ext cx="31086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Cache for Redis</a:t>
            </a:r>
            <a:endParaRPr lang="en-US" sz="2000" b="0" u="none" strike="noStrike">
              <a:solidFill>
                <a:srgbClr val="FFFFFF"/>
              </a:solidFill>
              <a:effectLst/>
              <a:uFillTx/>
              <a:latin typeface="Arial"/>
            </a:endParaRPr>
          </a:p>
        </p:txBody>
      </p:sp>
      <p:sp>
        <p:nvSpPr>
          <p:cNvPr id="395" name="TextBox 26"/>
          <p:cNvSpPr/>
          <p:nvPr/>
        </p:nvSpPr>
        <p:spPr>
          <a:xfrm>
            <a:off x="548640" y="4160520"/>
            <a:ext cx="26514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FFFF"/>
                </a:solidFill>
                <a:effectLst/>
                <a:uFillTx/>
                <a:latin typeface="Calibri"/>
              </a:rPr>
              <a:t>Graphe</a:t>
            </a:r>
            <a:endParaRPr lang="en-US" sz="2000" b="0" u="none" strike="noStrike">
              <a:solidFill>
                <a:srgbClr val="FFFFFF"/>
              </a:solidFill>
              <a:effectLst/>
              <a:uFillTx/>
              <a:latin typeface="Arial"/>
            </a:endParaRPr>
          </a:p>
        </p:txBody>
      </p:sp>
      <p:sp>
        <p:nvSpPr>
          <p:cNvPr id="396" name="TextBox 27"/>
          <p:cNvSpPr/>
          <p:nvPr/>
        </p:nvSpPr>
        <p:spPr>
          <a:xfrm>
            <a:off x="3291840" y="416052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Neptune</a:t>
            </a:r>
            <a:endParaRPr lang="en-US" sz="2000" b="0" u="none" strike="noStrike">
              <a:solidFill>
                <a:srgbClr val="FFFFFF"/>
              </a:solidFill>
              <a:effectLst/>
              <a:uFillTx/>
              <a:latin typeface="Arial"/>
            </a:endParaRPr>
          </a:p>
        </p:txBody>
      </p:sp>
      <p:sp>
        <p:nvSpPr>
          <p:cNvPr id="397" name="TextBox 28"/>
          <p:cNvSpPr/>
          <p:nvPr/>
        </p:nvSpPr>
        <p:spPr>
          <a:xfrm>
            <a:off x="5943600" y="416052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a:t>
            </a:r>
            <a:endParaRPr lang="en-US" sz="2000" b="0" u="none" strike="noStrike">
              <a:solidFill>
                <a:srgbClr val="FFFFFF"/>
              </a:solidFill>
              <a:effectLst/>
              <a:uFillTx/>
              <a:latin typeface="Arial"/>
            </a:endParaRPr>
          </a:p>
        </p:txBody>
      </p:sp>
      <p:sp>
        <p:nvSpPr>
          <p:cNvPr id="398" name="TextBox 29"/>
          <p:cNvSpPr/>
          <p:nvPr/>
        </p:nvSpPr>
        <p:spPr>
          <a:xfrm>
            <a:off x="8595360" y="4160520"/>
            <a:ext cx="31086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Cosmos DB graphe</a:t>
            </a:r>
            <a:endParaRPr lang="en-US" sz="2000" b="0" u="none" strike="noStrike">
              <a:solidFill>
                <a:srgbClr val="FFFFFF"/>
              </a:solidFill>
              <a:effectLst/>
              <a:uFillTx/>
              <a:latin typeface="Arial"/>
            </a:endParaRPr>
          </a:p>
        </p:txBody>
      </p:sp>
      <p:sp>
        <p:nvSpPr>
          <p:cNvPr id="399" name="Rectangle 30"/>
          <p:cNvSpPr/>
          <p:nvPr/>
        </p:nvSpPr>
        <p:spPr>
          <a:xfrm>
            <a:off x="457200" y="4617720"/>
            <a:ext cx="11246760" cy="502560"/>
          </a:xfrm>
          <a:prstGeom prst="rect">
            <a:avLst/>
          </a:prstGeom>
          <a:solidFill>
            <a:srgbClr val="24243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00" name="TextBox 31"/>
          <p:cNvSpPr/>
          <p:nvPr/>
        </p:nvSpPr>
        <p:spPr>
          <a:xfrm>
            <a:off x="548640" y="4663440"/>
            <a:ext cx="26514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FFFF"/>
                </a:solidFill>
                <a:effectLst/>
                <a:uFillTx/>
                <a:latin typeface="Calibri"/>
              </a:rPr>
              <a:t>Séries temporelles</a:t>
            </a:r>
            <a:endParaRPr lang="en-US" sz="2000" b="0" u="none" strike="noStrike">
              <a:solidFill>
                <a:srgbClr val="FFFFFF"/>
              </a:solidFill>
              <a:effectLst/>
              <a:uFillTx/>
              <a:latin typeface="Arial"/>
            </a:endParaRPr>
          </a:p>
        </p:txBody>
      </p:sp>
      <p:sp>
        <p:nvSpPr>
          <p:cNvPr id="401" name="TextBox 32"/>
          <p:cNvSpPr/>
          <p:nvPr/>
        </p:nvSpPr>
        <p:spPr>
          <a:xfrm>
            <a:off x="3291840" y="466344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Timestream</a:t>
            </a:r>
            <a:endParaRPr lang="en-US" sz="2000" b="0" u="none" strike="noStrike">
              <a:solidFill>
                <a:srgbClr val="FFFFFF"/>
              </a:solidFill>
              <a:effectLst/>
              <a:uFillTx/>
              <a:latin typeface="Arial"/>
            </a:endParaRPr>
          </a:p>
        </p:txBody>
      </p:sp>
      <p:sp>
        <p:nvSpPr>
          <p:cNvPr id="402" name="TextBox 33"/>
          <p:cNvSpPr/>
          <p:nvPr/>
        </p:nvSpPr>
        <p:spPr>
          <a:xfrm>
            <a:off x="5943600" y="466344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a:t>
            </a:r>
            <a:endParaRPr lang="en-US" sz="2000" b="0" u="none" strike="noStrike">
              <a:solidFill>
                <a:srgbClr val="FFFFFF"/>
              </a:solidFill>
              <a:effectLst/>
              <a:uFillTx/>
              <a:latin typeface="Arial"/>
            </a:endParaRPr>
          </a:p>
        </p:txBody>
      </p:sp>
      <p:sp>
        <p:nvSpPr>
          <p:cNvPr id="403" name="TextBox 34"/>
          <p:cNvSpPr/>
          <p:nvPr/>
        </p:nvSpPr>
        <p:spPr>
          <a:xfrm>
            <a:off x="8595360" y="4663440"/>
            <a:ext cx="31086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a:t>
            </a:r>
            <a:endParaRPr lang="en-US" sz="2000" b="0" u="none" strike="noStrike">
              <a:solidFill>
                <a:srgbClr val="FFFFFF"/>
              </a:solidFill>
              <a:effectLst/>
              <a:uFillTx/>
              <a:latin typeface="Arial"/>
            </a:endParaRPr>
          </a:p>
        </p:txBody>
      </p:sp>
      <p:sp>
        <p:nvSpPr>
          <p:cNvPr id="404" name="TextBox 35"/>
          <p:cNvSpPr/>
          <p:nvPr/>
        </p:nvSpPr>
        <p:spPr>
          <a:xfrm>
            <a:off x="548640" y="5166360"/>
            <a:ext cx="26514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FFFF"/>
                </a:solidFill>
                <a:effectLst/>
                <a:uFillTx/>
                <a:latin typeface="Calibri"/>
              </a:rPr>
              <a:t>Stockage d'objets</a:t>
            </a:r>
            <a:endParaRPr lang="en-US" sz="2000" b="0" u="none" strike="noStrike">
              <a:solidFill>
                <a:srgbClr val="FFFFFF"/>
              </a:solidFill>
              <a:effectLst/>
              <a:uFillTx/>
              <a:latin typeface="Arial"/>
            </a:endParaRPr>
          </a:p>
        </p:txBody>
      </p:sp>
      <p:sp>
        <p:nvSpPr>
          <p:cNvPr id="405" name="TextBox 36"/>
          <p:cNvSpPr/>
          <p:nvPr/>
        </p:nvSpPr>
        <p:spPr>
          <a:xfrm>
            <a:off x="3291840" y="516636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S3</a:t>
            </a:r>
            <a:endParaRPr lang="en-US" sz="2000" b="0" u="none" strike="noStrike">
              <a:solidFill>
                <a:srgbClr val="FFFFFF"/>
              </a:solidFill>
              <a:effectLst/>
              <a:uFillTx/>
              <a:latin typeface="Arial"/>
            </a:endParaRPr>
          </a:p>
        </p:txBody>
      </p:sp>
      <p:sp>
        <p:nvSpPr>
          <p:cNvPr id="406" name="TextBox 37"/>
          <p:cNvSpPr/>
          <p:nvPr/>
        </p:nvSpPr>
        <p:spPr>
          <a:xfrm>
            <a:off x="5943600" y="516636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Cloud Storage</a:t>
            </a:r>
            <a:endParaRPr lang="en-US" sz="2000" b="0" u="none" strike="noStrike">
              <a:solidFill>
                <a:srgbClr val="FFFFFF"/>
              </a:solidFill>
              <a:effectLst/>
              <a:uFillTx/>
              <a:latin typeface="Arial"/>
            </a:endParaRPr>
          </a:p>
        </p:txBody>
      </p:sp>
      <p:sp>
        <p:nvSpPr>
          <p:cNvPr id="407" name="TextBox 38"/>
          <p:cNvSpPr/>
          <p:nvPr/>
        </p:nvSpPr>
        <p:spPr>
          <a:xfrm>
            <a:off x="8595360" y="5166360"/>
            <a:ext cx="31086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Blob Storage</a:t>
            </a:r>
            <a:endParaRPr lang="en-US" sz="2000" b="0" u="none" strike="noStrike">
              <a:solidFill>
                <a:srgbClr val="FFFFFF"/>
              </a:solidFill>
              <a:effectLst/>
              <a:uFillTx/>
              <a:latin typeface="Arial"/>
            </a:endParaRPr>
          </a:p>
        </p:txBody>
      </p:sp>
      <p:sp>
        <p:nvSpPr>
          <p:cNvPr id="408" name="TextBox 39"/>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Les bases de données pour les hackers</a:t>
            </a:r>
            <a:endParaRPr lang="en-US" sz="1400" b="0" u="none" strike="noStrike">
              <a:solidFill>
                <a:srgbClr val="FFFFFF"/>
              </a:solidFill>
              <a:effectLst/>
              <a:uFillTx/>
              <a:latin typeface="Arial"/>
            </a:endParaRPr>
          </a:p>
        </p:txBody>
      </p:sp>
      <p:sp>
        <p:nvSpPr>
          <p:cNvPr id="409" name="TextBox 40"/>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19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410" name="TextBox 1" descr="Two-column diagram contrasting what the cloud vendor owns (hypervisor, engine, hardware) versus what the customer owns (config, IAM, data, encryption)." title="Two-column diagram contrasting what the cloud vendor owns (hypervisor, engine, h"/>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00FF41"/>
                </a:solidFill>
                <a:effectLst/>
                <a:uFillTx/>
                <a:latin typeface="Calibri"/>
              </a:rPr>
              <a:t>Modèle de responsabilité partagée</a:t>
            </a:r>
            <a:endParaRPr lang="en-US" sz="4200" b="0" u="none" strike="noStrike">
              <a:solidFill>
                <a:srgbClr val="FFFFFF"/>
              </a:solidFill>
              <a:effectLst/>
              <a:uFillTx/>
              <a:latin typeface="Arial"/>
            </a:endParaRPr>
          </a:p>
        </p:txBody>
      </p:sp>
      <p:sp>
        <p:nvSpPr>
          <p:cNvPr id="411"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412" name="Rounded Rectangle 3"/>
          <p:cNvSpPr/>
          <p:nvPr/>
        </p:nvSpPr>
        <p:spPr>
          <a:xfrm>
            <a:off x="457200" y="1828800"/>
            <a:ext cx="5577480" cy="4114440"/>
          </a:xfrm>
          <a:prstGeom prst="roundRect">
            <a:avLst>
              <a:gd name="adj" fmla="val 16667"/>
            </a:avLst>
          </a:prstGeom>
          <a:solidFill>
            <a:srgbClr val="122A18"/>
          </a:solidFill>
          <a:ln w="38100">
            <a:solidFill>
              <a:srgbClr val="00FF41"/>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13" name="TextBox 4"/>
          <p:cNvSpPr/>
          <p:nvPr/>
        </p:nvSpPr>
        <p:spPr>
          <a:xfrm>
            <a:off x="548640" y="1965960"/>
            <a:ext cx="539460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50" b="1" u="none" strike="noStrike">
                <a:solidFill>
                  <a:srgbClr val="00FF41"/>
                </a:solidFill>
                <a:effectLst/>
                <a:uFillTx/>
                <a:latin typeface="Calibri"/>
              </a:rPr>
              <a:t>✓  À LA CHARGE DU FOURNISSEUR CLOUD</a:t>
            </a:r>
            <a:endParaRPr lang="en-US" sz="2400" b="0" u="none" strike="noStrike">
              <a:solidFill>
                <a:srgbClr val="FFFFFF"/>
              </a:solidFill>
              <a:effectLst/>
              <a:uFillTx/>
              <a:latin typeface="Arial"/>
            </a:endParaRPr>
          </a:p>
        </p:txBody>
      </p:sp>
      <p:sp>
        <p:nvSpPr>
          <p:cNvPr id="414" name="TextBox 5"/>
          <p:cNvSpPr/>
          <p:nvPr/>
        </p:nvSpPr>
        <p:spPr>
          <a:xfrm>
            <a:off x="640080" y="2697480"/>
            <a:ext cx="5303160" cy="310860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400" b="1" u="none" strike="noStrike">
                <a:solidFill>
                  <a:srgbClr val="00D4FF"/>
                </a:solidFill>
                <a:effectLst/>
                <a:uFillTx/>
                <a:latin typeface="Calibri"/>
              </a:rPr>
              <a:t>● </a:t>
            </a:r>
            <a:r>
              <a:rPr lang="en-US" sz="2400" b="0" u="none" strike="noStrike">
                <a:solidFill>
                  <a:srgbClr val="FFFFFF"/>
                </a:solidFill>
                <a:effectLst/>
                <a:uFillTx/>
                <a:latin typeface="Calibri"/>
              </a:rPr>
              <a:t>Hyperviseur et matériel</a:t>
            </a:r>
            <a:endParaRPr lang="en-US" sz="2400" b="0" u="none" strike="noStrike">
              <a:solidFill>
                <a:srgbClr val="FFFFFF"/>
              </a:solidFill>
              <a:effectLst/>
              <a:uFillTx/>
              <a:latin typeface="Arial"/>
            </a:endParaRPr>
          </a:p>
          <a:p>
            <a:pPr defTabSz="457200">
              <a:lnSpc>
                <a:spcPct val="140000"/>
              </a:lnSpc>
            </a:pPr>
            <a:r>
              <a:rPr lang="en-US" sz="2400" b="1" u="none" strike="noStrike">
                <a:solidFill>
                  <a:srgbClr val="00D4FF"/>
                </a:solidFill>
                <a:effectLst/>
                <a:uFillTx/>
                <a:latin typeface="Calibri"/>
              </a:rPr>
              <a:t>● </a:t>
            </a:r>
            <a:r>
              <a:rPr lang="en-US" sz="2400" b="0" u="none" strike="noStrike">
                <a:solidFill>
                  <a:srgbClr val="FFFFFF"/>
                </a:solidFill>
                <a:effectLst/>
                <a:uFillTx/>
                <a:latin typeface="Calibri"/>
              </a:rPr>
              <a:t>Correctifs du moteur de BD</a:t>
            </a:r>
            <a:endParaRPr lang="en-US" sz="2400" b="0" u="none" strike="noStrike">
              <a:solidFill>
                <a:srgbClr val="FFFFFF"/>
              </a:solidFill>
              <a:effectLst/>
              <a:uFillTx/>
              <a:latin typeface="Arial"/>
            </a:endParaRPr>
          </a:p>
          <a:p>
            <a:pPr defTabSz="457200">
              <a:lnSpc>
                <a:spcPct val="140000"/>
              </a:lnSpc>
            </a:pPr>
            <a:r>
              <a:rPr lang="en-US" sz="2400" b="1" u="none" strike="noStrike">
                <a:solidFill>
                  <a:srgbClr val="00D4FF"/>
                </a:solidFill>
                <a:effectLst/>
                <a:uFillTx/>
                <a:latin typeface="Calibri"/>
              </a:rPr>
              <a:t>● </a:t>
            </a:r>
            <a:r>
              <a:rPr lang="en-US" sz="2400" b="0" u="none" strike="noStrike">
                <a:solidFill>
                  <a:srgbClr val="FFFFFF"/>
                </a:solidFill>
                <a:effectLst/>
                <a:uFillTx/>
                <a:latin typeface="Calibri"/>
              </a:rPr>
              <a:t>Sécurité physique</a:t>
            </a:r>
            <a:endParaRPr lang="en-US" sz="2400" b="0" u="none" strike="noStrike">
              <a:solidFill>
                <a:srgbClr val="FFFFFF"/>
              </a:solidFill>
              <a:effectLst/>
              <a:uFillTx/>
              <a:latin typeface="Arial"/>
            </a:endParaRPr>
          </a:p>
          <a:p>
            <a:pPr defTabSz="457200">
              <a:lnSpc>
                <a:spcPct val="140000"/>
              </a:lnSpc>
            </a:pPr>
            <a:r>
              <a:rPr lang="en-US" sz="2400" b="1" u="none" strike="noStrike">
                <a:solidFill>
                  <a:srgbClr val="00D4FF"/>
                </a:solidFill>
                <a:effectLst/>
                <a:uFillTx/>
                <a:latin typeface="Calibri"/>
              </a:rPr>
              <a:t>● </a:t>
            </a:r>
            <a:r>
              <a:rPr lang="en-US" sz="2400" b="0" u="none" strike="noStrike">
                <a:solidFill>
                  <a:srgbClr val="FFFFFF"/>
                </a:solidFill>
                <a:effectLst/>
                <a:uFillTx/>
                <a:latin typeface="Calibri"/>
              </a:rPr>
              <a:t>Réseau sous-jacent</a:t>
            </a:r>
            <a:endParaRPr lang="en-US" sz="2400" b="0" u="none" strike="noStrike">
              <a:solidFill>
                <a:srgbClr val="FFFFFF"/>
              </a:solidFill>
              <a:effectLst/>
              <a:uFillTx/>
              <a:latin typeface="Arial"/>
            </a:endParaRPr>
          </a:p>
        </p:txBody>
      </p:sp>
      <p:sp>
        <p:nvSpPr>
          <p:cNvPr id="415" name="Rounded Rectangle 6"/>
          <p:cNvSpPr/>
          <p:nvPr/>
        </p:nvSpPr>
        <p:spPr>
          <a:xfrm>
            <a:off x="6172200" y="1828800"/>
            <a:ext cx="5577480" cy="4114440"/>
          </a:xfrm>
          <a:prstGeom prst="roundRect">
            <a:avLst>
              <a:gd name="adj" fmla="val 16667"/>
            </a:avLst>
          </a:prstGeom>
          <a:solidFill>
            <a:srgbClr val="3A1F14"/>
          </a:solidFill>
          <a:ln w="38100">
            <a:solidFill>
              <a:srgbClr val="FF6B3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16" name="TextBox 7"/>
          <p:cNvSpPr/>
          <p:nvPr/>
        </p:nvSpPr>
        <p:spPr>
          <a:xfrm>
            <a:off x="6263640" y="1965960"/>
            <a:ext cx="539460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1" u="none" strike="noStrike">
                <a:solidFill>
                  <a:srgbClr val="FF6B35"/>
                </a:solidFill>
                <a:effectLst/>
                <a:uFillTx/>
                <a:latin typeface="Calibri"/>
              </a:rPr>
              <a:t>⚠  À VOTRE CHARGE</a:t>
            </a:r>
            <a:endParaRPr lang="en-US" sz="2400" b="0" u="none" strike="noStrike">
              <a:solidFill>
                <a:srgbClr val="FFFFFF"/>
              </a:solidFill>
              <a:effectLst/>
              <a:uFillTx/>
              <a:latin typeface="Arial"/>
            </a:endParaRPr>
          </a:p>
        </p:txBody>
      </p:sp>
      <p:sp>
        <p:nvSpPr>
          <p:cNvPr id="417" name="TextBox 8"/>
          <p:cNvSpPr/>
          <p:nvPr/>
        </p:nvSpPr>
        <p:spPr>
          <a:xfrm>
            <a:off x="6355080" y="2697480"/>
            <a:ext cx="5303160" cy="310860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400" b="1" u="none" strike="noStrike">
                <a:solidFill>
                  <a:srgbClr val="00D4FF"/>
                </a:solidFill>
                <a:effectLst/>
                <a:uFillTx/>
                <a:latin typeface="Calibri"/>
              </a:rPr>
              <a:t>● </a:t>
            </a:r>
            <a:r>
              <a:rPr lang="en-US" sz="2400" b="0" u="none" strike="noStrike">
                <a:solidFill>
                  <a:srgbClr val="FFFFFF"/>
                </a:solidFill>
                <a:effectLst/>
                <a:uFillTx/>
                <a:latin typeface="Calibri"/>
              </a:rPr>
              <a:t>Configuration</a:t>
            </a:r>
            <a:endParaRPr lang="en-US" sz="2400" b="0" u="none" strike="noStrike">
              <a:solidFill>
                <a:srgbClr val="FFFFFF"/>
              </a:solidFill>
              <a:effectLst/>
              <a:uFillTx/>
              <a:latin typeface="Arial"/>
            </a:endParaRPr>
          </a:p>
          <a:p>
            <a:pPr defTabSz="457200">
              <a:lnSpc>
                <a:spcPct val="140000"/>
              </a:lnSpc>
            </a:pPr>
            <a:r>
              <a:rPr lang="en-US" sz="2400" b="1" u="none" strike="noStrike">
                <a:solidFill>
                  <a:srgbClr val="00D4FF"/>
                </a:solidFill>
                <a:effectLst/>
                <a:uFillTx/>
                <a:latin typeface="Calibri"/>
              </a:rPr>
              <a:t>● </a:t>
            </a:r>
            <a:r>
              <a:rPr lang="en-US" sz="2400" b="0" u="none" strike="noStrike">
                <a:solidFill>
                  <a:srgbClr val="FFFFFF"/>
                </a:solidFill>
                <a:effectLst/>
                <a:uFillTx/>
                <a:latin typeface="Calibri"/>
              </a:rPr>
              <a:t>Politiques d'accès (IAM)</a:t>
            </a:r>
            <a:endParaRPr lang="en-US" sz="2400" b="0" u="none" strike="noStrike">
              <a:solidFill>
                <a:srgbClr val="FFFFFF"/>
              </a:solidFill>
              <a:effectLst/>
              <a:uFillTx/>
              <a:latin typeface="Arial"/>
            </a:endParaRPr>
          </a:p>
          <a:p>
            <a:pPr defTabSz="457200">
              <a:lnSpc>
                <a:spcPct val="140000"/>
              </a:lnSpc>
            </a:pPr>
            <a:r>
              <a:rPr lang="en-US" sz="2400" b="1" u="none" strike="noStrike">
                <a:solidFill>
                  <a:srgbClr val="00D4FF"/>
                </a:solidFill>
                <a:effectLst/>
                <a:uFillTx/>
                <a:latin typeface="Calibri"/>
              </a:rPr>
              <a:t>● </a:t>
            </a:r>
            <a:r>
              <a:rPr lang="en-US" sz="2400" b="0" u="none" strike="noStrike">
                <a:solidFill>
                  <a:srgbClr val="FFFFFF"/>
                </a:solidFill>
                <a:effectLst/>
                <a:uFillTx/>
                <a:latin typeface="Calibri"/>
              </a:rPr>
              <a:t>Les données elles-mêmes</a:t>
            </a:r>
            <a:endParaRPr lang="en-US" sz="2400" b="0" u="none" strike="noStrike">
              <a:solidFill>
                <a:srgbClr val="FFFFFF"/>
              </a:solidFill>
              <a:effectLst/>
              <a:uFillTx/>
              <a:latin typeface="Arial"/>
            </a:endParaRPr>
          </a:p>
          <a:p>
            <a:pPr defTabSz="457200">
              <a:lnSpc>
                <a:spcPct val="140000"/>
              </a:lnSpc>
            </a:pPr>
            <a:r>
              <a:rPr lang="en-US" sz="2400" b="1" u="none" strike="noStrike">
                <a:solidFill>
                  <a:srgbClr val="00D4FF"/>
                </a:solidFill>
                <a:effectLst/>
                <a:uFillTx/>
                <a:latin typeface="Calibri"/>
              </a:rPr>
              <a:t>● </a:t>
            </a:r>
            <a:r>
              <a:rPr lang="en-US" sz="2400" b="0" u="none" strike="noStrike">
                <a:solidFill>
                  <a:srgbClr val="FFFFFF"/>
                </a:solidFill>
                <a:effectLst/>
                <a:uFillTx/>
                <a:latin typeface="Calibri"/>
              </a:rPr>
              <a:t>Choix de chiffrement</a:t>
            </a:r>
            <a:endParaRPr lang="en-US" sz="2400" b="0" u="none" strike="noStrike">
              <a:solidFill>
                <a:srgbClr val="FFFFFF"/>
              </a:solidFill>
              <a:effectLst/>
              <a:uFillTx/>
              <a:latin typeface="Arial"/>
            </a:endParaRPr>
          </a:p>
        </p:txBody>
      </p:sp>
      <p:sp>
        <p:nvSpPr>
          <p:cNvPr id="418" name="TextBox 9"/>
          <p:cNvSpPr/>
          <p:nvPr/>
        </p:nvSpPr>
        <p:spPr>
          <a:xfrm>
            <a:off x="457200" y="6035040"/>
            <a:ext cx="11246760" cy="4568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200" b="1" u="none" strike="noStrike">
                <a:solidFill>
                  <a:srgbClr val="00D4FF"/>
                </a:solidFill>
                <a:effectLst/>
                <a:uFillTx/>
                <a:latin typeface="Calibri"/>
              </a:rPr>
              <a:t>Presque toute violation de BD cloud = mauvaise configuration du client.</a:t>
            </a:r>
            <a:endParaRPr lang="en-US" sz="2200" b="0" u="none" strike="noStrike">
              <a:solidFill>
                <a:srgbClr val="FFFFFF"/>
              </a:solidFill>
              <a:effectLst/>
              <a:uFillTx/>
              <a:latin typeface="Arial"/>
            </a:endParaRPr>
          </a:p>
        </p:txBody>
      </p:sp>
      <p:sp>
        <p:nvSpPr>
          <p:cNvPr id="419" name="TextBox 10"/>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Les bases de données pour les hackers</a:t>
            </a:r>
            <a:endParaRPr lang="en-US" sz="1400" b="0" u="none" strike="noStrike">
              <a:solidFill>
                <a:srgbClr val="FFFFFF"/>
              </a:solidFill>
              <a:effectLst/>
              <a:uFillTx/>
              <a:latin typeface="Arial"/>
            </a:endParaRPr>
          </a:p>
        </p:txBody>
      </p:sp>
      <p:sp>
        <p:nvSpPr>
          <p:cNvPr id="420" name="TextBox 11"/>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20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421" name="TextBox 1" descr="Table of common database ports: MySQL 3306, PostgreSQL 5432, MS SQL 1433, MongoDB 27017, Redis 6379, Elasticsearch 9200, Cassandra 9042." title="Table of common database ports: MySQL 3306, PostgreSQL 5432, MS SQL 1433, MongoD"/>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000" b="1" u="none" strike="noStrike">
                <a:solidFill>
                  <a:srgbClr val="00FF41"/>
                </a:solidFill>
                <a:effectLst/>
                <a:uFillTx/>
                <a:latin typeface="Calibri"/>
              </a:rPr>
              <a:t>Ports de BD courants — À graver dans votre mémoire</a:t>
            </a:r>
            <a:endParaRPr lang="en-US" sz="4200" b="0" u="none" strike="noStrike">
              <a:solidFill>
                <a:srgbClr val="FFFFFF"/>
              </a:solidFill>
              <a:effectLst/>
              <a:uFillTx/>
              <a:latin typeface="Arial"/>
            </a:endParaRPr>
          </a:p>
        </p:txBody>
      </p:sp>
      <p:sp>
        <p:nvSpPr>
          <p:cNvPr id="422"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423" name="TextBox 3"/>
          <p:cNvSpPr/>
          <p:nvPr/>
        </p:nvSpPr>
        <p:spPr>
          <a:xfrm>
            <a:off x="1371600" y="1645920"/>
            <a:ext cx="2285640" cy="5482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3600" b="1" u="none" strike="noStrike">
                <a:solidFill>
                  <a:srgbClr val="00FF41"/>
                </a:solidFill>
                <a:effectLst/>
                <a:uFillTx/>
                <a:latin typeface="Calibri"/>
              </a:rPr>
              <a:t>3306</a:t>
            </a:r>
            <a:endParaRPr lang="en-US" sz="3600" b="0" u="none" strike="noStrike">
              <a:solidFill>
                <a:srgbClr val="FFFFFF"/>
              </a:solidFill>
              <a:effectLst/>
              <a:uFillTx/>
              <a:latin typeface="Arial"/>
            </a:endParaRPr>
          </a:p>
        </p:txBody>
      </p:sp>
      <p:sp>
        <p:nvSpPr>
          <p:cNvPr id="424" name="TextBox 4"/>
          <p:cNvSpPr/>
          <p:nvPr/>
        </p:nvSpPr>
        <p:spPr>
          <a:xfrm>
            <a:off x="3840480" y="1645920"/>
            <a:ext cx="54828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425" name="TextBox 5"/>
          <p:cNvSpPr/>
          <p:nvPr/>
        </p:nvSpPr>
        <p:spPr>
          <a:xfrm>
            <a:off x="4480560" y="1645920"/>
            <a:ext cx="640044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FFFFFF"/>
                </a:solidFill>
                <a:effectLst/>
                <a:uFillTx/>
                <a:latin typeface="Calibri"/>
              </a:rPr>
              <a:t>MySQL / MariaDB</a:t>
            </a:r>
            <a:endParaRPr lang="en-US" sz="3200" b="0" u="none" strike="noStrike">
              <a:solidFill>
                <a:srgbClr val="FFFFFF"/>
              </a:solidFill>
              <a:effectLst/>
              <a:uFillTx/>
              <a:latin typeface="Arial"/>
            </a:endParaRPr>
          </a:p>
        </p:txBody>
      </p:sp>
      <p:sp>
        <p:nvSpPr>
          <p:cNvPr id="426" name="TextBox 6"/>
          <p:cNvSpPr/>
          <p:nvPr/>
        </p:nvSpPr>
        <p:spPr>
          <a:xfrm>
            <a:off x="1371600" y="2212920"/>
            <a:ext cx="2285640" cy="5482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3600" b="1" u="none" strike="noStrike">
                <a:solidFill>
                  <a:srgbClr val="00FF41"/>
                </a:solidFill>
                <a:effectLst/>
                <a:uFillTx/>
                <a:latin typeface="Calibri"/>
              </a:rPr>
              <a:t>5432</a:t>
            </a:r>
            <a:endParaRPr lang="en-US" sz="3600" b="0" u="none" strike="noStrike">
              <a:solidFill>
                <a:srgbClr val="FFFFFF"/>
              </a:solidFill>
              <a:effectLst/>
              <a:uFillTx/>
              <a:latin typeface="Arial"/>
            </a:endParaRPr>
          </a:p>
        </p:txBody>
      </p:sp>
      <p:sp>
        <p:nvSpPr>
          <p:cNvPr id="427" name="TextBox 7"/>
          <p:cNvSpPr/>
          <p:nvPr/>
        </p:nvSpPr>
        <p:spPr>
          <a:xfrm>
            <a:off x="3840480" y="2212920"/>
            <a:ext cx="54828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428" name="TextBox 8"/>
          <p:cNvSpPr/>
          <p:nvPr/>
        </p:nvSpPr>
        <p:spPr>
          <a:xfrm>
            <a:off x="4480560" y="2212920"/>
            <a:ext cx="640044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FFFFFF"/>
                </a:solidFill>
                <a:effectLst/>
                <a:uFillTx/>
                <a:latin typeface="Calibri"/>
              </a:rPr>
              <a:t>PostgreSQL</a:t>
            </a:r>
            <a:endParaRPr lang="en-US" sz="3200" b="0" u="none" strike="noStrike">
              <a:solidFill>
                <a:srgbClr val="FFFFFF"/>
              </a:solidFill>
              <a:effectLst/>
              <a:uFillTx/>
              <a:latin typeface="Arial"/>
            </a:endParaRPr>
          </a:p>
        </p:txBody>
      </p:sp>
      <p:sp>
        <p:nvSpPr>
          <p:cNvPr id="429" name="TextBox 9"/>
          <p:cNvSpPr/>
          <p:nvPr/>
        </p:nvSpPr>
        <p:spPr>
          <a:xfrm>
            <a:off x="1371600" y="2779920"/>
            <a:ext cx="2285640" cy="5482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3600" b="1" u="none" strike="noStrike">
                <a:solidFill>
                  <a:srgbClr val="00FF41"/>
                </a:solidFill>
                <a:effectLst/>
                <a:uFillTx/>
                <a:latin typeface="Calibri"/>
              </a:rPr>
              <a:t>1433</a:t>
            </a:r>
            <a:endParaRPr lang="en-US" sz="3600" b="0" u="none" strike="noStrike">
              <a:solidFill>
                <a:srgbClr val="FFFFFF"/>
              </a:solidFill>
              <a:effectLst/>
              <a:uFillTx/>
              <a:latin typeface="Arial"/>
            </a:endParaRPr>
          </a:p>
        </p:txBody>
      </p:sp>
      <p:sp>
        <p:nvSpPr>
          <p:cNvPr id="430" name="TextBox 10"/>
          <p:cNvSpPr/>
          <p:nvPr/>
        </p:nvSpPr>
        <p:spPr>
          <a:xfrm>
            <a:off x="3840480" y="2779920"/>
            <a:ext cx="54828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431" name="TextBox 11"/>
          <p:cNvSpPr/>
          <p:nvPr/>
        </p:nvSpPr>
        <p:spPr>
          <a:xfrm>
            <a:off x="4480560" y="2779920"/>
            <a:ext cx="640044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FFFFFF"/>
                </a:solidFill>
                <a:effectLst/>
                <a:uFillTx/>
                <a:latin typeface="Calibri"/>
              </a:rPr>
              <a:t>Microsoft SQL Server</a:t>
            </a:r>
            <a:endParaRPr lang="en-US" sz="3200" b="0" u="none" strike="noStrike">
              <a:solidFill>
                <a:srgbClr val="FFFFFF"/>
              </a:solidFill>
              <a:effectLst/>
              <a:uFillTx/>
              <a:latin typeface="Arial"/>
            </a:endParaRPr>
          </a:p>
        </p:txBody>
      </p:sp>
      <p:sp>
        <p:nvSpPr>
          <p:cNvPr id="432" name="TextBox 12"/>
          <p:cNvSpPr/>
          <p:nvPr/>
        </p:nvSpPr>
        <p:spPr>
          <a:xfrm>
            <a:off x="1371600" y="3346560"/>
            <a:ext cx="2285640" cy="5482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3600" b="1" u="none" strike="noStrike">
                <a:solidFill>
                  <a:srgbClr val="00FF41"/>
                </a:solidFill>
                <a:effectLst/>
                <a:uFillTx/>
                <a:latin typeface="Calibri"/>
              </a:rPr>
              <a:t>27017</a:t>
            </a:r>
            <a:endParaRPr lang="en-US" sz="3600" b="0" u="none" strike="noStrike">
              <a:solidFill>
                <a:srgbClr val="FFFFFF"/>
              </a:solidFill>
              <a:effectLst/>
              <a:uFillTx/>
              <a:latin typeface="Arial"/>
            </a:endParaRPr>
          </a:p>
        </p:txBody>
      </p:sp>
      <p:sp>
        <p:nvSpPr>
          <p:cNvPr id="433" name="TextBox 13"/>
          <p:cNvSpPr/>
          <p:nvPr/>
        </p:nvSpPr>
        <p:spPr>
          <a:xfrm>
            <a:off x="3840480" y="3346560"/>
            <a:ext cx="54828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434" name="TextBox 14"/>
          <p:cNvSpPr/>
          <p:nvPr/>
        </p:nvSpPr>
        <p:spPr>
          <a:xfrm>
            <a:off x="4480560" y="3346560"/>
            <a:ext cx="640044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FFFFFF"/>
                </a:solidFill>
                <a:effectLst/>
                <a:uFillTx/>
                <a:latin typeface="Calibri"/>
              </a:rPr>
              <a:t>MongoDB</a:t>
            </a:r>
            <a:endParaRPr lang="en-US" sz="3200" b="0" u="none" strike="noStrike">
              <a:solidFill>
                <a:srgbClr val="FFFFFF"/>
              </a:solidFill>
              <a:effectLst/>
              <a:uFillTx/>
              <a:latin typeface="Arial"/>
            </a:endParaRPr>
          </a:p>
        </p:txBody>
      </p:sp>
      <p:sp>
        <p:nvSpPr>
          <p:cNvPr id="435" name="TextBox 15"/>
          <p:cNvSpPr/>
          <p:nvPr/>
        </p:nvSpPr>
        <p:spPr>
          <a:xfrm>
            <a:off x="1371600" y="3913560"/>
            <a:ext cx="2285640" cy="5482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3600" b="1" u="none" strike="noStrike">
                <a:solidFill>
                  <a:srgbClr val="00FF41"/>
                </a:solidFill>
                <a:effectLst/>
                <a:uFillTx/>
                <a:latin typeface="Calibri"/>
              </a:rPr>
              <a:t>6379</a:t>
            </a:r>
            <a:endParaRPr lang="en-US" sz="3600" b="0" u="none" strike="noStrike">
              <a:solidFill>
                <a:srgbClr val="FFFFFF"/>
              </a:solidFill>
              <a:effectLst/>
              <a:uFillTx/>
              <a:latin typeface="Arial"/>
            </a:endParaRPr>
          </a:p>
        </p:txBody>
      </p:sp>
      <p:sp>
        <p:nvSpPr>
          <p:cNvPr id="436" name="TextBox 16"/>
          <p:cNvSpPr/>
          <p:nvPr/>
        </p:nvSpPr>
        <p:spPr>
          <a:xfrm>
            <a:off x="3840480" y="3913560"/>
            <a:ext cx="54828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437" name="TextBox 17"/>
          <p:cNvSpPr/>
          <p:nvPr/>
        </p:nvSpPr>
        <p:spPr>
          <a:xfrm>
            <a:off x="4480560" y="3913560"/>
            <a:ext cx="640044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FFFFFF"/>
                </a:solidFill>
                <a:effectLst/>
                <a:uFillTx/>
                <a:latin typeface="Calibri"/>
              </a:rPr>
              <a:t>Redis</a:t>
            </a:r>
            <a:endParaRPr lang="en-US" sz="3200" b="0" u="none" strike="noStrike">
              <a:solidFill>
                <a:srgbClr val="FFFFFF"/>
              </a:solidFill>
              <a:effectLst/>
              <a:uFillTx/>
              <a:latin typeface="Arial"/>
            </a:endParaRPr>
          </a:p>
        </p:txBody>
      </p:sp>
      <p:sp>
        <p:nvSpPr>
          <p:cNvPr id="438" name="TextBox 18"/>
          <p:cNvSpPr/>
          <p:nvPr/>
        </p:nvSpPr>
        <p:spPr>
          <a:xfrm>
            <a:off x="1371600" y="4480560"/>
            <a:ext cx="2285640" cy="5482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3600" b="1" u="none" strike="noStrike">
                <a:solidFill>
                  <a:srgbClr val="00FF41"/>
                </a:solidFill>
                <a:effectLst/>
                <a:uFillTx/>
                <a:latin typeface="Calibri"/>
              </a:rPr>
              <a:t>9200</a:t>
            </a:r>
            <a:endParaRPr lang="en-US" sz="3600" b="0" u="none" strike="noStrike">
              <a:solidFill>
                <a:srgbClr val="FFFFFF"/>
              </a:solidFill>
              <a:effectLst/>
              <a:uFillTx/>
              <a:latin typeface="Arial"/>
            </a:endParaRPr>
          </a:p>
        </p:txBody>
      </p:sp>
      <p:sp>
        <p:nvSpPr>
          <p:cNvPr id="439" name="TextBox 19"/>
          <p:cNvSpPr/>
          <p:nvPr/>
        </p:nvSpPr>
        <p:spPr>
          <a:xfrm>
            <a:off x="3840480" y="4480560"/>
            <a:ext cx="54828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440" name="TextBox 20"/>
          <p:cNvSpPr/>
          <p:nvPr/>
        </p:nvSpPr>
        <p:spPr>
          <a:xfrm>
            <a:off x="4480560" y="4480560"/>
            <a:ext cx="640044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FFFFFF"/>
                </a:solidFill>
                <a:effectLst/>
                <a:uFillTx/>
                <a:latin typeface="Calibri"/>
              </a:rPr>
              <a:t>Elasticsearch</a:t>
            </a:r>
            <a:endParaRPr lang="en-US" sz="3200" b="0" u="none" strike="noStrike">
              <a:solidFill>
                <a:srgbClr val="FFFFFF"/>
              </a:solidFill>
              <a:effectLst/>
              <a:uFillTx/>
              <a:latin typeface="Arial"/>
            </a:endParaRPr>
          </a:p>
        </p:txBody>
      </p:sp>
      <p:sp>
        <p:nvSpPr>
          <p:cNvPr id="441" name="TextBox 21"/>
          <p:cNvSpPr/>
          <p:nvPr/>
        </p:nvSpPr>
        <p:spPr>
          <a:xfrm>
            <a:off x="1371600" y="5047560"/>
            <a:ext cx="2285640" cy="5482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3600" b="1" u="none" strike="noStrike">
                <a:solidFill>
                  <a:srgbClr val="00FF41"/>
                </a:solidFill>
                <a:effectLst/>
                <a:uFillTx/>
                <a:latin typeface="Calibri"/>
              </a:rPr>
              <a:t>9042</a:t>
            </a:r>
            <a:endParaRPr lang="en-US" sz="3600" b="0" u="none" strike="noStrike">
              <a:solidFill>
                <a:srgbClr val="FFFFFF"/>
              </a:solidFill>
              <a:effectLst/>
              <a:uFillTx/>
              <a:latin typeface="Arial"/>
            </a:endParaRPr>
          </a:p>
        </p:txBody>
      </p:sp>
      <p:sp>
        <p:nvSpPr>
          <p:cNvPr id="442" name="TextBox 22"/>
          <p:cNvSpPr/>
          <p:nvPr/>
        </p:nvSpPr>
        <p:spPr>
          <a:xfrm>
            <a:off x="3840480" y="5047560"/>
            <a:ext cx="54828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443" name="TextBox 23"/>
          <p:cNvSpPr/>
          <p:nvPr/>
        </p:nvSpPr>
        <p:spPr>
          <a:xfrm>
            <a:off x="4480560" y="5047560"/>
            <a:ext cx="640044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FFFFFF"/>
                </a:solidFill>
                <a:effectLst/>
                <a:uFillTx/>
                <a:latin typeface="Calibri"/>
              </a:rPr>
              <a:t>Cassandra</a:t>
            </a:r>
            <a:endParaRPr lang="en-US" sz="3200" b="0" u="none" strike="noStrike">
              <a:solidFill>
                <a:srgbClr val="FFFFFF"/>
              </a:solidFill>
              <a:effectLst/>
              <a:uFillTx/>
              <a:latin typeface="Arial"/>
            </a:endParaRPr>
          </a:p>
        </p:txBody>
      </p:sp>
      <p:sp>
        <p:nvSpPr>
          <p:cNvPr id="444" name="TextBox 24"/>
          <p:cNvSpPr/>
          <p:nvPr/>
        </p:nvSpPr>
        <p:spPr>
          <a:xfrm>
            <a:off x="457200" y="5989320"/>
            <a:ext cx="11246760" cy="4248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200" b="1" u="none" strike="noStrike">
                <a:solidFill>
                  <a:srgbClr val="FF6B35"/>
                </a:solidFill>
                <a:effectLst/>
                <a:uFillTx/>
                <a:latin typeface="Calibri"/>
              </a:rPr>
              <a:t>L'un de ces ports exposé sur Internet = une découverte. À chaque fois*</a:t>
            </a:r>
            <a:endParaRPr lang="en-US" sz="2200" b="0" u="none" strike="noStrike">
              <a:solidFill>
                <a:srgbClr val="FFFFFF"/>
              </a:solidFill>
              <a:effectLst/>
              <a:uFillTx/>
              <a:latin typeface="Arial"/>
            </a:endParaRPr>
          </a:p>
        </p:txBody>
      </p:sp>
      <p:sp>
        <p:nvSpPr>
          <p:cNvPr id="445" name="TextBox 25"/>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Les bases de données pour les hackers</a:t>
            </a:r>
            <a:endParaRPr lang="en-US" sz="1400" b="0" u="none" strike="noStrike">
              <a:solidFill>
                <a:srgbClr val="FFFFFF"/>
              </a:solidFill>
              <a:effectLst/>
              <a:uFillTx/>
              <a:latin typeface="Arial"/>
            </a:endParaRPr>
          </a:p>
        </p:txBody>
      </p:sp>
      <p:sp>
        <p:nvSpPr>
          <p:cNvPr id="446" name="TextBox 26"/>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21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447" name="TextBox 1" descr="Statement slide: Markdown files are now a database — the kind an LLM reads from via embeddings and RAG." title="Statement slide: Markdown files are now a database — the kind an LLM reads from "/>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400" b="1" u="none" strike="noStrike">
                <a:solidFill>
                  <a:srgbClr val="00FF41"/>
                </a:solidFill>
                <a:effectLst/>
                <a:uFillTx/>
                <a:latin typeface="Calibri"/>
              </a:rPr>
              <a:t>Vos notes sont désormais une base de données</a:t>
            </a:r>
            <a:endParaRPr lang="en-US" sz="4200" b="0" u="none" strike="noStrike">
              <a:solidFill>
                <a:srgbClr val="FFFFFF"/>
              </a:solidFill>
              <a:effectLst/>
              <a:uFillTx/>
              <a:latin typeface="Arial"/>
            </a:endParaRPr>
          </a:p>
        </p:txBody>
      </p:sp>
      <p:sp>
        <p:nvSpPr>
          <p:cNvPr id="448"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449" name="TextBox 3"/>
          <p:cNvSpPr/>
          <p:nvPr/>
        </p:nvSpPr>
        <p:spPr>
          <a:xfrm>
            <a:off x="457200" y="2011680"/>
            <a:ext cx="11246760" cy="9140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3700" b="0" u="none" strike="noStrike">
                <a:solidFill>
                  <a:srgbClr val="FFFFFF"/>
                </a:solidFill>
                <a:effectLst/>
                <a:uFillTx/>
                <a:latin typeface="Calibri"/>
              </a:rPr>
              <a:t>Les fichiers Markdown sont désormais</a:t>
            </a:r>
            <a:endParaRPr lang="en-US" sz="4400" b="0" u="none" strike="noStrike">
              <a:solidFill>
                <a:srgbClr val="FFFFFF"/>
              </a:solidFill>
              <a:effectLst/>
              <a:uFillTx/>
              <a:latin typeface="Arial"/>
            </a:endParaRPr>
          </a:p>
        </p:txBody>
      </p:sp>
      <p:sp>
        <p:nvSpPr>
          <p:cNvPr id="450" name="TextBox 4"/>
          <p:cNvSpPr/>
          <p:nvPr/>
        </p:nvSpPr>
        <p:spPr>
          <a:xfrm>
            <a:off x="457200" y="2834640"/>
            <a:ext cx="11246760" cy="9140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3700" b="1" u="none" strike="noStrike">
                <a:solidFill>
                  <a:srgbClr val="00FF41"/>
                </a:solidFill>
                <a:effectLst/>
                <a:uFillTx/>
                <a:latin typeface="Calibri"/>
              </a:rPr>
              <a:t>la base de données dans laquelle un LLM puise.</a:t>
            </a:r>
            <a:endParaRPr lang="en-US" sz="4400" b="0" u="none" strike="noStrike">
              <a:solidFill>
                <a:srgbClr val="FFFFFF"/>
              </a:solidFill>
              <a:effectLst/>
              <a:uFillTx/>
              <a:latin typeface="Arial"/>
            </a:endParaRPr>
          </a:p>
        </p:txBody>
      </p:sp>
      <p:sp>
        <p:nvSpPr>
          <p:cNvPr id="451" name="TextBox 5"/>
          <p:cNvSpPr/>
          <p:nvPr/>
        </p:nvSpPr>
        <p:spPr>
          <a:xfrm>
            <a:off x="457200" y="4206240"/>
            <a:ext cx="11246760" cy="54828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400" b="0" u="none" strike="noStrike">
                <a:solidFill>
                  <a:srgbClr val="00D4FF"/>
                </a:solidFill>
                <a:effectLst/>
                <a:uFillTx/>
                <a:latin typeface="Calibri"/>
              </a:rPr>
              <a:t>Coffres Obsidian  •  Exports de wiki  •  Notes de réunion  •  Docs GitHub</a:t>
            </a:r>
            <a:endParaRPr lang="en-US" sz="2400" b="0" u="none" strike="noStrike">
              <a:solidFill>
                <a:srgbClr val="FFFFFF"/>
              </a:solidFill>
              <a:effectLst/>
              <a:uFillTx/>
              <a:latin typeface="Arial"/>
            </a:endParaRPr>
          </a:p>
        </p:txBody>
      </p:sp>
      <p:sp>
        <p:nvSpPr>
          <p:cNvPr id="452" name="TextBox 6"/>
          <p:cNvSpPr/>
          <p:nvPr/>
        </p:nvSpPr>
        <p:spPr>
          <a:xfrm>
            <a:off x="457200" y="4937760"/>
            <a:ext cx="11246760" cy="9140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600" b="0" u="none" strike="noStrike">
                <a:solidFill>
                  <a:srgbClr val="CCCCD6"/>
                </a:solidFill>
                <a:effectLst/>
                <a:uFillTx/>
                <a:latin typeface="Calibri"/>
              </a:rPr>
              <a:t>Vectorisé → BD vectorielle → contexte du LLM → réponse à l'utilisateur</a:t>
            </a:r>
            <a:endParaRPr lang="en-US" sz="2600" b="0" u="none" strike="noStrike">
              <a:solidFill>
                <a:srgbClr val="FFFFFF"/>
              </a:solidFill>
              <a:effectLst/>
              <a:uFillTx/>
              <a:latin typeface="Arial"/>
            </a:endParaRPr>
          </a:p>
        </p:txBody>
      </p:sp>
      <p:sp>
        <p:nvSpPr>
          <p:cNvPr id="453" name="TextBox 7"/>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Les bases de données pour les hackers</a:t>
            </a:r>
            <a:endParaRPr lang="en-US" sz="1400" b="0" u="none" strike="noStrike">
              <a:solidFill>
                <a:srgbClr val="FFFFFF"/>
              </a:solidFill>
              <a:effectLst/>
              <a:uFillTx/>
              <a:latin typeface="Arial"/>
            </a:endParaRPr>
          </a:p>
        </p:txBody>
      </p:sp>
      <p:sp>
        <p:nvSpPr>
          <p:cNvPr id="454" name="TextBox 8"/>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22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455" name="TextBox 1" descr="Pipeline diagram: markdown files → embedder → vector DB → LLM prompt → answer. The trust boundary sits between authors and the embedder." title="Pipeline diagram: markdown files → embedder → vector DB → LLM prompt → answer. T"/>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900" b="1" u="none" strike="noStrike">
                <a:solidFill>
                  <a:srgbClr val="00FF41"/>
                </a:solidFill>
                <a:effectLst/>
                <a:uFillTx/>
                <a:latin typeface="Calibri"/>
              </a:rPr>
              <a:t>Pipeline RAG — Où se trouve la frontière de confiance ?</a:t>
            </a:r>
            <a:endParaRPr lang="en-US" sz="3600" b="0" u="none" strike="noStrike">
              <a:solidFill>
                <a:srgbClr val="FFFFFF"/>
              </a:solidFill>
              <a:effectLst/>
              <a:uFillTx/>
              <a:latin typeface="Arial"/>
            </a:endParaRPr>
          </a:p>
        </p:txBody>
      </p:sp>
      <p:sp>
        <p:nvSpPr>
          <p:cNvPr id="456"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457" name="Rounded Rectangle 3"/>
          <p:cNvSpPr/>
          <p:nvPr/>
        </p:nvSpPr>
        <p:spPr>
          <a:xfrm>
            <a:off x="457200" y="2377440"/>
            <a:ext cx="1919880" cy="1096920"/>
          </a:xfrm>
          <a:prstGeom prst="roundRect">
            <a:avLst>
              <a:gd name="adj" fmla="val 16667"/>
            </a:avLst>
          </a:prstGeom>
          <a:solidFill>
            <a:srgbClr val="24243E"/>
          </a:solidFill>
          <a:ln w="3810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58" name="TextBox 4"/>
          <p:cNvSpPr/>
          <p:nvPr/>
        </p:nvSpPr>
        <p:spPr>
          <a:xfrm>
            <a:off x="457200" y="2651760"/>
            <a:ext cx="191988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200" b="1" u="none" strike="noStrike">
                <a:solidFill>
                  <a:srgbClr val="00D4FF"/>
                </a:solidFill>
                <a:effectLst/>
                <a:uFillTx/>
                <a:latin typeface="Calibri"/>
              </a:rPr>
              <a:t>fichiers .md</a:t>
            </a:r>
            <a:endParaRPr lang="en-US" sz="2200" b="0" u="none" strike="noStrike">
              <a:solidFill>
                <a:srgbClr val="FFFFFF"/>
              </a:solidFill>
              <a:effectLst/>
              <a:uFillTx/>
              <a:latin typeface="Arial"/>
            </a:endParaRPr>
          </a:p>
        </p:txBody>
      </p:sp>
      <p:sp>
        <p:nvSpPr>
          <p:cNvPr id="459" name="TextBox 5"/>
          <p:cNvSpPr/>
          <p:nvPr/>
        </p:nvSpPr>
        <p:spPr>
          <a:xfrm>
            <a:off x="2395800" y="2651760"/>
            <a:ext cx="36540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800" b="1" u="none" strike="noStrike">
                <a:solidFill>
                  <a:srgbClr val="FF6B35"/>
                </a:solidFill>
                <a:effectLst/>
                <a:uFillTx/>
                <a:latin typeface="Calibri"/>
              </a:rPr>
              <a:t>▶</a:t>
            </a:r>
            <a:endParaRPr lang="en-US" sz="2800" b="0" u="none" strike="noStrike">
              <a:solidFill>
                <a:srgbClr val="FFFFFF"/>
              </a:solidFill>
              <a:effectLst/>
              <a:uFillTx/>
              <a:latin typeface="Arial"/>
            </a:endParaRPr>
          </a:p>
        </p:txBody>
      </p:sp>
      <p:sp>
        <p:nvSpPr>
          <p:cNvPr id="460" name="Rounded Rectangle 6"/>
          <p:cNvSpPr/>
          <p:nvPr/>
        </p:nvSpPr>
        <p:spPr>
          <a:xfrm>
            <a:off x="2743200" y="2377440"/>
            <a:ext cx="1919880" cy="1096920"/>
          </a:xfrm>
          <a:prstGeom prst="roundRect">
            <a:avLst>
              <a:gd name="adj" fmla="val 16667"/>
            </a:avLst>
          </a:prstGeom>
          <a:solidFill>
            <a:srgbClr val="24243E"/>
          </a:solidFill>
          <a:ln w="38100">
            <a:solidFill>
              <a:srgbClr val="FFFF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61" name="TextBox 7"/>
          <p:cNvSpPr/>
          <p:nvPr/>
        </p:nvSpPr>
        <p:spPr>
          <a:xfrm>
            <a:off x="2743200" y="2651760"/>
            <a:ext cx="191988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200" b="1" u="none" strike="noStrike">
                <a:solidFill>
                  <a:srgbClr val="FFFFFF"/>
                </a:solidFill>
                <a:effectLst/>
                <a:uFillTx/>
                <a:latin typeface="Calibri"/>
              </a:rPr>
              <a:t>Vectoriseur</a:t>
            </a:r>
            <a:endParaRPr lang="en-US" sz="2200" b="0" u="none" strike="noStrike">
              <a:solidFill>
                <a:srgbClr val="FFFFFF"/>
              </a:solidFill>
              <a:effectLst/>
              <a:uFillTx/>
              <a:latin typeface="Arial"/>
            </a:endParaRPr>
          </a:p>
        </p:txBody>
      </p:sp>
      <p:sp>
        <p:nvSpPr>
          <p:cNvPr id="462" name="TextBox 8"/>
          <p:cNvSpPr/>
          <p:nvPr/>
        </p:nvSpPr>
        <p:spPr>
          <a:xfrm>
            <a:off x="4681800" y="2651760"/>
            <a:ext cx="36540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800" b="1" u="none" strike="noStrike">
                <a:solidFill>
                  <a:srgbClr val="FF6B35"/>
                </a:solidFill>
                <a:effectLst/>
                <a:uFillTx/>
                <a:latin typeface="Calibri"/>
              </a:rPr>
              <a:t>▶</a:t>
            </a:r>
            <a:endParaRPr lang="en-US" sz="2800" b="0" u="none" strike="noStrike">
              <a:solidFill>
                <a:srgbClr val="FFFFFF"/>
              </a:solidFill>
              <a:effectLst/>
              <a:uFillTx/>
              <a:latin typeface="Arial"/>
            </a:endParaRPr>
          </a:p>
        </p:txBody>
      </p:sp>
      <p:sp>
        <p:nvSpPr>
          <p:cNvPr id="463" name="Rounded Rectangle 9"/>
          <p:cNvSpPr/>
          <p:nvPr/>
        </p:nvSpPr>
        <p:spPr>
          <a:xfrm>
            <a:off x="5029200" y="2377440"/>
            <a:ext cx="1919880" cy="1096920"/>
          </a:xfrm>
          <a:prstGeom prst="roundRect">
            <a:avLst>
              <a:gd name="adj" fmla="val 16667"/>
            </a:avLst>
          </a:prstGeom>
          <a:solidFill>
            <a:srgbClr val="24243E"/>
          </a:solidFill>
          <a:ln w="38100">
            <a:solidFill>
              <a:srgbClr val="00FF41"/>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64" name="TextBox 10"/>
          <p:cNvSpPr/>
          <p:nvPr/>
        </p:nvSpPr>
        <p:spPr>
          <a:xfrm>
            <a:off x="5029200" y="2651760"/>
            <a:ext cx="191988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200" b="1" u="none" strike="noStrike">
                <a:solidFill>
                  <a:srgbClr val="00FF41"/>
                </a:solidFill>
                <a:effectLst/>
                <a:uFillTx/>
                <a:latin typeface="Calibri"/>
              </a:rPr>
              <a:t>BD vectorielle</a:t>
            </a:r>
            <a:endParaRPr lang="en-US" sz="2200" b="0" u="none" strike="noStrike">
              <a:solidFill>
                <a:srgbClr val="FFFFFF"/>
              </a:solidFill>
              <a:effectLst/>
              <a:uFillTx/>
              <a:latin typeface="Arial"/>
            </a:endParaRPr>
          </a:p>
        </p:txBody>
      </p:sp>
      <p:sp>
        <p:nvSpPr>
          <p:cNvPr id="465" name="TextBox 11"/>
          <p:cNvSpPr/>
          <p:nvPr/>
        </p:nvSpPr>
        <p:spPr>
          <a:xfrm>
            <a:off x="6967800" y="2651760"/>
            <a:ext cx="36540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800" b="1" u="none" strike="noStrike">
                <a:solidFill>
                  <a:srgbClr val="FF6B35"/>
                </a:solidFill>
                <a:effectLst/>
                <a:uFillTx/>
                <a:latin typeface="Calibri"/>
              </a:rPr>
              <a:t>▶</a:t>
            </a:r>
            <a:endParaRPr lang="en-US" sz="2800" b="0" u="none" strike="noStrike">
              <a:solidFill>
                <a:srgbClr val="FFFFFF"/>
              </a:solidFill>
              <a:effectLst/>
              <a:uFillTx/>
              <a:latin typeface="Arial"/>
            </a:endParaRPr>
          </a:p>
        </p:txBody>
      </p:sp>
      <p:sp>
        <p:nvSpPr>
          <p:cNvPr id="466" name="Rounded Rectangle 12"/>
          <p:cNvSpPr/>
          <p:nvPr/>
        </p:nvSpPr>
        <p:spPr>
          <a:xfrm>
            <a:off x="7315200" y="2377440"/>
            <a:ext cx="1919880" cy="1096920"/>
          </a:xfrm>
          <a:prstGeom prst="roundRect">
            <a:avLst>
              <a:gd name="adj" fmla="val 16667"/>
            </a:avLst>
          </a:prstGeom>
          <a:solidFill>
            <a:srgbClr val="24243E"/>
          </a:solidFill>
          <a:ln w="38100">
            <a:solidFill>
              <a:srgbClr val="FFFF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67" name="TextBox 13"/>
          <p:cNvSpPr/>
          <p:nvPr/>
        </p:nvSpPr>
        <p:spPr>
          <a:xfrm>
            <a:off x="7315200" y="2651760"/>
            <a:ext cx="191988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200" b="1" u="none" strike="noStrike">
                <a:solidFill>
                  <a:srgbClr val="FFFFFF"/>
                </a:solidFill>
                <a:effectLst/>
                <a:uFillTx/>
                <a:latin typeface="Calibri"/>
              </a:rPr>
              <a:t>Prompt du LLM</a:t>
            </a:r>
            <a:endParaRPr lang="en-US" sz="2200" b="0" u="none" strike="noStrike">
              <a:solidFill>
                <a:srgbClr val="FFFFFF"/>
              </a:solidFill>
              <a:effectLst/>
              <a:uFillTx/>
              <a:latin typeface="Arial"/>
            </a:endParaRPr>
          </a:p>
        </p:txBody>
      </p:sp>
      <p:sp>
        <p:nvSpPr>
          <p:cNvPr id="468" name="TextBox 14"/>
          <p:cNvSpPr/>
          <p:nvPr/>
        </p:nvSpPr>
        <p:spPr>
          <a:xfrm>
            <a:off x="9253800" y="2651760"/>
            <a:ext cx="36540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800" b="1" u="none" strike="noStrike">
                <a:solidFill>
                  <a:srgbClr val="FF6B35"/>
                </a:solidFill>
                <a:effectLst/>
                <a:uFillTx/>
                <a:latin typeface="Calibri"/>
              </a:rPr>
              <a:t>▶</a:t>
            </a:r>
            <a:endParaRPr lang="en-US" sz="2800" b="0" u="none" strike="noStrike">
              <a:solidFill>
                <a:srgbClr val="FFFFFF"/>
              </a:solidFill>
              <a:effectLst/>
              <a:uFillTx/>
              <a:latin typeface="Arial"/>
            </a:endParaRPr>
          </a:p>
        </p:txBody>
      </p:sp>
      <p:sp>
        <p:nvSpPr>
          <p:cNvPr id="469" name="Rounded Rectangle 15"/>
          <p:cNvSpPr/>
          <p:nvPr/>
        </p:nvSpPr>
        <p:spPr>
          <a:xfrm>
            <a:off x="9601200" y="2377440"/>
            <a:ext cx="1919880" cy="1096920"/>
          </a:xfrm>
          <a:prstGeom prst="roundRect">
            <a:avLst>
              <a:gd name="adj" fmla="val 16667"/>
            </a:avLst>
          </a:prstGeom>
          <a:solidFill>
            <a:srgbClr val="24243E"/>
          </a:solidFill>
          <a:ln w="3810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70" name="TextBox 16"/>
          <p:cNvSpPr/>
          <p:nvPr/>
        </p:nvSpPr>
        <p:spPr>
          <a:xfrm>
            <a:off x="9601200" y="2651760"/>
            <a:ext cx="191988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200" b="1" u="none" strike="noStrike">
                <a:solidFill>
                  <a:srgbClr val="00D4FF"/>
                </a:solidFill>
                <a:effectLst/>
                <a:uFillTx/>
                <a:latin typeface="Calibri"/>
              </a:rPr>
              <a:t>Réponse</a:t>
            </a:r>
            <a:endParaRPr lang="en-US" sz="2200" b="0" u="none" strike="noStrike">
              <a:solidFill>
                <a:srgbClr val="FFFFFF"/>
              </a:solidFill>
              <a:effectLst/>
              <a:uFillTx/>
              <a:latin typeface="Arial"/>
            </a:endParaRPr>
          </a:p>
        </p:txBody>
      </p:sp>
      <p:sp>
        <p:nvSpPr>
          <p:cNvPr id="471" name="Rectangle 17"/>
          <p:cNvSpPr/>
          <p:nvPr/>
        </p:nvSpPr>
        <p:spPr>
          <a:xfrm>
            <a:off x="2286000" y="2103120"/>
            <a:ext cx="54360" cy="164556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72" name="TextBox 18"/>
          <p:cNvSpPr/>
          <p:nvPr/>
        </p:nvSpPr>
        <p:spPr>
          <a:xfrm>
            <a:off x="731520" y="3840480"/>
            <a:ext cx="2742840" cy="4568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600" b="1" u="none" strike="noStrike">
                <a:solidFill>
                  <a:srgbClr val="FF6B35"/>
                </a:solidFill>
                <a:effectLst/>
                <a:uFillTx/>
                <a:latin typeface="Calibri"/>
              </a:rPr>
              <a:t>⚠ FRONTIÈRE DE CONFIANCE</a:t>
            </a:r>
            <a:endParaRPr lang="en-US" sz="1800" b="0" u="none" strike="noStrike">
              <a:solidFill>
                <a:srgbClr val="FFFFFF"/>
              </a:solidFill>
              <a:effectLst/>
              <a:uFillTx/>
              <a:latin typeface="Arial"/>
            </a:endParaRPr>
          </a:p>
        </p:txBody>
      </p:sp>
      <p:sp>
        <p:nvSpPr>
          <p:cNvPr id="473" name="TextBox 19"/>
          <p:cNvSpPr/>
          <p:nvPr/>
        </p:nvSpPr>
        <p:spPr>
          <a:xfrm>
            <a:off x="457200" y="4846320"/>
            <a:ext cx="11246760" cy="13712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600" b="1" u="none" strike="noStrike">
                <a:solidFill>
                  <a:srgbClr val="FFFFFF"/>
                </a:solidFill>
                <a:effectLst/>
                <a:uFillTx/>
                <a:latin typeface="Calibri"/>
              </a:rPr>
              <a:t>Si n'importe qui peut modifier ces fichiers .md, n'importe qui peut implanter</a:t>
            </a:r>
            <a:endParaRPr lang="en-US" sz="2600" b="0" u="none" strike="noStrike">
              <a:solidFill>
                <a:srgbClr val="FFFFFF"/>
              </a:solidFill>
              <a:effectLst/>
              <a:uFillTx/>
              <a:latin typeface="Arial"/>
            </a:endParaRPr>
          </a:p>
          <a:p>
            <a:pPr algn="ctr" defTabSz="457200">
              <a:lnSpc>
                <a:spcPct val="100000"/>
              </a:lnSpc>
            </a:pPr>
            <a:r>
              <a:rPr lang="en-US" sz="2600" b="1" u="none" strike="noStrike">
                <a:solidFill>
                  <a:srgbClr val="FFFFFF"/>
                </a:solidFill>
                <a:effectLst/>
                <a:uFillTx/>
                <a:latin typeface="Calibri"/>
              </a:rPr>
              <a:t>du contenu que l'IA citera comme faisant autorité.</a:t>
            </a:r>
            <a:endParaRPr lang="en-US" sz="2600" b="0" u="none" strike="noStrike">
              <a:solidFill>
                <a:srgbClr val="FFFFFF"/>
              </a:solidFill>
              <a:effectLst/>
              <a:uFillTx/>
              <a:latin typeface="Arial"/>
            </a:endParaRPr>
          </a:p>
        </p:txBody>
      </p:sp>
      <p:sp>
        <p:nvSpPr>
          <p:cNvPr id="474" name="TextBox 20"/>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Les bases de données pour les hackers</a:t>
            </a:r>
            <a:endParaRPr lang="en-US" sz="1400" b="0" u="none" strike="noStrike">
              <a:solidFill>
                <a:srgbClr val="FFFFFF"/>
              </a:solidFill>
              <a:effectLst/>
              <a:uFillTx/>
              <a:latin typeface="Arial"/>
            </a:endParaRPr>
          </a:p>
        </p:txBody>
      </p:sp>
      <p:sp>
        <p:nvSpPr>
          <p:cNvPr id="475" name="TextBox 21"/>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23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476" name="TextBox 1" descr="Takeaway slide: Treat markdown like a database — because to the LLM, it is. Apply access control, code review, and diff tracking." title="Takeaway slide: Treat markdown like a database — because to the LLM, it is. Appl"/>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00FF41"/>
                </a:solidFill>
                <a:effectLst/>
                <a:uFillTx/>
                <a:latin typeface="Calibri"/>
              </a:rPr>
              <a:t>À retenir</a:t>
            </a:r>
            <a:endParaRPr lang="en-US" sz="4200" b="0" u="none" strike="noStrike">
              <a:solidFill>
                <a:srgbClr val="FFFFFF"/>
              </a:solidFill>
              <a:effectLst/>
              <a:uFillTx/>
              <a:latin typeface="Arial"/>
            </a:endParaRPr>
          </a:p>
        </p:txBody>
      </p:sp>
      <p:sp>
        <p:nvSpPr>
          <p:cNvPr id="477"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478" name="TextBox 3"/>
          <p:cNvSpPr/>
          <p:nvPr/>
        </p:nvSpPr>
        <p:spPr>
          <a:xfrm>
            <a:off x="457200" y="2194560"/>
            <a:ext cx="11246760" cy="13712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200" b="1" u="none" strike="noStrike">
                <a:solidFill>
                  <a:srgbClr val="00FF41"/>
                </a:solidFill>
                <a:effectLst/>
                <a:uFillTx/>
                <a:latin typeface="Calibri"/>
              </a:rPr>
              <a:t>Traitez le markdown comme une base de données.</a:t>
            </a:r>
            <a:endParaRPr lang="en-US" sz="5400" b="0" u="none" strike="noStrike">
              <a:solidFill>
                <a:srgbClr val="FFFFFF"/>
              </a:solidFill>
              <a:effectLst/>
              <a:uFillTx/>
              <a:latin typeface="Arial"/>
            </a:endParaRPr>
          </a:p>
        </p:txBody>
      </p:sp>
      <p:sp>
        <p:nvSpPr>
          <p:cNvPr id="479" name="TextBox 4"/>
          <p:cNvSpPr/>
          <p:nvPr/>
        </p:nvSpPr>
        <p:spPr>
          <a:xfrm>
            <a:off x="457200" y="3383280"/>
            <a:ext cx="11246760" cy="9140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200" b="0" u="none" strike="noStrike">
                <a:solidFill>
                  <a:srgbClr val="FFFFFF"/>
                </a:solidFill>
                <a:effectLst/>
                <a:uFillTx/>
                <a:latin typeface="Calibri"/>
              </a:rPr>
              <a:t>Parce que pour le LLM, c'en est une.</a:t>
            </a:r>
            <a:endParaRPr lang="en-US" sz="4200" b="0" u="none" strike="noStrike">
              <a:solidFill>
                <a:srgbClr val="FFFFFF"/>
              </a:solidFill>
              <a:effectLst/>
              <a:uFillTx/>
              <a:latin typeface="Arial"/>
            </a:endParaRPr>
          </a:p>
        </p:txBody>
      </p:sp>
      <p:sp>
        <p:nvSpPr>
          <p:cNvPr id="480" name="TextBox 5"/>
          <p:cNvSpPr/>
          <p:nvPr/>
        </p:nvSpPr>
        <p:spPr>
          <a:xfrm>
            <a:off x="1828800" y="4572000"/>
            <a:ext cx="8503560" cy="182844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400" b="1" u="none" strike="noStrike">
                <a:solidFill>
                  <a:srgbClr val="00D4FF"/>
                </a:solidFill>
                <a:effectLst/>
                <a:uFillTx/>
                <a:latin typeface="Calibri"/>
              </a:rPr>
              <a:t>▶ </a:t>
            </a:r>
            <a:r>
              <a:rPr lang="en-US" sz="2400" b="0" u="none" strike="noStrike">
                <a:solidFill>
                  <a:srgbClr val="FFFFFF"/>
                </a:solidFill>
                <a:effectLst/>
                <a:uFillTx/>
                <a:latin typeface="Calibri"/>
              </a:rPr>
              <a:t>Contrôle d'accès sur le dossier de documentation.</a:t>
            </a:r>
            <a:endParaRPr lang="en-US" sz="2400" b="0" u="none" strike="noStrike">
              <a:solidFill>
                <a:srgbClr val="FFFFFF"/>
              </a:solidFill>
              <a:effectLst/>
              <a:uFillTx/>
              <a:latin typeface="Arial"/>
            </a:endParaRPr>
          </a:p>
          <a:p>
            <a:pPr defTabSz="457200">
              <a:lnSpc>
                <a:spcPct val="140000"/>
              </a:lnSpc>
            </a:pPr>
            <a:r>
              <a:rPr lang="en-US" sz="2400" b="1" u="none" strike="noStrike">
                <a:solidFill>
                  <a:srgbClr val="00D4FF"/>
                </a:solidFill>
                <a:effectLst/>
                <a:uFillTx/>
                <a:latin typeface="Calibri"/>
              </a:rPr>
              <a:t>▶ </a:t>
            </a:r>
            <a:r>
              <a:rPr lang="en-US" sz="2400" b="0" u="none" strike="noStrike">
                <a:solidFill>
                  <a:srgbClr val="FFFFFF"/>
                </a:solidFill>
                <a:effectLst/>
                <a:uFillTx/>
                <a:latin typeface="Calibri"/>
              </a:rPr>
              <a:t>Revue de code sur les modifications de fichiers .md.</a:t>
            </a:r>
            <a:endParaRPr lang="en-US" sz="2400" b="0" u="none" strike="noStrike">
              <a:solidFill>
                <a:srgbClr val="FFFFFF"/>
              </a:solidFill>
              <a:effectLst/>
              <a:uFillTx/>
              <a:latin typeface="Arial"/>
            </a:endParaRPr>
          </a:p>
          <a:p>
            <a:pPr defTabSz="457200">
              <a:lnSpc>
                <a:spcPct val="140000"/>
              </a:lnSpc>
            </a:pPr>
            <a:r>
              <a:rPr lang="en-US" sz="2400" b="1" u="none" strike="noStrike">
                <a:solidFill>
                  <a:srgbClr val="00D4FF"/>
                </a:solidFill>
                <a:effectLst/>
                <a:uFillTx/>
                <a:latin typeface="Calibri"/>
              </a:rPr>
              <a:t>▶ </a:t>
            </a:r>
            <a:r>
              <a:rPr lang="en-US" sz="2400" b="0" u="none" strike="noStrike">
                <a:solidFill>
                  <a:srgbClr val="FFFFFF"/>
                </a:solidFill>
                <a:effectLst/>
                <a:uFillTx/>
                <a:latin typeface="Calibri"/>
              </a:rPr>
              <a:t>Suivi des différences sur le wiki.</a:t>
            </a:r>
            <a:endParaRPr lang="en-US" sz="2400" b="0" u="none" strike="noStrike">
              <a:solidFill>
                <a:srgbClr val="FFFFFF"/>
              </a:solidFill>
              <a:effectLst/>
              <a:uFillTx/>
              <a:latin typeface="Arial"/>
            </a:endParaRPr>
          </a:p>
        </p:txBody>
      </p:sp>
      <p:sp>
        <p:nvSpPr>
          <p:cNvPr id="481" name="TextBox 6"/>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Les bases de données pour les hackers</a:t>
            </a:r>
            <a:endParaRPr lang="en-US" sz="1400" b="0" u="none" strike="noStrike">
              <a:solidFill>
                <a:srgbClr val="FFFFFF"/>
              </a:solidFill>
              <a:effectLst/>
              <a:uFillTx/>
              <a:latin typeface="Arial"/>
            </a:endParaRPr>
          </a:p>
        </p:txBody>
      </p:sp>
      <p:sp>
        <p:nvSpPr>
          <p:cNvPr id="482" name="TextBox 7"/>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24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483" name="TextBox 1" descr="Section divider: SECURITY. What's actually getting hit in 2026" title="Section divider: SECURITY. What's actually getting hit in 2026"/>
          <p:cNvSpPr/>
          <p:nvPr/>
        </p:nvSpPr>
        <p:spPr>
          <a:xfrm>
            <a:off x="457200" y="2560320"/>
            <a:ext cx="11246760" cy="164556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9600" b="1" u="none" strike="noStrike">
                <a:solidFill>
                  <a:srgbClr val="00FF41"/>
                </a:solidFill>
                <a:effectLst/>
                <a:uFillTx/>
                <a:latin typeface="Calibri"/>
              </a:rPr>
              <a:t>SÉCURITÉ</a:t>
            </a:r>
            <a:endParaRPr lang="en-US" sz="9600" b="0" u="none" strike="noStrike">
              <a:solidFill>
                <a:srgbClr val="FFFFFF"/>
              </a:solidFill>
              <a:effectLst/>
              <a:uFillTx/>
              <a:latin typeface="Arial"/>
            </a:endParaRPr>
          </a:p>
        </p:txBody>
      </p:sp>
      <p:sp>
        <p:nvSpPr>
          <p:cNvPr id="484" name="Rectangle 2"/>
          <p:cNvSpPr/>
          <p:nvPr/>
        </p:nvSpPr>
        <p:spPr>
          <a:xfrm>
            <a:off x="4724640" y="4297680"/>
            <a:ext cx="2742840" cy="9108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85" name="TextBox 3"/>
          <p:cNvSpPr/>
          <p:nvPr/>
        </p:nvSpPr>
        <p:spPr>
          <a:xfrm>
            <a:off x="457200" y="4572000"/>
            <a:ext cx="11246760" cy="57816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3200" b="0" u="none" strike="noStrike">
                <a:solidFill>
                  <a:srgbClr val="FFFFFF"/>
                </a:solidFill>
                <a:effectLst/>
                <a:uFillTx/>
                <a:latin typeface="Calibri"/>
              </a:rPr>
              <a:t>Ce qui est réellement attaqué en 2026*</a:t>
            </a:r>
            <a:endParaRPr lang="en-US" sz="3200" b="0" u="none" strike="noStrike">
              <a:solidFill>
                <a:srgbClr val="FFFFFF"/>
              </a:solidFill>
              <a:effectLst/>
              <a:uFillTx/>
              <a:latin typeface="Arial"/>
            </a:endParaRPr>
          </a:p>
        </p:txBody>
      </p:sp>
      <p:sp>
        <p:nvSpPr>
          <p:cNvPr id="486" name="TextBox 4"/>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Les bases de données pour les hackers</a:t>
            </a:r>
            <a:endParaRPr lang="en-US" sz="1400" b="0" u="none" strike="noStrike">
              <a:solidFill>
                <a:srgbClr val="FFFFFF"/>
              </a:solidFill>
              <a:effectLst/>
              <a:uFillTx/>
              <a:latin typeface="Arial"/>
            </a:endParaRPr>
          </a:p>
        </p:txBody>
      </p:sp>
      <p:sp>
        <p:nvSpPr>
          <p:cNvPr id="487" name="TextBox 5"/>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25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488" name="TextBox 1" descr="Reference to xkcd #327 'Exploits of a Mom' (Bobby Tables): a mother names her son Robert'); DROP TABLE Students;-- and the school's student table is dropped. URL: https://xkcd.com/327/" title="Reference to xkcd #327 'Exploits of a Mom' (Bobby Tables): a mother names her so"/>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800" b="1" u="none" strike="noStrike">
                <a:solidFill>
                  <a:srgbClr val="00FF41"/>
                </a:solidFill>
                <a:effectLst/>
                <a:uFillTx/>
                <a:latin typeface="Calibri"/>
              </a:rPr>
              <a:t>xkcd #327 — Bobby Tables</a:t>
            </a:r>
            <a:endParaRPr lang="en-US" sz="3800" b="0" u="none" strike="noStrike">
              <a:solidFill>
                <a:srgbClr val="FFFFFF"/>
              </a:solidFill>
              <a:effectLst/>
              <a:uFillTx/>
              <a:latin typeface="Arial"/>
            </a:endParaRPr>
          </a:p>
        </p:txBody>
      </p:sp>
      <p:sp>
        <p:nvSpPr>
          <p:cNvPr id="489"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490" name="Rectangle 3"/>
          <p:cNvSpPr/>
          <p:nvPr/>
        </p:nvSpPr>
        <p:spPr>
          <a:xfrm>
            <a:off x="457200" y="1737360"/>
            <a:ext cx="11246760" cy="3200040"/>
          </a:xfrm>
          <a:prstGeom prst="rect">
            <a:avLst/>
          </a:prstGeom>
          <a:solidFill>
            <a:srgbClr val="24243E"/>
          </a:solidFill>
          <a:ln w="2540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91" name="TextBox 4"/>
          <p:cNvSpPr/>
          <p:nvPr/>
        </p:nvSpPr>
        <p:spPr>
          <a:xfrm>
            <a:off x="731520" y="1920240"/>
            <a:ext cx="1069812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École :  « Bonjour, ici l'école de votre fils. Nous avons</a:t>
            </a:r>
            <a:endParaRPr lang="en-US" sz="2400" b="0" u="none" strike="noStrike">
              <a:solidFill>
                <a:srgbClr val="FFFFFF"/>
              </a:solidFill>
              <a:effectLst/>
              <a:uFillTx/>
              <a:latin typeface="Arial"/>
            </a:endParaRPr>
          </a:p>
        </p:txBody>
      </p:sp>
      <p:sp>
        <p:nvSpPr>
          <p:cNvPr id="492" name="TextBox 5"/>
          <p:cNvSpPr/>
          <p:nvPr/>
        </p:nvSpPr>
        <p:spPr>
          <a:xfrm>
            <a:off x="731520" y="2514600"/>
            <a:ext cx="1069812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         quelques problèmes informatiques. »</a:t>
            </a:r>
            <a:endParaRPr lang="en-US" sz="2400" b="0" u="none" strike="noStrike">
              <a:solidFill>
                <a:srgbClr val="FFFFFF"/>
              </a:solidFill>
              <a:effectLst/>
              <a:uFillTx/>
              <a:latin typeface="Arial"/>
            </a:endParaRPr>
          </a:p>
        </p:txBody>
      </p:sp>
      <p:sp>
        <p:nvSpPr>
          <p:cNvPr id="493" name="TextBox 6"/>
          <p:cNvSpPr/>
          <p:nvPr/>
        </p:nvSpPr>
        <p:spPr>
          <a:xfrm>
            <a:off x="731520" y="3154680"/>
            <a:ext cx="1069812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Maman :   « Oh là là — a-t-il cassé quelque chose ? »</a:t>
            </a:r>
            <a:endParaRPr lang="en-US" sz="2400" b="0" u="none" strike="noStrike">
              <a:solidFill>
                <a:srgbClr val="FFFFFF"/>
              </a:solidFill>
              <a:effectLst/>
              <a:uFillTx/>
              <a:latin typeface="Arial"/>
            </a:endParaRPr>
          </a:p>
        </p:txBody>
      </p:sp>
      <p:sp>
        <p:nvSpPr>
          <p:cNvPr id="494" name="TextBox 7"/>
          <p:cNvSpPr/>
          <p:nvPr/>
        </p:nvSpPr>
        <p:spPr>
          <a:xfrm>
            <a:off x="731520" y="3794760"/>
            <a:ext cx="1069812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00FF41"/>
                </a:solidFill>
                <a:effectLst/>
                <a:uFillTx/>
                <a:latin typeface="Calibri"/>
              </a:rPr>
              <a:t>École :  « Avez-vous vraiment appelé votre fils  Robert');</a:t>
            </a:r>
            <a:endParaRPr lang="en-US" sz="2400" b="0" u="none" strike="noStrike">
              <a:solidFill>
                <a:srgbClr val="FFFFFF"/>
              </a:solidFill>
              <a:effectLst/>
              <a:uFillTx/>
              <a:latin typeface="Arial"/>
            </a:endParaRPr>
          </a:p>
        </p:txBody>
      </p:sp>
      <p:sp>
        <p:nvSpPr>
          <p:cNvPr id="495" name="TextBox 8"/>
          <p:cNvSpPr/>
          <p:nvPr/>
        </p:nvSpPr>
        <p:spPr>
          <a:xfrm>
            <a:off x="731520" y="4297680"/>
            <a:ext cx="1069812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1" u="none" strike="noStrike">
                <a:solidFill>
                  <a:srgbClr val="FF6B35"/>
                </a:solidFill>
                <a:effectLst/>
                <a:uFillTx/>
                <a:latin typeface="Calibri"/>
              </a:rPr>
              <a:t>         DROP TABLE Students;--  ? »</a:t>
            </a:r>
            <a:endParaRPr lang="en-US" sz="2400" b="0" u="none" strike="noStrike">
              <a:solidFill>
                <a:srgbClr val="FFFFFF"/>
              </a:solidFill>
              <a:effectLst/>
              <a:uFillTx/>
              <a:latin typeface="Arial"/>
            </a:endParaRPr>
          </a:p>
        </p:txBody>
      </p:sp>
      <p:sp>
        <p:nvSpPr>
          <p:cNvPr id="496" name="TextBox 9"/>
          <p:cNvSpPr/>
          <p:nvPr/>
        </p:nvSpPr>
        <p:spPr>
          <a:xfrm>
            <a:off x="457200" y="5212080"/>
            <a:ext cx="11246760" cy="54828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800" b="1" u="none" strike="noStrike">
                <a:solidFill>
                  <a:srgbClr val="00D4FF"/>
                </a:solidFill>
                <a:effectLst/>
                <a:uFillTx/>
                <a:latin typeface="Calibri"/>
              </a:rPr>
              <a:t>https://xkcd.com/327/</a:t>
            </a:r>
            <a:endParaRPr lang="en-US" sz="2800" b="0" u="none" strike="noStrike">
              <a:solidFill>
                <a:srgbClr val="FFFFFF"/>
              </a:solidFill>
              <a:effectLst/>
              <a:uFillTx/>
              <a:latin typeface="Arial"/>
            </a:endParaRPr>
          </a:p>
        </p:txBody>
      </p:sp>
      <p:sp>
        <p:nvSpPr>
          <p:cNvPr id="497" name="TextBox 10"/>
          <p:cNvSpPr/>
          <p:nvPr/>
        </p:nvSpPr>
        <p:spPr>
          <a:xfrm>
            <a:off x="457200" y="5760720"/>
            <a:ext cx="11246760" cy="4568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200" b="0" u="none" strike="noStrike">
                <a:solidFill>
                  <a:srgbClr val="CCCCD6"/>
                </a:solidFill>
                <a:effectLst/>
                <a:uFillTx/>
                <a:latin typeface="Calibri"/>
              </a:rPr>
              <a:t>Le mécanisme : la concaténation de chaînes dans les requêtes.</a:t>
            </a:r>
            <a:endParaRPr lang="en-US" sz="2200" b="0" u="none" strike="noStrike">
              <a:solidFill>
                <a:srgbClr val="FFFFFF"/>
              </a:solidFill>
              <a:effectLst/>
              <a:uFillTx/>
              <a:latin typeface="Arial"/>
            </a:endParaRPr>
          </a:p>
        </p:txBody>
      </p:sp>
      <p:sp>
        <p:nvSpPr>
          <p:cNvPr id="498" name="TextBox 11"/>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Les bases de données pour les hackers</a:t>
            </a:r>
            <a:endParaRPr lang="en-US" sz="1400" b="0" u="none" strike="noStrike">
              <a:solidFill>
                <a:srgbClr val="FFFFFF"/>
              </a:solidFill>
              <a:effectLst/>
              <a:uFillTx/>
              <a:latin typeface="Arial"/>
            </a:endParaRPr>
          </a:p>
        </p:txBody>
      </p:sp>
      <p:sp>
        <p:nvSpPr>
          <p:cNvPr id="499" name="TextBox 12"/>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26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00" name="TextBox 1" descr="Statement slide: The database attack surface has expanded, not shrunk. SQL injection is largely fixed; eleven newer categories now dominate." title="Statement slide: The database attack surface has expanded, not shrunk. SQL injec"/>
          <p:cNvSpPr/>
          <p:nvPr/>
        </p:nvSpPr>
        <p:spPr>
          <a:xfrm>
            <a:off x="457200" y="2286000"/>
            <a:ext cx="11246760" cy="13712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5400" b="0" u="none" strike="noStrike">
                <a:solidFill>
                  <a:srgbClr val="FFFFFF"/>
                </a:solidFill>
                <a:effectLst/>
                <a:uFillTx/>
                <a:latin typeface="Calibri"/>
              </a:rPr>
              <a:t>La surface d'attaque s'est</a:t>
            </a:r>
            <a:endParaRPr lang="en-US" sz="5400" b="0" u="none" strike="noStrike">
              <a:solidFill>
                <a:srgbClr val="FFFFFF"/>
              </a:solidFill>
              <a:effectLst/>
              <a:uFillTx/>
              <a:latin typeface="Arial"/>
            </a:endParaRPr>
          </a:p>
        </p:txBody>
      </p:sp>
      <p:sp>
        <p:nvSpPr>
          <p:cNvPr id="501" name="TextBox 2"/>
          <p:cNvSpPr/>
          <p:nvPr/>
        </p:nvSpPr>
        <p:spPr>
          <a:xfrm>
            <a:off x="457200" y="3200400"/>
            <a:ext cx="11246760" cy="13712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7200" b="1" u="none" strike="noStrike">
                <a:solidFill>
                  <a:srgbClr val="FF6B35"/>
                </a:solidFill>
                <a:effectLst/>
                <a:uFillTx/>
                <a:latin typeface="Calibri"/>
              </a:rPr>
              <a:t>ÉLARGIE, pas réduite.</a:t>
            </a:r>
            <a:endParaRPr lang="en-US" sz="7200" b="0" u="none" strike="noStrike">
              <a:solidFill>
                <a:srgbClr val="FFFFFF"/>
              </a:solidFill>
              <a:effectLst/>
              <a:uFillTx/>
              <a:latin typeface="Arial"/>
            </a:endParaRPr>
          </a:p>
        </p:txBody>
      </p:sp>
      <p:sp>
        <p:nvSpPr>
          <p:cNvPr id="502" name="TextBox 3"/>
          <p:cNvSpPr/>
          <p:nvPr/>
        </p:nvSpPr>
        <p:spPr>
          <a:xfrm>
            <a:off x="457200" y="4846320"/>
            <a:ext cx="11246760" cy="54828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500" b="0" u="none" strike="noStrike">
                <a:solidFill>
                  <a:srgbClr val="00D4FF"/>
                </a:solidFill>
                <a:effectLst/>
                <a:uFillTx/>
                <a:latin typeface="Calibri"/>
              </a:rPr>
              <a:t>L'injection SQL a été corrigée. Onze nouvelles catégories ont pris sa place.</a:t>
            </a:r>
            <a:endParaRPr lang="en-US" sz="2600" b="0" u="none" strike="noStrike">
              <a:solidFill>
                <a:srgbClr val="FFFFFF"/>
              </a:solidFill>
              <a:effectLst/>
              <a:uFillTx/>
              <a:latin typeface="Arial"/>
            </a:endParaRPr>
          </a:p>
        </p:txBody>
      </p:sp>
      <p:sp>
        <p:nvSpPr>
          <p:cNvPr id="503" name="TextBox 4"/>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Les bases de données pour les hackers</a:t>
            </a:r>
            <a:endParaRPr lang="en-US" sz="1400" b="0" u="none" strike="noStrike">
              <a:solidFill>
                <a:srgbClr val="FFFFFF"/>
              </a:solidFill>
              <a:effectLst/>
              <a:uFillTx/>
              <a:latin typeface="Arial"/>
            </a:endParaRPr>
          </a:p>
        </p:txBody>
      </p:sp>
      <p:sp>
        <p:nvSpPr>
          <p:cNvPr id="504" name="TextBox 5"/>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27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05" name="TextBox 1" descr="Attack category: NoSQL Injection. MongoDB JSON queries + raw user input = SQLi reborn. Key points: Login bypass: { username: 'alice', password: { $ne: 'x' } } | $where lets you inject JavaScript straight into the DB. | Couchbase N1QL is SQL-flavored — classic SQLi patterns apply. | Principle: ANY interpreter can be injected, not just SQL." title="Attack category: NoSQL Injection. MongoDB JSON queries + raw user input = SQLi r"/>
          <p:cNvSpPr/>
          <p:nvPr/>
        </p:nvSpPr>
        <p:spPr>
          <a:xfrm>
            <a:off x="457200" y="365760"/>
            <a:ext cx="731160" cy="9140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5400" b="0" u="none" strike="noStrike">
                <a:solidFill>
                  <a:srgbClr val="FF6B35"/>
                </a:solidFill>
                <a:effectLst/>
                <a:uFillTx/>
                <a:latin typeface="Calibri"/>
              </a:rPr>
              <a:t>⚠</a:t>
            </a:r>
            <a:endParaRPr lang="en-US" sz="5400" b="0" u="none" strike="noStrike">
              <a:solidFill>
                <a:srgbClr val="FFFFFF"/>
              </a:solidFill>
              <a:effectLst/>
              <a:uFillTx/>
              <a:latin typeface="Arial"/>
            </a:endParaRPr>
          </a:p>
        </p:txBody>
      </p:sp>
      <p:sp>
        <p:nvSpPr>
          <p:cNvPr id="506" name="TextBox 2"/>
          <p:cNvSpPr/>
          <p:nvPr/>
        </p:nvSpPr>
        <p:spPr>
          <a:xfrm>
            <a:off x="1280160" y="411480"/>
            <a:ext cx="1042380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FF6B35"/>
                </a:solidFill>
                <a:effectLst/>
                <a:uFillTx/>
                <a:latin typeface="Calibri"/>
              </a:rPr>
              <a:t>Injection NoSQL</a:t>
            </a:r>
            <a:endParaRPr lang="en-US" sz="4200" b="0" u="none" strike="noStrike">
              <a:solidFill>
                <a:srgbClr val="FFFFFF"/>
              </a:solidFill>
              <a:effectLst/>
              <a:uFillTx/>
              <a:latin typeface="Arial"/>
            </a:endParaRPr>
          </a:p>
        </p:txBody>
      </p:sp>
      <p:sp>
        <p:nvSpPr>
          <p:cNvPr id="507" name="Rectangle 3"/>
          <p:cNvSpPr/>
          <p:nvPr/>
        </p:nvSpPr>
        <p:spPr>
          <a:xfrm>
            <a:off x="457200" y="1417320"/>
            <a:ext cx="1828440" cy="5436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08" name="TextBox 4"/>
          <p:cNvSpPr/>
          <p:nvPr/>
        </p:nvSpPr>
        <p:spPr>
          <a:xfrm>
            <a:off x="457200" y="1600200"/>
            <a:ext cx="11246760" cy="8226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00D4FF"/>
                </a:solidFill>
                <a:effectLst/>
                <a:uFillTx/>
                <a:latin typeface="Calibri"/>
              </a:rPr>
              <a:t>Requêtes JSON MongoDB + entrée utilisateur brute = la renaissance du SQLi.</a:t>
            </a:r>
            <a:endParaRPr lang="en-US" sz="2400" b="0" u="none" strike="noStrike">
              <a:solidFill>
                <a:srgbClr val="FFFFFF"/>
              </a:solidFill>
              <a:effectLst/>
              <a:uFillTx/>
              <a:latin typeface="Arial"/>
            </a:endParaRPr>
          </a:p>
        </p:txBody>
      </p:sp>
      <p:sp>
        <p:nvSpPr>
          <p:cNvPr id="509" name="TextBox 5"/>
          <p:cNvSpPr/>
          <p:nvPr/>
        </p:nvSpPr>
        <p:spPr>
          <a:xfrm>
            <a:off x="640080" y="2606040"/>
            <a:ext cx="10972440" cy="329148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150" b="1" u="none" strike="noStrike">
                <a:solidFill>
                  <a:srgbClr val="00D4FF"/>
                </a:solidFill>
                <a:effectLst/>
                <a:uFillTx/>
                <a:latin typeface="Calibri"/>
              </a:rPr>
              <a:t>● </a:t>
            </a:r>
            <a:r>
              <a:rPr lang="en-US" sz="2150" b="0" u="none" strike="noStrike">
                <a:solidFill>
                  <a:srgbClr val="FFFFFF"/>
                </a:solidFill>
                <a:effectLst/>
                <a:uFillTx/>
                <a:latin typeface="Calibri"/>
              </a:rPr>
              <a:t>Contournement d'authentification : { username: 'alice', password: { $ne: 'x' } }</a:t>
            </a:r>
            <a:endParaRPr lang="en-US" sz="2300" b="0" u="none" strike="noStrike">
              <a:solidFill>
                <a:srgbClr val="FFFFFF"/>
              </a:solidFill>
              <a:effectLst/>
              <a:uFillTx/>
              <a:latin typeface="Arial"/>
            </a:endParaRPr>
          </a:p>
          <a:p>
            <a:pPr defTabSz="457200">
              <a:lnSpc>
                <a:spcPct val="140000"/>
              </a:lnSpc>
            </a:pPr>
            <a:r>
              <a:rPr lang="en-US" sz="2150" b="1" u="none" strike="noStrike">
                <a:solidFill>
                  <a:srgbClr val="00D4FF"/>
                </a:solidFill>
                <a:effectLst/>
                <a:uFillTx/>
                <a:latin typeface="Calibri"/>
              </a:rPr>
              <a:t>● </a:t>
            </a:r>
            <a:r>
              <a:rPr lang="en-US" sz="2150" b="0" u="none" strike="noStrike">
                <a:solidFill>
                  <a:srgbClr val="FFFFFF"/>
                </a:solidFill>
                <a:effectLst/>
                <a:uFillTx/>
                <a:latin typeface="Calibri"/>
              </a:rPr>
              <a:t>$where vous permet d'injecter du JavaScript directement dans la BD.</a:t>
            </a:r>
            <a:endParaRPr lang="en-US" sz="2300" b="0" u="none" strike="noStrike">
              <a:solidFill>
                <a:srgbClr val="FFFFFF"/>
              </a:solidFill>
              <a:effectLst/>
              <a:uFillTx/>
              <a:latin typeface="Arial"/>
            </a:endParaRPr>
          </a:p>
          <a:p>
            <a:pPr defTabSz="457200">
              <a:lnSpc>
                <a:spcPct val="140000"/>
              </a:lnSpc>
            </a:pPr>
            <a:r>
              <a:rPr lang="en-US" sz="2150" b="1" u="none" strike="noStrike">
                <a:solidFill>
                  <a:srgbClr val="00D4FF"/>
                </a:solidFill>
                <a:effectLst/>
                <a:uFillTx/>
                <a:latin typeface="Calibri"/>
              </a:rPr>
              <a:t>● </a:t>
            </a:r>
            <a:r>
              <a:rPr lang="en-US" sz="2150" b="0" u="none" strike="noStrike">
                <a:solidFill>
                  <a:srgbClr val="FFFFFF"/>
                </a:solidFill>
                <a:effectLst/>
                <a:uFillTx/>
                <a:latin typeface="Calibri"/>
              </a:rPr>
              <a:t>Couchbase N1QL est de type SQL — les schémas classiques de SQLi s'appliquent.</a:t>
            </a:r>
            <a:endParaRPr lang="en-US" sz="2300" b="0" u="none" strike="noStrike">
              <a:solidFill>
                <a:srgbClr val="FFFFFF"/>
              </a:solidFill>
              <a:effectLst/>
              <a:uFillTx/>
              <a:latin typeface="Arial"/>
            </a:endParaRPr>
          </a:p>
          <a:p>
            <a:pPr defTabSz="457200">
              <a:lnSpc>
                <a:spcPct val="140000"/>
              </a:lnSpc>
            </a:pPr>
            <a:r>
              <a:rPr lang="en-US" sz="2150" b="1" u="none" strike="noStrike">
                <a:solidFill>
                  <a:srgbClr val="00D4FF"/>
                </a:solidFill>
                <a:effectLst/>
                <a:uFillTx/>
                <a:latin typeface="Calibri"/>
              </a:rPr>
              <a:t>● </a:t>
            </a:r>
            <a:r>
              <a:rPr lang="en-US" sz="2150" b="0" u="none" strike="noStrike">
                <a:solidFill>
                  <a:srgbClr val="FFFFFF"/>
                </a:solidFill>
                <a:effectLst/>
                <a:uFillTx/>
                <a:latin typeface="Calibri"/>
              </a:rPr>
              <a:t>Principe : N'IMPORTE QUEL interpréteur peut être injecté, pas seulement SQL.</a:t>
            </a:r>
            <a:endParaRPr lang="en-US" sz="2300" b="0" u="none" strike="noStrike">
              <a:solidFill>
                <a:srgbClr val="FFFFFF"/>
              </a:solidFill>
              <a:effectLst/>
              <a:uFillTx/>
              <a:latin typeface="Arial"/>
            </a:endParaRPr>
          </a:p>
        </p:txBody>
      </p:sp>
      <p:sp>
        <p:nvSpPr>
          <p:cNvPr id="510" name="TextBox 6"/>
          <p:cNvSpPr/>
          <p:nvPr/>
        </p:nvSpPr>
        <p:spPr>
          <a:xfrm>
            <a:off x="457200" y="5989320"/>
            <a:ext cx="11246760" cy="3654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600" b="0" u="none" strike="noStrike">
                <a:solidFill>
                  <a:srgbClr val="CCCCD6"/>
                </a:solidFill>
                <a:effectLst/>
                <a:uFillTx/>
                <a:latin typeface="Calibri"/>
              </a:rPr>
              <a:t>OWASP Top 10 2025 : « Requêtes dynamiques... utilisées directement dans l'interpréteur. »</a:t>
            </a:r>
            <a:endParaRPr lang="en-US" sz="1600" b="0" u="none" strike="noStrike">
              <a:solidFill>
                <a:srgbClr val="FFFFFF"/>
              </a:solidFill>
              <a:effectLst/>
              <a:uFillTx/>
              <a:latin typeface="Arial"/>
            </a:endParaRPr>
          </a:p>
        </p:txBody>
      </p:sp>
      <p:sp>
        <p:nvSpPr>
          <p:cNvPr id="511" name="TextBox 7"/>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Les bases de données pour les hackers</a:t>
            </a:r>
            <a:endParaRPr lang="en-US" sz="1400" b="0" u="none" strike="noStrike">
              <a:solidFill>
                <a:srgbClr val="FFFFFF"/>
              </a:solidFill>
              <a:effectLst/>
              <a:uFillTx/>
              <a:latin typeface="Arial"/>
            </a:endParaRPr>
          </a:p>
        </p:txBody>
      </p:sp>
      <p:sp>
        <p:nvSpPr>
          <p:cNvPr id="512" name="TextBox 8"/>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28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13" name="TextBox 1" descr="Attack category: Exposed &amp; Misconfigured Databases. Shodan and Censys are full of databases that should not be there. Key points: MongoDB bound to 0.0.0.0 with no auth. | Elasticsearch clusters wide open. Redis with no password. | Postgres pg_hba.conf set to 'host all all 0.0.0.0/0 trust'. | Meow attacks (2020): bots wiped thousands of open DBs for fun." title="Attack category: Exposed &amp; Misconfigured Databases. Shodan and Censys are full o"/>
          <p:cNvSpPr/>
          <p:nvPr/>
        </p:nvSpPr>
        <p:spPr>
          <a:xfrm>
            <a:off x="457200" y="365760"/>
            <a:ext cx="731160" cy="9140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5400" b="0" u="none" strike="noStrike">
                <a:solidFill>
                  <a:srgbClr val="FF6B35"/>
                </a:solidFill>
                <a:effectLst/>
                <a:uFillTx/>
                <a:latin typeface="Calibri"/>
              </a:rPr>
              <a:t>⚠</a:t>
            </a:r>
            <a:endParaRPr lang="en-US" sz="5400" b="0" u="none" strike="noStrike">
              <a:solidFill>
                <a:srgbClr val="FFFFFF"/>
              </a:solidFill>
              <a:effectLst/>
              <a:uFillTx/>
              <a:latin typeface="Arial"/>
            </a:endParaRPr>
          </a:p>
        </p:txBody>
      </p:sp>
      <p:sp>
        <p:nvSpPr>
          <p:cNvPr id="514" name="TextBox 2"/>
          <p:cNvSpPr/>
          <p:nvPr/>
        </p:nvSpPr>
        <p:spPr>
          <a:xfrm>
            <a:off x="1280160" y="411480"/>
            <a:ext cx="1042380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FF6B35"/>
                </a:solidFill>
                <a:effectLst/>
                <a:uFillTx/>
                <a:latin typeface="Calibri"/>
              </a:rPr>
              <a:t>Bases de données exposées et mal configurées</a:t>
            </a:r>
            <a:endParaRPr lang="en-US" sz="4200" b="0" u="none" strike="noStrike">
              <a:solidFill>
                <a:srgbClr val="FFFFFF"/>
              </a:solidFill>
              <a:effectLst/>
              <a:uFillTx/>
              <a:latin typeface="Arial"/>
            </a:endParaRPr>
          </a:p>
        </p:txBody>
      </p:sp>
      <p:sp>
        <p:nvSpPr>
          <p:cNvPr id="515" name="Rectangle 3"/>
          <p:cNvSpPr/>
          <p:nvPr/>
        </p:nvSpPr>
        <p:spPr>
          <a:xfrm>
            <a:off x="457200" y="1417320"/>
            <a:ext cx="1828440" cy="5436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16" name="TextBox 4"/>
          <p:cNvSpPr/>
          <p:nvPr/>
        </p:nvSpPr>
        <p:spPr>
          <a:xfrm>
            <a:off x="457200" y="1600200"/>
            <a:ext cx="11246760" cy="8226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00D4FF"/>
                </a:solidFill>
                <a:effectLst/>
                <a:uFillTx/>
                <a:latin typeface="Calibri"/>
              </a:rPr>
              <a:t>Shodan et Censys regorgent de bases de données qui ne devraient pas s'y trouver.</a:t>
            </a:r>
            <a:endParaRPr lang="en-US" sz="2400" b="0" u="none" strike="noStrike">
              <a:solidFill>
                <a:srgbClr val="FFFFFF"/>
              </a:solidFill>
              <a:effectLst/>
              <a:uFillTx/>
              <a:latin typeface="Arial"/>
            </a:endParaRPr>
          </a:p>
        </p:txBody>
      </p:sp>
      <p:sp>
        <p:nvSpPr>
          <p:cNvPr id="517" name="TextBox 5"/>
          <p:cNvSpPr/>
          <p:nvPr/>
        </p:nvSpPr>
        <p:spPr>
          <a:xfrm>
            <a:off x="640080" y="2606040"/>
            <a:ext cx="10972440" cy="329148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MongoDB lié à 0.0.0.0 sans authentification.</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Clusters Elasticsearch grands ouverts. Redis sans mot de passe.</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pg_hba.conf de Postgres réglé sur « host all all 0.0.0.0/0 trust ».</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Attaques Meow (2020) : des bots ont effacé des milliers de BD ouvertes pour le plaisir.</a:t>
            </a:r>
            <a:endParaRPr lang="en-US" sz="2300" b="0" u="none" strike="noStrike">
              <a:solidFill>
                <a:srgbClr val="FFFFFF"/>
              </a:solidFill>
              <a:effectLst/>
              <a:uFillTx/>
              <a:latin typeface="Arial"/>
            </a:endParaRPr>
          </a:p>
        </p:txBody>
      </p:sp>
      <p:sp>
        <p:nvSpPr>
          <p:cNvPr id="518" name="TextBox 6"/>
          <p:cNvSpPr/>
          <p:nvPr/>
        </p:nvSpPr>
        <p:spPr>
          <a:xfrm>
            <a:off x="457200" y="5989320"/>
            <a:ext cx="11246760" cy="3654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600" b="0" u="none" strike="noStrike">
                <a:solidFill>
                  <a:srgbClr val="CCCCD6"/>
                </a:solidFill>
                <a:effectLst/>
                <a:uFillTx/>
                <a:latin typeface="Calibri"/>
              </a:rPr>
              <a:t>Action à mener : trouvez ce que votre organisation a lié à des interfaces publiques. Aujourd'hui.</a:t>
            </a:r>
            <a:endParaRPr lang="en-US" sz="1600" b="0" u="none" strike="noStrike">
              <a:solidFill>
                <a:srgbClr val="FFFFFF"/>
              </a:solidFill>
              <a:effectLst/>
              <a:uFillTx/>
              <a:latin typeface="Arial"/>
            </a:endParaRPr>
          </a:p>
        </p:txBody>
      </p:sp>
      <p:sp>
        <p:nvSpPr>
          <p:cNvPr id="519" name="TextBox 7"/>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Les bases de données pour les hackers</a:t>
            </a:r>
            <a:endParaRPr lang="en-US" sz="1400" b="0" u="none" strike="noStrike">
              <a:solidFill>
                <a:srgbClr val="FFFFFF"/>
              </a:solidFill>
              <a:effectLst/>
              <a:uFillTx/>
              <a:latin typeface="Arial"/>
            </a:endParaRPr>
          </a:p>
        </p:txBody>
      </p:sp>
      <p:sp>
        <p:nvSpPr>
          <p:cNvPr id="520" name="TextBox 8"/>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29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21" name="TextBox 1" descr="Attack category: Cloud Misconfigurations. In cloud, the bug is rarely the engine. It's the policy around it. Key points: Public S3 buckets containing DB dumps (Capital One pattern). | RDS snapshots marked public during a 2 a.m. debug session. | Lambda with s3:* on * because it 'worked the first time'. | Security groups: 0.0.0.0/0 on port 5432." title="Attack category: Cloud Misconfigurations. In cloud, the bug is rarely the engine"/>
          <p:cNvSpPr/>
          <p:nvPr/>
        </p:nvSpPr>
        <p:spPr>
          <a:xfrm>
            <a:off x="457200" y="365760"/>
            <a:ext cx="731160" cy="9140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5400" b="0" u="none" strike="noStrike">
                <a:solidFill>
                  <a:srgbClr val="FF6B35"/>
                </a:solidFill>
                <a:effectLst/>
                <a:uFillTx/>
                <a:latin typeface="Calibri"/>
              </a:rPr>
              <a:t>⚠</a:t>
            </a:r>
            <a:endParaRPr lang="en-US" sz="5400" b="0" u="none" strike="noStrike">
              <a:solidFill>
                <a:srgbClr val="FFFFFF"/>
              </a:solidFill>
              <a:effectLst/>
              <a:uFillTx/>
              <a:latin typeface="Arial"/>
            </a:endParaRPr>
          </a:p>
        </p:txBody>
      </p:sp>
      <p:sp>
        <p:nvSpPr>
          <p:cNvPr id="522" name="TextBox 2"/>
          <p:cNvSpPr/>
          <p:nvPr/>
        </p:nvSpPr>
        <p:spPr>
          <a:xfrm>
            <a:off x="1280160" y="411480"/>
            <a:ext cx="1042380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FF6B35"/>
                </a:solidFill>
                <a:effectLst/>
                <a:uFillTx/>
                <a:latin typeface="Calibri"/>
              </a:rPr>
              <a:t>Mauvaises configurations cloud</a:t>
            </a:r>
            <a:endParaRPr lang="en-US" sz="4200" b="0" u="none" strike="noStrike">
              <a:solidFill>
                <a:srgbClr val="FFFFFF"/>
              </a:solidFill>
              <a:effectLst/>
              <a:uFillTx/>
              <a:latin typeface="Arial"/>
            </a:endParaRPr>
          </a:p>
        </p:txBody>
      </p:sp>
      <p:sp>
        <p:nvSpPr>
          <p:cNvPr id="523" name="Rectangle 3"/>
          <p:cNvSpPr/>
          <p:nvPr/>
        </p:nvSpPr>
        <p:spPr>
          <a:xfrm>
            <a:off x="457200" y="1417320"/>
            <a:ext cx="1828440" cy="5436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24" name="TextBox 4"/>
          <p:cNvSpPr/>
          <p:nvPr/>
        </p:nvSpPr>
        <p:spPr>
          <a:xfrm>
            <a:off x="457200" y="1600200"/>
            <a:ext cx="11246760" cy="8226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00D4FF"/>
                </a:solidFill>
                <a:effectLst/>
                <a:uFillTx/>
                <a:latin typeface="Calibri"/>
              </a:rPr>
              <a:t>Dans le cloud, le bogue est rarement le moteur. C'est la politique qui l'entoure.</a:t>
            </a:r>
            <a:endParaRPr lang="en-US" sz="2400" b="0" u="none" strike="noStrike">
              <a:solidFill>
                <a:srgbClr val="FFFFFF"/>
              </a:solidFill>
              <a:effectLst/>
              <a:uFillTx/>
              <a:latin typeface="Arial"/>
            </a:endParaRPr>
          </a:p>
        </p:txBody>
      </p:sp>
      <p:sp>
        <p:nvSpPr>
          <p:cNvPr id="525" name="TextBox 5"/>
          <p:cNvSpPr/>
          <p:nvPr/>
        </p:nvSpPr>
        <p:spPr>
          <a:xfrm>
            <a:off x="640080" y="2606040"/>
            <a:ext cx="10972440" cy="329148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Buckets S3 publics remplis de dumps de BD (Accenture, Verizon, etc.).</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Capital One 2019 : une SSRF a trompé un WAF pour qu'il divulgue ses identifiants IAM → S3.</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Lambda avec s3:* sur * parce que « ça a marché du premier coup ».</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Groupes de sécurité : 0.0.0.0/0 sur le port 5432.</a:t>
            </a:r>
            <a:endParaRPr lang="en-US" sz="2300" b="0" u="none" strike="noStrike">
              <a:solidFill>
                <a:srgbClr val="FFFFFF"/>
              </a:solidFill>
              <a:effectLst/>
              <a:uFillTx/>
              <a:latin typeface="Arial"/>
            </a:endParaRPr>
          </a:p>
        </p:txBody>
      </p:sp>
      <p:sp>
        <p:nvSpPr>
          <p:cNvPr id="526" name="TextBox 6"/>
          <p:cNvSpPr/>
          <p:nvPr/>
        </p:nvSpPr>
        <p:spPr>
          <a:xfrm>
            <a:off x="457200" y="5989320"/>
            <a:ext cx="11246760" cy="3654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600" b="0" u="none" strike="noStrike">
                <a:solidFill>
                  <a:srgbClr val="CCCCD6"/>
                </a:solidFill>
                <a:effectLst/>
                <a:uFillTx/>
                <a:latin typeface="Calibri"/>
              </a:rPr>
              <a:t>Admin AWS : « Débarrassez-vous du compte Root, utilisez IAM partout où c'est nécessaire. »</a:t>
            </a:r>
            <a:endParaRPr lang="en-US" sz="1600" b="0" u="none" strike="noStrike">
              <a:solidFill>
                <a:srgbClr val="FFFFFF"/>
              </a:solidFill>
              <a:effectLst/>
              <a:uFillTx/>
              <a:latin typeface="Arial"/>
            </a:endParaRPr>
          </a:p>
        </p:txBody>
      </p:sp>
      <p:sp>
        <p:nvSpPr>
          <p:cNvPr id="527" name="TextBox 7"/>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Les bases de données pour les hackers</a:t>
            </a:r>
            <a:endParaRPr lang="en-US" sz="1400" b="0" u="none" strike="noStrike">
              <a:solidFill>
                <a:srgbClr val="FFFFFF"/>
              </a:solidFill>
              <a:effectLst/>
              <a:uFillTx/>
              <a:latin typeface="Arial"/>
            </a:endParaRPr>
          </a:p>
        </p:txBody>
      </p:sp>
      <p:sp>
        <p:nvSpPr>
          <p:cNvPr id="528" name="TextBox 8"/>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30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29" name="TextBox 1" descr="Attack category: Privilege Escalation: DB → OS. Database accounts can become shell access. Three classic moves. Key points: MS SQL: xp_cmdshell — runs shell commands as the DB process. | PostgreSQL: COPY ... TO PROGRAM — pipes output to a shell. | MySQL: load a UDF .so file → sys_exec on the OS. | Pattern: every privileged DB feature is part of the attack surface." title="Attack category: Privilege Escalation: DB → OS. Database accounts can become she"/>
          <p:cNvSpPr/>
          <p:nvPr/>
        </p:nvSpPr>
        <p:spPr>
          <a:xfrm>
            <a:off x="457200" y="365760"/>
            <a:ext cx="731160" cy="9140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5400" b="0" u="none" strike="noStrike">
                <a:solidFill>
                  <a:srgbClr val="FF6B35"/>
                </a:solidFill>
                <a:effectLst/>
                <a:uFillTx/>
                <a:latin typeface="Calibri"/>
              </a:rPr>
              <a:t>⚠</a:t>
            </a:r>
            <a:endParaRPr lang="en-US" sz="5400" b="0" u="none" strike="noStrike">
              <a:solidFill>
                <a:srgbClr val="FFFFFF"/>
              </a:solidFill>
              <a:effectLst/>
              <a:uFillTx/>
              <a:latin typeface="Arial"/>
            </a:endParaRPr>
          </a:p>
        </p:txBody>
      </p:sp>
      <p:sp>
        <p:nvSpPr>
          <p:cNvPr id="530" name="TextBox 2"/>
          <p:cNvSpPr/>
          <p:nvPr/>
        </p:nvSpPr>
        <p:spPr>
          <a:xfrm>
            <a:off x="1280160" y="411480"/>
            <a:ext cx="1042380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FF6B35"/>
                </a:solidFill>
                <a:effectLst/>
                <a:uFillTx/>
                <a:latin typeface="Calibri"/>
              </a:rPr>
              <a:t>Élévation de privilèges : BD → OS</a:t>
            </a:r>
            <a:endParaRPr lang="en-US" sz="4200" b="0" u="none" strike="noStrike">
              <a:solidFill>
                <a:srgbClr val="FFFFFF"/>
              </a:solidFill>
              <a:effectLst/>
              <a:uFillTx/>
              <a:latin typeface="Arial"/>
            </a:endParaRPr>
          </a:p>
        </p:txBody>
      </p:sp>
      <p:sp>
        <p:nvSpPr>
          <p:cNvPr id="531" name="Rectangle 3"/>
          <p:cNvSpPr/>
          <p:nvPr/>
        </p:nvSpPr>
        <p:spPr>
          <a:xfrm>
            <a:off x="457200" y="1417320"/>
            <a:ext cx="1828440" cy="5436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32" name="TextBox 4"/>
          <p:cNvSpPr/>
          <p:nvPr/>
        </p:nvSpPr>
        <p:spPr>
          <a:xfrm>
            <a:off x="457200" y="1600200"/>
            <a:ext cx="11246760" cy="8226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00D4FF"/>
                </a:solidFill>
                <a:effectLst/>
                <a:uFillTx/>
                <a:latin typeface="Calibri"/>
              </a:rPr>
              <a:t>Les comptes de base de données peuvent devenir un accès shell. Trois manœuvres classiques.</a:t>
            </a:r>
            <a:endParaRPr lang="en-US" sz="2400" b="0" u="none" strike="noStrike">
              <a:solidFill>
                <a:srgbClr val="FFFFFF"/>
              </a:solidFill>
              <a:effectLst/>
              <a:uFillTx/>
              <a:latin typeface="Arial"/>
            </a:endParaRPr>
          </a:p>
        </p:txBody>
      </p:sp>
      <p:sp>
        <p:nvSpPr>
          <p:cNvPr id="533" name="TextBox 5"/>
          <p:cNvSpPr/>
          <p:nvPr/>
        </p:nvSpPr>
        <p:spPr>
          <a:xfrm>
            <a:off x="640080" y="2606040"/>
            <a:ext cx="10972440" cy="329148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MS SQL : xp_cmdshell — exécute des commandes shell sous le processus de la BD.</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PostgreSQL : COPY ... TO PROGRAM — redirige la sortie vers un shell.</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MySQL : charge un fichier UDF .so → sys_exec sur l'OS.</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Schéma récurrent : chaque fonctionnalité privilégiée de la BD fait partie de la surface d'attaque.</a:t>
            </a:r>
            <a:endParaRPr lang="en-US" sz="2300" b="0" u="none" strike="noStrike">
              <a:solidFill>
                <a:srgbClr val="FFFFFF"/>
              </a:solidFill>
              <a:effectLst/>
              <a:uFillTx/>
              <a:latin typeface="Arial"/>
            </a:endParaRPr>
          </a:p>
        </p:txBody>
      </p:sp>
      <p:sp>
        <p:nvSpPr>
          <p:cNvPr id="534" name="TextBox 6"/>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Les bases de données pour les hackers</a:t>
            </a:r>
            <a:endParaRPr lang="en-US" sz="1400" b="0" u="none" strike="noStrike">
              <a:solidFill>
                <a:srgbClr val="FFFFFF"/>
              </a:solidFill>
              <a:effectLst/>
              <a:uFillTx/>
              <a:latin typeface="Arial"/>
            </a:endParaRPr>
          </a:p>
        </p:txBody>
      </p:sp>
      <p:sp>
        <p:nvSpPr>
          <p:cNvPr id="535" name="TextBox 7"/>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31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36" name="TextBox 1" descr="Attack category: Data Lake Security Gaps. Everything ends up in S3 — including things you didn't mean to put there. Key points: Permissive IAM leaks from compute roles to humans. | No encryption-at-rest enforcement on bucket keys. | No write-side validation — anyone can drop poisoned data. | First question: WHO can write to the lake? WHO can read?" title="Attack category: Data Lake Security Gaps. Everything ends up in S3 — including t"/>
          <p:cNvSpPr/>
          <p:nvPr/>
        </p:nvSpPr>
        <p:spPr>
          <a:xfrm>
            <a:off x="457200" y="365760"/>
            <a:ext cx="731160" cy="9140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5400" b="0" u="none" strike="noStrike">
                <a:solidFill>
                  <a:srgbClr val="FF6B35"/>
                </a:solidFill>
                <a:effectLst/>
                <a:uFillTx/>
                <a:latin typeface="Calibri"/>
              </a:rPr>
              <a:t>⚠</a:t>
            </a:r>
            <a:endParaRPr lang="en-US" sz="5400" b="0" u="none" strike="noStrike">
              <a:solidFill>
                <a:srgbClr val="FFFFFF"/>
              </a:solidFill>
              <a:effectLst/>
              <a:uFillTx/>
              <a:latin typeface="Arial"/>
            </a:endParaRPr>
          </a:p>
        </p:txBody>
      </p:sp>
      <p:sp>
        <p:nvSpPr>
          <p:cNvPr id="537" name="TextBox 2"/>
          <p:cNvSpPr/>
          <p:nvPr/>
        </p:nvSpPr>
        <p:spPr>
          <a:xfrm>
            <a:off x="1280160" y="411480"/>
            <a:ext cx="1042380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FF6B35"/>
                </a:solidFill>
                <a:effectLst/>
                <a:uFillTx/>
                <a:latin typeface="Calibri"/>
              </a:rPr>
              <a:t>Failles de sécurité des data lakes</a:t>
            </a:r>
            <a:endParaRPr lang="en-US" sz="4200" b="0" u="none" strike="noStrike">
              <a:solidFill>
                <a:srgbClr val="FFFFFF"/>
              </a:solidFill>
              <a:effectLst/>
              <a:uFillTx/>
              <a:latin typeface="Arial"/>
            </a:endParaRPr>
          </a:p>
        </p:txBody>
      </p:sp>
      <p:sp>
        <p:nvSpPr>
          <p:cNvPr id="538" name="Rectangle 3"/>
          <p:cNvSpPr/>
          <p:nvPr/>
        </p:nvSpPr>
        <p:spPr>
          <a:xfrm>
            <a:off x="457200" y="1417320"/>
            <a:ext cx="1828440" cy="5436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39" name="TextBox 4"/>
          <p:cNvSpPr/>
          <p:nvPr/>
        </p:nvSpPr>
        <p:spPr>
          <a:xfrm>
            <a:off x="457200" y="1600200"/>
            <a:ext cx="11246760" cy="8226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00D4FF"/>
                </a:solidFill>
                <a:effectLst/>
                <a:uFillTx/>
                <a:latin typeface="Calibri"/>
              </a:rPr>
              <a:t>Tout finit dans S3 — y compris ce que vous n'aviez pas l'intention d'y mettre.</a:t>
            </a:r>
            <a:endParaRPr lang="en-US" sz="2400" b="0" u="none" strike="noStrike">
              <a:solidFill>
                <a:srgbClr val="FFFFFF"/>
              </a:solidFill>
              <a:effectLst/>
              <a:uFillTx/>
              <a:latin typeface="Arial"/>
            </a:endParaRPr>
          </a:p>
        </p:txBody>
      </p:sp>
      <p:sp>
        <p:nvSpPr>
          <p:cNvPr id="540" name="TextBox 5"/>
          <p:cNvSpPr/>
          <p:nvPr/>
        </p:nvSpPr>
        <p:spPr>
          <a:xfrm>
            <a:off x="640080" y="2606040"/>
            <a:ext cx="10972440" cy="329148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Un IAM permissif fuit des rôles de calcul vers les humains.</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Aucune obligation de chiffrement au repos sur les clés des buckets.</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Aucune validation côté écriture — n'importe qui peut déposer des données empoisonnées.</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Première question : QUI peut écrire dans le lac ? QUI peut lire ?</a:t>
            </a:r>
            <a:endParaRPr lang="en-US" sz="2300" b="0" u="none" strike="noStrike">
              <a:solidFill>
                <a:srgbClr val="FFFFFF"/>
              </a:solidFill>
              <a:effectLst/>
              <a:uFillTx/>
              <a:latin typeface="Arial"/>
            </a:endParaRPr>
          </a:p>
        </p:txBody>
      </p:sp>
      <p:sp>
        <p:nvSpPr>
          <p:cNvPr id="541" name="TextBox 6"/>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Les bases de données pour les hackers</a:t>
            </a:r>
            <a:endParaRPr lang="en-US" sz="1400" b="0" u="none" strike="noStrike">
              <a:solidFill>
                <a:srgbClr val="FFFFFF"/>
              </a:solidFill>
              <a:effectLst/>
              <a:uFillTx/>
              <a:latin typeface="Arial"/>
            </a:endParaRPr>
          </a:p>
        </p:txBody>
      </p:sp>
      <p:sp>
        <p:nvSpPr>
          <p:cNvPr id="542" name="TextBox 7"/>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32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43" name="TextBox 1" descr="Attack category: Ransomware Loves Databases. The DB is the thing the business needs back — maximum leverage. Key points: Encrypt the live database. | Encrypt the BACKUPS (otherwise customer just restores). | Exfil a copy first — extort with disclosure even if they restore. | Defense: offline, immutable backups + tested restores." title="Attack category: Ransomware Loves Databases. The DB is the thing the business ne"/>
          <p:cNvSpPr/>
          <p:nvPr/>
        </p:nvSpPr>
        <p:spPr>
          <a:xfrm>
            <a:off x="457200" y="365760"/>
            <a:ext cx="731160" cy="9140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5400" b="0" u="none" strike="noStrike">
                <a:solidFill>
                  <a:srgbClr val="FF6B35"/>
                </a:solidFill>
                <a:effectLst/>
                <a:uFillTx/>
                <a:latin typeface="Calibri"/>
              </a:rPr>
              <a:t>⚠</a:t>
            </a:r>
            <a:endParaRPr lang="en-US" sz="5400" b="0" u="none" strike="noStrike">
              <a:solidFill>
                <a:srgbClr val="FFFFFF"/>
              </a:solidFill>
              <a:effectLst/>
              <a:uFillTx/>
              <a:latin typeface="Arial"/>
            </a:endParaRPr>
          </a:p>
        </p:txBody>
      </p:sp>
      <p:sp>
        <p:nvSpPr>
          <p:cNvPr id="544" name="TextBox 2"/>
          <p:cNvSpPr/>
          <p:nvPr/>
        </p:nvSpPr>
        <p:spPr>
          <a:xfrm>
            <a:off x="1280160" y="411480"/>
            <a:ext cx="1042380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150" b="1" u="none" strike="noStrike">
                <a:solidFill>
                  <a:srgbClr val="FF6B35"/>
                </a:solidFill>
                <a:effectLst/>
                <a:uFillTx/>
                <a:latin typeface="Calibri"/>
              </a:rPr>
              <a:t>Les rançongiciels adorent les bases de données</a:t>
            </a:r>
            <a:endParaRPr lang="en-US" sz="4200" b="0" u="none" strike="noStrike">
              <a:solidFill>
                <a:srgbClr val="FFFFFF"/>
              </a:solidFill>
              <a:effectLst/>
              <a:uFillTx/>
              <a:latin typeface="Arial"/>
            </a:endParaRPr>
          </a:p>
        </p:txBody>
      </p:sp>
      <p:sp>
        <p:nvSpPr>
          <p:cNvPr id="545" name="Rectangle 3"/>
          <p:cNvSpPr/>
          <p:nvPr/>
        </p:nvSpPr>
        <p:spPr>
          <a:xfrm>
            <a:off x="457200" y="1417320"/>
            <a:ext cx="1828440" cy="5436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46" name="TextBox 4"/>
          <p:cNvSpPr/>
          <p:nvPr/>
        </p:nvSpPr>
        <p:spPr>
          <a:xfrm>
            <a:off x="457200" y="1600200"/>
            <a:ext cx="11246760" cy="8226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00D4FF"/>
                </a:solidFill>
                <a:effectLst/>
                <a:uFillTx/>
                <a:latin typeface="Calibri"/>
              </a:rPr>
              <a:t>La BD est ce que l'entreprise doit récupérer — levier maximal.</a:t>
            </a:r>
            <a:endParaRPr lang="en-US" sz="2400" b="0" u="none" strike="noStrike">
              <a:solidFill>
                <a:srgbClr val="FFFFFF"/>
              </a:solidFill>
              <a:effectLst/>
              <a:uFillTx/>
              <a:latin typeface="Arial"/>
            </a:endParaRPr>
          </a:p>
        </p:txBody>
      </p:sp>
      <p:sp>
        <p:nvSpPr>
          <p:cNvPr id="547" name="TextBox 5"/>
          <p:cNvSpPr/>
          <p:nvPr/>
        </p:nvSpPr>
        <p:spPr>
          <a:xfrm>
            <a:off x="640080" y="2606040"/>
            <a:ext cx="10972440" cy="329148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Chiffrer la base de données en production.</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Chiffrer les SAUVEGARDES (sinon le client se contente de restaurer).</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Exfiltrer une copie d'abord — extorquer par menace de divulgation même s'ils restaurent.</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Défense : sauvegardes hors ligne, immuables + restaurations testées.</a:t>
            </a:r>
            <a:endParaRPr lang="en-US" sz="2300" b="0" u="none" strike="noStrike">
              <a:solidFill>
                <a:srgbClr val="FFFFFF"/>
              </a:solidFill>
              <a:effectLst/>
              <a:uFillTx/>
              <a:latin typeface="Arial"/>
            </a:endParaRPr>
          </a:p>
        </p:txBody>
      </p:sp>
      <p:sp>
        <p:nvSpPr>
          <p:cNvPr id="548" name="TextBox 6"/>
          <p:cNvSpPr/>
          <p:nvPr/>
        </p:nvSpPr>
        <p:spPr>
          <a:xfrm>
            <a:off x="457200" y="5989320"/>
            <a:ext cx="11246760" cy="3654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600" b="0" u="none" strike="noStrike">
                <a:solidFill>
                  <a:srgbClr val="CCCCD6"/>
                </a:solidFill>
                <a:effectLst/>
                <a:uFillTx/>
                <a:latin typeface="Calibri"/>
              </a:rPr>
              <a:t>Cybersecurity A&amp;D : WannaCry — le correctif était disponible 59 jours auparavant.</a:t>
            </a:r>
            <a:endParaRPr lang="en-US" sz="1600" b="0" u="none" strike="noStrike">
              <a:solidFill>
                <a:srgbClr val="FFFFFF"/>
              </a:solidFill>
              <a:effectLst/>
              <a:uFillTx/>
              <a:latin typeface="Arial"/>
            </a:endParaRPr>
          </a:p>
        </p:txBody>
      </p:sp>
      <p:sp>
        <p:nvSpPr>
          <p:cNvPr id="549" name="TextBox 7"/>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Les bases de données pour les hackers</a:t>
            </a:r>
            <a:endParaRPr lang="en-US" sz="1400" b="0" u="none" strike="noStrike">
              <a:solidFill>
                <a:srgbClr val="FFFFFF"/>
              </a:solidFill>
              <a:effectLst/>
              <a:uFillTx/>
              <a:latin typeface="Arial"/>
            </a:endParaRPr>
          </a:p>
        </p:txBody>
      </p:sp>
      <p:sp>
        <p:nvSpPr>
          <p:cNvPr id="550" name="TextBox 8"/>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33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51" name="TextBox 1" descr="Attack category: Credential Attacks. Default creds and leaked connection strings — two old, durable bugs. Key points: Redis: no password by default for years. | Elastic: no auth in the free tier — also for years. | Connection strings (postgres://user:pass@host) committed to Git. | Pre-commit secret scanning — fix this week." title="Attack category: Credential Attacks. Default creds and leaked connection strings"/>
          <p:cNvSpPr/>
          <p:nvPr/>
        </p:nvSpPr>
        <p:spPr>
          <a:xfrm>
            <a:off x="457200" y="365760"/>
            <a:ext cx="731160" cy="9140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5400" b="0" u="none" strike="noStrike">
                <a:solidFill>
                  <a:srgbClr val="FF6B35"/>
                </a:solidFill>
                <a:effectLst/>
                <a:uFillTx/>
                <a:latin typeface="Calibri"/>
              </a:rPr>
              <a:t>⚠</a:t>
            </a:r>
            <a:endParaRPr lang="en-US" sz="5400" b="0" u="none" strike="noStrike">
              <a:solidFill>
                <a:srgbClr val="FFFFFF"/>
              </a:solidFill>
              <a:effectLst/>
              <a:uFillTx/>
              <a:latin typeface="Arial"/>
            </a:endParaRPr>
          </a:p>
        </p:txBody>
      </p:sp>
      <p:sp>
        <p:nvSpPr>
          <p:cNvPr id="552" name="TextBox 2"/>
          <p:cNvSpPr/>
          <p:nvPr/>
        </p:nvSpPr>
        <p:spPr>
          <a:xfrm>
            <a:off x="1280160" y="411480"/>
            <a:ext cx="1042380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FF6B35"/>
                </a:solidFill>
                <a:effectLst/>
                <a:uFillTx/>
                <a:latin typeface="Calibri"/>
              </a:rPr>
              <a:t>Attaques sur les identifiants</a:t>
            </a:r>
            <a:endParaRPr lang="en-US" sz="4200" b="0" u="none" strike="noStrike">
              <a:solidFill>
                <a:srgbClr val="FFFFFF"/>
              </a:solidFill>
              <a:effectLst/>
              <a:uFillTx/>
              <a:latin typeface="Arial"/>
            </a:endParaRPr>
          </a:p>
        </p:txBody>
      </p:sp>
      <p:sp>
        <p:nvSpPr>
          <p:cNvPr id="553" name="Rectangle 3"/>
          <p:cNvSpPr/>
          <p:nvPr/>
        </p:nvSpPr>
        <p:spPr>
          <a:xfrm>
            <a:off x="457200" y="1417320"/>
            <a:ext cx="1828440" cy="5436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54" name="TextBox 4"/>
          <p:cNvSpPr/>
          <p:nvPr/>
        </p:nvSpPr>
        <p:spPr>
          <a:xfrm>
            <a:off x="457200" y="1600200"/>
            <a:ext cx="11246760" cy="8226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00D4FF"/>
                </a:solidFill>
                <a:effectLst/>
                <a:uFillTx/>
                <a:latin typeface="Calibri"/>
              </a:rPr>
              <a:t>Identifiants par défaut et chaînes de connexion divulguées — deux bogues anciens et tenaces.</a:t>
            </a:r>
            <a:endParaRPr lang="en-US" sz="2400" b="0" u="none" strike="noStrike">
              <a:solidFill>
                <a:srgbClr val="FFFFFF"/>
              </a:solidFill>
              <a:effectLst/>
              <a:uFillTx/>
              <a:latin typeface="Arial"/>
            </a:endParaRPr>
          </a:p>
        </p:txBody>
      </p:sp>
      <p:sp>
        <p:nvSpPr>
          <p:cNvPr id="555" name="TextBox 5"/>
          <p:cNvSpPr/>
          <p:nvPr/>
        </p:nvSpPr>
        <p:spPr>
          <a:xfrm>
            <a:off x="640080" y="2606040"/>
            <a:ext cx="10972440" cy="329148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Redis : aucun mot de passe par défaut pendant des années.</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Elastic : aucune authentification dans l'offre gratuite — également pendant des années.</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Connection strings (postgres://user:pass@host) committed to Git.</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Analyse des secrets en pré-commit — à corriger cette semaine.</a:t>
            </a:r>
            <a:endParaRPr lang="en-US" sz="2300" b="0" u="none" strike="noStrike">
              <a:solidFill>
                <a:srgbClr val="FFFFFF"/>
              </a:solidFill>
              <a:effectLst/>
              <a:uFillTx/>
              <a:latin typeface="Arial"/>
            </a:endParaRPr>
          </a:p>
        </p:txBody>
      </p:sp>
      <p:sp>
        <p:nvSpPr>
          <p:cNvPr id="556" name="TextBox 6"/>
          <p:cNvSpPr/>
          <p:nvPr/>
        </p:nvSpPr>
        <p:spPr>
          <a:xfrm>
            <a:off x="457200" y="5989320"/>
            <a:ext cx="11246760" cy="3654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600" b="0" u="none" strike="noStrike">
                <a:solidFill>
                  <a:srgbClr val="CCCCD6"/>
                </a:solidFill>
                <a:effectLst/>
                <a:uFillTx/>
                <a:latin typeface="Calibri"/>
              </a:rPr>
              <a:t>Cybersecurity A&amp;D : les identifiants volés = vecteur privilégié du crime organisé.</a:t>
            </a:r>
            <a:endParaRPr lang="en-US" sz="1600" b="0" u="none" strike="noStrike">
              <a:solidFill>
                <a:srgbClr val="FFFFFF"/>
              </a:solidFill>
              <a:effectLst/>
              <a:uFillTx/>
              <a:latin typeface="Arial"/>
            </a:endParaRPr>
          </a:p>
        </p:txBody>
      </p:sp>
      <p:sp>
        <p:nvSpPr>
          <p:cNvPr id="557" name="TextBox 7"/>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Les bases de données pour les hackers</a:t>
            </a:r>
            <a:endParaRPr lang="en-US" sz="1400" b="0" u="none" strike="noStrike">
              <a:solidFill>
                <a:srgbClr val="FFFFFF"/>
              </a:solidFill>
              <a:effectLst/>
              <a:uFillTx/>
              <a:latin typeface="Arial"/>
            </a:endParaRPr>
          </a:p>
        </p:txBody>
      </p:sp>
      <p:sp>
        <p:nvSpPr>
          <p:cNvPr id="558" name="TextBox 8"/>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34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59" name="TextBox 1" descr="Attack category: Supply Chain — The DB Libraries You Trust. Your DB driver came from npm/PyPI/Maven. So did everyone else's. Key points: Malicious npm packages posing as ORMs / drivers. | Trojanized Docker Hub images for popular databases. | Compromised PostgreSQL extensions / MySQL plugins. | Extensions run with DB privileges — usually a lot." title="Attack category: Supply Chain — The DB Libraries You Trust. Your DB driver came "/>
          <p:cNvSpPr/>
          <p:nvPr/>
        </p:nvSpPr>
        <p:spPr>
          <a:xfrm>
            <a:off x="457200" y="365760"/>
            <a:ext cx="731160" cy="9140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5400" b="0" u="none" strike="noStrike">
                <a:solidFill>
                  <a:srgbClr val="FF6B35"/>
                </a:solidFill>
                <a:effectLst/>
                <a:uFillTx/>
                <a:latin typeface="Calibri"/>
              </a:rPr>
              <a:t>⚠</a:t>
            </a:r>
            <a:endParaRPr lang="en-US" sz="5400" b="0" u="none" strike="noStrike">
              <a:solidFill>
                <a:srgbClr val="FFFFFF"/>
              </a:solidFill>
              <a:effectLst/>
              <a:uFillTx/>
              <a:latin typeface="Arial"/>
            </a:endParaRPr>
          </a:p>
        </p:txBody>
      </p:sp>
      <p:sp>
        <p:nvSpPr>
          <p:cNvPr id="560" name="TextBox 2"/>
          <p:cNvSpPr/>
          <p:nvPr/>
        </p:nvSpPr>
        <p:spPr>
          <a:xfrm>
            <a:off x="1280160" y="411480"/>
            <a:ext cx="1042380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700" b="1" u="none" strike="noStrike">
                <a:solidFill>
                  <a:srgbClr val="FF6B35"/>
                </a:solidFill>
                <a:effectLst/>
                <a:uFillTx/>
                <a:latin typeface="Calibri"/>
              </a:rPr>
              <a:t>Chaîne d'approvisionnement — Les bibliothèques de BD auxquelles vous faites confiance</a:t>
            </a:r>
            <a:endParaRPr lang="en-US" sz="4200" b="0" u="none" strike="noStrike">
              <a:solidFill>
                <a:srgbClr val="FFFFFF"/>
              </a:solidFill>
              <a:effectLst/>
              <a:uFillTx/>
              <a:latin typeface="Arial"/>
            </a:endParaRPr>
          </a:p>
        </p:txBody>
      </p:sp>
      <p:sp>
        <p:nvSpPr>
          <p:cNvPr id="561" name="Rectangle 3"/>
          <p:cNvSpPr/>
          <p:nvPr/>
        </p:nvSpPr>
        <p:spPr>
          <a:xfrm>
            <a:off x="457200" y="1417320"/>
            <a:ext cx="1828440" cy="5436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62" name="TextBox 4"/>
          <p:cNvSpPr/>
          <p:nvPr/>
        </p:nvSpPr>
        <p:spPr>
          <a:xfrm>
            <a:off x="457200" y="1600200"/>
            <a:ext cx="11246760" cy="8226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00D4FF"/>
                </a:solidFill>
                <a:effectLst/>
                <a:uFillTx/>
                <a:latin typeface="Calibri"/>
              </a:rPr>
              <a:t>Votre pilote de BD vient de npm/PyPI/Maven. Comme ceux de tout le monde.</a:t>
            </a:r>
            <a:endParaRPr lang="en-US" sz="2400" b="0" u="none" strike="noStrike">
              <a:solidFill>
                <a:srgbClr val="FFFFFF"/>
              </a:solidFill>
              <a:effectLst/>
              <a:uFillTx/>
              <a:latin typeface="Arial"/>
            </a:endParaRPr>
          </a:p>
        </p:txBody>
      </p:sp>
      <p:sp>
        <p:nvSpPr>
          <p:cNvPr id="563" name="TextBox 5"/>
          <p:cNvSpPr/>
          <p:nvPr/>
        </p:nvSpPr>
        <p:spPr>
          <a:xfrm>
            <a:off x="640080" y="2606040"/>
            <a:ext cx="10972440" cy="329148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Paquets npm malveillants se faisant passer pour des ORM / pilotes.</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Images Docker Hub piégées pour des bases de données populaires.</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Extensions PostgreSQL / plugins MySQL compromis.</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Les extensions s'exécutent avec les privilèges de la BD — généralement nombreux.</a:t>
            </a:r>
            <a:endParaRPr lang="en-US" sz="2300" b="0" u="none" strike="noStrike">
              <a:solidFill>
                <a:srgbClr val="FFFFFF"/>
              </a:solidFill>
              <a:effectLst/>
              <a:uFillTx/>
              <a:latin typeface="Arial"/>
            </a:endParaRPr>
          </a:p>
        </p:txBody>
      </p:sp>
      <p:sp>
        <p:nvSpPr>
          <p:cNvPr id="564" name="TextBox 6"/>
          <p:cNvSpPr/>
          <p:nvPr/>
        </p:nvSpPr>
        <p:spPr>
          <a:xfrm>
            <a:off x="457200" y="5989320"/>
            <a:ext cx="11246760" cy="3654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600" b="0" u="none" strike="noStrike">
                <a:solidFill>
                  <a:srgbClr val="CCCCD6"/>
                </a:solidFill>
                <a:effectLst/>
                <a:uFillTx/>
                <a:latin typeface="Calibri"/>
              </a:rPr>
              <a:t>Shostack : « Les menaces ont tendance à se concentrer autour des frontières de confiance. »</a:t>
            </a:r>
            <a:endParaRPr lang="en-US" sz="1600" b="0" u="none" strike="noStrike">
              <a:solidFill>
                <a:srgbClr val="FFFFFF"/>
              </a:solidFill>
              <a:effectLst/>
              <a:uFillTx/>
              <a:latin typeface="Arial"/>
            </a:endParaRPr>
          </a:p>
        </p:txBody>
      </p:sp>
      <p:sp>
        <p:nvSpPr>
          <p:cNvPr id="565" name="TextBox 7"/>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Les bases de données pour les hackers</a:t>
            </a:r>
            <a:endParaRPr lang="en-US" sz="1400" b="0" u="none" strike="noStrike">
              <a:solidFill>
                <a:srgbClr val="FFFFFF"/>
              </a:solidFill>
              <a:effectLst/>
              <a:uFillTx/>
              <a:latin typeface="Arial"/>
            </a:endParaRPr>
          </a:p>
        </p:txBody>
      </p:sp>
      <p:sp>
        <p:nvSpPr>
          <p:cNvPr id="566" name="TextBox 8"/>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35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67" name="TextBox 1" descr="Attack category: RAG / LLM Data Poisoning. Stored XSS for the AI era. Write into the knowledge base → LLM quotes it. Key points: Poisoned support article: 'To reset, send your password to...' | Poisoned internal doc: 'Company policy is to wire transfer to...' | Prompt injection embedded in retrieved documents. | Defense: strict write ACLs, provenance tags, human-in-the-loop." title="Attack category: RAG / LLM Data Poisoning. Stored XSS for the AI era. Write into"/>
          <p:cNvSpPr/>
          <p:nvPr/>
        </p:nvSpPr>
        <p:spPr>
          <a:xfrm>
            <a:off x="457200" y="365760"/>
            <a:ext cx="731160" cy="9140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5400" b="0" u="none" strike="noStrike">
                <a:solidFill>
                  <a:srgbClr val="FF6B35"/>
                </a:solidFill>
                <a:effectLst/>
                <a:uFillTx/>
                <a:latin typeface="Calibri"/>
              </a:rPr>
              <a:t>⚠</a:t>
            </a:r>
            <a:endParaRPr lang="en-US" sz="5400" b="0" u="none" strike="noStrike">
              <a:solidFill>
                <a:srgbClr val="FFFFFF"/>
              </a:solidFill>
              <a:effectLst/>
              <a:uFillTx/>
              <a:latin typeface="Arial"/>
            </a:endParaRPr>
          </a:p>
        </p:txBody>
      </p:sp>
      <p:sp>
        <p:nvSpPr>
          <p:cNvPr id="568" name="TextBox 2"/>
          <p:cNvSpPr/>
          <p:nvPr/>
        </p:nvSpPr>
        <p:spPr>
          <a:xfrm>
            <a:off x="1280160" y="411480"/>
            <a:ext cx="1042380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600" b="1" u="none" strike="noStrike">
                <a:solidFill>
                  <a:srgbClr val="FF6B35"/>
                </a:solidFill>
                <a:effectLst/>
                <a:uFillTx/>
                <a:latin typeface="Calibri"/>
              </a:rPr>
              <a:t>Empoisonnement des données RAG / LLM</a:t>
            </a:r>
            <a:endParaRPr lang="en-US" sz="4200" b="0" u="none" strike="noStrike">
              <a:solidFill>
                <a:srgbClr val="FFFFFF"/>
              </a:solidFill>
              <a:effectLst/>
              <a:uFillTx/>
              <a:latin typeface="Arial"/>
            </a:endParaRPr>
          </a:p>
        </p:txBody>
      </p:sp>
      <p:sp>
        <p:nvSpPr>
          <p:cNvPr id="569" name="Rectangle 3"/>
          <p:cNvSpPr/>
          <p:nvPr/>
        </p:nvSpPr>
        <p:spPr>
          <a:xfrm>
            <a:off x="457200" y="1417320"/>
            <a:ext cx="1828440" cy="5436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70" name="TextBox 4"/>
          <p:cNvSpPr/>
          <p:nvPr/>
        </p:nvSpPr>
        <p:spPr>
          <a:xfrm>
            <a:off x="457200" y="1600200"/>
            <a:ext cx="11246760" cy="8226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00D4FF"/>
                </a:solidFill>
                <a:effectLst/>
                <a:uFillTx/>
                <a:latin typeface="Calibri"/>
              </a:rPr>
              <a:t>Le XSS stocké à l'ère de l'IA. Écrivez dans la base de connaissances → le LLM le cite.</a:t>
            </a:r>
            <a:endParaRPr lang="en-US" sz="2400" b="0" u="none" strike="noStrike">
              <a:solidFill>
                <a:srgbClr val="FFFFFF"/>
              </a:solidFill>
              <a:effectLst/>
              <a:uFillTx/>
              <a:latin typeface="Arial"/>
            </a:endParaRPr>
          </a:p>
        </p:txBody>
      </p:sp>
      <p:sp>
        <p:nvSpPr>
          <p:cNvPr id="571" name="TextBox 5"/>
          <p:cNvSpPr/>
          <p:nvPr/>
        </p:nvSpPr>
        <p:spPr>
          <a:xfrm>
            <a:off x="640080" y="2606040"/>
            <a:ext cx="10972440" cy="329148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050" b="1" u="none" strike="noStrike">
                <a:solidFill>
                  <a:srgbClr val="00D4FF"/>
                </a:solidFill>
                <a:effectLst/>
                <a:uFillTx/>
                <a:latin typeface="Calibri"/>
              </a:rPr>
              <a:t>● </a:t>
            </a:r>
            <a:r>
              <a:rPr lang="en-US" sz="2050" b="0" u="none" strike="noStrike">
                <a:solidFill>
                  <a:srgbClr val="FFFFFF"/>
                </a:solidFill>
                <a:effectLst/>
                <a:uFillTx/>
                <a:latin typeface="Calibri"/>
              </a:rPr>
              <a:t>Article de support empoisonné : « Pour réinitialiser, envoyez votre mot de passe à... »</a:t>
            </a:r>
            <a:endParaRPr lang="en-US" sz="2300" b="0" u="none" strike="noStrike">
              <a:solidFill>
                <a:srgbClr val="FFFFFF"/>
              </a:solidFill>
              <a:effectLst/>
              <a:uFillTx/>
              <a:latin typeface="Arial"/>
            </a:endParaRPr>
          </a:p>
          <a:p>
            <a:pPr defTabSz="457200">
              <a:lnSpc>
                <a:spcPct val="140000"/>
              </a:lnSpc>
            </a:pPr>
            <a:r>
              <a:rPr lang="en-US" sz="2050" b="1" u="none" strike="noStrike">
                <a:solidFill>
                  <a:srgbClr val="00D4FF"/>
                </a:solidFill>
                <a:effectLst/>
                <a:uFillTx/>
                <a:latin typeface="Calibri"/>
              </a:rPr>
              <a:t>● </a:t>
            </a:r>
            <a:r>
              <a:rPr lang="en-US" sz="2050" b="0" u="none" strike="noStrike">
                <a:solidFill>
                  <a:srgbClr val="FFFFFF"/>
                </a:solidFill>
                <a:effectLst/>
                <a:uFillTx/>
                <a:latin typeface="Calibri"/>
              </a:rPr>
              <a:t>Document interne empoisonné : « La politique de l'entreprise est de virer les fonds à... »</a:t>
            </a:r>
            <a:endParaRPr lang="en-US" sz="2300" b="0" u="none" strike="noStrike">
              <a:solidFill>
                <a:srgbClr val="FFFFFF"/>
              </a:solidFill>
              <a:effectLst/>
              <a:uFillTx/>
              <a:latin typeface="Arial"/>
            </a:endParaRPr>
          </a:p>
          <a:p>
            <a:pPr defTabSz="457200">
              <a:lnSpc>
                <a:spcPct val="140000"/>
              </a:lnSpc>
            </a:pPr>
            <a:r>
              <a:rPr lang="en-US" sz="2050" b="1" u="none" strike="noStrike">
                <a:solidFill>
                  <a:srgbClr val="00D4FF"/>
                </a:solidFill>
                <a:effectLst/>
                <a:uFillTx/>
                <a:latin typeface="Calibri"/>
              </a:rPr>
              <a:t>● </a:t>
            </a:r>
            <a:r>
              <a:rPr lang="en-US" sz="2050" b="0" u="none" strike="noStrike">
                <a:solidFill>
                  <a:srgbClr val="FFFFFF"/>
                </a:solidFill>
                <a:effectLst/>
                <a:uFillTx/>
                <a:latin typeface="Calibri"/>
              </a:rPr>
              <a:t>Injection de prompt intégrée dans les documents récupérés.</a:t>
            </a:r>
            <a:endParaRPr lang="en-US" sz="2300" b="0" u="none" strike="noStrike">
              <a:solidFill>
                <a:srgbClr val="FFFFFF"/>
              </a:solidFill>
              <a:effectLst/>
              <a:uFillTx/>
              <a:latin typeface="Arial"/>
            </a:endParaRPr>
          </a:p>
          <a:p>
            <a:pPr defTabSz="457200">
              <a:lnSpc>
                <a:spcPct val="140000"/>
              </a:lnSpc>
            </a:pPr>
            <a:r>
              <a:rPr lang="en-US" sz="2050" b="1" u="none" strike="noStrike">
                <a:solidFill>
                  <a:srgbClr val="00D4FF"/>
                </a:solidFill>
                <a:effectLst/>
                <a:uFillTx/>
                <a:latin typeface="Calibri"/>
              </a:rPr>
              <a:t>● </a:t>
            </a:r>
            <a:r>
              <a:rPr lang="en-US" sz="2050" b="0" u="none" strike="noStrike">
                <a:solidFill>
                  <a:srgbClr val="FFFFFF"/>
                </a:solidFill>
                <a:effectLst/>
                <a:uFillTx/>
                <a:latin typeface="Calibri"/>
              </a:rPr>
              <a:t>Défense : ACL d'écriture strictes, étiquettes de provenance, humain dans la boucle.</a:t>
            </a:r>
            <a:endParaRPr lang="en-US" sz="2300" b="0" u="none" strike="noStrike">
              <a:solidFill>
                <a:srgbClr val="FFFFFF"/>
              </a:solidFill>
              <a:effectLst/>
              <a:uFillTx/>
              <a:latin typeface="Arial"/>
            </a:endParaRPr>
          </a:p>
        </p:txBody>
      </p:sp>
      <p:sp>
        <p:nvSpPr>
          <p:cNvPr id="572" name="TextBox 6"/>
          <p:cNvSpPr/>
          <p:nvPr/>
        </p:nvSpPr>
        <p:spPr>
          <a:xfrm>
            <a:off x="457200" y="5989320"/>
            <a:ext cx="11246760" cy="3654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600" b="0" u="none" strike="noStrike">
                <a:solidFill>
                  <a:srgbClr val="CCCCD6"/>
                </a:solidFill>
                <a:effectLst/>
                <a:uFillTx/>
                <a:latin typeface="Calibri"/>
              </a:rPr>
              <a:t>Principe du XSS stocké OWASP 2025 — remplacez « admin » par « LLM ».</a:t>
            </a:r>
            <a:endParaRPr lang="en-US" sz="1600" b="0" u="none" strike="noStrike">
              <a:solidFill>
                <a:srgbClr val="FFFFFF"/>
              </a:solidFill>
              <a:effectLst/>
              <a:uFillTx/>
              <a:latin typeface="Arial"/>
            </a:endParaRPr>
          </a:p>
        </p:txBody>
      </p:sp>
      <p:sp>
        <p:nvSpPr>
          <p:cNvPr id="573" name="TextBox 7"/>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Les bases de données pour les hackers</a:t>
            </a:r>
            <a:endParaRPr lang="en-US" sz="1400" b="0" u="none" strike="noStrike">
              <a:solidFill>
                <a:srgbClr val="FFFFFF"/>
              </a:solidFill>
              <a:effectLst/>
              <a:uFillTx/>
              <a:latin typeface="Arial"/>
            </a:endParaRPr>
          </a:p>
        </p:txBody>
      </p:sp>
      <p:sp>
        <p:nvSpPr>
          <p:cNvPr id="574" name="TextBox 8"/>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36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75" name="TextBox 1" descr="Attack category: Insider Threats &amp; DB-to-DB Lateral Movement. Databases aren't endpoints. They're nodes in a graph. Key points: Over-permissioned service accounts. Engineers with prod read. | DBAs with no audit trail. | Oracle DB_LINK, SQL Server linked servers, Postgres FDW. | Stored credentials → compromise A, hop to B, hop to C." title="Attack category: Insider Threats &amp; DB-to-DB Lateral Movement. Databases aren't e"/>
          <p:cNvSpPr/>
          <p:nvPr/>
        </p:nvSpPr>
        <p:spPr>
          <a:xfrm>
            <a:off x="457200" y="365760"/>
            <a:ext cx="731160" cy="9140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5400" b="0" u="none" strike="noStrike">
                <a:solidFill>
                  <a:srgbClr val="FF6B35"/>
                </a:solidFill>
                <a:effectLst/>
                <a:uFillTx/>
                <a:latin typeface="Calibri"/>
              </a:rPr>
              <a:t>⚠</a:t>
            </a:r>
            <a:endParaRPr lang="en-US" sz="5400" b="0" u="none" strike="noStrike">
              <a:solidFill>
                <a:srgbClr val="FFFFFF"/>
              </a:solidFill>
              <a:effectLst/>
              <a:uFillTx/>
              <a:latin typeface="Arial"/>
            </a:endParaRPr>
          </a:p>
        </p:txBody>
      </p:sp>
      <p:sp>
        <p:nvSpPr>
          <p:cNvPr id="576" name="TextBox 2"/>
          <p:cNvSpPr/>
          <p:nvPr/>
        </p:nvSpPr>
        <p:spPr>
          <a:xfrm>
            <a:off x="1280160" y="411480"/>
            <a:ext cx="1042380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50" b="1" u="none" strike="noStrike">
                <a:solidFill>
                  <a:srgbClr val="FF6B35"/>
                </a:solidFill>
                <a:effectLst/>
                <a:uFillTx/>
                <a:latin typeface="Calibri"/>
              </a:rPr>
              <a:t>Menaces internes et déplacement latéral de BD à BD</a:t>
            </a:r>
            <a:endParaRPr lang="en-US" sz="4200" b="0" u="none" strike="noStrike">
              <a:solidFill>
                <a:srgbClr val="FFFFFF"/>
              </a:solidFill>
              <a:effectLst/>
              <a:uFillTx/>
              <a:latin typeface="Arial"/>
            </a:endParaRPr>
          </a:p>
        </p:txBody>
      </p:sp>
      <p:sp>
        <p:nvSpPr>
          <p:cNvPr id="577" name="Rectangle 3"/>
          <p:cNvSpPr/>
          <p:nvPr/>
        </p:nvSpPr>
        <p:spPr>
          <a:xfrm>
            <a:off x="457200" y="1417320"/>
            <a:ext cx="1828440" cy="5436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78" name="TextBox 4"/>
          <p:cNvSpPr/>
          <p:nvPr/>
        </p:nvSpPr>
        <p:spPr>
          <a:xfrm>
            <a:off x="457200" y="1600200"/>
            <a:ext cx="11246760" cy="8226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00D4FF"/>
                </a:solidFill>
                <a:effectLst/>
                <a:uFillTx/>
                <a:latin typeface="Calibri"/>
              </a:rPr>
              <a:t>Les bases de données ne sont pas des points de terminaison. Ce sont des nœuds dans un graphe.</a:t>
            </a:r>
            <a:endParaRPr lang="en-US" sz="2400" b="0" u="none" strike="noStrike">
              <a:solidFill>
                <a:srgbClr val="FFFFFF"/>
              </a:solidFill>
              <a:effectLst/>
              <a:uFillTx/>
              <a:latin typeface="Arial"/>
            </a:endParaRPr>
          </a:p>
        </p:txBody>
      </p:sp>
      <p:sp>
        <p:nvSpPr>
          <p:cNvPr id="579" name="TextBox 5"/>
          <p:cNvSpPr/>
          <p:nvPr/>
        </p:nvSpPr>
        <p:spPr>
          <a:xfrm>
            <a:off x="640080" y="2606040"/>
            <a:ext cx="10972440" cy="329148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Comptes de service surdimensionnés en permissions. Ingénieurs ayant un accès en lecture sur la prod.</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DBA sans piste d'audit.</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DB_LINK d'Oracle, serveurs liés de SQL Server, FDW de Postgres.</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Identifiants stockés → compromettre A, rebondir vers B, rebondir vers C.</a:t>
            </a:r>
            <a:endParaRPr lang="en-US" sz="2300" b="0" u="none" strike="noStrike">
              <a:solidFill>
                <a:srgbClr val="FFFFFF"/>
              </a:solidFill>
              <a:effectLst/>
              <a:uFillTx/>
              <a:latin typeface="Arial"/>
            </a:endParaRPr>
          </a:p>
        </p:txBody>
      </p:sp>
      <p:sp>
        <p:nvSpPr>
          <p:cNvPr id="580" name="TextBox 6"/>
          <p:cNvSpPr/>
          <p:nvPr/>
        </p:nvSpPr>
        <p:spPr>
          <a:xfrm>
            <a:off x="457200" y="5989320"/>
            <a:ext cx="11246760" cy="3654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600" b="0" u="none" strike="noStrike">
                <a:solidFill>
                  <a:srgbClr val="CCCCD6"/>
                </a:solidFill>
                <a:effectLst/>
                <a:uFillTx/>
                <a:latin typeface="Calibri"/>
              </a:rPr>
              <a:t>Web App Hacker's Handbook : des journaux d'audit mal protégés = une mine d'or.</a:t>
            </a:r>
            <a:endParaRPr lang="en-US" sz="1600" b="0" u="none" strike="noStrike">
              <a:solidFill>
                <a:srgbClr val="FFFFFF"/>
              </a:solidFill>
              <a:effectLst/>
              <a:uFillTx/>
              <a:latin typeface="Arial"/>
            </a:endParaRPr>
          </a:p>
        </p:txBody>
      </p:sp>
      <p:sp>
        <p:nvSpPr>
          <p:cNvPr id="581" name="TextBox 7"/>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Les bases de données pour les hackers</a:t>
            </a:r>
            <a:endParaRPr lang="en-US" sz="1400" b="0" u="none" strike="noStrike">
              <a:solidFill>
                <a:srgbClr val="FFFFFF"/>
              </a:solidFill>
              <a:effectLst/>
              <a:uFillTx/>
              <a:latin typeface="Arial"/>
            </a:endParaRPr>
          </a:p>
        </p:txBody>
      </p:sp>
      <p:sp>
        <p:nvSpPr>
          <p:cNvPr id="582" name="TextBox 8"/>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37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83" name="TextBox 1" descr="Attack category: Backup &amp; Snapshot Exposure. Same data as prod, half the love. Key points: Unencrypted DB backups on shares readable by Domain Users. | Cloud snapshots shared cross-account, never un-shared. | Off-site backups to vendors whose posture you never checked. | Backups are last resort. Apply identify-authN-authZ-audit." title="Attack category: Backup &amp; Snapshot Exposure. Same data as prod, half the love. K"/>
          <p:cNvSpPr/>
          <p:nvPr/>
        </p:nvSpPr>
        <p:spPr>
          <a:xfrm>
            <a:off x="457200" y="365760"/>
            <a:ext cx="731160" cy="9140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5400" b="0" u="none" strike="noStrike">
                <a:solidFill>
                  <a:srgbClr val="FF6B35"/>
                </a:solidFill>
                <a:effectLst/>
                <a:uFillTx/>
                <a:latin typeface="Calibri"/>
              </a:rPr>
              <a:t>⚠</a:t>
            </a:r>
            <a:endParaRPr lang="en-US" sz="5400" b="0" u="none" strike="noStrike">
              <a:solidFill>
                <a:srgbClr val="FFFFFF"/>
              </a:solidFill>
              <a:effectLst/>
              <a:uFillTx/>
              <a:latin typeface="Arial"/>
            </a:endParaRPr>
          </a:p>
        </p:txBody>
      </p:sp>
      <p:sp>
        <p:nvSpPr>
          <p:cNvPr id="584" name="TextBox 2"/>
          <p:cNvSpPr/>
          <p:nvPr/>
        </p:nvSpPr>
        <p:spPr>
          <a:xfrm>
            <a:off x="1280160" y="411480"/>
            <a:ext cx="1042380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500" b="1" u="none" strike="noStrike">
                <a:solidFill>
                  <a:srgbClr val="FF6B35"/>
                </a:solidFill>
                <a:effectLst/>
                <a:uFillTx/>
                <a:latin typeface="Calibri"/>
              </a:rPr>
              <a:t>Exposition des sauvegardes et instantanés</a:t>
            </a:r>
            <a:endParaRPr lang="en-US" sz="4200" b="0" u="none" strike="noStrike">
              <a:solidFill>
                <a:srgbClr val="FFFFFF"/>
              </a:solidFill>
              <a:effectLst/>
              <a:uFillTx/>
              <a:latin typeface="Arial"/>
            </a:endParaRPr>
          </a:p>
        </p:txBody>
      </p:sp>
      <p:sp>
        <p:nvSpPr>
          <p:cNvPr id="585" name="Rectangle 3"/>
          <p:cNvSpPr/>
          <p:nvPr/>
        </p:nvSpPr>
        <p:spPr>
          <a:xfrm>
            <a:off x="457200" y="1417320"/>
            <a:ext cx="1828440" cy="5436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86" name="TextBox 4"/>
          <p:cNvSpPr/>
          <p:nvPr/>
        </p:nvSpPr>
        <p:spPr>
          <a:xfrm>
            <a:off x="457200" y="1600200"/>
            <a:ext cx="11246760" cy="8226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00D4FF"/>
                </a:solidFill>
                <a:effectLst/>
                <a:uFillTx/>
                <a:latin typeface="Calibri"/>
              </a:rPr>
              <a:t>Les mêmes données que la prod, deux fois moins de soin.</a:t>
            </a:r>
            <a:endParaRPr lang="en-US" sz="2400" b="0" u="none" strike="noStrike">
              <a:solidFill>
                <a:srgbClr val="FFFFFF"/>
              </a:solidFill>
              <a:effectLst/>
              <a:uFillTx/>
              <a:latin typeface="Arial"/>
            </a:endParaRPr>
          </a:p>
        </p:txBody>
      </p:sp>
      <p:sp>
        <p:nvSpPr>
          <p:cNvPr id="587" name="TextBox 5"/>
          <p:cNvSpPr/>
          <p:nvPr/>
        </p:nvSpPr>
        <p:spPr>
          <a:xfrm>
            <a:off x="640080" y="2606040"/>
            <a:ext cx="10972440" cy="329148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050" b="1" u="none" strike="noStrike">
                <a:solidFill>
                  <a:srgbClr val="00D4FF"/>
                </a:solidFill>
                <a:effectLst/>
                <a:uFillTx/>
                <a:latin typeface="Calibri"/>
              </a:rPr>
              <a:t>● </a:t>
            </a:r>
            <a:r>
              <a:rPr lang="en-US" sz="2050" b="0" u="none" strike="noStrike">
                <a:solidFill>
                  <a:srgbClr val="FFFFFF"/>
                </a:solidFill>
                <a:effectLst/>
                <a:uFillTx/>
                <a:latin typeface="Calibri"/>
              </a:rPr>
              <a:t>Sauvegardes de BD non chiffrées sur des partages lisibles par les Utilisateurs du domaine.</a:t>
            </a:r>
            <a:endParaRPr lang="en-US" sz="2300" b="0" u="none" strike="noStrike">
              <a:solidFill>
                <a:srgbClr val="FFFFFF"/>
              </a:solidFill>
              <a:effectLst/>
              <a:uFillTx/>
              <a:latin typeface="Arial"/>
            </a:endParaRPr>
          </a:p>
          <a:p>
            <a:pPr defTabSz="457200">
              <a:lnSpc>
                <a:spcPct val="140000"/>
              </a:lnSpc>
            </a:pPr>
            <a:r>
              <a:rPr lang="en-US" sz="2050" b="1" u="none" strike="noStrike">
                <a:solidFill>
                  <a:srgbClr val="00D4FF"/>
                </a:solidFill>
                <a:effectLst/>
                <a:uFillTx/>
                <a:latin typeface="Calibri"/>
              </a:rPr>
              <a:t>● </a:t>
            </a:r>
            <a:r>
              <a:rPr lang="en-US" sz="2050" b="0" u="none" strike="noStrike">
                <a:solidFill>
                  <a:srgbClr val="FFFFFF"/>
                </a:solidFill>
                <a:effectLst/>
                <a:uFillTx/>
                <a:latin typeface="Calibri"/>
              </a:rPr>
              <a:t>Instantanés cloud partagés entre comptes, jamais départagés.</a:t>
            </a:r>
            <a:endParaRPr lang="en-US" sz="2300" b="0" u="none" strike="noStrike">
              <a:solidFill>
                <a:srgbClr val="FFFFFF"/>
              </a:solidFill>
              <a:effectLst/>
              <a:uFillTx/>
              <a:latin typeface="Arial"/>
            </a:endParaRPr>
          </a:p>
          <a:p>
            <a:pPr defTabSz="457200">
              <a:lnSpc>
                <a:spcPct val="140000"/>
              </a:lnSpc>
            </a:pPr>
            <a:r>
              <a:rPr lang="en-US" sz="2050" b="1" u="none" strike="noStrike">
                <a:solidFill>
                  <a:srgbClr val="00D4FF"/>
                </a:solidFill>
                <a:effectLst/>
                <a:uFillTx/>
                <a:latin typeface="Calibri"/>
              </a:rPr>
              <a:t>● </a:t>
            </a:r>
            <a:r>
              <a:rPr lang="en-US" sz="2050" b="0" u="none" strike="noStrike">
                <a:solidFill>
                  <a:srgbClr val="FFFFFF"/>
                </a:solidFill>
                <a:effectLst/>
                <a:uFillTx/>
                <a:latin typeface="Calibri"/>
              </a:rPr>
              <a:t>Sauvegardes externalisées chez des prestataires dont vous n'avez jamais vérifié la posture.</a:t>
            </a:r>
            <a:endParaRPr lang="en-US" sz="2300" b="0" u="none" strike="noStrike">
              <a:solidFill>
                <a:srgbClr val="FFFFFF"/>
              </a:solidFill>
              <a:effectLst/>
              <a:uFillTx/>
              <a:latin typeface="Arial"/>
            </a:endParaRPr>
          </a:p>
          <a:p>
            <a:pPr defTabSz="457200">
              <a:lnSpc>
                <a:spcPct val="140000"/>
              </a:lnSpc>
            </a:pPr>
            <a:r>
              <a:rPr lang="en-US" sz="2050" b="1" u="none" strike="noStrike">
                <a:solidFill>
                  <a:srgbClr val="00D4FF"/>
                </a:solidFill>
                <a:effectLst/>
                <a:uFillTx/>
                <a:latin typeface="Calibri"/>
              </a:rPr>
              <a:t>● </a:t>
            </a:r>
            <a:r>
              <a:rPr lang="en-US" sz="2050" b="0" u="none" strike="noStrike">
                <a:solidFill>
                  <a:srgbClr val="FFFFFF"/>
                </a:solidFill>
                <a:effectLst/>
                <a:uFillTx/>
                <a:latin typeface="Calibri"/>
              </a:rPr>
              <a:t>Les sauvegardes sont le dernier recours. Appliquez identifier-authentifier-autoriser-auditer.</a:t>
            </a:r>
            <a:endParaRPr lang="en-US" sz="2300" b="0" u="none" strike="noStrike">
              <a:solidFill>
                <a:srgbClr val="FFFFFF"/>
              </a:solidFill>
              <a:effectLst/>
              <a:uFillTx/>
              <a:latin typeface="Arial"/>
            </a:endParaRPr>
          </a:p>
        </p:txBody>
      </p:sp>
      <p:sp>
        <p:nvSpPr>
          <p:cNvPr id="588" name="TextBox 6"/>
          <p:cNvSpPr/>
          <p:nvPr/>
        </p:nvSpPr>
        <p:spPr>
          <a:xfrm>
            <a:off x="457200" y="5989320"/>
            <a:ext cx="11246760" cy="3654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600" b="0" u="none" strike="noStrike">
                <a:solidFill>
                  <a:srgbClr val="CCCCD6"/>
                </a:solidFill>
                <a:effectLst/>
                <a:uFillTx/>
                <a:latin typeface="Calibri"/>
              </a:rPr>
              <a:t>Schneier : identifier, authentifier, autoriser, auditer — le même modèle.</a:t>
            </a:r>
            <a:endParaRPr lang="en-US" sz="1600" b="0" u="none" strike="noStrike">
              <a:solidFill>
                <a:srgbClr val="FFFFFF"/>
              </a:solidFill>
              <a:effectLst/>
              <a:uFillTx/>
              <a:latin typeface="Arial"/>
            </a:endParaRPr>
          </a:p>
        </p:txBody>
      </p:sp>
      <p:sp>
        <p:nvSpPr>
          <p:cNvPr id="589" name="TextBox 7"/>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Les bases de données pour les hackers</a:t>
            </a:r>
            <a:endParaRPr lang="en-US" sz="1400" b="0" u="none" strike="noStrike">
              <a:solidFill>
                <a:srgbClr val="FFFFFF"/>
              </a:solidFill>
              <a:effectLst/>
              <a:uFillTx/>
              <a:latin typeface="Arial"/>
            </a:endParaRPr>
          </a:p>
        </p:txBody>
      </p:sp>
      <p:sp>
        <p:nvSpPr>
          <p:cNvPr id="590" name="TextBox 8"/>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38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4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91" name="TextBox 1" descr="Recap of the mental map: definition, ten families, cloud shared responsibility, markdown as a database, and the expanded attack surface." title="Recap of the mental map: definition, ten families, cloud shared responsibility, "/>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00FF41"/>
                </a:solidFill>
                <a:effectLst/>
                <a:uFillTx/>
                <a:latin typeface="Calibri"/>
              </a:rPr>
              <a:t>Votre carte mentale</a:t>
            </a:r>
            <a:endParaRPr lang="en-US" sz="4200" b="0" u="none" strike="noStrike">
              <a:solidFill>
                <a:srgbClr val="FFFFFF"/>
              </a:solidFill>
              <a:effectLst/>
              <a:uFillTx/>
              <a:latin typeface="Arial"/>
            </a:endParaRPr>
          </a:p>
        </p:txBody>
      </p:sp>
      <p:sp>
        <p:nvSpPr>
          <p:cNvPr id="592"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93" name="TextBox 3"/>
          <p:cNvSpPr/>
          <p:nvPr/>
        </p:nvSpPr>
        <p:spPr>
          <a:xfrm>
            <a:off x="640080" y="1828800"/>
            <a:ext cx="10972440" cy="4114440"/>
          </a:xfrm>
          <a:prstGeom prst="rect">
            <a:avLst/>
          </a:prstGeom>
          <a:noFill/>
          <a:ln w="0">
            <a:noFill/>
          </a:ln>
        </p:spPr>
        <p:style>
          <a:lnRef idx="0"/>
          <a:fillRef idx="0"/>
          <a:effectRef idx="0"/>
          <a:fontRef idx="minor"/>
        </p:style>
        <p:txBody>
          <a:bodyPr lIns="90000" tIns="45000" rIns="90000" bIns="45000" anchor="t">
            <a:spAutoFit/>
          </a:bodyPr>
          <a:p>
            <a:pPr defTabSz="457200">
              <a:lnSpc>
                <a:spcPct val="155000"/>
              </a:lnSpc>
            </a:pPr>
            <a:r>
              <a:rPr lang="en-US" sz="2150" b="1" u="none" strike="noStrike">
                <a:solidFill>
                  <a:srgbClr val="00D4FF"/>
                </a:solidFill>
                <a:effectLst/>
                <a:uFillTx/>
                <a:latin typeface="Calibri"/>
              </a:rPr>
              <a:t>✓ </a:t>
            </a:r>
            <a:r>
              <a:rPr lang="en-US" sz="2150" b="0" u="none" strike="noStrike">
                <a:solidFill>
                  <a:srgbClr val="FFFFFF"/>
                </a:solidFill>
                <a:effectLst/>
                <a:uFillTx/>
                <a:latin typeface="Calibri"/>
              </a:rPr>
              <a:t>Une base de données = un stockage organisé + un moyen de poser des questions.</a:t>
            </a:r>
            <a:endParaRPr lang="en-US" sz="2800" b="0" u="none" strike="noStrike">
              <a:solidFill>
                <a:srgbClr val="FFFFFF"/>
              </a:solidFill>
              <a:effectLst/>
              <a:uFillTx/>
              <a:latin typeface="Arial"/>
            </a:endParaRPr>
          </a:p>
          <a:p>
            <a:pPr defTabSz="457200">
              <a:lnSpc>
                <a:spcPct val="155000"/>
              </a:lnSpc>
            </a:pPr>
            <a:r>
              <a:rPr lang="en-US" sz="2150" b="1" u="none" strike="noStrike">
                <a:solidFill>
                  <a:srgbClr val="00D4FF"/>
                </a:solidFill>
                <a:effectLst/>
                <a:uFillTx/>
                <a:latin typeface="Calibri"/>
              </a:rPr>
              <a:t>✓ </a:t>
            </a:r>
            <a:r>
              <a:rPr lang="en-US" sz="2150" b="0" u="none" strike="noStrike">
                <a:solidFill>
                  <a:srgbClr val="FFFFFF"/>
                </a:solidFill>
                <a:effectLst/>
                <a:uFillTx/>
                <a:latin typeface="Calibri"/>
              </a:rPr>
              <a:t>Dix familles, chacune avec son propre piège.</a:t>
            </a:r>
            <a:endParaRPr lang="en-US" sz="2800" b="0" u="none" strike="noStrike">
              <a:solidFill>
                <a:srgbClr val="FFFFFF"/>
              </a:solidFill>
              <a:effectLst/>
              <a:uFillTx/>
              <a:latin typeface="Arial"/>
            </a:endParaRPr>
          </a:p>
          <a:p>
            <a:pPr defTabSz="457200">
              <a:lnSpc>
                <a:spcPct val="155000"/>
              </a:lnSpc>
            </a:pPr>
            <a:r>
              <a:rPr lang="en-US" sz="2150" b="1" u="none" strike="noStrike">
                <a:solidFill>
                  <a:srgbClr val="00D4FF"/>
                </a:solidFill>
                <a:effectLst/>
                <a:uFillTx/>
                <a:latin typeface="Calibri"/>
              </a:rPr>
              <a:t>✓ </a:t>
            </a:r>
            <a:r>
              <a:rPr lang="en-US" sz="2150" b="0" u="none" strike="noStrike">
                <a:solidFill>
                  <a:srgbClr val="FFFFFF"/>
                </a:solidFill>
                <a:effectLst/>
                <a:uFillTx/>
                <a:latin typeface="Calibri"/>
              </a:rPr>
              <a:t>Cloud = responsabilité partagée. La config et les données sont à votre charge.</a:t>
            </a:r>
            <a:endParaRPr lang="en-US" sz="2800" b="0" u="none" strike="noStrike">
              <a:solidFill>
                <a:srgbClr val="FFFFFF"/>
              </a:solidFill>
              <a:effectLst/>
              <a:uFillTx/>
              <a:latin typeface="Arial"/>
            </a:endParaRPr>
          </a:p>
          <a:p>
            <a:pPr defTabSz="457200">
              <a:lnSpc>
                <a:spcPct val="155000"/>
              </a:lnSpc>
            </a:pPr>
            <a:r>
              <a:rPr lang="en-US" sz="2150" b="1" u="none" strike="noStrike">
                <a:solidFill>
                  <a:srgbClr val="00D4FF"/>
                </a:solidFill>
                <a:effectLst/>
                <a:uFillTx/>
                <a:latin typeface="Calibri"/>
              </a:rPr>
              <a:t>✓ </a:t>
            </a:r>
            <a:r>
              <a:rPr lang="en-US" sz="2150" b="0" u="none" strike="noStrike">
                <a:solidFill>
                  <a:srgbClr val="FFFFFF"/>
                </a:solidFill>
                <a:effectLst/>
                <a:uFillTx/>
                <a:latin typeface="Calibri"/>
              </a:rPr>
              <a:t>Le markdown est une base de données pour les LLM. L'empoisonnement RAG est bien réel.</a:t>
            </a:r>
            <a:endParaRPr lang="en-US" sz="2800" b="0" u="none" strike="noStrike">
              <a:solidFill>
                <a:srgbClr val="FFFFFF"/>
              </a:solidFill>
              <a:effectLst/>
              <a:uFillTx/>
              <a:latin typeface="Arial"/>
            </a:endParaRPr>
          </a:p>
          <a:p>
            <a:pPr defTabSz="457200">
              <a:lnSpc>
                <a:spcPct val="155000"/>
              </a:lnSpc>
            </a:pPr>
            <a:r>
              <a:rPr lang="en-US" sz="2150" b="1" u="none" strike="noStrike">
                <a:solidFill>
                  <a:srgbClr val="00D4FF"/>
                </a:solidFill>
                <a:effectLst/>
                <a:uFillTx/>
                <a:latin typeface="Calibri"/>
              </a:rPr>
              <a:t>✓ </a:t>
            </a:r>
            <a:r>
              <a:rPr lang="en-US" sz="2150" b="0" u="none" strike="noStrike">
                <a:solidFill>
                  <a:srgbClr val="FFFFFF"/>
                </a:solidFill>
                <a:effectLst/>
                <a:uFillTx/>
                <a:latin typeface="Calibri"/>
              </a:rPr>
              <a:t>Le SQLi a été corrigé. La surface d'attaque s'est élargie.</a:t>
            </a:r>
            <a:endParaRPr lang="en-US" sz="2800" b="0" u="none" strike="noStrike">
              <a:solidFill>
                <a:srgbClr val="FFFFFF"/>
              </a:solidFill>
              <a:effectLst/>
              <a:uFillTx/>
              <a:latin typeface="Arial"/>
            </a:endParaRPr>
          </a:p>
        </p:txBody>
      </p:sp>
      <p:sp>
        <p:nvSpPr>
          <p:cNvPr id="594" name="TextBox 4"/>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Les bases de données pour les hackers</a:t>
            </a:r>
            <a:endParaRPr lang="en-US" sz="1400" b="0" u="none" strike="noStrike">
              <a:solidFill>
                <a:srgbClr val="FFFFFF"/>
              </a:solidFill>
              <a:effectLst/>
              <a:uFillTx/>
              <a:latin typeface="Arial"/>
            </a:endParaRPr>
          </a:p>
        </p:txBody>
      </p:sp>
      <p:sp>
        <p:nvSpPr>
          <p:cNvPr id="595" name="TextBox 5"/>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39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4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96" name="TextBox 1" descr="Five concrete next steps: install PostgreSQL, do PortSwigger SQLi labs, browse Shodan/Censys legally, read breach reports, list your org's databases." title="Five concrete next steps: install PostgreSQL, do PortSwigger SQLi labs, browse S"/>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100" b="1" u="none" strike="noStrike">
                <a:solidFill>
                  <a:srgbClr val="00FF41"/>
                </a:solidFill>
                <a:effectLst/>
                <a:uFillTx/>
                <a:latin typeface="Calibri"/>
              </a:rPr>
              <a:t>Ce qu'il faut faire la semaine prochaine</a:t>
            </a:r>
            <a:endParaRPr lang="en-US" sz="4200" b="0" u="none" strike="noStrike">
              <a:solidFill>
                <a:srgbClr val="FFFFFF"/>
              </a:solidFill>
              <a:effectLst/>
              <a:uFillTx/>
              <a:latin typeface="Arial"/>
            </a:endParaRPr>
          </a:p>
        </p:txBody>
      </p:sp>
      <p:sp>
        <p:nvSpPr>
          <p:cNvPr id="597"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98" name="TextBox 3"/>
          <p:cNvSpPr/>
          <p:nvPr/>
        </p:nvSpPr>
        <p:spPr>
          <a:xfrm>
            <a:off x="548640" y="1783080"/>
            <a:ext cx="914040" cy="6854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600" b="1" u="none" strike="noStrike">
                <a:solidFill>
                  <a:srgbClr val="00FF41"/>
                </a:solidFill>
                <a:effectLst/>
                <a:uFillTx/>
                <a:latin typeface="Calibri"/>
              </a:rPr>
              <a:t>1.</a:t>
            </a:r>
            <a:endParaRPr lang="en-US" sz="3600" b="0" u="none" strike="noStrike">
              <a:solidFill>
                <a:srgbClr val="FFFFFF"/>
              </a:solidFill>
              <a:effectLst/>
              <a:uFillTx/>
              <a:latin typeface="Arial"/>
            </a:endParaRPr>
          </a:p>
        </p:txBody>
      </p:sp>
      <p:sp>
        <p:nvSpPr>
          <p:cNvPr id="599" name="TextBox 4"/>
          <p:cNvSpPr/>
          <p:nvPr/>
        </p:nvSpPr>
        <p:spPr>
          <a:xfrm>
            <a:off x="1554480" y="1828800"/>
            <a:ext cx="10240920" cy="6854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600" b="0" u="none" strike="noStrike">
                <a:solidFill>
                  <a:srgbClr val="FFFFFF"/>
                </a:solidFill>
                <a:effectLst/>
                <a:uFillTx/>
                <a:latin typeface="Calibri"/>
              </a:rPr>
              <a:t>Installez PostgreSQL en local. Écrivez un SELECT.</a:t>
            </a:r>
            <a:endParaRPr lang="en-US" sz="2600" b="0" u="none" strike="noStrike">
              <a:solidFill>
                <a:srgbClr val="FFFFFF"/>
              </a:solidFill>
              <a:effectLst/>
              <a:uFillTx/>
              <a:latin typeface="Arial"/>
            </a:endParaRPr>
          </a:p>
        </p:txBody>
      </p:sp>
      <p:sp>
        <p:nvSpPr>
          <p:cNvPr id="600" name="TextBox 5"/>
          <p:cNvSpPr/>
          <p:nvPr/>
        </p:nvSpPr>
        <p:spPr>
          <a:xfrm>
            <a:off x="548640" y="2606040"/>
            <a:ext cx="914040" cy="6854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600" b="1" u="none" strike="noStrike">
                <a:solidFill>
                  <a:srgbClr val="00FF41"/>
                </a:solidFill>
                <a:effectLst/>
                <a:uFillTx/>
                <a:latin typeface="Calibri"/>
              </a:rPr>
              <a:t>2.</a:t>
            </a:r>
            <a:endParaRPr lang="en-US" sz="3600" b="0" u="none" strike="noStrike">
              <a:solidFill>
                <a:srgbClr val="FFFFFF"/>
              </a:solidFill>
              <a:effectLst/>
              <a:uFillTx/>
              <a:latin typeface="Arial"/>
            </a:endParaRPr>
          </a:p>
        </p:txBody>
      </p:sp>
      <p:sp>
        <p:nvSpPr>
          <p:cNvPr id="601" name="TextBox 6"/>
          <p:cNvSpPr/>
          <p:nvPr/>
        </p:nvSpPr>
        <p:spPr>
          <a:xfrm>
            <a:off x="1554480" y="2651760"/>
            <a:ext cx="10240920" cy="6854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600" b="0" u="none" strike="noStrike">
                <a:solidFill>
                  <a:srgbClr val="FFFFFF"/>
                </a:solidFill>
                <a:effectLst/>
                <a:uFillTx/>
                <a:latin typeface="Calibri"/>
              </a:rPr>
              <a:t>Faites les labos d'injection SQL de PortSwigger (gratuits).</a:t>
            </a:r>
            <a:endParaRPr lang="en-US" sz="2600" b="0" u="none" strike="noStrike">
              <a:solidFill>
                <a:srgbClr val="FFFFFF"/>
              </a:solidFill>
              <a:effectLst/>
              <a:uFillTx/>
              <a:latin typeface="Arial"/>
            </a:endParaRPr>
          </a:p>
        </p:txBody>
      </p:sp>
      <p:sp>
        <p:nvSpPr>
          <p:cNvPr id="602" name="TextBox 7"/>
          <p:cNvSpPr/>
          <p:nvPr/>
        </p:nvSpPr>
        <p:spPr>
          <a:xfrm>
            <a:off x="548640" y="3429000"/>
            <a:ext cx="914040" cy="6854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600" b="1" u="none" strike="noStrike">
                <a:solidFill>
                  <a:srgbClr val="00FF41"/>
                </a:solidFill>
                <a:effectLst/>
                <a:uFillTx/>
                <a:latin typeface="Calibri"/>
              </a:rPr>
              <a:t>3.</a:t>
            </a:r>
            <a:endParaRPr lang="en-US" sz="3600" b="0" u="none" strike="noStrike">
              <a:solidFill>
                <a:srgbClr val="FFFFFF"/>
              </a:solidFill>
              <a:effectLst/>
              <a:uFillTx/>
              <a:latin typeface="Arial"/>
            </a:endParaRPr>
          </a:p>
        </p:txBody>
      </p:sp>
      <p:sp>
        <p:nvSpPr>
          <p:cNvPr id="603" name="TextBox 8"/>
          <p:cNvSpPr/>
          <p:nvPr/>
        </p:nvSpPr>
        <p:spPr>
          <a:xfrm>
            <a:off x="1554480" y="3474720"/>
            <a:ext cx="10240920" cy="6854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Parcourez Shodan / Censys — uniquement les systèmes qui vous appartiennent.</a:t>
            </a:r>
            <a:endParaRPr lang="en-US" sz="2600" b="0" u="none" strike="noStrike">
              <a:solidFill>
                <a:srgbClr val="FFFFFF"/>
              </a:solidFill>
              <a:effectLst/>
              <a:uFillTx/>
              <a:latin typeface="Arial"/>
            </a:endParaRPr>
          </a:p>
        </p:txBody>
      </p:sp>
      <p:sp>
        <p:nvSpPr>
          <p:cNvPr id="604" name="TextBox 9"/>
          <p:cNvSpPr/>
          <p:nvPr/>
        </p:nvSpPr>
        <p:spPr>
          <a:xfrm>
            <a:off x="548640" y="4251960"/>
            <a:ext cx="914040" cy="6854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600" b="1" u="none" strike="noStrike">
                <a:solidFill>
                  <a:srgbClr val="00FF41"/>
                </a:solidFill>
                <a:effectLst/>
                <a:uFillTx/>
                <a:latin typeface="Calibri"/>
              </a:rPr>
              <a:t>4.</a:t>
            </a:r>
            <a:endParaRPr lang="en-US" sz="3600" b="0" u="none" strike="noStrike">
              <a:solidFill>
                <a:srgbClr val="FFFFFF"/>
              </a:solidFill>
              <a:effectLst/>
              <a:uFillTx/>
              <a:latin typeface="Arial"/>
            </a:endParaRPr>
          </a:p>
        </p:txBody>
      </p:sp>
      <p:sp>
        <p:nvSpPr>
          <p:cNvPr id="605" name="TextBox 10"/>
          <p:cNvSpPr/>
          <p:nvPr/>
        </p:nvSpPr>
        <p:spPr>
          <a:xfrm>
            <a:off x="1554480" y="4297680"/>
            <a:ext cx="10240920" cy="6854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600" b="0" u="none" strike="noStrike">
                <a:solidFill>
                  <a:srgbClr val="FFFFFF"/>
                </a:solidFill>
                <a:effectLst/>
                <a:uFillTx/>
                <a:latin typeface="Calibri"/>
              </a:rPr>
              <a:t>Lisez un rapport de violation — Capital One, Equifax, MOVEit.</a:t>
            </a:r>
            <a:endParaRPr lang="en-US" sz="2600" b="0" u="none" strike="noStrike">
              <a:solidFill>
                <a:srgbClr val="FFFFFF"/>
              </a:solidFill>
              <a:effectLst/>
              <a:uFillTx/>
              <a:latin typeface="Arial"/>
            </a:endParaRPr>
          </a:p>
        </p:txBody>
      </p:sp>
      <p:sp>
        <p:nvSpPr>
          <p:cNvPr id="606" name="TextBox 11"/>
          <p:cNvSpPr/>
          <p:nvPr/>
        </p:nvSpPr>
        <p:spPr>
          <a:xfrm>
            <a:off x="548640" y="5074920"/>
            <a:ext cx="914040" cy="6854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600" b="1" u="none" strike="noStrike">
                <a:solidFill>
                  <a:srgbClr val="00FF41"/>
                </a:solidFill>
                <a:effectLst/>
                <a:uFillTx/>
                <a:latin typeface="Calibri"/>
              </a:rPr>
              <a:t>5.</a:t>
            </a:r>
            <a:endParaRPr lang="en-US" sz="3600" b="0" u="none" strike="noStrike">
              <a:solidFill>
                <a:srgbClr val="FFFFFF"/>
              </a:solidFill>
              <a:effectLst/>
              <a:uFillTx/>
              <a:latin typeface="Arial"/>
            </a:endParaRPr>
          </a:p>
        </p:txBody>
      </p:sp>
      <p:sp>
        <p:nvSpPr>
          <p:cNvPr id="607" name="TextBox 12"/>
          <p:cNvSpPr/>
          <p:nvPr/>
        </p:nvSpPr>
        <p:spPr>
          <a:xfrm>
            <a:off x="1554480" y="5120640"/>
            <a:ext cx="10240920" cy="6854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Découvrez quelles bases de données VOTRE organisation utilise réellement.</a:t>
            </a:r>
            <a:endParaRPr lang="en-US" sz="2600" b="0" u="none" strike="noStrike">
              <a:solidFill>
                <a:srgbClr val="FFFFFF"/>
              </a:solidFill>
              <a:effectLst/>
              <a:uFillTx/>
              <a:latin typeface="Arial"/>
            </a:endParaRPr>
          </a:p>
        </p:txBody>
      </p:sp>
      <p:sp>
        <p:nvSpPr>
          <p:cNvPr id="608" name="TextBox 13"/>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Les bases de données pour les hackers</a:t>
            </a:r>
            <a:endParaRPr lang="en-US" sz="1400" b="0" u="none" strike="noStrike">
              <a:solidFill>
                <a:srgbClr val="FFFFFF"/>
              </a:solidFill>
              <a:effectLst/>
              <a:uFillTx/>
              <a:latin typeface="Arial"/>
            </a:endParaRPr>
          </a:p>
        </p:txBody>
      </p:sp>
      <p:sp>
        <p:nvSpPr>
          <p:cNvPr id="609" name="TextBox 14"/>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40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4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610" name="TextBox 1" descr="Resource list: PortSwigger Web Security Academy, SQLBolt, Use The Index Luke, DB-Engines, and the OWASP Top 10." title="Resource list: PortSwigger Web Security Academy, SQLBolt, Use The Index Luke, DB"/>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00FF41"/>
                </a:solidFill>
                <a:effectLst/>
                <a:uFillTx/>
                <a:latin typeface="Calibri"/>
              </a:rPr>
              <a:t>Ressources à mettre en favoris</a:t>
            </a:r>
            <a:endParaRPr lang="en-US" sz="4200" b="0" u="none" strike="noStrike">
              <a:solidFill>
                <a:srgbClr val="FFFFFF"/>
              </a:solidFill>
              <a:effectLst/>
              <a:uFillTx/>
              <a:latin typeface="Arial"/>
            </a:endParaRPr>
          </a:p>
        </p:txBody>
      </p:sp>
      <p:sp>
        <p:nvSpPr>
          <p:cNvPr id="611"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612" name="TextBox 3"/>
          <p:cNvSpPr/>
          <p:nvPr/>
        </p:nvSpPr>
        <p:spPr>
          <a:xfrm>
            <a:off x="548640" y="1828800"/>
            <a:ext cx="4568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00FF41"/>
                </a:solidFill>
                <a:effectLst/>
                <a:uFillTx/>
                <a:latin typeface="Calibri"/>
              </a:rPr>
              <a:t>◆</a:t>
            </a:r>
            <a:endParaRPr lang="en-US" sz="2800" b="0" u="none" strike="noStrike">
              <a:solidFill>
                <a:srgbClr val="FFFFFF"/>
              </a:solidFill>
              <a:effectLst/>
              <a:uFillTx/>
              <a:latin typeface="Arial"/>
            </a:endParaRPr>
          </a:p>
        </p:txBody>
      </p:sp>
      <p:sp>
        <p:nvSpPr>
          <p:cNvPr id="613" name="TextBox 4"/>
          <p:cNvSpPr/>
          <p:nvPr/>
        </p:nvSpPr>
        <p:spPr>
          <a:xfrm>
            <a:off x="1097280" y="1828800"/>
            <a:ext cx="59432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550" b="1" u="none" strike="noStrike">
                <a:solidFill>
                  <a:srgbClr val="FFFFFF"/>
                </a:solidFill>
                <a:effectLst/>
                <a:uFillTx/>
                <a:latin typeface="Calibri"/>
              </a:rPr>
              <a:t>PortSwigger Web Security Academy</a:t>
            </a:r>
            <a:endParaRPr lang="en-US" sz="2600" b="0" u="none" strike="noStrike">
              <a:solidFill>
                <a:srgbClr val="FFFFFF"/>
              </a:solidFill>
              <a:effectLst/>
              <a:uFillTx/>
              <a:latin typeface="Arial"/>
            </a:endParaRPr>
          </a:p>
        </p:txBody>
      </p:sp>
      <p:sp>
        <p:nvSpPr>
          <p:cNvPr id="614" name="TextBox 5"/>
          <p:cNvSpPr/>
          <p:nvPr/>
        </p:nvSpPr>
        <p:spPr>
          <a:xfrm>
            <a:off x="7040880" y="1828800"/>
            <a:ext cx="493740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0" u="none" strike="noStrike">
                <a:solidFill>
                  <a:srgbClr val="00D4FF"/>
                </a:solidFill>
                <a:effectLst/>
                <a:uFillTx/>
                <a:latin typeface="Calibri"/>
              </a:rPr>
              <a:t>portswigger.net/web-security</a:t>
            </a:r>
            <a:endParaRPr lang="en-US" sz="2200" b="0" u="none" strike="noStrike">
              <a:solidFill>
                <a:srgbClr val="FFFFFF"/>
              </a:solidFill>
              <a:effectLst/>
              <a:uFillTx/>
              <a:latin typeface="Arial"/>
            </a:endParaRPr>
          </a:p>
        </p:txBody>
      </p:sp>
      <p:sp>
        <p:nvSpPr>
          <p:cNvPr id="615" name="TextBox 6"/>
          <p:cNvSpPr/>
          <p:nvPr/>
        </p:nvSpPr>
        <p:spPr>
          <a:xfrm>
            <a:off x="548640" y="2606040"/>
            <a:ext cx="4568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00FF41"/>
                </a:solidFill>
                <a:effectLst/>
                <a:uFillTx/>
                <a:latin typeface="Calibri"/>
              </a:rPr>
              <a:t>◆</a:t>
            </a:r>
            <a:endParaRPr lang="en-US" sz="2800" b="0" u="none" strike="noStrike">
              <a:solidFill>
                <a:srgbClr val="FFFFFF"/>
              </a:solidFill>
              <a:effectLst/>
              <a:uFillTx/>
              <a:latin typeface="Arial"/>
            </a:endParaRPr>
          </a:p>
        </p:txBody>
      </p:sp>
      <p:sp>
        <p:nvSpPr>
          <p:cNvPr id="616" name="TextBox 7"/>
          <p:cNvSpPr/>
          <p:nvPr/>
        </p:nvSpPr>
        <p:spPr>
          <a:xfrm>
            <a:off x="1097280" y="2606040"/>
            <a:ext cx="59432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600" b="1" u="none" strike="noStrike">
                <a:solidFill>
                  <a:srgbClr val="FFFFFF"/>
                </a:solidFill>
                <a:effectLst/>
                <a:uFillTx/>
                <a:latin typeface="Calibri"/>
              </a:rPr>
              <a:t>SQLBolt</a:t>
            </a:r>
            <a:endParaRPr lang="en-US" sz="2600" b="0" u="none" strike="noStrike">
              <a:solidFill>
                <a:srgbClr val="FFFFFF"/>
              </a:solidFill>
              <a:effectLst/>
              <a:uFillTx/>
              <a:latin typeface="Arial"/>
            </a:endParaRPr>
          </a:p>
        </p:txBody>
      </p:sp>
      <p:sp>
        <p:nvSpPr>
          <p:cNvPr id="617" name="TextBox 8"/>
          <p:cNvSpPr/>
          <p:nvPr/>
        </p:nvSpPr>
        <p:spPr>
          <a:xfrm>
            <a:off x="7040880" y="2606040"/>
            <a:ext cx="493740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0" u="none" strike="noStrike">
                <a:solidFill>
                  <a:srgbClr val="00D4FF"/>
                </a:solidFill>
                <a:effectLst/>
                <a:uFillTx/>
                <a:latin typeface="Calibri"/>
              </a:rPr>
              <a:t>sqlbolt.com</a:t>
            </a:r>
            <a:endParaRPr lang="en-US" sz="2200" b="0" u="none" strike="noStrike">
              <a:solidFill>
                <a:srgbClr val="FFFFFF"/>
              </a:solidFill>
              <a:effectLst/>
              <a:uFillTx/>
              <a:latin typeface="Arial"/>
            </a:endParaRPr>
          </a:p>
        </p:txBody>
      </p:sp>
      <p:sp>
        <p:nvSpPr>
          <p:cNvPr id="618" name="TextBox 9"/>
          <p:cNvSpPr/>
          <p:nvPr/>
        </p:nvSpPr>
        <p:spPr>
          <a:xfrm>
            <a:off x="548640" y="3383280"/>
            <a:ext cx="4568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00FF41"/>
                </a:solidFill>
                <a:effectLst/>
                <a:uFillTx/>
                <a:latin typeface="Calibri"/>
              </a:rPr>
              <a:t>◆</a:t>
            </a:r>
            <a:endParaRPr lang="en-US" sz="2800" b="0" u="none" strike="noStrike">
              <a:solidFill>
                <a:srgbClr val="FFFFFF"/>
              </a:solidFill>
              <a:effectLst/>
              <a:uFillTx/>
              <a:latin typeface="Arial"/>
            </a:endParaRPr>
          </a:p>
        </p:txBody>
      </p:sp>
      <p:sp>
        <p:nvSpPr>
          <p:cNvPr id="619" name="TextBox 10"/>
          <p:cNvSpPr/>
          <p:nvPr/>
        </p:nvSpPr>
        <p:spPr>
          <a:xfrm>
            <a:off x="1097280" y="3383280"/>
            <a:ext cx="59432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600" b="1" u="none" strike="noStrike">
                <a:solidFill>
                  <a:srgbClr val="FFFFFF"/>
                </a:solidFill>
                <a:effectLst/>
                <a:uFillTx/>
                <a:latin typeface="Calibri"/>
              </a:rPr>
              <a:t>Use The Index, Luke</a:t>
            </a:r>
            <a:endParaRPr lang="en-US" sz="2600" b="0" u="none" strike="noStrike">
              <a:solidFill>
                <a:srgbClr val="FFFFFF"/>
              </a:solidFill>
              <a:effectLst/>
              <a:uFillTx/>
              <a:latin typeface="Arial"/>
            </a:endParaRPr>
          </a:p>
        </p:txBody>
      </p:sp>
      <p:sp>
        <p:nvSpPr>
          <p:cNvPr id="620" name="TextBox 11"/>
          <p:cNvSpPr/>
          <p:nvPr/>
        </p:nvSpPr>
        <p:spPr>
          <a:xfrm>
            <a:off x="7040880" y="3383280"/>
            <a:ext cx="493740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0" u="none" strike="noStrike">
                <a:solidFill>
                  <a:srgbClr val="00D4FF"/>
                </a:solidFill>
                <a:effectLst/>
                <a:uFillTx/>
                <a:latin typeface="Calibri"/>
              </a:rPr>
              <a:t>use-the-index-luke.com</a:t>
            </a:r>
            <a:endParaRPr lang="en-US" sz="2200" b="0" u="none" strike="noStrike">
              <a:solidFill>
                <a:srgbClr val="FFFFFF"/>
              </a:solidFill>
              <a:effectLst/>
              <a:uFillTx/>
              <a:latin typeface="Arial"/>
            </a:endParaRPr>
          </a:p>
        </p:txBody>
      </p:sp>
      <p:sp>
        <p:nvSpPr>
          <p:cNvPr id="621" name="TextBox 12"/>
          <p:cNvSpPr/>
          <p:nvPr/>
        </p:nvSpPr>
        <p:spPr>
          <a:xfrm>
            <a:off x="548640" y="4160520"/>
            <a:ext cx="4568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00FF41"/>
                </a:solidFill>
                <a:effectLst/>
                <a:uFillTx/>
                <a:latin typeface="Calibri"/>
              </a:rPr>
              <a:t>◆</a:t>
            </a:r>
            <a:endParaRPr lang="en-US" sz="2800" b="0" u="none" strike="noStrike">
              <a:solidFill>
                <a:srgbClr val="FFFFFF"/>
              </a:solidFill>
              <a:effectLst/>
              <a:uFillTx/>
              <a:latin typeface="Arial"/>
            </a:endParaRPr>
          </a:p>
        </p:txBody>
      </p:sp>
      <p:sp>
        <p:nvSpPr>
          <p:cNvPr id="622" name="TextBox 13"/>
          <p:cNvSpPr/>
          <p:nvPr/>
        </p:nvSpPr>
        <p:spPr>
          <a:xfrm>
            <a:off x="1097280" y="4160520"/>
            <a:ext cx="59432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600" b="1" u="none" strike="noStrike">
                <a:solidFill>
                  <a:srgbClr val="FFFFFF"/>
                </a:solidFill>
                <a:effectLst/>
                <a:uFillTx/>
                <a:latin typeface="Calibri"/>
              </a:rPr>
              <a:t>DB-Engines Ranking</a:t>
            </a:r>
            <a:endParaRPr lang="en-US" sz="2600" b="0" u="none" strike="noStrike">
              <a:solidFill>
                <a:srgbClr val="FFFFFF"/>
              </a:solidFill>
              <a:effectLst/>
              <a:uFillTx/>
              <a:latin typeface="Arial"/>
            </a:endParaRPr>
          </a:p>
        </p:txBody>
      </p:sp>
      <p:sp>
        <p:nvSpPr>
          <p:cNvPr id="623" name="TextBox 14"/>
          <p:cNvSpPr/>
          <p:nvPr/>
        </p:nvSpPr>
        <p:spPr>
          <a:xfrm>
            <a:off x="7040880" y="4160520"/>
            <a:ext cx="493740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0" u="none" strike="noStrike">
                <a:solidFill>
                  <a:srgbClr val="00D4FF"/>
                </a:solidFill>
                <a:effectLst/>
                <a:uFillTx/>
                <a:latin typeface="Calibri"/>
              </a:rPr>
              <a:t>db-engines.com</a:t>
            </a:r>
            <a:endParaRPr lang="en-US" sz="2200" b="0" u="none" strike="noStrike">
              <a:solidFill>
                <a:srgbClr val="FFFFFF"/>
              </a:solidFill>
              <a:effectLst/>
              <a:uFillTx/>
              <a:latin typeface="Arial"/>
            </a:endParaRPr>
          </a:p>
        </p:txBody>
      </p:sp>
      <p:sp>
        <p:nvSpPr>
          <p:cNvPr id="624" name="TextBox 15"/>
          <p:cNvSpPr/>
          <p:nvPr/>
        </p:nvSpPr>
        <p:spPr>
          <a:xfrm>
            <a:off x="548640" y="4937760"/>
            <a:ext cx="4568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00FF41"/>
                </a:solidFill>
                <a:effectLst/>
                <a:uFillTx/>
                <a:latin typeface="Calibri"/>
              </a:rPr>
              <a:t>◆</a:t>
            </a:r>
            <a:endParaRPr lang="en-US" sz="2800" b="0" u="none" strike="noStrike">
              <a:solidFill>
                <a:srgbClr val="FFFFFF"/>
              </a:solidFill>
              <a:effectLst/>
              <a:uFillTx/>
              <a:latin typeface="Arial"/>
            </a:endParaRPr>
          </a:p>
        </p:txBody>
      </p:sp>
      <p:sp>
        <p:nvSpPr>
          <p:cNvPr id="625" name="TextBox 16"/>
          <p:cNvSpPr/>
          <p:nvPr/>
        </p:nvSpPr>
        <p:spPr>
          <a:xfrm>
            <a:off x="1097280" y="4937760"/>
            <a:ext cx="59432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600" b="1" u="none" strike="noStrike">
                <a:solidFill>
                  <a:srgbClr val="FFFFFF"/>
                </a:solidFill>
                <a:effectLst/>
                <a:uFillTx/>
                <a:latin typeface="Calibri"/>
              </a:rPr>
              <a:t>OWASP Top 10</a:t>
            </a:r>
            <a:endParaRPr lang="en-US" sz="2600" b="0" u="none" strike="noStrike">
              <a:solidFill>
                <a:srgbClr val="FFFFFF"/>
              </a:solidFill>
              <a:effectLst/>
              <a:uFillTx/>
              <a:latin typeface="Arial"/>
            </a:endParaRPr>
          </a:p>
        </p:txBody>
      </p:sp>
      <p:sp>
        <p:nvSpPr>
          <p:cNvPr id="626" name="TextBox 17"/>
          <p:cNvSpPr/>
          <p:nvPr/>
        </p:nvSpPr>
        <p:spPr>
          <a:xfrm>
            <a:off x="7040880" y="4937760"/>
            <a:ext cx="493740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0" u="none" strike="noStrike">
                <a:solidFill>
                  <a:srgbClr val="00D4FF"/>
                </a:solidFill>
                <a:effectLst/>
                <a:uFillTx/>
                <a:latin typeface="Calibri"/>
              </a:rPr>
              <a:t>owasp.org/Top10/</a:t>
            </a:r>
            <a:endParaRPr lang="en-US" sz="2200" b="0" u="none" strike="noStrike">
              <a:solidFill>
                <a:srgbClr val="FFFFFF"/>
              </a:solidFill>
              <a:effectLst/>
              <a:uFillTx/>
              <a:latin typeface="Arial"/>
            </a:endParaRPr>
          </a:p>
        </p:txBody>
      </p:sp>
      <p:sp>
        <p:nvSpPr>
          <p:cNvPr id="627" name="TextBox 18"/>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Les bases de données pour les hackers</a:t>
            </a:r>
            <a:endParaRPr lang="en-US" sz="1400" b="0" u="none" strike="noStrike">
              <a:solidFill>
                <a:srgbClr val="FFFFFF"/>
              </a:solidFill>
              <a:effectLst/>
              <a:uFillTx/>
              <a:latin typeface="Arial"/>
            </a:endParaRPr>
          </a:p>
        </p:txBody>
      </p:sp>
      <p:sp>
        <p:nvSpPr>
          <p:cNvPr id="628" name="TextBox 19"/>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41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4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629" name="TextBox 1" descr="Closing slide: Databases are where the money is. Literally. Now you know where to look. Ronin 48." title="Closing slide: Databases are where the money is. Literally. Now you know where t"/>
          <p:cNvSpPr/>
          <p:nvPr/>
        </p:nvSpPr>
        <p:spPr>
          <a:xfrm>
            <a:off x="457200" y="1371600"/>
            <a:ext cx="11246760" cy="97416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850" b="1" u="none" strike="noStrike">
                <a:solidFill>
                  <a:srgbClr val="FFFFFF"/>
                </a:solidFill>
                <a:effectLst/>
                <a:uFillTx/>
                <a:latin typeface="Calibri"/>
              </a:rPr>
              <a:t>« Les bases de données, c'est là où</a:t>
            </a:r>
            <a:endParaRPr lang="en-US" sz="5800" b="0" u="none" strike="noStrike">
              <a:solidFill>
                <a:srgbClr val="FFFFFF"/>
              </a:solidFill>
              <a:effectLst/>
              <a:uFillTx/>
              <a:latin typeface="Arial"/>
            </a:endParaRPr>
          </a:p>
        </p:txBody>
      </p:sp>
      <p:sp>
        <p:nvSpPr>
          <p:cNvPr id="630" name="TextBox 2"/>
          <p:cNvSpPr/>
          <p:nvPr/>
        </p:nvSpPr>
        <p:spPr>
          <a:xfrm>
            <a:off x="457200" y="2377440"/>
            <a:ext cx="11246760" cy="97416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850" b="1" u="none" strike="noStrike">
                <a:solidFill>
                  <a:srgbClr val="00FF41"/>
                </a:solidFill>
                <a:effectLst/>
                <a:uFillTx/>
                <a:latin typeface="Calibri"/>
              </a:rPr>
              <a:t>se trouve l'argent. Littéralement. »</a:t>
            </a:r>
            <a:endParaRPr lang="en-US" sz="5800" b="0" u="none" strike="noStrike">
              <a:solidFill>
                <a:srgbClr val="FFFFFF"/>
              </a:solidFill>
              <a:effectLst/>
              <a:uFillTx/>
              <a:latin typeface="Arial"/>
            </a:endParaRPr>
          </a:p>
        </p:txBody>
      </p:sp>
      <p:sp>
        <p:nvSpPr>
          <p:cNvPr id="631" name="Rectangle 3"/>
          <p:cNvSpPr/>
          <p:nvPr/>
        </p:nvSpPr>
        <p:spPr>
          <a:xfrm>
            <a:off x="7772760" y="4114800"/>
            <a:ext cx="2742840" cy="72720"/>
          </a:xfrm>
          <a:prstGeom prst="rect">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p>
            <a:endParaRPr lang="en-US" sz="1800" b="0" u="none" strike="noStrike">
              <a:solidFill>
                <a:schemeClr val="lt1"/>
              </a:solidFill>
              <a:effectLst/>
              <a:uFillTx/>
              <a:latin typeface="Calibri"/>
            </a:endParaRPr>
          </a:p>
        </p:txBody>
      </p:sp>
      <p:sp>
        <p:nvSpPr>
          <p:cNvPr id="632" name="TextBox 4"/>
          <p:cNvSpPr/>
          <p:nvPr/>
        </p:nvSpPr>
        <p:spPr>
          <a:xfrm>
            <a:off x="-45360" y="5715000"/>
            <a:ext cx="11246760" cy="9140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200" b="0" u="none" strike="noStrike">
                <a:solidFill>
                  <a:srgbClr val="00D4FF"/>
                </a:solidFill>
                <a:effectLst/>
                <a:uFillTx/>
                <a:latin typeface="Calibri"/>
              </a:rPr>
              <a:t>Maintenant, vous savez où chercher.</a:t>
            </a:r>
            <a:endParaRPr lang="en-US" sz="4200" b="0" u="none" strike="noStrike">
              <a:solidFill>
                <a:srgbClr val="FFFFFF"/>
              </a:solidFill>
              <a:effectLst/>
              <a:uFillTx/>
              <a:latin typeface="Arial"/>
            </a:endParaRPr>
          </a:p>
        </p:txBody>
      </p:sp>
      <p:sp>
        <p:nvSpPr>
          <p:cNvPr id="633" name="TextBox 5"/>
          <p:cNvSpPr/>
          <p:nvPr/>
        </p:nvSpPr>
        <p:spPr>
          <a:xfrm>
            <a:off x="7315200" y="3429000"/>
            <a:ext cx="3886200" cy="5173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800" b="1" u="none" strike="noStrike">
                <a:solidFill>
                  <a:srgbClr val="CCCCD6"/>
                </a:solidFill>
                <a:effectLst/>
                <a:uFillTx/>
                <a:latin typeface="Calibri"/>
              </a:rPr>
              <a:t>~Larry Ellison (Probablement)</a:t>
            </a:r>
            <a:endParaRPr lang="en-US" sz="2800" b="0" u="none" strike="noStrike">
              <a:solidFill>
                <a:srgbClr val="FFFFFF"/>
              </a:solidFill>
              <a:effectLst/>
              <a:uFillTx/>
              <a:latin typeface="Arial"/>
            </a:endParaRPr>
          </a:p>
        </p:txBody>
      </p:sp>
      <p:sp>
        <p:nvSpPr>
          <p:cNvPr id="634" name="TextBox 6"/>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42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4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635" name="TextBox 1" descr="References list of all books cited throughout the talk, including Beaulieu's Learning SQL, Clarke's SQL Injection Attacks and Defense, Schneier's Secrets and Lies, and others." title="References list of all books cited throughout the talk, including Beaulieu's Lea"/>
          <p:cNvSpPr/>
          <p:nvPr/>
        </p:nvSpPr>
        <p:spPr>
          <a:xfrm>
            <a:off x="457200" y="320040"/>
            <a:ext cx="11246760" cy="6696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800" b="1" u="none" strike="noStrike">
                <a:solidFill>
                  <a:srgbClr val="00FF41"/>
                </a:solidFill>
                <a:effectLst/>
                <a:uFillTx/>
                <a:latin typeface="Calibri"/>
              </a:rPr>
              <a:t>Références — Ouvrages cités</a:t>
            </a:r>
            <a:endParaRPr lang="en-US" sz="3800" b="0" u="none" strike="noStrike">
              <a:solidFill>
                <a:srgbClr val="FFFFFF"/>
              </a:solidFill>
              <a:effectLst/>
              <a:uFillTx/>
              <a:latin typeface="Arial"/>
            </a:endParaRPr>
          </a:p>
        </p:txBody>
      </p:sp>
      <p:sp>
        <p:nvSpPr>
          <p:cNvPr id="636"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637" name="TextBox 3"/>
          <p:cNvSpPr/>
          <p:nvPr/>
        </p:nvSpPr>
        <p:spPr>
          <a:xfrm>
            <a:off x="457200" y="169164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38" name="TextBox 4"/>
          <p:cNvSpPr/>
          <p:nvPr/>
        </p:nvSpPr>
        <p:spPr>
          <a:xfrm>
            <a:off x="777240" y="166428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Beaulieu, A. — Learning SQL, 2nd Edition (O'Reilly)</a:t>
            </a:r>
            <a:endParaRPr lang="en-US" sz="1600" b="0" u="none" strike="noStrike">
              <a:solidFill>
                <a:srgbClr val="FFFFFF"/>
              </a:solidFill>
              <a:effectLst/>
              <a:uFillTx/>
              <a:latin typeface="Arial"/>
            </a:endParaRPr>
          </a:p>
        </p:txBody>
      </p:sp>
      <p:sp>
        <p:nvSpPr>
          <p:cNvPr id="639" name="TextBox 5"/>
          <p:cNvSpPr/>
          <p:nvPr/>
        </p:nvSpPr>
        <p:spPr>
          <a:xfrm>
            <a:off x="457200" y="200268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40" name="TextBox 6"/>
          <p:cNvSpPr/>
          <p:nvPr/>
        </p:nvSpPr>
        <p:spPr>
          <a:xfrm>
            <a:off x="777240" y="197496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Clarke, J. et al. — SQL Injection Attacks and Defense (Syngress)</a:t>
            </a:r>
            <a:endParaRPr lang="en-US" sz="1600" b="0" u="none" strike="noStrike">
              <a:solidFill>
                <a:srgbClr val="FFFFFF"/>
              </a:solidFill>
              <a:effectLst/>
              <a:uFillTx/>
              <a:latin typeface="Arial"/>
            </a:endParaRPr>
          </a:p>
        </p:txBody>
      </p:sp>
      <p:sp>
        <p:nvSpPr>
          <p:cNvPr id="641" name="TextBox 7"/>
          <p:cNvSpPr/>
          <p:nvPr/>
        </p:nvSpPr>
        <p:spPr>
          <a:xfrm>
            <a:off x="457200" y="231336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42" name="TextBox 8"/>
          <p:cNvSpPr/>
          <p:nvPr/>
        </p:nvSpPr>
        <p:spPr>
          <a:xfrm>
            <a:off x="777240" y="228600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Crowther, P. — Concise Guide to Databases (Springer, 2013)</a:t>
            </a:r>
            <a:endParaRPr lang="en-US" sz="1600" b="0" u="none" strike="noStrike">
              <a:solidFill>
                <a:srgbClr val="FFFFFF"/>
              </a:solidFill>
              <a:effectLst/>
              <a:uFillTx/>
              <a:latin typeface="Arial"/>
            </a:endParaRPr>
          </a:p>
        </p:txBody>
      </p:sp>
      <p:sp>
        <p:nvSpPr>
          <p:cNvPr id="643" name="TextBox 9"/>
          <p:cNvSpPr/>
          <p:nvPr/>
        </p:nvSpPr>
        <p:spPr>
          <a:xfrm>
            <a:off x="457200" y="262440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44" name="TextBox 10"/>
          <p:cNvSpPr/>
          <p:nvPr/>
        </p:nvSpPr>
        <p:spPr>
          <a:xfrm>
            <a:off x="777240" y="259704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DeBarros, A. — Practical SQL (No Starch Press)</a:t>
            </a:r>
            <a:endParaRPr lang="en-US" sz="1600" b="0" u="none" strike="noStrike">
              <a:solidFill>
                <a:srgbClr val="FFFFFF"/>
              </a:solidFill>
              <a:effectLst/>
              <a:uFillTx/>
              <a:latin typeface="Arial"/>
            </a:endParaRPr>
          </a:p>
        </p:txBody>
      </p:sp>
      <p:sp>
        <p:nvSpPr>
          <p:cNvPr id="645" name="TextBox 11"/>
          <p:cNvSpPr/>
          <p:nvPr/>
        </p:nvSpPr>
        <p:spPr>
          <a:xfrm>
            <a:off x="457200" y="293508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46" name="TextBox 12"/>
          <p:cNvSpPr/>
          <p:nvPr/>
        </p:nvSpPr>
        <p:spPr>
          <a:xfrm>
            <a:off x="777240" y="290772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Diogenes &amp; Ozkaya — Cybersecurity Attack and Defense Strategies (Packt)</a:t>
            </a:r>
            <a:endParaRPr lang="en-US" sz="1600" b="0" u="none" strike="noStrike">
              <a:solidFill>
                <a:srgbClr val="FFFFFF"/>
              </a:solidFill>
              <a:effectLst/>
              <a:uFillTx/>
              <a:latin typeface="Arial"/>
            </a:endParaRPr>
          </a:p>
        </p:txBody>
      </p:sp>
      <p:sp>
        <p:nvSpPr>
          <p:cNvPr id="647" name="TextBox 13"/>
          <p:cNvSpPr/>
          <p:nvPr/>
        </p:nvSpPr>
        <p:spPr>
          <a:xfrm>
            <a:off x="457200" y="324612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48" name="TextBox 14"/>
          <p:cNvSpPr/>
          <p:nvPr/>
        </p:nvSpPr>
        <p:spPr>
          <a:xfrm>
            <a:off x="777240" y="321876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Janca, T. — Alice and Bob Learn Application Security (Wiley)</a:t>
            </a:r>
            <a:endParaRPr lang="en-US" sz="1600" b="0" u="none" strike="noStrike">
              <a:solidFill>
                <a:srgbClr val="FFFFFF"/>
              </a:solidFill>
              <a:effectLst/>
              <a:uFillTx/>
              <a:latin typeface="Arial"/>
            </a:endParaRPr>
          </a:p>
        </p:txBody>
      </p:sp>
      <p:sp>
        <p:nvSpPr>
          <p:cNvPr id="649" name="TextBox 15"/>
          <p:cNvSpPr/>
          <p:nvPr/>
        </p:nvSpPr>
        <p:spPr>
          <a:xfrm>
            <a:off x="457200" y="355716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50" name="TextBox 16"/>
          <p:cNvSpPr/>
          <p:nvPr/>
        </p:nvSpPr>
        <p:spPr>
          <a:xfrm>
            <a:off x="777240" y="352944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Mishra &amp; Singh — PostgreSQL Development Essentials (Packt)</a:t>
            </a:r>
            <a:endParaRPr lang="en-US" sz="1600" b="0" u="none" strike="noStrike">
              <a:solidFill>
                <a:srgbClr val="FFFFFF"/>
              </a:solidFill>
              <a:effectLst/>
              <a:uFillTx/>
              <a:latin typeface="Arial"/>
            </a:endParaRPr>
          </a:p>
        </p:txBody>
      </p:sp>
      <p:sp>
        <p:nvSpPr>
          <p:cNvPr id="651" name="TextBox 17"/>
          <p:cNvSpPr/>
          <p:nvPr/>
        </p:nvSpPr>
        <p:spPr>
          <a:xfrm>
            <a:off x="457200" y="386784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52" name="TextBox 18"/>
          <p:cNvSpPr/>
          <p:nvPr/>
        </p:nvSpPr>
        <p:spPr>
          <a:xfrm>
            <a:off x="777240" y="384048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MongoDB Cookbook (Packt)  •  10gen — Top 5 NoSQL Considerations</a:t>
            </a:r>
            <a:endParaRPr lang="en-US" sz="1600" b="0" u="none" strike="noStrike">
              <a:solidFill>
                <a:srgbClr val="FFFFFF"/>
              </a:solidFill>
              <a:effectLst/>
              <a:uFillTx/>
              <a:latin typeface="Arial"/>
            </a:endParaRPr>
          </a:p>
        </p:txBody>
      </p:sp>
      <p:sp>
        <p:nvSpPr>
          <p:cNvPr id="653" name="TextBox 19"/>
          <p:cNvSpPr/>
          <p:nvPr/>
        </p:nvSpPr>
        <p:spPr>
          <a:xfrm>
            <a:off x="457200" y="417888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54" name="TextBox 20"/>
          <p:cNvSpPr/>
          <p:nvPr/>
        </p:nvSpPr>
        <p:spPr>
          <a:xfrm>
            <a:off x="777240" y="415152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OWASP Top 10 — Édition 2025</a:t>
            </a:r>
            <a:endParaRPr lang="en-US" sz="1600" b="0" u="none" strike="noStrike">
              <a:solidFill>
                <a:srgbClr val="FFFFFF"/>
              </a:solidFill>
              <a:effectLst/>
              <a:uFillTx/>
              <a:latin typeface="Arial"/>
            </a:endParaRPr>
          </a:p>
        </p:txBody>
      </p:sp>
      <p:sp>
        <p:nvSpPr>
          <p:cNvPr id="655" name="TextBox 21"/>
          <p:cNvSpPr/>
          <p:nvPr/>
        </p:nvSpPr>
        <p:spPr>
          <a:xfrm>
            <a:off x="457200" y="448956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56" name="TextBox 22"/>
          <p:cNvSpPr/>
          <p:nvPr/>
        </p:nvSpPr>
        <p:spPr>
          <a:xfrm>
            <a:off x="777240" y="446220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Sharma, M. — Cosmos DB for MongoDB Developers (Apress, 2018)</a:t>
            </a:r>
            <a:endParaRPr lang="en-US" sz="1600" b="0" u="none" strike="noStrike">
              <a:solidFill>
                <a:srgbClr val="FFFFFF"/>
              </a:solidFill>
              <a:effectLst/>
              <a:uFillTx/>
              <a:latin typeface="Arial"/>
            </a:endParaRPr>
          </a:p>
        </p:txBody>
      </p:sp>
      <p:sp>
        <p:nvSpPr>
          <p:cNvPr id="657" name="TextBox 23"/>
          <p:cNvSpPr/>
          <p:nvPr/>
        </p:nvSpPr>
        <p:spPr>
          <a:xfrm>
            <a:off x="457200" y="480060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58" name="TextBox 24"/>
          <p:cNvSpPr/>
          <p:nvPr/>
        </p:nvSpPr>
        <p:spPr>
          <a:xfrm>
            <a:off x="777240" y="477324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Schneier, B. — Secrets and Lies (Wiley)</a:t>
            </a:r>
            <a:endParaRPr lang="en-US" sz="1600" b="0" u="none" strike="noStrike">
              <a:solidFill>
                <a:srgbClr val="FFFFFF"/>
              </a:solidFill>
              <a:effectLst/>
              <a:uFillTx/>
              <a:latin typeface="Arial"/>
            </a:endParaRPr>
          </a:p>
        </p:txBody>
      </p:sp>
      <p:sp>
        <p:nvSpPr>
          <p:cNvPr id="659" name="TextBox 25"/>
          <p:cNvSpPr/>
          <p:nvPr/>
        </p:nvSpPr>
        <p:spPr>
          <a:xfrm>
            <a:off x="457200" y="511164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60" name="TextBox 26"/>
          <p:cNvSpPr/>
          <p:nvPr/>
        </p:nvSpPr>
        <p:spPr>
          <a:xfrm>
            <a:off x="777240" y="508392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Stuttard &amp; Pinto — Web Application Hacker's Handbook, 2nd Ed.</a:t>
            </a:r>
            <a:endParaRPr lang="en-US" sz="1600" b="0" u="none" strike="noStrike">
              <a:solidFill>
                <a:srgbClr val="FFFFFF"/>
              </a:solidFill>
              <a:effectLst/>
              <a:uFillTx/>
              <a:latin typeface="Arial"/>
            </a:endParaRPr>
          </a:p>
        </p:txBody>
      </p:sp>
      <p:sp>
        <p:nvSpPr>
          <p:cNvPr id="661" name="TextBox 27"/>
          <p:cNvSpPr/>
          <p:nvPr/>
        </p:nvSpPr>
        <p:spPr>
          <a:xfrm>
            <a:off x="457200" y="542232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62" name="TextBox 28"/>
          <p:cNvSpPr/>
          <p:nvPr/>
        </p:nvSpPr>
        <p:spPr>
          <a:xfrm>
            <a:off x="777240" y="539496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Shostack, A. — Threat Modeling: Designing for Security (Wiley)</a:t>
            </a:r>
            <a:endParaRPr lang="en-US" sz="1600" b="0" u="none" strike="noStrike">
              <a:solidFill>
                <a:srgbClr val="FFFFFF"/>
              </a:solidFill>
              <a:effectLst/>
              <a:uFillTx/>
              <a:latin typeface="Arial"/>
            </a:endParaRPr>
          </a:p>
        </p:txBody>
      </p:sp>
      <p:sp>
        <p:nvSpPr>
          <p:cNvPr id="663" name="TextBox 29"/>
          <p:cNvSpPr/>
          <p:nvPr/>
        </p:nvSpPr>
        <p:spPr>
          <a:xfrm>
            <a:off x="457200" y="573336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64" name="TextBox 30"/>
          <p:cNvSpPr/>
          <p:nvPr/>
        </p:nvSpPr>
        <p:spPr>
          <a:xfrm>
            <a:off x="777240" y="570600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AWS Administration: The Definitive Guide (Packt)</a:t>
            </a:r>
            <a:endParaRPr lang="en-US" sz="1600" b="0" u="none" strike="noStrike">
              <a:solidFill>
                <a:srgbClr val="FFFFFF"/>
              </a:solidFill>
              <a:effectLst/>
              <a:uFillTx/>
              <a:latin typeface="Arial"/>
            </a:endParaRPr>
          </a:p>
        </p:txBody>
      </p:sp>
      <p:sp>
        <p:nvSpPr>
          <p:cNvPr id="665" name="TextBox 31"/>
          <p:cNvSpPr/>
          <p:nvPr/>
        </p:nvSpPr>
        <p:spPr>
          <a:xfrm>
            <a:off x="457200" y="604404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66" name="TextBox 32"/>
          <p:cNvSpPr/>
          <p:nvPr/>
        </p:nvSpPr>
        <p:spPr>
          <a:xfrm>
            <a:off x="777240" y="601668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Fundamentals of Azure, 2nd Edition (Microsoft Press)</a:t>
            </a:r>
            <a:endParaRPr lang="en-US" sz="1600" b="0" u="none" strike="noStrike">
              <a:solidFill>
                <a:srgbClr val="FFFFFF"/>
              </a:solidFill>
              <a:effectLst/>
              <a:uFillTx/>
              <a:latin typeface="Arial"/>
            </a:endParaRPr>
          </a:p>
        </p:txBody>
      </p:sp>
      <p:sp>
        <p:nvSpPr>
          <p:cNvPr id="667" name="TextBox 33"/>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Les bases de données pour les hackers</a:t>
            </a:r>
            <a:endParaRPr lang="en-US" sz="1400" b="0" u="none" strike="noStrike">
              <a:solidFill>
                <a:srgbClr val="FFFFFF"/>
              </a:solidFill>
              <a:effectLst/>
              <a:uFillTx/>
              <a:latin typeface="Arial"/>
            </a:endParaRPr>
          </a:p>
        </p:txBody>
      </p:sp>
      <p:sp>
        <p:nvSpPr>
          <p:cNvPr id="668" name="TextBox 34"/>
          <p:cNvSpPr/>
          <p:nvPr/>
        </p:nvSpPr>
        <p:spPr>
          <a:xfrm>
            <a:off x="10972800" y="6446520"/>
            <a:ext cx="1096920" cy="30384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44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4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669" name="TextBox 1" descr="Questions and answers slide." title="Questions and answers slide."/>
          <p:cNvSpPr/>
          <p:nvPr/>
        </p:nvSpPr>
        <p:spPr>
          <a:xfrm>
            <a:off x="411840" y="1371600"/>
            <a:ext cx="11246760" cy="28328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0100" b="1" u="none" strike="noStrike">
                <a:solidFill>
                  <a:srgbClr val="00FF41"/>
                </a:solidFill>
                <a:effectLst/>
                <a:uFillTx/>
                <a:latin typeface="Calibri"/>
              </a:rPr>
              <a:t>Questions-réponses*</a:t>
            </a:r>
            <a:endParaRPr lang="en-US" sz="18000" b="0" u="none" strike="noStrike">
              <a:solidFill>
                <a:srgbClr val="FFFFFF"/>
              </a:solidFill>
              <a:effectLst/>
              <a:uFillTx/>
              <a:latin typeface="Arial"/>
            </a:endParaRPr>
          </a:p>
        </p:txBody>
      </p:sp>
      <p:sp>
        <p:nvSpPr>
          <p:cNvPr id="670" name="TextBox 2"/>
          <p:cNvSpPr/>
          <p:nvPr/>
        </p:nvSpPr>
        <p:spPr>
          <a:xfrm>
            <a:off x="457200" y="4754880"/>
            <a:ext cx="11246760" cy="63828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3600" b="0" u="none" strike="noStrike">
                <a:solidFill>
                  <a:srgbClr val="FFFFFF"/>
                </a:solidFill>
                <a:effectLst/>
                <a:uFillTx/>
                <a:latin typeface="Calibri"/>
              </a:rPr>
              <a:t>A == Regards absents</a:t>
            </a:r>
            <a:endParaRPr lang="en-US" sz="3600" b="0" u="none" strike="noStrike">
              <a:solidFill>
                <a:srgbClr val="FFFFFF"/>
              </a:solidFill>
              <a:effectLst/>
              <a:uFillTx/>
              <a:latin typeface="Arial"/>
            </a:endParaRPr>
          </a:p>
        </p:txBody>
      </p:sp>
      <p:sp>
        <p:nvSpPr>
          <p:cNvPr id="671" name="TextBox 3"/>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Les bases de données pour les hackers</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2.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4</TotalTime>
  <Application>LibreOffice/26.2.3.2$MacOSX_AARCH64 LibreOffice_project/70e089b17412e4cb7773e41413306b17a2328c34</Application>
  <AppVersion>15.0000</AppVersion>
  <Words>0</Words>
  <Paragraphs>0</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dc:creator/>
  <dc:description>generated using python-pptx</dc:description>
  <dc:language>en-US</dc:language>
  <cp:lastModifiedBy/>
  <dcterms:modified xsi:type="dcterms:W3CDTF">2026-06-04T07:38:35Z</dcterms:modified>
  <cp:revision>2</cp:revision>
  <dc:subject/>
  <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On-screen Show (4:3)</vt:lpwstr>
  </property>
</Properties>
</file>