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00" r:id="rId52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is a 45-minute talk for new security analysts. No computer-science background required. There's a script, slides, and a recording — nothing to memorize.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Equifax, Capital One, MOVEit, SolarWinds, T-Mobile, LinkedIn, OPM, Marriott — every one of those breaches ended at a database. Attackers care about data, not architecture diagrams.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Attackers don't care about your beautiful SPA or your microservices diagram. They care about the data — the crown jewels — because that's what converts into money, leverage, or headlines.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Strip the jargon: organized storage plus a query language. If you've used Ctrl-F in Excel, you've used a database. Real databases add scale, speed, concurrency, and a formal query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Memorize these six words and you can hold a real conversation with a DBA. 表 is a tab, row is a record, column is an attribute, query is a question, schema is the shape, index is the bookmark. CRUD covers every action: create, read, update, delete.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weird thing you'll see in a real environment is a fossil from one of these eras. Knowing which era something comes from is a real superpower in incident response and pentesting.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families you'll meet in the wild. For each: what it stores, what it's for, key products, and the security gotcha.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1: 关系型 / SQL. 产品 include PostgreSQL  •  MySQL/MariaDB  •  SQL Server  •  Oracle. Clear relationships, consistency required — finance, regulated data. 安全陷阱: SQL injection when developers concatenate user input into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2: 文档存储. 产品 include MongoDB  •  Couchbase  •  Firestore. Naturally nested data; the shape changes over time. 安全陷阱: NoSQL injection via query operators ($ne, $gt, $where). Default no-auth.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3: 键值存储. 产品 include Redis  •  Memcached  •  DynamoDB. Caches, session stores, rate limiters, leaderboards. 安全陷阱: Default no-auth Redis + CONFIG SET → writing SSH keys to disk.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4: 列族. 产品 include Apache Cassandra  •  HBase  •  ScyllaDB. Massive scale across many machines; no complex joins needed. 安全陷阱: Clusters trust each other on gossip ports — mgmt network =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5: 图数据库. 产品 include Neo4j  •  Amazon Neptune  •  ArangoDB. Social networks, fraud detection, IAM analysis (e.g. BloodHound). 安全陷阱: 查询 languages like Cypher are injectable too. NoSQLi isn't just Mongo.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6: 搜索引擎. 产品 include Elasticsearch  •  OpenSearch  •  Solr. Log search, SIEM backbones, e-commerce site search. 安全陷阱: No built-in auth historically — billions of records exposed on Shodan.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7: 时序数据库. 产品 include InfluxDB  •  TimescaleDB  •  Prometheus. Metrics, observability, IoT telemetry. 安全陷阱: Usually inside the perimeter, often unauthenticated.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8: 向量数据库. 产品 include Pinecone  •  Milvus  •  Weaviate  •  pgvector. RAG, recommendation engines, semantic search. 安全陷阱: Data poisoning — sneak in a doc, the LLM quotes it as truth.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9: 嵌入式 / 边缘. 产品 include SQLite  •  DuckDB  •  LevelDB. In-app storage — browsers, phones, every modern airplane. 安全陷阱: DB is a file — attack is 'steal the file'. Mobile pentest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Family 10: 数据湖 / Lakehouses. 产品 include S3 + Athena  •  Delta Lake  •  Iceberg  •  Snowflake. 模式-on-read instead of schema-on-write. Dump now, query later. 安全陷阱: Giant S3 pools + permissive IAM, no encryption-at-rest enforcement.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Know the cloud vendor names — that's how databases appear in alerts, IAM policies, and incident response. AWS RDS/Aurora, GCP Cloud SQL, Azure SQL. Document side: DynamoDB, Firestore, Cosmos 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table. Memorize the row labels — those are the categories. The vendor columns rotate with the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 vendor patches hypervisor and engine. You own config, IAM, and the data. Almost every cloud DB breach is a customer-side misconfiguration — public S3, wide security group, snapshot shared to wrong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SOC analysts use these every day. Pentesters scan for them every day. If you see any of these exposed to the internet in a real environment, that's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Markdown files are a database now — literally. Folder of .md files → embedder → vector DB → LLM prompt. This pattern is called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Trust boundary is between whoever writes markdown and the embedder. Anyone who can edit those files can plant content the LLM will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your org is doing any kind of internal AI assistant, the markdown files feeding it are infrastructure. Treat them like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divider: SECURITY — What's actually getting hit in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most famous database attack of all time. xkcd #327. Mom names her kid Robert'); DROP TABLE Students;-- and the school's database disappears because someone built a query by gluing strings. Fix is parameterized queries.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SQL injection is a success story — parameterized queries fixed it. But the attack surface didn't shrink, it expanded into new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NoSQL注入. MongoDB JSON queries + raw user input = SQLi reborn.  Login bypass: { username: 'alice', password: { $ne: 'x' } }  $where lets you inject JavaScript straight into the DB.  Couchbase N1QL is SQL-flavored — classic SQLi patterns apply.  Principle: ANY interpreter can be injected, not just 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暴露和错误配置的数据库. Shodan and Censys are full of databases that should not be there.  MongoDB bound to 0.0.0.0 with no auth.  Elasticsearch clusters wide open. Redis with no password.  Postgres pg_hba.conf set to 'host all all 0.0.0.0/0 trust'.  Meow attacks (2020): bots wiped thousands of open DBs for fun.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云配置错误. In cloud, the bug is rarely the engine. It's the policy around it.  Public S3 buckets full of DB dumps (Accenture, Verizon, etc.).  Capital One 2019: SSRF tricked a WAF into leaking its IAM creds → S3.  Lambda with s3:* on * because it 'worked the first time'.  Security groups: 0.0.0.0/0 on port 5432.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权限提升: DB → OS. Database accounts can become shell access. Three classic moves.  MS SQL: xp_cmdshell — runs shell commands as the DB process.  PostgreSQL: COPY ... TO PROGRAM — pipes output to a shell.  MySQL: load a UDF .so file → sys_exec on the OS.  Pattern: every privileged DB feature is part of the attack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数据湖安全漏洞. Everything ends up in S3 — including things you didn't mean to put there.  Permissive IAM leaks from compute roles to humans.  No encryption-at-rest enforcement on bucket keys.  No write-side validation — anyone can drop poisoned data.  First question: WHO can write to the lake? WHO can read?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Ransomware Loves Databases. The DB is the thing the business needs back — maximum leverage.  Encrypt the live database.  Encrypt the BACKUPS (otherwise customer just restores).  Exfil a copy first — extort with disclosure even if they restore.  Defense: offline, immutable backups + tested restores.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凭证攻击. Default creds and leaked connection strings — two old, durable bugs.  Redis: no password by default for years.  Elastic: no auth in the free tier — also for years.  Connection strings (postgres://user:pass@host) committed to Git.  Pre-commit secret scanning — fix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Supply Chain — The DB Libraries You Trust. Your DB driver came from npm/PyPI/Maven. So did everyone else's.  Malicious npm packages posing as ORMs / drivers.  Trojanized Docker Hub images for popular databases.  Compromised PostgreSQL extensions / MySQL plugins.  Extensions run with DB privileges — usually a lot.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RAG / LLM Data Poisoning. Stored XSS for the AI era. Write into the knowledge base → LLM quotes it.  Poisoned support article: 'To reset, send your password to...'  Poisoned internal doc: 'Company policy is to wire transfer to...'  Prompt injection embedded in retrieved documents.  Defense: strict write ACLs, provenance tags, human-in-the-loop.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内部威胁 &amp; DB-to-DB Lateral Movement. Databases aren't endpoints. They're nodes in a graph.  权限过高的服务账户. Engineers with prod read.  DBAs with no audit trail.  Oracle DB_LINK, SQL Server linked servers, Postgres FDW.  Stored credentials → compromise A, hop to B, hop to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备份和快照泄露. Same data as prod, half the love.  Unencrypted DB backups on shares readable by Domain Users.  Cloud snapshots shared cross-account, never un-shared.  Off-site backups to vendors whose posture you never checked.  Backups are last resort. Apply identify-authN-authZ-audit.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Database is storage + questions. Ten families. Cloud is shared responsibility. Markdown is a database for LLMs. SQLi got fixed but the surface expanded.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concrete next-week actions. Install Postgres. PortSwigger labs. Browse Shodan legally. Read a breach report. List your org's DBs.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PortSwigger for SQLi labs. SQLBolt for learning SQL. Use The 索引, Luke for deep DB internals. DB-Engines for popularity rankings. OWASP Top 10 for the canonical web vuln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Closing. Willie Sutton said he robbed banks because that's where the money was. In 2026, the money is in databases.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 for five minutes of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books cited throughout the talk. Worth picking any of these up — they're the durable references.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yourself. Aaron K. Clark, Ronin 48. Brief pause, let the audience settle.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itle slide: Databases for Hackers — A Ronin 48 stand-up talk." title="Title slide: Databases for Hackers — A Ronin 48 stand-up talk."/>
          <p:cNvSpPr txBox="1"/>
          <p:nvPr/>
        </p:nvSpPr>
        <p:spPr>
          <a:xfrm>
            <a:off x="457200" y="210312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0" b="1">
                <a:solidFill>
                  <a:srgbClr val="00FF41"/>
                </a:solidFill>
                <a:latin typeface="Calibri"/>
              </a:rPr>
              <a:t>DATABASES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1089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  <a:latin typeface="Calibri"/>
              </a:rPr>
              <a:t>for Hackers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1904" y="4297680"/>
            <a:ext cx="18288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4805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solidFill>
                  <a:srgbClr val="00D4FF"/>
                </a:solidFill>
                <a:latin typeface="Calibri"/>
              </a:rPr>
              <a:t>A Ronin 48 Stand-Up Talk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1206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CCCCD6"/>
                </a:solidFill>
                <a:latin typeface="Calibri"/>
              </a:rPr>
              <a:t>45 minutes  •  No CS degree required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0FF41"/>
                </a:solidFill>
                <a:latin typeface="Calibri"/>
              </a:rPr>
              <a:t>Aaron K. Clark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47472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Ronin 48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Headline slide: Every breach you have ever read about ends at a database." title="Headline slide: Every breach you have ever read about ends at a database."/>
          <p:cNvSpPr txBox="1"/>
          <p:nvPr/>
        </p:nvSpPr>
        <p:spPr>
          <a:xfrm>
            <a:off x="457200" y="1828800"/>
            <a:ext cx="11247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Every breach you have ever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34640"/>
            <a:ext cx="11247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Calibri"/>
              </a:rPr>
              <a:t>read about ends at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11247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0" b="1">
                <a:solidFill>
                  <a:srgbClr val="00FF41"/>
                </a:solidFill>
                <a:latin typeface="Calibri"/>
              </a:rPr>
              <a:t>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 stylized vault icon next to four bullets explaining that attackers target the data, not the surrounding application or infrastructure." title="A stylized vault icon next to four bullets explaining that attackers target the 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The Crown Jewels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828800"/>
            <a:ext cx="4114800" cy="3840480"/>
          </a:xfrm>
          <a:prstGeom prst="roundRect">
            <a:avLst/>
          </a:prstGeom>
          <a:solidFill>
            <a:srgbClr val="2A2A44"/>
          </a:solidFill>
          <a:ln w="381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71800" y="3291840"/>
            <a:ext cx="914400" cy="914400"/>
          </a:xfrm>
          <a:prstGeom prst="ellipse">
            <a:avLst/>
          </a:prstGeom>
          <a:solidFill>
            <a:srgbClr val="00FF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557784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00FF41"/>
                </a:solidFill>
                <a:latin typeface="Calibri"/>
              </a:rPr>
              <a:t>DATA  VAULT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2011680"/>
            <a:ext cx="5943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00D4FF"/>
                </a:solidFill>
                <a:latin typeface="Calibri"/>
              </a:rPr>
              <a:t>▶ </a:t>
            </a:r>
            <a:r>
              <a:rPr sz="3000">
                <a:solidFill>
                  <a:srgbClr val="FFFFFF"/>
                </a:solidFill>
                <a:latin typeface="Calibri"/>
              </a:rPr>
              <a:t>Not your single-page app.</a:t>
            </a:r>
          </a:p>
          <a:p>
            <a:pPr algn="l">
              <a:lnSpc>
                <a:spcPct val="140000"/>
              </a:lnSpc>
            </a:pPr>
            <a:r>
              <a:rPr sz="3000" b="1">
                <a:solidFill>
                  <a:srgbClr val="00D4FF"/>
                </a:solidFill>
                <a:latin typeface="Calibri"/>
              </a:rPr>
              <a:t>▶ </a:t>
            </a:r>
            <a:r>
              <a:rPr sz="3000">
                <a:solidFill>
                  <a:srgbClr val="FFFFFF"/>
                </a:solidFill>
                <a:latin typeface="Calibri"/>
              </a:rPr>
              <a:t>Not your firewall.</a:t>
            </a:r>
          </a:p>
          <a:p>
            <a:pPr algn="l">
              <a:lnSpc>
                <a:spcPct val="140000"/>
              </a:lnSpc>
            </a:pPr>
            <a:r>
              <a:rPr sz="3000" b="1">
                <a:solidFill>
                  <a:srgbClr val="00D4FF"/>
                </a:solidFill>
                <a:latin typeface="Calibri"/>
              </a:rPr>
              <a:t>▶ </a:t>
            </a:r>
            <a:r>
              <a:rPr sz="3000">
                <a:solidFill>
                  <a:srgbClr val="FFFFFF"/>
                </a:solidFill>
                <a:latin typeface="Calibri"/>
              </a:rPr>
              <a:t>Not your microservices.</a:t>
            </a:r>
          </a:p>
          <a:p>
            <a:pPr algn="l">
              <a:lnSpc>
                <a:spcPct val="140000"/>
              </a:lnSpc>
            </a:pPr>
            <a:r>
              <a:rPr sz="3000" b="1">
                <a:solidFill>
                  <a:srgbClr val="00D4FF"/>
                </a:solidFill>
                <a:latin typeface="Calibri"/>
              </a:rPr>
              <a:t>▶ </a:t>
            </a:r>
            <a:r>
              <a:rPr sz="3000">
                <a:solidFill>
                  <a:srgbClr val="FFFFFF"/>
                </a:solidFill>
                <a:latin typeface="Calibri"/>
              </a:rPr>
              <a:t>THE DATA. Always the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Definition slide: A database is organized storage plus a way to ask questions, illustrated with filing-cabinet and Excel analogies." title="Definition slide: A database is organized storage plus a way to ask questions, i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What Is a Database?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有组织的存储  +  a way to ask questions.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00D4FF"/>
                </a:solidFill>
                <a:latin typeface="Calibri"/>
              </a:rPr>
              <a:t>That's it. Everything else is detail.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>
                <a:solidFill>
                  <a:srgbClr val="00D4FF"/>
                </a:solidFill>
                <a:latin typeface="Calibri"/>
              </a:rPr>
              <a:t>▶ </a:t>
            </a:r>
            <a:r>
              <a:rPr sz="2600">
                <a:solidFill>
                  <a:srgbClr val="FFFFFF"/>
                </a:solidFill>
                <a:latin typeface="Calibri"/>
              </a:rPr>
              <a:t>Filing cabinet  =  storage  +  your eyeballs as query.</a:t>
            </a:r>
          </a:p>
          <a:p>
            <a:pPr algn="l">
              <a:lnSpc>
                <a:spcPct val="150000"/>
              </a:lnSpc>
            </a:pPr>
            <a:r>
              <a:rPr sz="2600" b="1">
                <a:solidFill>
                  <a:srgbClr val="00D4FF"/>
                </a:solidFill>
                <a:latin typeface="Calibri"/>
              </a:rPr>
              <a:t>▶ </a:t>
            </a:r>
            <a:r>
              <a:rPr sz="2600">
                <a:solidFill>
                  <a:srgbClr val="FFFFFF"/>
                </a:solidFill>
                <a:latin typeface="Calibri"/>
              </a:rPr>
              <a:t>Excel + Ctrl-F  =  storage  +  find-and-replace as query.</a:t>
            </a:r>
          </a:p>
          <a:p>
            <a:pPr algn="l">
              <a:lnSpc>
                <a:spcPct val="150000"/>
              </a:lnSpc>
            </a:pPr>
            <a:r>
              <a:rPr sz="2600" b="1">
                <a:solidFill>
                  <a:srgbClr val="00D4FF"/>
                </a:solidFill>
                <a:latin typeface="Calibri"/>
              </a:rPr>
              <a:t>▶ </a:t>
            </a:r>
            <a:r>
              <a:rPr sz="2600">
                <a:solidFill>
                  <a:srgbClr val="FFFFFF"/>
                </a:solidFill>
                <a:latin typeface="Calibri"/>
              </a:rPr>
              <a:t>Real DB adds:  scale, speed, concurrency, a formal language.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4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Vocabulary slide listing six core database terms: table, row, column, query, schema, index — plus the CRUD verbs." title="Vocabulary slide listing six core database terms: table, row, column, query, sch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The Six Words You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31920" y="169164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69164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a spreadsheet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04872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ROW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2404872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404872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one record (one customer, one alert)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18104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COLUMN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118104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118104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one attribute (email, IP, total)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31335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QUERY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3831335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831335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the question you're asking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44568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SCHEMA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4544568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4544568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the shape of the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5780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00FF41"/>
                </a:solidFill>
                <a:latin typeface="Calibri"/>
              </a:rPr>
              <a:t>INDEX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525780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5257800"/>
            <a:ext cx="7315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Calibri"/>
              </a:rPr>
              <a:t>the bookmark that makes lookups fast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6B35"/>
                </a:solidFill>
                <a:latin typeface="Calibri"/>
              </a:rPr>
              <a:t>+  CRUD  =  Create  •  Read  •  Update  •  Delete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5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imeline of database eras from 1960s flat files to 2020s vector databases, each annotated with its security implication." title="Timeline of database eras from 1960s flat files to 2020s vector databases, each 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History Tour — Fossils You'll See in Prod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1960s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60020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Flat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6002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0020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filesystem perms = only access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1226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Late 1960s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1122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层次型 (IMS)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12264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112264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mainframe-era, physical threat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2432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1970s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62432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Network / CODASYL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62432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62432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still humming in your bank's back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1363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1970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13639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Codd's relational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136392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136392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GRANT, roles — access control inside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48456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1980s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4845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Oracle, DB2, SQL Svr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648456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648456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databases get networked → authN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1990s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16052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Client-server, 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16052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160520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SQL injection becomes a thing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725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2000s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467258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NoSQL boom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4672584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672584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"discarded the foundation" — incl. 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8464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2010s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5184648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Cloud / NewSQL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5184648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5184648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shared-responsibility, customer misconfigs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69671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D4FF"/>
                </a:solidFill>
                <a:latin typeface="Calibri"/>
              </a:rPr>
              <a:t>2020s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86000" y="5696712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Vector / serverless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696712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696712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CCCD6"/>
                </a:solidFill>
                <a:latin typeface="Calibri"/>
              </a:rPr>
              <a:t>data poisoning, prompt injection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6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Grid of the ten database families with example products: relational, document, key-value, column-family, graph, search, time-series, vector, embedded, and data lake." title="Grid of the ten database families with example products: relational, document, k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Ten Families of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830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78308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Relational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4884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SQL  •  PostgreSQL, MySQL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19" y="169164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79" y="178308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78308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4884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JSON  •  MongoDB, Firestore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74320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Key-Value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10896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dictionary  •  Redis, DynamoDB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65176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79" y="274320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74320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列族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10896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wide-column  •  Cassandra, HBase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1188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0332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370332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06908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nodes+edges  •  Neo4j, Neptune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19" y="361188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79" y="370332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6.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70332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Search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06908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full-text  •  Elastic, OpenSearch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57200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66344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37360" y="466344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时序数据库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02920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metrics  •  Influx, Prometheus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19" y="457200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466344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66344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Vector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02920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embeddings  •  Pinecone, pgvector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53212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62356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9.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562356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Embedded/Edge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37360" y="598932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in-app  •  SQLite, DuckDB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19" y="5532120"/>
            <a:ext cx="5577840" cy="914400"/>
          </a:xfrm>
          <a:prstGeom prst="roundRect">
            <a:avLst/>
          </a:prstGeom>
          <a:solidFill>
            <a:srgbClr val="2424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5079" y="5623560"/>
            <a:ext cx="1097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FF41"/>
                </a:solidFill>
                <a:latin typeface="Calibri"/>
              </a:rPr>
              <a:t>◆ 10.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62356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06640" y="5989320"/>
            <a:ext cx="4297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CCCD6"/>
                </a:solidFill>
                <a:latin typeface="Calibri"/>
              </a:rPr>
              <a:t>schema-on-read  •  S3+Athena, Iceberg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7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1: Relational / SQL. Products: PostgreSQL  •  MySQL/MariaDB  •  SQL Server  •  Oracle. Use case: Clear relationships, consistency required — finance, regulated data.. Security gotcha: SQL injection when developers concatenate user input into queries.." title="Family card #1: Relational / SQL. Products: PostgreSQL  •  MySQL/MariaDB  •  SQL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关系型 /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PostgreSQL  •  MySQL/MariaDB  •  SQL Server  •  Oracle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Clear relationships, consistency required — finance, regulated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SQL injection when developers concatenate user input into queries.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8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2: Document Stores. Products: MongoDB  •  Couchbase  •  Firestore. Use case: Naturally nested data; the shape changes over time.. Security gotcha: NoSQL injection via query operators ($ne, $gt, $where). Default no-auth.." title="Family card #2: Document Stores. Products: MongoDB  •  Couchbase  •  Firestore. 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文档存储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MongoDB  •  Couchbase  •  Firestore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Naturally nested data; the shape changes over 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NoSQL injection via query operators ($ne, $gt, $where). Default no-auth.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9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3: Key-Value Stores. Products: Redis  •  Memcached  •  DynamoDB. Use case: Caches, session stores, rate limiters, leaderboards.. Security gotcha: Default no-auth Redis + CONFIG SET → writing SSH keys to disk.." title="Family card #3: Key-Value Stores. Products: Redis  •  Memcached  •  DynamoDB. Us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键值存储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Redis  •  Memcached  •  DynamoDB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Caches, session stores, rate limiters, leaderboards.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Default no-auth Redis + CONFIG SET → writing SSH keys to disk.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10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4: Column-Family. Products: Apache Cassandra  •  HBase  •  ScyllaDB. Use case: Massive scale across many machines; no complex joins needed.. Security gotcha: Clusters trust each other on gossip ports — mgmt network = root.." title="Family card #4: Column-Family. Products: Apache Cassandra  •  HBase  •  ScyllaDB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列族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Apache Cassandra  •  HBase  •  ScyllaDB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Massive scale across many machines; no complex joins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Clusters trust each other on gossip ports — mgmt network = root.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11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5: Graph Databases. Products: Neo4j  •  Amazon Neptune  •  ArangoDB. Use case: Social networks, fraud detection, IAM analysis (e.g. BloodHound).. Security gotcha: Query languages like Cypher are injectable too. NoSQLi isn't just Mongo.." title="Family card #5: Graph Databases. Products: Neo4j  •  Amazon Neptune  •  ArangoDB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图数据库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Neo4j  •  Amazon Neptune  •  ArangoDB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Social networks, fraud detection, IAM analysis (e.g. BloodHound).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查询 languages like Cypher are injectable too. NoSQLi isn't just Mongo.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12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6: Search Engines. Products: Elasticsearch  •  OpenSearch  •  Solr. Use case: Log search, SIEM backbones, e-commerce site search.. Security gotcha: No built-in auth historically — billions of records exposed on Shodan.." title="Family card #6: Search Engines. Products: Elasticsearch  •  OpenSearch  •  Solr.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搜索引擎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Elasticsearch  •  OpenSearch  •  Solr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Log search, SIEM backbones, e-commerce site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No built-in auth historically — billions of records exposed on Shodan.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13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7: Time-Series. Products: InfluxDB  •  TimescaleDB  •  Prometheus. Use case: Metrics, observability, IoT telemetry.. Security gotcha: Usually inside the perimeter, often unauthenticated.." title="Family card #7: Time-Series. Products: InfluxDB  •  TimescaleDB  •  Prometheus. 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时序数据库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InfluxDB  •  TimescaleDB  •  Prometheus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Metrics, observability, IoT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Usually inside the perimeter, often unauthenticated.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14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8: Vector Databases. Products: Pinecone  •  Milvus  •  Weaviate  •  pgvector. Use case: RAG, recommendation engines, semantic search.. Security gotcha: Data poisoning — sneak in a doc, the LLM quotes it as truth.." title="Family card #8: Vector Databases. Products: Pinecone  •  Milvus  •  Weaviate  • 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向量数据库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Pinecone  •  Milvus  •  Weaviate  •  pgvector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RAG, recommendation engines, semantic search.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Data poisoning — sneak in a doc, the LLM quotes it as truth.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15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9: Embedded / Edge. Products: SQLite  •  DuckDB  •  LevelDB. Use case: In-app storage — browsers, phones, every modern airplane.. Security gotcha: DB is a file — attack is 'steal the file'. Mobile pentest world.." title="Family card #9: Embedded / Edge. Products: SQLite  •  DuckDB  •  LevelDB. Use ca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嵌入式 / 边缘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SQLite  •  DuckDB  •  LevelDB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In-app storage — browsers, phones, every modern airplane.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DB is a file — attack is 'steal the file'. Mobile pentest world.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16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 descr="Family card #10: Data Lakes / Lakehouses. Products: S3 + Athena  •  Delta Lake  •  Iceberg  •  Snowflake. Use case: Schema-on-read instead of schema-on-write. Dump now, query later.. Security gotcha: Giant S3 pools + permissive IAM, no encryption-at-rest enforcement.." title="Family card #10: Data Lakes / Lakehouses. Products: S3 + Athena  •  Delta Lake  "/>
          <p:cNvSpPr/>
          <p:nvPr/>
        </p:nvSpPr>
        <p:spPr>
          <a:xfrm>
            <a:off x="457200" y="365760"/>
            <a:ext cx="1097280" cy="10972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0972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7360" y="411480"/>
            <a:ext cx="100584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00FF41"/>
                </a:solidFill>
                <a:latin typeface="Calibri"/>
              </a:rPr>
              <a:t>数据湖 / Lakehouses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S3 + Athena  •  Delta Lake  •  Iceberg  •  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9260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D4FF"/>
                </a:solidFill>
                <a:latin typeface="Calibri"/>
              </a:rPr>
              <a:t>USE 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11247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模式-on-read instead of schema-on-write. Dump now, query later.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72000"/>
            <a:ext cx="11247120" cy="1554480"/>
          </a:xfrm>
          <a:prstGeom prst="roundRect">
            <a:avLst/>
          </a:prstGeom>
          <a:solidFill>
            <a:srgbClr val="3A1F14"/>
          </a:solidFill>
          <a:ln w="3175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681728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6B35"/>
                </a:solidFill>
                <a:latin typeface="Calibri"/>
              </a:rPr>
              <a:t>⚠  SECURITY GOTCHA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120640"/>
            <a:ext cx="10789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Giant S3 pools + permissive IAM, no encryption-at-rest enforcement.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17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hree-column comparison of database services across AWS, GCP, and Azure: relational, document, warehouse, cache, graph, time-series, and object storage." title="Three-column comparison of database services across AWS, GCP, and Azure: relatio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Cloud DB Services — The Lay of the Land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749039" cy="64008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1A1A2E"/>
                </a:solidFill>
                <a:latin typeface="Calibri"/>
              </a:rPr>
              <a:t>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RDS, Aurora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39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DynamoDB, DocumentDB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3756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Redshift, S3 + Athena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ElastiCache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4340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Neptune (graph)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463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Timestream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4924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S3 (object store)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554480"/>
            <a:ext cx="3749039" cy="6400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0020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1A1A2E"/>
                </a:solidFill>
                <a:latin typeface="Calibri"/>
              </a:rPr>
              <a:t>GCP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3317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Cloud SQL, AlloyDB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39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Firestore, Bigtable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3756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Big查询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84048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Memorystore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34340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— (coming soon)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8463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— (BYO)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34924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Cloud Storage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554480"/>
            <a:ext cx="3749039" cy="64008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160020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>
                <a:solidFill>
                  <a:srgbClr val="1A1A2E"/>
                </a:solidFill>
                <a:latin typeface="Calibri"/>
              </a:rPr>
              <a:t>Azure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3317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Azure SQL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834639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Cosmos DB (shape-shifter)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33756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Synapse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84048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Azure Cache for Redis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34340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Cosmos DB graph mode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4632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— (BYO)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5349240"/>
            <a:ext cx="356615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● Blob Storage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18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heat-sheet table comparing AWS, GCP, and Azure services across eight database categories." title="Cheat-sheet table comparing AWS, GCP, and Azure services across eight database c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00FF41"/>
                </a:solidFill>
                <a:latin typeface="Calibri"/>
              </a:rPr>
              <a:t>Cloud DB Cheat Sheet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64592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64592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GCP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64592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2E"/>
                </a:solidFill>
                <a:latin typeface="Calibri"/>
              </a:rPr>
              <a:t>AZURE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48839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Relational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48839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RDS / Aurora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148839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Cloud SQL / AlloyDB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2148839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Azure SQL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65176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Document/NoSQL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65176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DynamoDB / DocDB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65176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Firestore / Bigtable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65176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Cosmos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5468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Warehouse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15468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Redshift / Athena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15468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Big查询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15468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Synapse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611880"/>
            <a:ext cx="11247120" cy="502920"/>
          </a:xfrm>
          <a:prstGeom prst="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5760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Cache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65760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ElastiCache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65760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Memorystore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65760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Cache for Redis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16052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Graph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416052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Neptune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416052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16052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Cosmos DB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617720"/>
            <a:ext cx="11247120" cy="502920"/>
          </a:xfrm>
          <a:prstGeom prst="rect">
            <a:avLst/>
          </a:prstGeom>
          <a:solidFill>
            <a:srgbClr val="2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66344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时序数据库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466344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Timestream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66344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166360"/>
            <a:ext cx="26517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Object Storage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16636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5166360"/>
            <a:ext cx="2560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Cloud 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5166360"/>
            <a:ext cx="3108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Blob Storage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19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wo-column diagram contrasting what the cloud vendor owns (hypervisor, engine, hardware) versus what the customer owns (config, IAM, data, encryption)." title="Two-column diagram contrasting what the cloud vendor owns (hypervisor, engine, h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共享责任模型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5577840" cy="4114800"/>
          </a:xfrm>
          <a:prstGeom prst="roundRect">
            <a:avLst/>
          </a:prstGeom>
          <a:solidFill>
            <a:srgbClr val="122A18"/>
          </a:solidFill>
          <a:ln w="381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0FF41"/>
                </a:solidFill>
                <a:latin typeface="Calibri"/>
              </a:rPr>
              <a:t>✓  CLOUD VENDOR OWNS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9748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Hypervisor &amp; metal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DB engine patches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Physical security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Underlying network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5577840" cy="4114800"/>
          </a:xfrm>
          <a:prstGeom prst="roundRect">
            <a:avLst/>
          </a:prstGeom>
          <a:solidFill>
            <a:srgbClr val="3A1F14"/>
          </a:solidFill>
          <a:ln w="381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1965960"/>
            <a:ext cx="5394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6B35"/>
                </a:solidFill>
                <a:latin typeface="Calibri"/>
              </a:rPr>
              <a:t>⚠ 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69748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Configuration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Access policies (IAM)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Data itself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● </a:t>
            </a:r>
            <a:r>
              <a:rPr sz="2400">
                <a:solidFill>
                  <a:srgbClr val="FFFFFF"/>
                </a:solidFill>
                <a:latin typeface="Calibri"/>
              </a:rPr>
              <a:t>Encryption choices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D4FF"/>
                </a:solidFill>
                <a:latin typeface="Calibri"/>
              </a:rPr>
              <a:t>Almost every cloud DB breach = customer misconfiguration.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20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able of common database ports: MySQL 3306, PostgreSQL 5432, MS SQL 1433, MongoDB 27017, Redis 6379, Elasticsearch 9200, Cassandra 9042." title="Table of common database ports: MySQL 3306, PostgreSQL 5432, MS SQL 1433, MongoD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Common DB Ports — Burn These 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3306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64592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64592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MySQL / MariaDB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1284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5432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21284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212848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79776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1433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779776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79776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Microsoft SQL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346704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27017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346704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346704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913632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6379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913632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913632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8056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9200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480560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480560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Elasticsearch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47488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3600" b="1">
                <a:solidFill>
                  <a:srgbClr val="00FF41"/>
                </a:solidFill>
                <a:latin typeface="Calibri"/>
              </a:rPr>
              <a:t>9042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047488"/>
            <a:ext cx="548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D4FF"/>
                </a:solidFill>
                <a:latin typeface="Calibri"/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047488"/>
            <a:ext cx="6400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Cassandra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6B35"/>
                </a:solidFill>
                <a:latin typeface="Calibri"/>
              </a:rPr>
              <a:t>Any of these exposed to the internet = a finding. Every time.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21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tatement slide: Markdown files are now a database — the kind an LLM reads from via embeddings and RAG." title="Statement slide: Markdown files are now a database — the kind an LLM reads from 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Your Notes Are a Database 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0">
                <a:solidFill>
                  <a:srgbClr val="FFFFFF"/>
                </a:solidFill>
                <a:latin typeface="Calibri"/>
              </a:rPr>
              <a:t>Markdown files are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00FF41"/>
                </a:solidFill>
                <a:latin typeface="Calibri"/>
              </a:rPr>
              <a:t>the database an LLM reads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00D4FF"/>
                </a:solidFill>
                <a:latin typeface="Calibri"/>
              </a:rPr>
              <a:t>Obsidian知识库  •  Wiki exports  •  Meeting notes  •  GitHub 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CCCCD6"/>
                </a:solidFill>
                <a:latin typeface="Calibri"/>
              </a:rPr>
              <a:t>Embedded → Vector DB → LLM context → answer to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22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Pipeline diagram: markdown files → embedder → vector DB → LLM prompt → answer. The trust boundary sits between authors and the embedder." title="Pipeline diagram: markdown files → embedder → vector DB → LLM prompt → answer. T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RAG Pipeline — Where's the Trust Boundary?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377440"/>
            <a:ext cx="1920240" cy="1097280"/>
          </a:xfrm>
          <a:prstGeom prst="roundRect">
            <a:avLst/>
          </a:prstGeom>
          <a:solidFill>
            <a:srgbClr val="24243E"/>
          </a:solidFill>
          <a:ln w="381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D4FF"/>
                </a:solidFill>
                <a:latin typeface="Calibri"/>
              </a:rPr>
              <a:t>.md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95728" y="2651760"/>
            <a:ext cx="365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0" y="2377440"/>
            <a:ext cx="1920240" cy="1097280"/>
          </a:xfrm>
          <a:prstGeom prst="roundRect">
            <a:avLst/>
          </a:prstGeom>
          <a:solidFill>
            <a:srgbClr val="24243E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265176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Embedder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7" y="2651760"/>
            <a:ext cx="365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77440"/>
            <a:ext cx="1920240" cy="1097280"/>
          </a:xfrm>
          <a:prstGeom prst="roundRect">
            <a:avLst/>
          </a:prstGeom>
          <a:solidFill>
            <a:srgbClr val="24243E"/>
          </a:solidFill>
          <a:ln w="38100">
            <a:solidFill>
              <a:srgbClr val="00FF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65176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FF41"/>
                </a:solidFill>
                <a:latin typeface="Calibri"/>
              </a:rPr>
              <a:t>Vector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67727" y="2651760"/>
            <a:ext cx="365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377440"/>
            <a:ext cx="1920240" cy="1097280"/>
          </a:xfrm>
          <a:prstGeom prst="roundRect">
            <a:avLst/>
          </a:prstGeom>
          <a:solidFill>
            <a:srgbClr val="24243E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65176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LLM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53728" y="2651760"/>
            <a:ext cx="365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FF6B35"/>
                </a:solidFill>
                <a:latin typeface="Calibr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2377440"/>
            <a:ext cx="1920240" cy="1097280"/>
          </a:xfrm>
          <a:prstGeom prst="roundRect">
            <a:avLst/>
          </a:prstGeom>
          <a:solidFill>
            <a:srgbClr val="24243E"/>
          </a:solidFill>
          <a:ln w="381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265176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>
                <a:solidFill>
                  <a:srgbClr val="00D4FF"/>
                </a:solidFill>
                <a:latin typeface="Calibri"/>
              </a:rPr>
              <a:t>Answer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103120"/>
            <a:ext cx="54864" cy="16459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FF6B35"/>
                </a:solidFill>
                <a:latin typeface="Calibri"/>
              </a:rPr>
              <a:t>⚠ TRUST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4632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If anyone can edit those .md files, anyone can plant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content the AI will quote as authoritative.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23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Takeaway slide: Treat markdown like a database — because to the LLM, it is. Apply access control, code review, and diff tracking." title="Takeaway slide: Treat markdown like a database — because to the LLM, it is. Appl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The Takeaway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00FF41"/>
                </a:solidFill>
                <a:latin typeface="Calibri"/>
              </a:rPr>
              <a:t>Treat markdown like a database.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3832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0">
                <a:solidFill>
                  <a:srgbClr val="FFFFFF"/>
                </a:solidFill>
                <a:latin typeface="Calibri"/>
              </a:rPr>
              <a:t>Because to the LLM, it 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503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▶ </a:t>
            </a:r>
            <a:r>
              <a:rPr sz="2400">
                <a:solidFill>
                  <a:srgbClr val="FFFFFF"/>
                </a:solidFill>
                <a:latin typeface="Calibri"/>
              </a:rPr>
              <a:t>Access control on the docs folder.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▶ </a:t>
            </a:r>
            <a:r>
              <a:rPr sz="2400">
                <a:solidFill>
                  <a:srgbClr val="FFFFFF"/>
                </a:solidFill>
                <a:latin typeface="Calibri"/>
              </a:rPr>
              <a:t>Code review on .md changes.</a:t>
            </a:r>
          </a:p>
          <a:p>
            <a:pPr algn="l">
              <a:lnSpc>
                <a:spcPct val="140000"/>
              </a:lnSpc>
            </a:pPr>
            <a:r>
              <a:rPr sz="2400" b="1">
                <a:solidFill>
                  <a:srgbClr val="00D4FF"/>
                </a:solidFill>
                <a:latin typeface="Calibri"/>
              </a:rPr>
              <a:t>▶ </a:t>
            </a:r>
            <a:r>
              <a:rPr sz="2400">
                <a:solidFill>
                  <a:srgbClr val="FFFFFF"/>
                </a:solidFill>
                <a:latin typeface="Calibri"/>
              </a:rPr>
              <a:t>Diff tracking on the wiki.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24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divider: SECURITY. What's actually getting hit in 2026" title="Section divider: SECURITY. What's actually getting hit in 2026"/>
          <p:cNvSpPr txBox="1"/>
          <p:nvPr/>
        </p:nvSpPr>
        <p:spPr>
          <a:xfrm>
            <a:off x="457200" y="256032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600" b="1">
                <a:solidFill>
                  <a:srgbClr val="00FF41"/>
                </a:solidFill>
                <a:latin typeface="Calibri"/>
              </a:rPr>
              <a:t>SECURITY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724704" y="4297680"/>
            <a:ext cx="2743200" cy="914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45720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0">
                <a:solidFill>
                  <a:srgbClr val="FFFFFF"/>
                </a:solidFill>
                <a:latin typeface="Calibri"/>
              </a:rPr>
              <a:t>What's actually getting hit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25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eference to xkcd #327 'Exploits of a Mom' (Bobby Tables): a mother names her son Robert'); DROP TABLE Students;-- and the school's student table is dropped. URL: https://xkcd.com/327/" title="Reference to xkcd #327 'Exploits of a Mom' (Bobby Tables): a mother names her so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00FF41"/>
                </a:solidFill>
                <a:latin typeface="Calibri"/>
              </a:rPr>
              <a:t>xkcd #327 — Bobby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737360"/>
            <a:ext cx="11247120" cy="3200400"/>
          </a:xfrm>
          <a:prstGeom prst="rect">
            <a:avLst/>
          </a:prstGeom>
          <a:solidFill>
            <a:srgbClr val="24243E"/>
          </a:solidFill>
          <a:ln w="254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School:  "Hi, this is your son's school. We're having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14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         some computer trouble."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Calibri"/>
              </a:rPr>
              <a:t>Mom:     "Oh dear — did he break something?"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FF41"/>
                </a:solidFill>
                <a:latin typeface="Calibri"/>
              </a:rPr>
              <a:t>School:  "Did you really name your son  Robert');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6B35"/>
                </a:solidFill>
                <a:latin typeface="Calibri"/>
              </a:rPr>
              <a:t>         DROP TABLE Students;--  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0D4FF"/>
                </a:solidFill>
                <a:latin typeface="Calibri"/>
              </a:rPr>
              <a:t>https://xkcd.com/327/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CCCCD6"/>
                </a:solidFill>
                <a:latin typeface="Calibri"/>
              </a:rPr>
              <a:t>The mechanism: string concatenation in queries.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26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tatement slide: The database attack surface has expanded, not shrunk. SQL injection is largely fixed; eleven newer categories now dominate." title="Statement slide: The database attack surface has expanded, not shrunk. SQL injec"/>
          <p:cNvSpPr txBox="1"/>
          <p:nvPr/>
        </p:nvSpPr>
        <p:spPr>
          <a:xfrm>
            <a:off x="457200" y="228600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0">
                <a:solidFill>
                  <a:srgbClr val="FFFFFF"/>
                </a:solidFill>
                <a:latin typeface="Calibri"/>
              </a:rPr>
              <a:t>The attack surface has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0040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>
                <a:solidFill>
                  <a:srgbClr val="FF6B35"/>
                </a:solidFill>
                <a:latin typeface="Calibri"/>
              </a:rPr>
              <a:t>EXPANDED, not shrunk.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46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00D4FF"/>
                </a:solidFill>
                <a:latin typeface="Calibri"/>
              </a:rPr>
              <a:t>SQL injection was fixed. Eleven new categories took its place.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27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NoSQL Injection. MongoDB JSON queries + raw user input = SQLi reborn. Key points: Login bypass: { username: 'alice', password: { $ne: 'x' } } | $where lets you inject JavaScript straight into the DB. | Couchbase N1QL is SQL-flavored — classic SQLi patterns apply. | Principle: ANY interpreter can be injected, not just SQL." title="Attack category: NoSQL Injection. MongoDB JSON queries + raw user input = SQLi r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NoSQL注入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MongoDB JSON queries + raw user input = SQLi reborn.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Login bypass: { username: 'alice', password: { $ne: 'x' } }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$where lets you inject JavaScript straight into the DB.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Couchbase N1QL is SQL-flavored — classic SQLi patterns apply.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Principle: ANY interpreter can be injected, not just SQL.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OWASP Top 10 2017: 'Dynamic queries... used directly in the interpreter.'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28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Exposed &amp; Misconfigured Databases. Shodan and Censys are full of databases that should not be there. Key points: MongoDB bound to 0.0.0.0 with no auth. | Elasticsearch clusters wide open. Redis with no password. | Postgres pg_hba.conf set to 'host all all 0.0.0.0/0 trust'. | Meow attacks (2020): bots wiped thousands of open DBs for fun." title="Attack category: Exposed &amp; Misconfigured Databases. Shodan and Censys are full o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暴露和错误配置的数据库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Shodan and Censys are full of databases that should not be there.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MongoDB bound to 0.0.0.0 with no auth.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Elasticsearch clusters wide open. Redis with no password.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Postgres pg_hba.conf set to 'host all all 0.0.0.0/0 trust'.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Meow attacks (2020): bots wiped thousands of open DBs for fun.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Action item: find what your org has bound to public interfaces.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29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Cloud Misconfigurations. In cloud, the bug is rarely the engine. It's the policy around it. Key points: Public S3 buckets containing DB dumps (Capital One pattern). | RDS snapshots marked public during a 2 a.m. debug session. | Lambda with s3:* on * because it 'worked the first time'. | Security groups: 0.0.0.0/0 on port 5432." title="Attack category: Cloud Misconfigurations. In cloud, the bug is rarely the engine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云配置错误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In cloud, the bug is rarely the engine. It's the policy around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Public S3 buckets full of DB dumps (Accenture, Verizon, etc.).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Capital One 2019: SSRF tricked a WAF into leaking its IAM creds → S3.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Lambda with s3:* on * because it 'worked the first time'.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Security groups: 0.0.0.0/0 on port 5432.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AWS Admin: 'Get rid of the Root Account, use IAM wherever necessary.'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30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Privilege Escalation: DB → OS. Database accounts can become shell access. Three classic moves. Key points: MS SQL: xp_cmdshell — runs shell commands as the DB process. | PostgreSQL: COPY ... TO PROGRAM — pipes output to a shell. | MySQL: load a UDF .so file → sys_exec on the OS. | Pattern: every privileged DB feature is part of the attack surface." title="Attack category: Privilege Escalation: DB → OS. Database accounts can become she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权限提升: DB → OS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Database accounts can become shell access. Three classic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MS SQL: xp_cmdshell — runs shell commands as the DB process.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PostgreSQL: COPY ... TO PROGRAM — pipes output to a shell.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MySQL: load a UDF .so file → sys_exec on the OS.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Pattern: every privileged DB feature is part of the attack surface.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31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Data Lake Security Gaps. Everything ends up in S3 — including things you didn't mean to put there. Key points: Permissive IAM leaks from compute roles to humans. | No encryption-at-rest enforcement on bucket keys. | No write-side validation — anyone can drop poisoned data. | First question: WHO can write to the lake? WHO can read?" title="Attack category: Data Lake Security Gaps. Everything ends up in S3 — including t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数据湖安全漏洞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Everything ends up in S3 — including things you didn't mean to put there.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Permissive IAM leaks from compute roles to humans.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No encryption-at-rest enforcement on bucket keys.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No write-side validation — anyone can drop poisoned data.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First question: WHO can write to the lake? WHO can read?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32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Ransomware Loves Databases. The DB is the thing the business needs back — maximum leverage. Key points: Encrypt the live database. | Encrypt the BACKUPS (otherwise customer just restores). | Exfil a copy first — extort with disclosure even if they restore. | Defense: offline, immutable backups + tested restores." title="Attack category: Ransomware Loves Databases. The DB is the thing the business ne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Ransomware Loves Databases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The DB is the thing the business needs back — maximum leverage.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Encrypt the live database.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Encrypt the BACKUPS (otherwise customer just restores).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Exfil a copy first — extort with disclosure even if they restore.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Defense: offline, immutable backups + tested restores.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Cybersecurity A&amp;D: WannaCry — patch was out 59 days prior.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33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Credential Attacks. Default creds and leaked connection strings — two old, durable bugs. Key points: Redis: no password by default for years. | Elastic: no auth in the free tier — also for years. | Connection strings (postgres://user:pass@host) committed to Git. | Pre-commit secret scanning — fix this week." title="Attack category: Credential Attacks. Default creds and leaked connection strings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凭证攻击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Default creds and leaked connection strings — two old, durable bugs.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Redis: no password by default for years.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Elastic: no auth in the free tier — also for years.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Connection strings (postgres://user:pass@host) committed to Git.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Pre-commit secret scanning — fix this week.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Cybersecurity A&amp;D: stolen credentials = preferred vector for organized crime.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34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Supply Chain — The DB Libraries You Trust. Your DB driver came from npm/PyPI/Maven. So did everyone else's. Key points: Malicious npm packages posing as ORMs / drivers. | Trojanized Docker Hub images for popular databases. | Compromised PostgreSQL extensions / MySQL plugins. | Extensions run with DB privileges — usually a lot." title="Attack category: Supply Chain — The DB Libraries You Trust. Your DB driver came 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Supply Chain — The DB Libraries You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Your DB driver came from npm/PyPI/Maven. So did everyone else's.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Malicious npm packages posing as ORMs / drivers.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Trojanized Docker Hub images for popular databases.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Compromised PostgreSQL extensions / MySQL plugins.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Extensions run with DB privileges — usually a lot.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Shostack: 'Threats tend to cluster around trust boundaries.'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35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RAG / LLM Data Poisoning. Stored XSS for the AI era. Write into the knowledge base → LLM quotes it. Key points: Poisoned support article: 'To reset, send your password to...' | Poisoned internal doc: 'Company policy is to wire transfer to...' | Prompt injection embedded in retrieved documents. | Defense: strict write ACLs, provenance tags, human-in-the-loop." title="Attack category: RAG / LLM Data Poisoning. Stored XSS for the AI era. Write into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RAG / LLM Data Poisoning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Stored XSS for the AI era. Write into the knowledge base → LLM quotes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Poisoned support article: 'To reset, send your password to...'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Poisoned internal doc: 'Company policy is to wire transfer to...'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Prompt injection embedded in retrieved documents.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Defense: strict write ACLs, provenance tags, human-in-the-loop.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OWASP 2017 stored-XSS principle — substitute 'admin' with 'LLM'.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36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Insider Threats &amp; DB-to-DB Lateral Movement. Databases aren't endpoints. They're nodes in a graph. Key points: Over-permissioned service accounts. Engineers with prod read. | DBAs with no audit trail. | Oracle DB_LINK, SQL Server linked servers, Postgres FDW. | Stored credentials → compromise A, hop to B, hop to C." title="Attack category: Insider Threats &amp; DB-to-DB Lateral Movement. Databases aren't e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内部威胁 &amp; DB-to-DB Lateral Movement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Databases aren't endpoints. They're nodes in a graph.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权限过高的服务账户. Engineers with prod read.</a:t>
            </a:r>
            <a:r>
              <a:rPr sz="230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DBAs with no audit trail.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Oracle DB_LINK, SQL Server linked servers, Postgres FDW.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Stored credentials → compromise A, hop to B, hop to 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Web App Hacker's Handbook: poorly protected audit logs = a gold mine.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37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Attack category: Backup &amp; Snapshot Exposure. Same data as prod, half the love. Key points: Unencrypted DB backups on shares readable by Domain Users. | Cloud snapshots shared cross-account, never un-shared. | Off-site backups to vendors whose posture you never checked. | Backups are last resort. Apply identify-authN-authZ-audit." title="Attack category: Backup &amp; Snapshot Exposure. Same data as prod, half the love. K"/>
          <p:cNvSpPr txBox="1"/>
          <p:nvPr/>
        </p:nvSpPr>
        <p:spPr>
          <a:xfrm>
            <a:off x="457200" y="365760"/>
            <a:ext cx="731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0">
                <a:solidFill>
                  <a:srgbClr val="FF6B35"/>
                </a:solidFill>
                <a:latin typeface="Calibri"/>
              </a:rPr>
              <a:t>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4114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FF6B35"/>
                </a:solidFill>
                <a:latin typeface="Calibri"/>
              </a:rPr>
              <a:t>备份和快照泄露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82880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00D4FF"/>
                </a:solidFill>
                <a:latin typeface="Calibri"/>
              </a:rPr>
              <a:t>Same data as prod, half the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Unencrypted DB backups on shares readable by Domain Users.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Cloud snapshots shared cross-account, never un-shared.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Off-site backups to vendors whose posture you never checked.</a:t>
            </a:r>
          </a:p>
          <a:p>
            <a:pPr algn="l">
              <a:lnSpc>
                <a:spcPct val="140000"/>
              </a:lnSpc>
            </a:pPr>
            <a:r>
              <a:rPr sz="2300" b="1">
                <a:solidFill>
                  <a:srgbClr val="00D4FF"/>
                </a:solidFill>
                <a:latin typeface="Calibri"/>
              </a:rPr>
              <a:t>● </a:t>
            </a:r>
            <a:r>
              <a:rPr sz="2300">
                <a:solidFill>
                  <a:srgbClr val="FFFFFF"/>
                </a:solidFill>
                <a:latin typeface="Calibri"/>
              </a:rPr>
              <a:t>Backups are last resort. Apply identify-authN-authZ-audit.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CCCCD6"/>
                </a:solidFill>
                <a:latin typeface="Calibri"/>
              </a:rPr>
              <a:t>Schneier: identify, authenticate, authorize, audit — same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38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ecap of the mental map: definition, ten families, cloud shared responsibility, markdown as a database, and the expanded attack surface." title="Recap of the mental map: definition, ten families, cloud shared responsibility, 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Your Mental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5000"/>
              </a:lnSpc>
            </a:pPr>
            <a:r>
              <a:rPr sz="2800" b="1">
                <a:solidFill>
                  <a:srgbClr val="00D4FF"/>
                </a:solidFill>
                <a:latin typeface="Calibri"/>
              </a:rPr>
              <a:t>✓ </a:t>
            </a:r>
            <a:r>
              <a:rPr sz="2800">
                <a:solidFill>
                  <a:srgbClr val="FFFFFF"/>
                </a:solidFill>
                <a:latin typeface="Calibri"/>
              </a:rPr>
              <a:t>A database = organized storage + a way to ask questions.</a:t>
            </a:r>
          </a:p>
          <a:p>
            <a:pPr algn="l">
              <a:lnSpc>
                <a:spcPct val="155000"/>
              </a:lnSpc>
            </a:pPr>
            <a:r>
              <a:rPr sz="2800" b="1">
                <a:solidFill>
                  <a:srgbClr val="00D4FF"/>
                </a:solidFill>
                <a:latin typeface="Calibri"/>
              </a:rPr>
              <a:t>✓ </a:t>
            </a:r>
            <a:r>
              <a:rPr sz="2800">
                <a:solidFill>
                  <a:srgbClr val="FFFFFF"/>
                </a:solidFill>
                <a:latin typeface="Calibri"/>
              </a:rPr>
              <a:t>Ten families, each with its own gotcha.</a:t>
            </a:r>
          </a:p>
          <a:p>
            <a:pPr algn="l">
              <a:lnSpc>
                <a:spcPct val="155000"/>
              </a:lnSpc>
            </a:pPr>
            <a:r>
              <a:rPr sz="2800" b="1">
                <a:solidFill>
                  <a:srgbClr val="00D4FF"/>
                </a:solidFill>
                <a:latin typeface="Calibri"/>
              </a:rPr>
              <a:t>✓ </a:t>
            </a:r>
            <a:r>
              <a:rPr sz="2800">
                <a:solidFill>
                  <a:srgbClr val="FFFFFF"/>
                </a:solidFill>
                <a:latin typeface="Calibri"/>
              </a:rPr>
              <a:t>Cloud = shared responsibility. You own config &amp; data.</a:t>
            </a:r>
          </a:p>
          <a:p>
            <a:pPr algn="l">
              <a:lnSpc>
                <a:spcPct val="155000"/>
              </a:lnSpc>
            </a:pPr>
            <a:r>
              <a:rPr sz="2800" b="1">
                <a:solidFill>
                  <a:srgbClr val="00D4FF"/>
                </a:solidFill>
                <a:latin typeface="Calibri"/>
              </a:rPr>
              <a:t>✓ </a:t>
            </a:r>
            <a:r>
              <a:rPr sz="2800">
                <a:solidFill>
                  <a:srgbClr val="FFFFFF"/>
                </a:solidFill>
                <a:latin typeface="Calibri"/>
              </a:rPr>
              <a:t>Markdown is a database for LLMs. RAG poisoning is real.</a:t>
            </a:r>
          </a:p>
          <a:p>
            <a:pPr algn="l">
              <a:lnSpc>
                <a:spcPct val="155000"/>
              </a:lnSpc>
            </a:pPr>
            <a:r>
              <a:rPr sz="2800" b="1">
                <a:solidFill>
                  <a:srgbClr val="00D4FF"/>
                </a:solidFill>
                <a:latin typeface="Calibri"/>
              </a:rPr>
              <a:t>✓ </a:t>
            </a:r>
            <a:r>
              <a:rPr sz="2800">
                <a:solidFill>
                  <a:srgbClr val="FFFFFF"/>
                </a:solidFill>
                <a:latin typeface="Calibri"/>
              </a:rPr>
              <a:t>SQLi got fixed. The attack surface expanded.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39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Five concrete next steps: install PostgreSQL, do PortSwigger SQLi labs, browse Shodan/Censys legally, read breach reports, list your org's databases." title="Five concrete next steps: install PostgreSQL, do PortSwigger SQLi labs, browse S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What to Do Next Week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914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1.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82880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本地安装PostgreSQL. Write a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914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65176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Do the PortSwigger SQL injection labs (free).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429000"/>
            <a:ext cx="914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47472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Browse Shodan / Censys — only systems you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914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9768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Read a breach report — Capital One, Equifax, MOVEit.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74920"/>
            <a:ext cx="914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00FF41"/>
                </a:solidFill>
                <a:latin typeface="Calibri"/>
              </a:rPr>
              <a:t>5.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2064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Find out what databases YOUR org actually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40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esource list: PortSwigger Web Security Academy, SQLBolt, Use The Index Luke, DB-Engines, and the OWASP Top 10." title="Resource list: PortSwigger Web Security Academy, SQLBolt, Use The Index Luke, DB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00FF41"/>
                </a:solidFill>
                <a:latin typeface="Calibri"/>
              </a:rPr>
              <a:t>资源 Worth Bookmarking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FF41"/>
                </a:solidFill>
                <a:latin typeface="Calibri"/>
              </a:rPr>
              <a:t>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PortSwigger Web Security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0" y="182880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Calibri"/>
              </a:rPr>
              <a:t>portswigger.net/web-security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0604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FF41"/>
                </a:solidFill>
                <a:latin typeface="Calibri"/>
              </a:rPr>
              <a:t>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SQLBolt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60604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Calibri"/>
              </a:rPr>
              <a:t>sqlbolt.com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FF41"/>
                </a:solidFill>
                <a:latin typeface="Calibri"/>
              </a:rPr>
              <a:t>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8328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Use The 索引, Luke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38328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Calibri"/>
              </a:rPr>
              <a:t>use-the-index-luke.com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FF41"/>
                </a:solidFill>
                <a:latin typeface="Calibri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6052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DB-Engines Ranking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16052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Calibri"/>
              </a:rPr>
              <a:t>db-engines.com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37760"/>
            <a:ext cx="457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0">
                <a:solidFill>
                  <a:srgbClr val="00FF41"/>
                </a:solidFill>
                <a:latin typeface="Calibri"/>
              </a:rPr>
              <a:t>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37760"/>
            <a:ext cx="5943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OWASP Top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937760"/>
            <a:ext cx="4937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Calibri"/>
              </a:rPr>
              <a:t>owasp.org/Top10/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41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losing slide: Databases are where the money is. Literally. Now you know where to look. Ronin 48." title="Closing slide: Databases are where the money is. Literally. Now you know where t"/>
          <p:cNvSpPr txBox="1"/>
          <p:nvPr/>
        </p:nvSpPr>
        <p:spPr>
          <a:xfrm>
            <a:off x="457200" y="137160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FFFFFF"/>
                </a:solidFill>
                <a:latin typeface="Calibri"/>
              </a:rPr>
              <a:t>Databases are 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800" b="1">
                <a:solidFill>
                  <a:srgbClr val="00FF41"/>
                </a:solidFill>
                <a:latin typeface="Calibri"/>
              </a:rPr>
              <a:t>the money is. Literally.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724704" y="402336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200" b="0">
                <a:solidFill>
                  <a:srgbClr val="00D4FF"/>
                </a:solidFill>
                <a:latin typeface="Calibri"/>
              </a:rPr>
              <a:t>Now you know where to look.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CCCCD6"/>
                </a:solidFill>
                <a:latin typeface="Calibri"/>
              </a:rPr>
              <a:t>RONIN 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42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Questions and answers slide." title="Questions and answers slide."/>
          <p:cNvSpPr txBox="1"/>
          <p:nvPr/>
        </p:nvSpPr>
        <p:spPr>
          <a:xfrm>
            <a:off x="457200" y="2286000"/>
            <a:ext cx="112471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0" b="1">
                <a:solidFill>
                  <a:srgbClr val="00FF41"/>
                </a:solidFill>
                <a:latin typeface="Calibri"/>
              </a:rP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>
                <a:solidFill>
                  <a:srgbClr val="FFFFFF"/>
                </a:solidFill>
                <a:latin typeface="Calibri"/>
              </a:rPr>
              <a:t>Hit 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References list of all books cited throughout the talk, including Beaulieu's Learning SQL, Clarke's SQL Injection Attacks and Defense, Schneier's Secrets and Lies, and others." title="References list of all books cited throughout the talk, including Beaulieu's Lea"/>
          <p:cNvSpPr txBox="1"/>
          <p:nvPr/>
        </p:nvSpPr>
        <p:spPr>
          <a:xfrm>
            <a:off x="457200" y="320040"/>
            <a:ext cx="112471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>
                <a:solidFill>
                  <a:srgbClr val="00FF41"/>
                </a:solidFill>
                <a:latin typeface="Calibri"/>
              </a:rPr>
              <a:t>参考文献 — Books Cited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25880"/>
            <a:ext cx="1828800" cy="54864"/>
          </a:xfrm>
          <a:prstGeom prst="rect">
            <a:avLst/>
          </a:prstGeom>
          <a:solidFill>
            <a:srgbClr val="00FF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6420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Beaulieu, A. — Learning SQL, 2nd Edition (O'Reilly)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0253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7510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Clarke, J. et al. — SQL Injection Attacks and Defense (Syngress)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13432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Crowther, P. — Concise Guide to Databases (Springer, 2013)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24328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9689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DeBarros, A. — Practical SQL (No Starch Press)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5224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90779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Diogenes &amp; Ozkaya — Cybersecurity Attack and Defense Strategies (Packt)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218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Janca, T. — Alice and Bob Learn Application Security (Wiley)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5701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52958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Mishra &amp; Singh — PostgreSQL Development Essentials (Packt)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867912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404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MongoDB Cookbook (Packt)  •  10gen — Top 5 NoSQL Considerations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178808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151376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OWASP Top 10 — 2017 Edition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489704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46227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Sharma, M. — Cosmos DB for MongoDB Developers (Apress, 2018)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8006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77316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Schneier, B. — Secrets and Lies (Wiley)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11496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084064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Stuttard &amp; Pinto — Web Application Hacker's Handbook, 2nd 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422392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39495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Shostack, A. — Threat Modeling: Designing for Security (Wiley)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733288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705855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AWS Administration: The Definitive Guide (Packt)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044184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Calibri"/>
              </a:rPr>
              <a:t>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1675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Fundamentals of Azure, 2nd Edition (Microsoft Press)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CCCD6"/>
                </a:solidFill>
                <a:latin typeface="Calibri"/>
              </a:rPr>
              <a:t>Ronin 48  |  黑客的数据库指南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1097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0">
                <a:solidFill>
                  <a:srgbClr val="CCCCD6"/>
                </a:solidFill>
                <a:latin typeface="Calibri"/>
              </a:rPr>
              <a:t>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