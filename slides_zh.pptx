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7D68741-070C-4AE3-AD19-11384171AC7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1143000" y="685800"/>
            <a:ext cx="4571640" cy="3428640"/>
          </a:xfrm>
          <a:prstGeom prst="rect">
            <a:avLst/>
          </a:prstGeom>
          <a:ln w="0">
            <a:noFill/>
          </a:ln>
        </p:spPr>
      </p:sp>
      <p:sp>
        <p:nvSpPr>
          <p:cNvPr id="6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This is a 45-minute talk for new security analysts. No computer-science background required. There's a script, slides, and a recording — nothing to memorize.</a:t>
            </a:r>
            <a:endParaRPr lang="en-US" sz="2000" b="0" u="none" strike="noStrike">
              <a:solidFill>
                <a:srgbClr val="000000"/>
              </a:solidFill>
              <a:effectLst/>
              <a:uFillTx/>
              <a:latin typeface="Arial"/>
            </a:endParaRPr>
          </a:p>
        </p:txBody>
      </p:sp>
      <p:sp>
        <p:nvSpPr>
          <p:cNvPr id="67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E1352F-AE15-4FB6-9A2D-D4F624A013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1143000" y="685800"/>
            <a:ext cx="4571640" cy="3428640"/>
          </a:xfrm>
          <a:prstGeom prst="rect">
            <a:avLst/>
          </a:prstGeom>
          <a:ln w="0">
            <a:noFill/>
          </a:ln>
        </p:spPr>
      </p:sp>
      <p:sp>
        <p:nvSpPr>
          <p:cNvPr id="6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yourself. Aaron K. Clark, Ronin 48. Brief pause, let the audience settle.</a:t>
            </a:r>
            <a:endParaRPr lang="en-US" sz="2000" b="0" u="none" strike="noStrike">
              <a:solidFill>
                <a:srgbClr val="000000"/>
              </a:solidFill>
              <a:effectLst/>
              <a:uFillTx/>
              <a:latin typeface="Arial"/>
            </a:endParaRPr>
          </a:p>
        </p:txBody>
      </p:sp>
      <p:sp>
        <p:nvSpPr>
          <p:cNvPr id="67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EEF7A2-6551-4F71-83DA-1861A6CB79E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1143000" y="685800"/>
            <a:ext cx="4571640" cy="3428640"/>
          </a:xfrm>
          <a:prstGeom prst="rect">
            <a:avLst/>
          </a:prstGeom>
          <a:ln w="0">
            <a:noFill/>
          </a:ln>
        </p:spPr>
      </p:sp>
      <p:sp>
        <p:nvSpPr>
          <p:cNvPr id="6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Equifax, Capital One, MOVEit, SolarWinds, T-Mobile, LinkedIn, OPM, Marriott — every one of those breaches ended at a database. Attackers care about data, not architecture diagrams. </a:t>
            </a:r>
            <a:br>
              <a:rPr sz="2000"/>
            </a:br>
            <a:br>
              <a:rPr sz="2000"/>
            </a:br>
            <a:r>
              <a:rPr lang="en-US" sz="2000" b="0" u="none" strike="noStrike">
                <a:solidFill>
                  <a:srgbClr val="000000"/>
                </a:solidFill>
                <a:effectLst/>
                <a:uFillTx/>
                <a:latin typeface="Arial"/>
              </a:rPr>
              <a:t>* Except where it didn’t</a:t>
            </a:r>
            <a:endParaRPr lang="en-US" sz="2000" b="0" u="none" strike="noStrike">
              <a:solidFill>
                <a:srgbClr val="000000"/>
              </a:solidFill>
              <a:effectLst/>
              <a:uFillTx/>
              <a:latin typeface="Arial"/>
            </a:endParaRPr>
          </a:p>
        </p:txBody>
      </p:sp>
      <p:sp>
        <p:nvSpPr>
          <p:cNvPr id="68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63972C-0984-4E8A-A148-C8688852C7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640" cy="3428640"/>
          </a:xfrm>
          <a:prstGeom prst="rect">
            <a:avLst/>
          </a:prstGeom>
          <a:ln w="0">
            <a:noFill/>
          </a:ln>
        </p:spPr>
      </p:sp>
      <p:sp>
        <p:nvSpPr>
          <p:cNvPr id="6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Attackers don't care about your beautiful SPA or your microservices diagram. They care about the data — the crown jewels — because that's what converts into money, leverage, or headlines.</a:t>
            </a:r>
            <a:endParaRPr lang="en-US" sz="2000" b="0" u="none" strike="noStrike">
              <a:solidFill>
                <a:srgbClr val="000000"/>
              </a:solidFill>
              <a:effectLst/>
              <a:uFillTx/>
              <a:latin typeface="Arial"/>
            </a:endParaRPr>
          </a:p>
        </p:txBody>
      </p:sp>
      <p:sp>
        <p:nvSpPr>
          <p:cNvPr id="68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CA42F3E-B692-43D2-8F9A-E2F0F74411C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640" cy="3428640"/>
          </a:xfrm>
          <a:prstGeom prst="rect">
            <a:avLst/>
          </a:prstGeom>
          <a:ln w="0">
            <a:noFill/>
          </a:ln>
        </p:spPr>
      </p:sp>
      <p:sp>
        <p:nvSpPr>
          <p:cNvPr id="6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Strip the jargon: organized storage plus a query language. If you've used Ctrl-F in Excel, you've used a database. Real databases add scale, speed, concurrency, and a formal query language.</a:t>
            </a:r>
            <a:endParaRPr lang="en-US" sz="2000" b="0" u="none" strike="noStrike">
              <a:solidFill>
                <a:srgbClr val="000000"/>
              </a:solidFill>
              <a:effectLst/>
              <a:uFillTx/>
              <a:latin typeface="Arial"/>
            </a:endParaRPr>
          </a:p>
        </p:txBody>
      </p:sp>
      <p:sp>
        <p:nvSpPr>
          <p:cNvPr id="68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3085B2-6AD0-4680-B019-05D1B1CA1C7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640" cy="3428640"/>
          </a:xfrm>
          <a:prstGeom prst="rect">
            <a:avLst/>
          </a:prstGeom>
          <a:ln w="0">
            <a:noFill/>
          </a:ln>
        </p:spPr>
      </p:sp>
      <p:sp>
        <p:nvSpPr>
          <p:cNvPr id="6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Memorize these six words and you can hold a real conversation with a DBA. Table is a tab, row is a record, column is an attribute, query is a question, schema is the shape, index is the bookmark. CRUD covers every action: create, read, update, delete.</a:t>
            </a:r>
            <a:endParaRPr lang="en-US" sz="2000" b="0" u="none" strike="noStrike">
              <a:solidFill>
                <a:srgbClr val="000000"/>
              </a:solidFill>
              <a:effectLst/>
              <a:uFillTx/>
              <a:latin typeface="Arial"/>
            </a:endParaRPr>
          </a:p>
        </p:txBody>
      </p:sp>
      <p:sp>
        <p:nvSpPr>
          <p:cNvPr id="68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D71965-AC47-4220-99FB-2E0429DD71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640" cy="3428640"/>
          </a:xfrm>
          <a:prstGeom prst="rect">
            <a:avLst/>
          </a:prstGeom>
          <a:ln w="0">
            <a:noFill/>
          </a:ln>
        </p:spPr>
      </p:sp>
      <p:sp>
        <p:nvSpPr>
          <p:cNvPr id="6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weird thing you'll see in a real environment is a fossil from one of these eras. Knowing which era something comes from is a real superpower in incident response and pentesting.</a:t>
            </a:r>
            <a:endParaRPr lang="en-US" sz="2000" b="0" u="none" strike="noStrike">
              <a:solidFill>
                <a:srgbClr val="000000"/>
              </a:solidFill>
              <a:effectLst/>
              <a:uFillTx/>
              <a:latin typeface="Arial"/>
            </a:endParaRPr>
          </a:p>
        </p:txBody>
      </p:sp>
      <p:sp>
        <p:nvSpPr>
          <p:cNvPr id="69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F4F706-402B-4506-8469-0C9D97D42C1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640" cy="3428640"/>
          </a:xfrm>
          <a:prstGeom prst="rect">
            <a:avLst/>
          </a:prstGeom>
          <a:ln w="0">
            <a:noFill/>
          </a:ln>
        </p:spPr>
      </p:sp>
      <p:sp>
        <p:nvSpPr>
          <p:cNvPr id="6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Ten families you'll meet in the wild. For each: what it stores, what it's for, key products, and the security gotcha.</a:t>
            </a:r>
            <a:endParaRPr lang="en-US" sz="2000" b="0" u="none" strike="noStrike">
              <a:solidFill>
                <a:srgbClr val="000000"/>
              </a:solidFill>
              <a:effectLst/>
              <a:uFillTx/>
              <a:latin typeface="Arial"/>
            </a:endParaRPr>
          </a:p>
        </p:txBody>
      </p:sp>
      <p:sp>
        <p:nvSpPr>
          <p:cNvPr id="69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B219C9-ED69-4663-B568-C458999B68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640" cy="3428640"/>
          </a:xfrm>
          <a:prstGeom prst="rect">
            <a:avLst/>
          </a:prstGeom>
          <a:ln w="0">
            <a:noFill/>
          </a:ln>
        </p:spPr>
      </p:sp>
      <p:sp>
        <p:nvSpPr>
          <p:cNvPr id="6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 Relational / SQL. Products include PostgreSQL  •  MySQL/MariaDB  •  SQL Server  •  Oracle. Clear relationships, consistency required — finance, regulated data. Security gotcha: SQL injection when developers concatenate user input into queries.</a:t>
            </a:r>
            <a:endParaRPr lang="en-US" sz="2000" b="0" u="none" strike="noStrike">
              <a:solidFill>
                <a:srgbClr val="000000"/>
              </a:solidFill>
              <a:effectLst/>
              <a:uFillTx/>
              <a:latin typeface="Arial"/>
            </a:endParaRPr>
          </a:p>
        </p:txBody>
      </p:sp>
      <p:sp>
        <p:nvSpPr>
          <p:cNvPr id="69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47FC2-2234-49D1-B8B2-6A98C64806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640" cy="3428640"/>
          </a:xfrm>
          <a:prstGeom prst="rect">
            <a:avLst/>
          </a:prstGeom>
          <a:ln w="0">
            <a:noFill/>
          </a:ln>
        </p:spPr>
      </p:sp>
      <p:sp>
        <p:nvSpPr>
          <p:cNvPr id="7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2: Document Stores. Products include MongoDB  •  Couchbase  •  Firestore. Naturally nested data; the shape changes over time. Security gotcha: NoSQL injection via query operators ($ne, $gt, $where). Default no-auth.</a:t>
            </a:r>
            <a:endParaRPr lang="en-US" sz="2000" b="0" u="none" strike="noStrike">
              <a:solidFill>
                <a:srgbClr val="000000"/>
              </a:solidFill>
              <a:effectLst/>
              <a:uFillTx/>
              <a:latin typeface="Arial"/>
            </a:endParaRPr>
          </a:p>
        </p:txBody>
      </p:sp>
      <p:sp>
        <p:nvSpPr>
          <p:cNvPr id="70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722488-A93E-41A1-8FBC-E82B81520A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1143000" y="685800"/>
            <a:ext cx="4571640" cy="3428640"/>
          </a:xfrm>
          <a:prstGeom prst="rect">
            <a:avLst/>
          </a:prstGeom>
          <a:ln w="0">
            <a:noFill/>
          </a:ln>
        </p:spPr>
      </p:sp>
      <p:sp>
        <p:nvSpPr>
          <p:cNvPr id="7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3: Key-Value Stores. Products include Redis  •  Memcached  •  DynamoDB. Caches, session stores, rate limiters, leaderboards. Security gotcha: Default no-auth Redis + CONFIG SET → writing SSH keys to disk.</a:t>
            </a:r>
            <a:endParaRPr lang="en-US" sz="2000" b="0" u="none" strike="noStrike">
              <a:solidFill>
                <a:srgbClr val="000000"/>
              </a:solidFill>
              <a:effectLst/>
              <a:uFillTx/>
              <a:latin typeface="Arial"/>
            </a:endParaRPr>
          </a:p>
        </p:txBody>
      </p:sp>
      <p:sp>
        <p:nvSpPr>
          <p:cNvPr id="70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A296E8-F0D1-499F-9EDD-8D848FA8A7C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1143000" y="685800"/>
            <a:ext cx="4571640" cy="3428640"/>
          </a:xfrm>
          <a:prstGeom prst="rect">
            <a:avLst/>
          </a:prstGeom>
          <a:ln w="0">
            <a:noFill/>
          </a:ln>
        </p:spPr>
      </p:sp>
      <p:sp>
        <p:nvSpPr>
          <p:cNvPr id="7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4: Column-Family. Products include Apache Cassandra  •  HBase  •  ScyllaDB. Massive scale across many machines; no complex joins needed. Security gotcha: Clusters trust each other on gossip ports — mgmt network = root.</a:t>
            </a:r>
            <a:endParaRPr lang="en-US" sz="2000" b="0" u="none" strike="noStrike">
              <a:solidFill>
                <a:srgbClr val="000000"/>
              </a:solidFill>
              <a:effectLst/>
              <a:uFillTx/>
              <a:latin typeface="Arial"/>
            </a:endParaRPr>
          </a:p>
        </p:txBody>
      </p:sp>
      <p:sp>
        <p:nvSpPr>
          <p:cNvPr id="70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7A863D0-B30E-4FEC-9A1D-B82090AD8A4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1143000" y="685800"/>
            <a:ext cx="4571640" cy="3428640"/>
          </a:xfrm>
          <a:prstGeom prst="rect">
            <a:avLst/>
          </a:prstGeom>
          <a:ln w="0">
            <a:noFill/>
          </a:ln>
        </p:spPr>
      </p:sp>
      <p:sp>
        <p:nvSpPr>
          <p:cNvPr id="7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5: Graph Databases. Products include Neo4j  •  Amazon Neptune  •  ArangoDB. Social networks, fraud detection, IAM analysis (e.g. BloodHound). Security gotcha: Query languages like Cypher are injectable too. NoSQLi isn't just Mongo.</a:t>
            </a:r>
            <a:endParaRPr lang="en-US" sz="2000" b="0" u="none" strike="noStrike">
              <a:solidFill>
                <a:srgbClr val="000000"/>
              </a:solidFill>
              <a:effectLst/>
              <a:uFillTx/>
              <a:latin typeface="Arial"/>
            </a:endParaRPr>
          </a:p>
        </p:txBody>
      </p:sp>
      <p:sp>
        <p:nvSpPr>
          <p:cNvPr id="71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AECD6E-E4FB-4F3A-B4B8-D918A888D7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1143000" y="685800"/>
            <a:ext cx="4571640" cy="3428640"/>
          </a:xfrm>
          <a:prstGeom prst="rect">
            <a:avLst/>
          </a:prstGeom>
          <a:ln w="0">
            <a:noFill/>
          </a:ln>
        </p:spPr>
      </p:sp>
      <p:sp>
        <p:nvSpPr>
          <p:cNvPr id="7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6: Search Engines. Products include Elasticsearch  •  OpenSearch  •  Solr. Log search, SIEM backbones, e-commerce site search. Security gotcha: No built-in auth historically — billions of records exposed on Shodan.</a:t>
            </a:r>
            <a:endParaRPr lang="en-US" sz="2000" b="0" u="none" strike="noStrike">
              <a:solidFill>
                <a:srgbClr val="000000"/>
              </a:solidFill>
              <a:effectLst/>
              <a:uFillTx/>
              <a:latin typeface="Arial"/>
            </a:endParaRPr>
          </a:p>
        </p:txBody>
      </p:sp>
      <p:sp>
        <p:nvSpPr>
          <p:cNvPr id="71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65A6C1-FC86-46A8-B12C-80D3769A1EA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1143000" y="685800"/>
            <a:ext cx="4571640" cy="3428640"/>
          </a:xfrm>
          <a:prstGeom prst="rect">
            <a:avLst/>
          </a:prstGeom>
          <a:ln w="0">
            <a:noFill/>
          </a:ln>
        </p:spPr>
      </p:sp>
      <p:sp>
        <p:nvSpPr>
          <p:cNvPr id="7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7: Time-Series. Products include InfluxDB  •  TimescaleDB  •  Prometheus. Metrics, observability, IoT telemetry. Security gotcha: Usually inside the perimeter, often unauthenticated.</a:t>
            </a:r>
            <a:endParaRPr lang="en-US" sz="2000" b="0" u="none" strike="noStrike">
              <a:solidFill>
                <a:srgbClr val="000000"/>
              </a:solidFill>
              <a:effectLst/>
              <a:uFillTx/>
              <a:latin typeface="Arial"/>
            </a:endParaRPr>
          </a:p>
        </p:txBody>
      </p:sp>
      <p:sp>
        <p:nvSpPr>
          <p:cNvPr id="71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4500C33-800C-43BF-A9C0-CDCEEC11A3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1143000" y="685800"/>
            <a:ext cx="4571640" cy="3428640"/>
          </a:xfrm>
          <a:prstGeom prst="rect">
            <a:avLst/>
          </a:prstGeom>
          <a:ln w="0">
            <a:noFill/>
          </a:ln>
        </p:spPr>
      </p:sp>
      <p:sp>
        <p:nvSpPr>
          <p:cNvPr id="7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8: Vector Databases. Products include Pinecone  •  Milvus  •  Weaviate  •  pgvector. RAG, recommendation engines, semantic search. Security gotcha: Data poisoning — sneak in a doc, the LLM quotes it as truth.</a:t>
            </a:r>
            <a:endParaRPr lang="en-US" sz="2000" b="0" u="none" strike="noStrike">
              <a:solidFill>
                <a:srgbClr val="000000"/>
              </a:solidFill>
              <a:effectLst/>
              <a:uFillTx/>
              <a:latin typeface="Arial"/>
            </a:endParaRPr>
          </a:p>
        </p:txBody>
      </p:sp>
      <p:sp>
        <p:nvSpPr>
          <p:cNvPr id="719"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7CBBC2-49BC-4CE4-9F20-2C89647A441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640" cy="3428640"/>
          </a:xfrm>
          <a:prstGeom prst="rect">
            <a:avLst/>
          </a:prstGeom>
          <a:ln w="0">
            <a:noFill/>
          </a:ln>
        </p:spPr>
      </p:sp>
      <p:sp>
        <p:nvSpPr>
          <p:cNvPr id="7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9: Embedded / Edge. Products include SQLite  •  DuckDB  •  LevelDB. In-app storage — browsers, phones, every modern airplane. Security gotcha: DB is a file — attack is 'steal the file'. Mobile pentest world.</a:t>
            </a:r>
            <a:endParaRPr lang="en-US" sz="2000" b="0" u="none" strike="noStrike">
              <a:solidFill>
                <a:srgbClr val="000000"/>
              </a:solidFill>
              <a:effectLst/>
              <a:uFillTx/>
              <a:latin typeface="Arial"/>
            </a:endParaRPr>
          </a:p>
        </p:txBody>
      </p:sp>
      <p:sp>
        <p:nvSpPr>
          <p:cNvPr id="722"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C818390-E5FA-4DE9-8805-1540285BAD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640" cy="3428640"/>
          </a:xfrm>
          <a:prstGeom prst="rect">
            <a:avLst/>
          </a:prstGeom>
          <a:ln w="0">
            <a:noFill/>
          </a:ln>
        </p:spPr>
      </p:sp>
      <p:sp>
        <p:nvSpPr>
          <p:cNvPr id="7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10: Data Lakes / Lakehouses. Products include S3 + Athena  •  Delta Lake  •  Iceberg  •  Snowflake. Schema-on-read instead of schema-on-write. Dump now, query later. Security gotcha: Giant S3 pools + permissive IAM, no encryption-at-rest enforcement.</a:t>
            </a:r>
            <a:endParaRPr lang="en-US" sz="2000" b="0" u="none" strike="noStrike">
              <a:solidFill>
                <a:srgbClr val="000000"/>
              </a:solidFill>
              <a:effectLst/>
              <a:uFillTx/>
              <a:latin typeface="Arial"/>
            </a:endParaRPr>
          </a:p>
        </p:txBody>
      </p:sp>
      <p:sp>
        <p:nvSpPr>
          <p:cNvPr id="725"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482BD9-25C3-445B-A76A-5B58C17901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640" cy="3428640"/>
          </a:xfrm>
          <a:prstGeom prst="rect">
            <a:avLst/>
          </a:prstGeom>
          <a:ln w="0">
            <a:noFill/>
          </a:ln>
        </p:spPr>
      </p:sp>
      <p:sp>
        <p:nvSpPr>
          <p:cNvPr id="7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Know the cloud vendor names — that's how databases appear in alerts, IAM policies, and incident response. AWS RDS/Aurora, GCP Cloud SQL, Azure SQL. Document side: DynamoDB, Firestore, Cosmos DB.</a:t>
            </a:r>
            <a:endParaRPr lang="en-US" sz="2000" b="0" u="none" strike="noStrike">
              <a:solidFill>
                <a:srgbClr val="000000"/>
              </a:solidFill>
              <a:effectLst/>
              <a:uFillTx/>
              <a:latin typeface="Arial"/>
            </a:endParaRPr>
          </a:p>
        </p:txBody>
      </p:sp>
      <p:sp>
        <p:nvSpPr>
          <p:cNvPr id="728"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51E937-AB40-4E5E-BC61-E8434BCF80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640" cy="3428640"/>
          </a:xfrm>
          <a:prstGeom prst="rect">
            <a:avLst/>
          </a:prstGeom>
          <a:ln w="0">
            <a:noFill/>
          </a:ln>
        </p:spPr>
      </p:sp>
      <p:sp>
        <p:nvSpPr>
          <p:cNvPr id="7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Side-by-side table. Memorize the row labels — those are the categories. The vendor columns rotate with the market.</a:t>
            </a:r>
            <a:endParaRPr lang="en-US" sz="2000" b="0" u="none" strike="noStrike">
              <a:solidFill>
                <a:srgbClr val="000000"/>
              </a:solidFill>
              <a:effectLst/>
              <a:uFillTx/>
              <a:latin typeface="Arial"/>
            </a:endParaRPr>
          </a:p>
        </p:txBody>
      </p:sp>
      <p:sp>
        <p:nvSpPr>
          <p:cNvPr id="731"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14DDBB-53E0-469E-B433-5D45616EC05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640" cy="3428640"/>
          </a:xfrm>
          <a:prstGeom prst="rect">
            <a:avLst/>
          </a:prstGeom>
          <a:ln w="0">
            <a:noFill/>
          </a:ln>
        </p:spPr>
      </p:sp>
      <p:sp>
        <p:nvSpPr>
          <p:cNvPr id="7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vendor patches hypervisor and engine. You own config, IAM, and the data. Almost every cloud DB breach is a customer-side misconfiguration — public S3, wide security group, snapshot shared to wrong account.</a:t>
            </a:r>
            <a:endParaRPr lang="en-US" sz="2000" b="0" u="none" strike="noStrike">
              <a:solidFill>
                <a:srgbClr val="000000"/>
              </a:solidFill>
              <a:effectLst/>
              <a:uFillTx/>
              <a:latin typeface="Arial"/>
            </a:endParaRPr>
          </a:p>
        </p:txBody>
      </p:sp>
      <p:sp>
        <p:nvSpPr>
          <p:cNvPr id="734"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78ED2F-D546-4142-950D-3EC2423A67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640" cy="3428640"/>
          </a:xfrm>
          <a:prstGeom prst="rect">
            <a:avLst/>
          </a:prstGeom>
          <a:ln w="0">
            <a:noFill/>
          </a:ln>
        </p:spPr>
      </p:sp>
      <p:sp>
        <p:nvSpPr>
          <p:cNvPr id="7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SOC analysts use these every day. Pentesters scan for them every day. If you see any of these exposed to the internet in a real environment, that's a finding.</a:t>
            </a:r>
            <a:endParaRPr lang="en-US" sz="2000" b="0" u="none" strike="noStrike">
              <a:solidFill>
                <a:srgbClr val="000000"/>
              </a:solidFill>
              <a:effectLst/>
              <a:uFillTx/>
              <a:latin typeface="Arial"/>
            </a:endParaRPr>
          </a:p>
        </p:txBody>
      </p:sp>
      <p:sp>
        <p:nvSpPr>
          <p:cNvPr id="737"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5702B6-EEA3-480B-92CD-409423D7B1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640" cy="3428640"/>
          </a:xfrm>
          <a:prstGeom prst="rect">
            <a:avLst/>
          </a:prstGeom>
          <a:ln w="0">
            <a:noFill/>
          </a:ln>
        </p:spPr>
      </p:sp>
      <p:sp>
        <p:nvSpPr>
          <p:cNvPr id="7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Markdown files are a database now — literally. Folder of .md files → embedder → vector DB → LLM prompt. This pattern is called RAG.</a:t>
            </a:r>
            <a:endParaRPr lang="en-US" sz="2000" b="0" u="none" strike="noStrike">
              <a:solidFill>
                <a:srgbClr val="000000"/>
              </a:solidFill>
              <a:effectLst/>
              <a:uFillTx/>
              <a:latin typeface="Arial"/>
            </a:endParaRPr>
          </a:p>
        </p:txBody>
      </p:sp>
      <p:sp>
        <p:nvSpPr>
          <p:cNvPr id="740"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09F91F-7AF8-429D-8850-C5E25E78AF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640" cy="3428640"/>
          </a:xfrm>
          <a:prstGeom prst="rect">
            <a:avLst/>
          </a:prstGeom>
          <a:ln w="0">
            <a:noFill/>
          </a:ln>
        </p:spPr>
      </p:sp>
      <p:sp>
        <p:nvSpPr>
          <p:cNvPr id="7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Trust boundary is between whoever writes markdown and the embedder. Anyone who can edit those files can plant content the LLM will quote.</a:t>
            </a:r>
            <a:endParaRPr lang="en-US" sz="2000" b="0" u="none" strike="noStrike">
              <a:solidFill>
                <a:srgbClr val="000000"/>
              </a:solidFill>
              <a:effectLst/>
              <a:uFillTx/>
              <a:latin typeface="Arial"/>
            </a:endParaRPr>
          </a:p>
        </p:txBody>
      </p:sp>
      <p:sp>
        <p:nvSpPr>
          <p:cNvPr id="743"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BBC146-01C7-4455-8D7A-6D9B6423C13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640" cy="3428640"/>
          </a:xfrm>
          <a:prstGeom prst="rect">
            <a:avLst/>
          </a:prstGeom>
          <a:ln w="0">
            <a:noFill/>
          </a:ln>
        </p:spPr>
      </p:sp>
      <p:sp>
        <p:nvSpPr>
          <p:cNvPr id="7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your org is doing any kind of internal AI assistant, the markdown files feeding it are infrastructure. Treat them like infrastructure.</a:t>
            </a:r>
            <a:endParaRPr lang="en-US" sz="2000" b="0" u="none" strike="noStrike">
              <a:solidFill>
                <a:srgbClr val="000000"/>
              </a:solidFill>
              <a:effectLst/>
              <a:uFillTx/>
              <a:latin typeface="Arial"/>
            </a:endParaRPr>
          </a:p>
        </p:txBody>
      </p:sp>
      <p:sp>
        <p:nvSpPr>
          <p:cNvPr id="746"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99AB81-F463-4ECE-BADF-3EC60FDF43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640" cy="3428640"/>
          </a:xfrm>
          <a:prstGeom prst="rect">
            <a:avLst/>
          </a:prstGeom>
          <a:ln w="0">
            <a:noFill/>
          </a:ln>
        </p:spPr>
      </p:sp>
      <p:sp>
        <p:nvSpPr>
          <p:cNvPr id="7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divider: SECURITY — What's actually getting hit in 2026</a:t>
            </a:r>
            <a:endParaRPr lang="en-US" sz="2000" b="0" u="none" strike="noStrike">
              <a:solidFill>
                <a:srgbClr val="000000"/>
              </a:solidFill>
              <a:effectLst/>
              <a:uFillTx/>
              <a:latin typeface="Arial"/>
            </a:endParaRPr>
          </a:p>
        </p:txBody>
      </p:sp>
      <p:sp>
        <p:nvSpPr>
          <p:cNvPr id="749"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CBBF95-5D12-476F-9F77-4EC9F8DC0B4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640" cy="3428640"/>
          </a:xfrm>
          <a:prstGeom prst="rect">
            <a:avLst/>
          </a:prstGeom>
          <a:ln w="0">
            <a:noFill/>
          </a:ln>
        </p:spPr>
      </p:sp>
      <p:sp>
        <p:nvSpPr>
          <p:cNvPr id="7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famous database attack of all time. xkcd #327. Mom names her kid Robert'); DROP TABLE Students;-- and the school's database disappears because someone built a query by gluing strings. Fix is parameterized queries.</a:t>
            </a:r>
            <a:endParaRPr lang="en-US" sz="2000" b="0" u="none" strike="noStrike">
              <a:solidFill>
                <a:srgbClr val="000000"/>
              </a:solidFill>
              <a:effectLst/>
              <a:uFillTx/>
              <a:latin typeface="Arial"/>
            </a:endParaRPr>
          </a:p>
        </p:txBody>
      </p:sp>
      <p:sp>
        <p:nvSpPr>
          <p:cNvPr id="752"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F060F0-AA9B-4352-A15A-0DD56FCDB42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640" cy="3428640"/>
          </a:xfrm>
          <a:prstGeom prst="rect">
            <a:avLst/>
          </a:prstGeom>
          <a:ln w="0">
            <a:noFill/>
          </a:ln>
        </p:spPr>
      </p:sp>
      <p:sp>
        <p:nvSpPr>
          <p:cNvPr id="7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SQL injection is a success story — parameterized queries fixed it. But the attack surface didn't shrink, it expanded into new shapes.</a:t>
            </a:r>
            <a:endParaRPr lang="en-US" sz="2000" b="0" u="none" strike="noStrike">
              <a:solidFill>
                <a:srgbClr val="000000"/>
              </a:solidFill>
              <a:effectLst/>
              <a:uFillTx/>
              <a:latin typeface="Arial"/>
            </a:endParaRPr>
          </a:p>
        </p:txBody>
      </p:sp>
      <p:sp>
        <p:nvSpPr>
          <p:cNvPr id="755"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F2106A-BDF7-46A1-8E10-09CAA59042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640" cy="3428640"/>
          </a:xfrm>
          <a:prstGeom prst="rect">
            <a:avLst/>
          </a:prstGeom>
          <a:ln w="0">
            <a:noFill/>
          </a:ln>
        </p:spPr>
      </p:sp>
      <p:sp>
        <p:nvSpPr>
          <p:cNvPr id="7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NoSQL Injection. MongoDB JSON queries + raw user input = SQLi reborn.  Login bypass: { username: 'alice', password: { $ne: 'x' } }  $where lets you inject JavaScript straight into the DB.  Couchbase N1QL is SQL-flavored — classic SQLi patterns apply.  Principle: ANY interpreter can be injected, not just SQL.</a:t>
            </a:r>
            <a:endParaRPr lang="en-US" sz="2000" b="0" u="none" strike="noStrike">
              <a:solidFill>
                <a:srgbClr val="000000"/>
              </a:solidFill>
              <a:effectLst/>
              <a:uFillTx/>
              <a:latin typeface="Arial"/>
            </a:endParaRPr>
          </a:p>
        </p:txBody>
      </p:sp>
      <p:sp>
        <p:nvSpPr>
          <p:cNvPr id="758"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13CF6D-E3CC-4C91-BB61-857F039D5C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640" cy="3428640"/>
          </a:xfrm>
          <a:prstGeom prst="rect">
            <a:avLst/>
          </a:prstGeom>
          <a:ln w="0">
            <a:noFill/>
          </a:ln>
        </p:spPr>
      </p:sp>
      <p:sp>
        <p:nvSpPr>
          <p:cNvPr id="7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Exposed &amp; Misconfigured Databases. Shodan and Censys are full of databases that should not be there.  MongoDB bound to 0.0.0.0 with no auth.  Elasticsearch clusters wide open. Redis with no password.  Postgres pg_hba.conf set to 'host all all 0.0.0.0/0 trust'.  Meow attacks (2020): bots wiped thousands of open DBs for fun.</a:t>
            </a:r>
            <a:endParaRPr lang="en-US" sz="2000" b="0" u="none" strike="noStrike">
              <a:solidFill>
                <a:srgbClr val="000000"/>
              </a:solidFill>
              <a:effectLst/>
              <a:uFillTx/>
              <a:latin typeface="Arial"/>
            </a:endParaRPr>
          </a:p>
        </p:txBody>
      </p:sp>
      <p:sp>
        <p:nvSpPr>
          <p:cNvPr id="761"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14A9EA-BC2F-44A5-A1B7-D0C477DE50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640" cy="3428640"/>
          </a:xfrm>
          <a:prstGeom prst="rect">
            <a:avLst/>
          </a:prstGeom>
          <a:ln w="0">
            <a:noFill/>
          </a:ln>
        </p:spPr>
      </p:sp>
      <p:sp>
        <p:nvSpPr>
          <p:cNvPr id="7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Misconfigurations.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endParaRPr lang="en-US" sz="2000" b="0" u="none" strike="noStrike">
              <a:solidFill>
                <a:srgbClr val="000000"/>
              </a:solidFill>
              <a:effectLst/>
              <a:uFillTx/>
              <a:latin typeface="Arial"/>
            </a:endParaRPr>
          </a:p>
        </p:txBody>
      </p:sp>
      <p:sp>
        <p:nvSpPr>
          <p:cNvPr id="764"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CBB130-6887-4D3E-91E0-9561BD97F97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640" cy="3428640"/>
          </a:xfrm>
          <a:prstGeom prst="rect">
            <a:avLst/>
          </a:prstGeom>
          <a:ln w="0">
            <a:noFill/>
          </a:ln>
        </p:spPr>
      </p:sp>
      <p:sp>
        <p:nvSpPr>
          <p:cNvPr id="7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Privilege Escalation: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endParaRPr lang="en-US" sz="2000" b="0" u="none" strike="noStrike">
              <a:solidFill>
                <a:srgbClr val="000000"/>
              </a:solidFill>
              <a:effectLst/>
              <a:uFillTx/>
              <a:latin typeface="Arial"/>
            </a:endParaRPr>
          </a:p>
        </p:txBody>
      </p:sp>
      <p:sp>
        <p:nvSpPr>
          <p:cNvPr id="767"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053435-AB42-4381-A58A-2176026FB6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640" cy="3428640"/>
          </a:xfrm>
          <a:prstGeom prst="rect">
            <a:avLst/>
          </a:prstGeom>
          <a:ln w="0">
            <a:noFill/>
          </a:ln>
        </p:spPr>
      </p:sp>
      <p:sp>
        <p:nvSpPr>
          <p:cNvPr id="7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Data Lake Security Gaps.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endParaRPr lang="en-US" sz="2000" b="0" u="none" strike="noStrike">
              <a:solidFill>
                <a:srgbClr val="000000"/>
              </a:solidFill>
              <a:effectLst/>
              <a:uFillTx/>
              <a:latin typeface="Arial"/>
            </a:endParaRPr>
          </a:p>
        </p:txBody>
      </p:sp>
      <p:sp>
        <p:nvSpPr>
          <p:cNvPr id="770"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C1B3C1-4D54-435F-911C-D4ABC6AE5B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640" cy="3428640"/>
          </a:xfrm>
          <a:prstGeom prst="rect">
            <a:avLst/>
          </a:prstGeom>
          <a:ln w="0">
            <a:noFill/>
          </a:ln>
        </p:spPr>
      </p:sp>
      <p:sp>
        <p:nvSpPr>
          <p:cNvPr id="7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endParaRPr lang="en-US" sz="2000" b="0" u="none" strike="noStrike">
              <a:solidFill>
                <a:srgbClr val="000000"/>
              </a:solidFill>
              <a:effectLst/>
              <a:uFillTx/>
              <a:latin typeface="Arial"/>
            </a:endParaRPr>
          </a:p>
        </p:txBody>
      </p:sp>
      <p:sp>
        <p:nvSpPr>
          <p:cNvPr id="773"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FE2354-ED73-459D-BC3D-9F3FC30FDD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640" cy="3428640"/>
          </a:xfrm>
          <a:prstGeom prst="rect">
            <a:avLst/>
          </a:prstGeom>
          <a:ln w="0">
            <a:noFill/>
          </a:ln>
        </p:spPr>
      </p:sp>
      <p:sp>
        <p:nvSpPr>
          <p:cNvPr id="7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Credential Attacks. Default creds and leaked connection strings — two old, durable bugs.  Redis: no password by default for years.  Elastic: no auth in the free tier — also for years.  Connection strings (postgres://user:pass@host) committed to Git.  Pre-commit secret scanning — fix this week.</a:t>
            </a:r>
            <a:endParaRPr lang="en-US" sz="2000" b="0" u="none" strike="noStrike">
              <a:solidFill>
                <a:srgbClr val="000000"/>
              </a:solidFill>
              <a:effectLst/>
              <a:uFillTx/>
              <a:latin typeface="Arial"/>
            </a:endParaRPr>
          </a:p>
        </p:txBody>
      </p:sp>
      <p:sp>
        <p:nvSpPr>
          <p:cNvPr id="776"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317AD9-5830-4F78-839E-A4E2738C77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640" cy="3428640"/>
          </a:xfrm>
          <a:prstGeom prst="rect">
            <a:avLst/>
          </a:prstGeom>
          <a:ln w="0">
            <a:noFill/>
          </a:ln>
        </p:spPr>
      </p:sp>
      <p:sp>
        <p:nvSpPr>
          <p:cNvPr id="7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endParaRPr lang="en-US" sz="2000" b="0" u="none" strike="noStrike">
              <a:solidFill>
                <a:srgbClr val="000000"/>
              </a:solidFill>
              <a:effectLst/>
              <a:uFillTx/>
              <a:latin typeface="Arial"/>
            </a:endParaRPr>
          </a:p>
        </p:txBody>
      </p:sp>
      <p:sp>
        <p:nvSpPr>
          <p:cNvPr id="779"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FD9980-AF43-4E65-B484-98B1E2AD72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640" cy="3428640"/>
          </a:xfrm>
          <a:prstGeom prst="rect">
            <a:avLst/>
          </a:prstGeom>
          <a:ln w="0">
            <a:noFill/>
          </a:ln>
        </p:spPr>
      </p:sp>
      <p:sp>
        <p:nvSpPr>
          <p:cNvPr id="7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endParaRPr lang="en-US" sz="2000" b="0" u="none" strike="noStrike">
              <a:solidFill>
                <a:srgbClr val="000000"/>
              </a:solidFill>
              <a:effectLst/>
              <a:uFillTx/>
              <a:latin typeface="Arial"/>
            </a:endParaRPr>
          </a:p>
        </p:txBody>
      </p:sp>
      <p:sp>
        <p:nvSpPr>
          <p:cNvPr id="782"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13E76A-4F00-4D84-A61A-5BDDF63D751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640" cy="3428640"/>
          </a:xfrm>
          <a:prstGeom prst="rect">
            <a:avLst/>
          </a:prstGeom>
          <a:ln w="0">
            <a:noFill/>
          </a:ln>
        </p:spPr>
      </p:sp>
      <p:sp>
        <p:nvSpPr>
          <p:cNvPr id="7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Insider Threats &amp; DB-to-DB Lateral Movement. Databases aren't endpoints. They're nodes in a graph.  Over-permissioned service accounts. Engineers with prod read.  DBAs with no audit trail.  Oracle DB_LINK, SQL Server linked servers, Postgres FDW.  Stored credentials → compromise A, hop to B, hop to C.</a:t>
            </a:r>
            <a:endParaRPr lang="en-US" sz="2000" b="0" u="none" strike="noStrike">
              <a:solidFill>
                <a:srgbClr val="000000"/>
              </a:solidFill>
              <a:effectLst/>
              <a:uFillTx/>
              <a:latin typeface="Arial"/>
            </a:endParaRPr>
          </a:p>
        </p:txBody>
      </p:sp>
      <p:sp>
        <p:nvSpPr>
          <p:cNvPr id="785"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D5ACF6D-C176-4605-9956-196272BAC8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640" cy="3428640"/>
          </a:xfrm>
          <a:prstGeom prst="rect">
            <a:avLst/>
          </a:prstGeom>
          <a:ln w="0">
            <a:noFill/>
          </a:ln>
        </p:spPr>
      </p:sp>
      <p:sp>
        <p:nvSpPr>
          <p:cNvPr id="7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&amp; Snapshot Exposure. Same data as prod, half the love.  Unencrypted DB backups on shares readable by Domain Users.  Cloud snapshots shared cross-account, never un-shared.  Off-site backups to vendors whose posture you never checked.  Backups are last resort. Apply identify-authN-authZ-audit.</a:t>
            </a:r>
            <a:endParaRPr lang="en-US" sz="2000" b="0" u="none" strike="noStrike">
              <a:solidFill>
                <a:srgbClr val="000000"/>
              </a:solidFill>
              <a:effectLst/>
              <a:uFillTx/>
              <a:latin typeface="Arial"/>
            </a:endParaRPr>
          </a:p>
        </p:txBody>
      </p:sp>
      <p:sp>
        <p:nvSpPr>
          <p:cNvPr id="788"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D936D3-ADB3-4A6A-AB7C-E4D68629B4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640" cy="3428640"/>
          </a:xfrm>
          <a:prstGeom prst="rect">
            <a:avLst/>
          </a:prstGeom>
          <a:ln w="0">
            <a:noFill/>
          </a:ln>
        </p:spPr>
      </p:sp>
      <p:sp>
        <p:nvSpPr>
          <p:cNvPr id="7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Recap. Database is storage + questions. Ten families. Cloud is shared responsibility. Markdown is a database for LLMs. SQLi got fixed but the surface expanded.</a:t>
            </a:r>
            <a:endParaRPr lang="en-US" sz="2000" b="0" u="none" strike="noStrike">
              <a:solidFill>
                <a:srgbClr val="000000"/>
              </a:solidFill>
              <a:effectLst/>
              <a:uFillTx/>
              <a:latin typeface="Arial"/>
            </a:endParaRPr>
          </a:p>
        </p:txBody>
      </p:sp>
      <p:sp>
        <p:nvSpPr>
          <p:cNvPr id="791"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B4DE6A-D90B-4591-B0D1-ADF241B22F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640" cy="3428640"/>
          </a:xfrm>
          <a:prstGeom prst="rect">
            <a:avLst/>
          </a:prstGeom>
          <a:ln w="0">
            <a:noFill/>
          </a:ln>
        </p:spPr>
      </p:sp>
      <p:sp>
        <p:nvSpPr>
          <p:cNvPr id="7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concrete next-week actions. Install Postgres. PortSwigger labs. Browse Shodan legally. Read a breach report. List your org's DBs.</a:t>
            </a:r>
            <a:endParaRPr lang="en-US" sz="2000" b="0" u="none" strike="noStrike">
              <a:solidFill>
                <a:srgbClr val="000000"/>
              </a:solidFill>
              <a:effectLst/>
              <a:uFillTx/>
              <a:latin typeface="Arial"/>
            </a:endParaRPr>
          </a:p>
        </p:txBody>
      </p:sp>
      <p:sp>
        <p:nvSpPr>
          <p:cNvPr id="794"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7A93D3-EDA2-4325-92C2-C804C842FBB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640" cy="3428640"/>
          </a:xfrm>
          <a:prstGeom prst="rect">
            <a:avLst/>
          </a:prstGeom>
          <a:ln w="0">
            <a:noFill/>
          </a:ln>
        </p:spPr>
      </p:sp>
      <p:sp>
        <p:nvSpPr>
          <p:cNvPr id="7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PortSwigger for SQLi labs. SQLBolt for learning SQL. Use The Index, Luke for deep DB internals. DB-Engines for popularity rankings. OWASP Top 10 for the canonical web vuln list.</a:t>
            </a:r>
            <a:endParaRPr lang="en-US" sz="2000" b="0" u="none" strike="noStrike">
              <a:solidFill>
                <a:srgbClr val="000000"/>
              </a:solidFill>
              <a:effectLst/>
              <a:uFillTx/>
              <a:latin typeface="Arial"/>
            </a:endParaRPr>
          </a:p>
        </p:txBody>
      </p:sp>
      <p:sp>
        <p:nvSpPr>
          <p:cNvPr id="797"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0B38DE-DF95-42F1-98E6-6B22CD48F3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640" cy="3428640"/>
          </a:xfrm>
          <a:prstGeom prst="rect">
            <a:avLst/>
          </a:prstGeom>
          <a:ln w="0">
            <a:noFill/>
          </a:ln>
        </p:spPr>
      </p:sp>
      <p:sp>
        <p:nvSpPr>
          <p:cNvPr id="7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Closing. Willie Sutton said he robbed banks because that's where the money was. In 2026, the money is in databases.</a:t>
            </a:r>
            <a:endParaRPr lang="en-US" sz="2000" b="0" u="none" strike="noStrike">
              <a:solidFill>
                <a:srgbClr val="000000"/>
              </a:solidFill>
              <a:effectLst/>
              <a:uFillTx/>
              <a:latin typeface="Arial"/>
            </a:endParaRPr>
          </a:p>
        </p:txBody>
      </p:sp>
      <p:sp>
        <p:nvSpPr>
          <p:cNvPr id="800"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537C0A-B6AD-43BC-9712-4F7C5B98A24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640" cy="3428640"/>
          </a:xfrm>
          <a:prstGeom prst="rect">
            <a:avLst/>
          </a:prstGeom>
          <a:ln w="0">
            <a:noFill/>
          </a:ln>
        </p:spPr>
      </p:sp>
      <p:sp>
        <p:nvSpPr>
          <p:cNvPr id="8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All books cited throughout the talk. Worth picking any of these up — they're the durable references.</a:t>
            </a:r>
            <a:endParaRPr lang="en-US" sz="2000" b="0" u="none" strike="noStrike">
              <a:solidFill>
                <a:srgbClr val="000000"/>
              </a:solidFill>
              <a:effectLst/>
              <a:uFillTx/>
              <a:latin typeface="Arial"/>
            </a:endParaRPr>
          </a:p>
        </p:txBody>
      </p:sp>
      <p:sp>
        <p:nvSpPr>
          <p:cNvPr id="803"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F3B69F-F765-4B16-A63E-7C87CA6FB7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640" cy="3428640"/>
          </a:xfrm>
          <a:prstGeom prst="rect">
            <a:avLst/>
          </a:prstGeom>
          <a:ln w="0">
            <a:noFill/>
          </a:ln>
        </p:spPr>
      </p:sp>
      <p:sp>
        <p:nvSpPr>
          <p:cNvPr id="8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the floor for five minutes of questions.</a:t>
            </a:r>
            <a:endParaRPr lang="en-US" sz="2000" b="0" u="none" strike="noStrike">
              <a:solidFill>
                <a:srgbClr val="000000"/>
              </a:solidFill>
              <a:effectLst/>
              <a:uFillTx/>
              <a:latin typeface="Arial"/>
            </a:endParaRPr>
          </a:p>
        </p:txBody>
      </p:sp>
      <p:sp>
        <p:nvSpPr>
          <p:cNvPr id="806"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9EFEC3-B900-46E9-BB49-EC29641DEE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457F1F4-BBD6-452C-8ADB-1AA8D707A4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152F58-772C-4B56-A91A-FF0DF293E66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D5D44B-8F25-4232-A3AB-6DD794CB798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8692A-667E-4307-A8C8-4CB3F9B3B8D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37269C-A5F5-4C3C-96D3-E136C7AF3F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84BFB3-9243-47D8-80C6-1ABFDC64E4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3C5852-CA9B-46D5-8837-AFC5D07FDE1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8851FB-3E8F-4394-B220-DA477E3E93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B7C714-D336-47DC-880C-4337074E09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F94C652-D21B-4E2A-8F57-28FEC59E44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337B5A-8161-474B-983B-CB7F5964406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9.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7" name="TextBox 1" descr="Title slide: Databases for Hackers — A Ronin 48 stand-up talk." title="Title slide: Databases for Hackers — A Ronin 48 stand-up talk."/>
          <p:cNvSpPr/>
          <p:nvPr/>
        </p:nvSpPr>
        <p:spPr>
          <a:xfrm>
            <a:off x="457200" y="21031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数据库</a:t>
            </a:r>
            <a:endParaRPr lang="en-US" sz="8400" b="0" u="none" strike="noStrike">
              <a:solidFill>
                <a:srgbClr val="FFFFFF"/>
              </a:solidFill>
              <a:effectLst/>
              <a:uFillTx/>
              <a:latin typeface="Arial"/>
            </a:endParaRPr>
          </a:p>
        </p:txBody>
      </p:sp>
      <p:sp>
        <p:nvSpPr>
          <p:cNvPr id="68" name="TextBox 2"/>
          <p:cNvSpPr/>
          <p:nvPr/>
        </p:nvSpPr>
        <p:spPr>
          <a:xfrm>
            <a:off x="457200" y="3108960"/>
            <a:ext cx="11246760" cy="1004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6000" b="1" u="none" strike="noStrike">
                <a:solidFill>
                  <a:srgbClr val="FFFFFF"/>
                </a:solidFill>
                <a:effectLst/>
                <a:uFillTx/>
                <a:latin typeface="Calibri"/>
              </a:rPr>
              <a:t>黑客入门</a:t>
            </a:r>
            <a:endParaRPr lang="en-US" sz="6000" b="0" u="none" strike="noStrike">
              <a:solidFill>
                <a:srgbClr val="FFFFFF"/>
              </a:solidFill>
              <a:effectLst/>
              <a:uFillTx/>
              <a:latin typeface="Arial"/>
            </a:endParaRPr>
          </a:p>
        </p:txBody>
      </p:sp>
      <p:sp>
        <p:nvSpPr>
          <p:cNvPr id="69" name="Rectangle 3"/>
          <p:cNvSpPr/>
          <p:nvPr/>
        </p:nvSpPr>
        <p:spPr>
          <a:xfrm>
            <a:off x="5181840" y="4297680"/>
            <a:ext cx="18284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0" name="TextBox 4"/>
          <p:cNvSpPr/>
          <p:nvPr/>
        </p:nvSpPr>
        <p:spPr>
          <a:xfrm>
            <a:off x="457200" y="4480560"/>
            <a:ext cx="1124676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00D4FF"/>
                </a:solidFill>
                <a:effectLst/>
                <a:uFillTx/>
                <a:latin typeface="Calibri"/>
              </a:rPr>
              <a:t>CryptoJones 的独立演讲</a:t>
            </a:r>
            <a:endParaRPr lang="en-US" sz="3200" b="0" u="none" strike="noStrike">
              <a:solidFill>
                <a:srgbClr val="FFFFFF"/>
              </a:solidFill>
              <a:effectLst/>
              <a:uFillTx/>
              <a:latin typeface="Arial"/>
            </a:endParaRPr>
          </a:p>
        </p:txBody>
      </p:sp>
      <p:sp>
        <p:nvSpPr>
          <p:cNvPr id="71" name="TextBox 5"/>
          <p:cNvSpPr/>
          <p:nvPr/>
        </p:nvSpPr>
        <p:spPr>
          <a:xfrm>
            <a:off x="457200" y="5120640"/>
            <a:ext cx="11246760" cy="516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CCCCD6"/>
                </a:solidFill>
                <a:effectLst/>
                <a:uFillTx/>
                <a:latin typeface="Calibri"/>
                <a:ea typeface="Arial Unicode MS"/>
              </a:rPr>
              <a:t>45 分钟</a:t>
            </a:r>
            <a:r>
              <a:rPr lang="en-US" sz="2800" b="1" u="none" strike="noStrike">
                <a:solidFill>
                  <a:srgbClr val="00FF41"/>
                </a:solidFill>
                <a:effectLst/>
                <a:uFillTx/>
                <a:latin typeface="Calibri"/>
                <a:ea typeface="Arial Unicode MS"/>
              </a:rPr>
              <a:t>*</a:t>
            </a:r>
            <a:r>
              <a:rPr lang="en-US" sz="2400" b="0" u="none" strike="noStrike">
                <a:solidFill>
                  <a:srgbClr val="CCCCD6"/>
                </a:solidFill>
                <a:effectLst/>
                <a:uFillTx/>
                <a:latin typeface="Calibri"/>
              </a:rPr>
              <a:t>  •  无需学位</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2" name="TextBox 1"/>
          <p:cNvSpPr/>
          <p:nvPr/>
        </p:nvSpPr>
        <p:spPr>
          <a:xfrm>
            <a:off x="-1143000" y="2057400"/>
            <a:ext cx="944532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Aaron K. Clark</a:t>
            </a:r>
            <a:endParaRPr lang="en-US" sz="5400" b="0" u="none" strike="noStrike">
              <a:solidFill>
                <a:srgbClr val="FFFFFF"/>
              </a:solidFill>
              <a:effectLst/>
              <a:uFillTx/>
              <a:latin typeface="Arial"/>
            </a:endParaRPr>
          </a:p>
        </p:txBody>
      </p:sp>
      <p:sp>
        <p:nvSpPr>
          <p:cNvPr id="73" name="TextBox 2"/>
          <p:cNvSpPr/>
          <p:nvPr/>
        </p:nvSpPr>
        <p:spPr>
          <a:xfrm>
            <a:off x="-758520" y="3018600"/>
            <a:ext cx="944532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研究生，Eastern University*</a:t>
            </a:r>
            <a:endParaRPr lang="en-US" sz="3600" b="0" u="none" strike="noStrike">
              <a:solidFill>
                <a:srgbClr val="FFFFFF"/>
              </a:solidFill>
              <a:effectLst/>
              <a:uFillTx/>
              <a:latin typeface="Arial"/>
            </a:endParaRPr>
          </a:p>
        </p:txBody>
      </p:sp>
      <p:pic>
        <p:nvPicPr>
          <p:cNvPr id="74" name=""/>
          <p:cNvPicPr/>
          <p:nvPr/>
        </p:nvPicPr>
        <p:blipFill>
          <a:blip r:embed="rId1"/>
          <a:stretch/>
        </p:blipFill>
        <p:spPr>
          <a:xfrm>
            <a:off x="228600" y="6172200"/>
            <a:ext cx="457200" cy="457200"/>
          </a:xfrm>
          <a:prstGeom prst="rect">
            <a:avLst/>
          </a:prstGeom>
          <a:noFill/>
          <a:ln w="0">
            <a:noFill/>
          </a:ln>
        </p:spPr>
      </p:pic>
      <p:pic>
        <p:nvPicPr>
          <p:cNvPr id="75" name=""/>
          <p:cNvPicPr/>
          <p:nvPr/>
        </p:nvPicPr>
        <p:blipFill>
          <a:blip r:embed="rId2"/>
          <a:stretch/>
        </p:blipFill>
        <p:spPr>
          <a:xfrm>
            <a:off x="228600" y="228600"/>
            <a:ext cx="1371600" cy="1371600"/>
          </a:xfrm>
          <a:prstGeom prst="rect">
            <a:avLst/>
          </a:prstGeom>
          <a:noFill/>
          <a:ln w="0">
            <a:noFill/>
          </a:ln>
        </p:spPr>
      </p:pic>
      <p:pic>
        <p:nvPicPr>
          <p:cNvPr id="76" name=""/>
          <p:cNvPicPr/>
          <p:nvPr/>
        </p:nvPicPr>
        <p:blipFill>
          <a:blip r:embed="rId3"/>
          <a:stretch/>
        </p:blipFill>
        <p:spPr>
          <a:xfrm>
            <a:off x="9372600" y="228600"/>
            <a:ext cx="2514600" cy="914400"/>
          </a:xfrm>
          <a:prstGeom prst="rect">
            <a:avLst/>
          </a:prstGeom>
          <a:noFill/>
          <a:ln w="0">
            <a:noFill/>
          </a:ln>
        </p:spPr>
      </p:pic>
      <p:sp>
        <p:nvSpPr>
          <p:cNvPr id="77" name=""/>
          <p:cNvSpPr txBox="1"/>
          <p:nvPr/>
        </p:nvSpPr>
        <p:spPr>
          <a:xfrm>
            <a:off x="768240" y="6208200"/>
            <a:ext cx="3346560" cy="41112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github.com/CryptoJones</a:t>
            </a:r>
            <a:endParaRPr lang="en-US" sz="2400" b="0" u="none" strike="noStrike">
              <a:solidFill>
                <a:srgbClr val="FFFFFF"/>
              </a:solidFill>
              <a:effectLst/>
              <a:uFillTx/>
              <a:latin typeface="Arial"/>
            </a:endParaRPr>
          </a:p>
        </p:txBody>
      </p:sp>
      <p:pic>
        <p:nvPicPr>
          <p:cNvPr id="78" name=""/>
          <p:cNvPicPr/>
          <p:nvPr/>
        </p:nvPicPr>
        <p:blipFill>
          <a:blip r:embed="rId4"/>
          <a:stretch/>
        </p:blipFill>
        <p:spPr>
          <a:xfrm>
            <a:off x="7086600" y="6172200"/>
            <a:ext cx="399960" cy="457200"/>
          </a:xfrm>
          <a:prstGeom prst="rect">
            <a:avLst/>
          </a:prstGeom>
          <a:noFill/>
          <a:ln w="0">
            <a:noFill/>
          </a:ln>
        </p:spPr>
      </p:pic>
      <p:sp>
        <p:nvSpPr>
          <p:cNvPr id="79" name=""/>
          <p:cNvSpPr txBox="1"/>
          <p:nvPr/>
        </p:nvSpPr>
        <p:spPr>
          <a:xfrm>
            <a:off x="7590240" y="6208200"/>
            <a:ext cx="4224960" cy="39528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CryptoJones@infosec.exchange</a:t>
            </a:r>
            <a:endParaRPr lang="en-US" sz="2400" b="0" u="none" strike="noStrike">
              <a:solidFill>
                <a:srgbClr val="FFFFFF"/>
              </a:solidFill>
              <a:effectLst/>
              <a:uFillTx/>
              <a:latin typeface="Arial"/>
            </a:endParaRPr>
          </a:p>
        </p:txBody>
      </p:sp>
      <p:sp>
        <p:nvSpPr>
          <p:cNvPr id="80" name="TextBox 45"/>
          <p:cNvSpPr/>
          <p:nvPr/>
        </p:nvSpPr>
        <p:spPr>
          <a:xfrm>
            <a:off x="-457200" y="3704400"/>
            <a:ext cx="845820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1" u="none" strike="noStrike">
                <a:solidFill>
                  <a:srgbClr val="00FF41"/>
                </a:solidFill>
                <a:effectLst/>
                <a:uFillTx/>
                <a:latin typeface="Calibri"/>
              </a:rPr>
              <a:t>cryptojones@owasp.org</a:t>
            </a:r>
            <a:endParaRPr lang="en-US" sz="3600" b="0" u="none" strike="noStrike">
              <a:solidFill>
                <a:srgbClr val="FFFFFF"/>
              </a:solidFill>
              <a:effectLst/>
              <a:uFillTx/>
              <a:latin typeface="Arial"/>
            </a:endParaRPr>
          </a:p>
        </p:txBody>
      </p:sp>
      <p:pic>
        <p:nvPicPr>
          <p:cNvPr id="81" name=""/>
          <p:cNvPicPr/>
          <p:nvPr/>
        </p:nvPicPr>
        <p:blipFill>
          <a:blip r:embed="rId5"/>
          <a:stretch/>
        </p:blipFill>
        <p:spPr>
          <a:xfrm>
            <a:off x="8458200" y="2057400"/>
            <a:ext cx="3200400" cy="2971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2" name="TextBox 1" descr="Headline slide: Every breach you have ever read about ends at a database." title="Headline slide: Every breach you have ever read about ends at a database."/>
          <p:cNvSpPr/>
          <p:nvPr/>
        </p:nvSpPr>
        <p:spPr>
          <a:xfrm>
            <a:off x="457200" y="182880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你听说过的每一次入侵</a:t>
            </a:r>
            <a:endParaRPr lang="en-US" sz="5600" b="0" u="none" strike="noStrike">
              <a:solidFill>
                <a:srgbClr val="FFFFFF"/>
              </a:solidFill>
              <a:effectLst/>
              <a:uFillTx/>
              <a:latin typeface="Arial"/>
            </a:endParaRPr>
          </a:p>
        </p:txBody>
      </p:sp>
      <p:sp>
        <p:nvSpPr>
          <p:cNvPr id="83" name="TextBox 2"/>
          <p:cNvSpPr/>
          <p:nvPr/>
        </p:nvSpPr>
        <p:spPr>
          <a:xfrm>
            <a:off x="457200" y="283464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最终都指向一个</a:t>
            </a:r>
            <a:endParaRPr lang="en-US" sz="5600" b="0" u="none" strike="noStrike">
              <a:solidFill>
                <a:srgbClr val="FFFFFF"/>
              </a:solidFill>
              <a:effectLst/>
              <a:uFillTx/>
              <a:latin typeface="Arial"/>
            </a:endParaRPr>
          </a:p>
        </p:txBody>
      </p:sp>
      <p:sp>
        <p:nvSpPr>
          <p:cNvPr id="84" name="TextBox 3"/>
          <p:cNvSpPr/>
          <p:nvPr/>
        </p:nvSpPr>
        <p:spPr>
          <a:xfrm>
            <a:off x="457200" y="3840480"/>
            <a:ext cx="11246760" cy="1370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数据库*</a:t>
            </a:r>
            <a:endParaRPr lang="en-US" sz="8400" b="0" u="none" strike="noStrike">
              <a:solidFill>
                <a:srgbClr val="FFFFFF"/>
              </a:solidFill>
              <a:effectLst/>
              <a:uFillTx/>
              <a:latin typeface="Arial"/>
            </a:endParaRPr>
          </a:p>
        </p:txBody>
      </p:sp>
      <p:sp>
        <p:nvSpPr>
          <p:cNvPr id="85"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86"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7" name="TextBox 1" descr="A stylized vault icon next to four bullets explaining that attackers target the data, not the surrounding application or infrastructure." title="A stylized vault icon next to four bullets explaining that attackers target the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皇冠上的明珠</a:t>
            </a:r>
            <a:endParaRPr lang="en-US" sz="4200" b="0" u="none" strike="noStrike">
              <a:solidFill>
                <a:srgbClr val="FFFFFF"/>
              </a:solidFill>
              <a:effectLst/>
              <a:uFillTx/>
              <a:latin typeface="Arial"/>
            </a:endParaRPr>
          </a:p>
        </p:txBody>
      </p:sp>
      <p:sp>
        <p:nvSpPr>
          <p:cNvPr id="8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9" name="Rounded Rectangle 3"/>
          <p:cNvSpPr/>
          <p:nvPr/>
        </p:nvSpPr>
        <p:spPr>
          <a:xfrm>
            <a:off x="1371600" y="1828800"/>
            <a:ext cx="4114440" cy="3840120"/>
          </a:xfrm>
          <a:prstGeom prst="roundRect">
            <a:avLst>
              <a:gd name="adj" fmla="val 16667"/>
            </a:avLst>
          </a:prstGeom>
          <a:solidFill>
            <a:srgbClr val="2A2A44"/>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Oval 4"/>
          <p:cNvSpPr/>
          <p:nvPr/>
        </p:nvSpPr>
        <p:spPr>
          <a:xfrm>
            <a:off x="2971800" y="3291840"/>
            <a:ext cx="914040" cy="914040"/>
          </a:xfrm>
          <a:prstGeom prst="ellipse">
            <a:avLst/>
          </a:prstGeom>
          <a:solidFill>
            <a:srgbClr val="00FF4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5"/>
          <p:cNvSpPr/>
          <p:nvPr/>
        </p:nvSpPr>
        <p:spPr>
          <a:xfrm>
            <a:off x="1371600" y="5577840"/>
            <a:ext cx="41144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1" u="none" strike="noStrike">
                <a:solidFill>
                  <a:srgbClr val="00FF41"/>
                </a:solidFill>
                <a:effectLst/>
                <a:uFillTx/>
                <a:latin typeface="Calibri"/>
              </a:rPr>
              <a:t>数据  金库</a:t>
            </a:r>
            <a:endParaRPr lang="en-US" sz="2400" b="0" u="none" strike="noStrike">
              <a:solidFill>
                <a:srgbClr val="FFFFFF"/>
              </a:solidFill>
              <a:effectLst/>
              <a:uFillTx/>
              <a:latin typeface="Arial"/>
            </a:endParaRPr>
          </a:p>
        </p:txBody>
      </p:sp>
      <p:sp>
        <p:nvSpPr>
          <p:cNvPr id="92" name="TextBox 6"/>
          <p:cNvSpPr/>
          <p:nvPr/>
        </p:nvSpPr>
        <p:spPr>
          <a:xfrm>
            <a:off x="5943600" y="2011680"/>
            <a:ext cx="5943240" cy="384012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不是你的单页应用。</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不是你的防火墙。</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不是你的微服务。</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是数据。永远是数据。</a:t>
            </a:r>
            <a:endParaRPr lang="en-US" sz="3000" b="0" u="none" strike="noStrike">
              <a:solidFill>
                <a:srgbClr val="FFFFFF"/>
              </a:solidFill>
              <a:effectLst/>
              <a:uFillTx/>
              <a:latin typeface="Arial"/>
            </a:endParaRPr>
          </a:p>
        </p:txBody>
      </p:sp>
      <p:sp>
        <p:nvSpPr>
          <p:cNvPr id="9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9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5" name="TextBox 1" descr="Definition slide: A database is organized storage plus a way to ask questions, illustrated with filing-cabinet and Excel analogies." title="Definition slide: A database is organized storage plus a way to ask questions, i"/>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什么是数据库？</a:t>
            </a:r>
            <a:endParaRPr lang="en-US" sz="4200" b="0" u="none" strike="noStrike">
              <a:solidFill>
                <a:srgbClr val="FFFFFF"/>
              </a:solidFill>
              <a:effectLst/>
              <a:uFillTx/>
              <a:latin typeface="Arial"/>
            </a:endParaRPr>
          </a:p>
        </p:txBody>
      </p:sp>
      <p:sp>
        <p:nvSpPr>
          <p:cNvPr id="9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7"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000" b="1" u="none" strike="noStrike">
                <a:solidFill>
                  <a:srgbClr val="FFFFFF"/>
                </a:solidFill>
                <a:effectLst/>
                <a:uFillTx/>
                <a:latin typeface="Calibri"/>
              </a:rPr>
              <a:t>有组织的存储  +  一种提问的方式。</a:t>
            </a:r>
            <a:endParaRPr lang="en-US" sz="4000" b="0" u="none" strike="noStrike">
              <a:solidFill>
                <a:srgbClr val="FFFFFF"/>
              </a:solidFill>
              <a:effectLst/>
              <a:uFillTx/>
              <a:latin typeface="Arial"/>
            </a:endParaRPr>
          </a:p>
        </p:txBody>
      </p:sp>
      <p:sp>
        <p:nvSpPr>
          <p:cNvPr id="98" name="TextBox 4"/>
          <p:cNvSpPr/>
          <p:nvPr/>
        </p:nvSpPr>
        <p:spPr>
          <a:xfrm>
            <a:off x="457200" y="2926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就这么简单。其余的都是细节。</a:t>
            </a:r>
            <a:endParaRPr lang="en-US" sz="2600" b="0" u="none" strike="noStrike">
              <a:solidFill>
                <a:srgbClr val="FFFFFF"/>
              </a:solidFill>
              <a:effectLst/>
              <a:uFillTx/>
              <a:latin typeface="Arial"/>
            </a:endParaRPr>
          </a:p>
        </p:txBody>
      </p:sp>
      <p:sp>
        <p:nvSpPr>
          <p:cNvPr id="99" name="TextBox 5"/>
          <p:cNvSpPr/>
          <p:nvPr/>
        </p:nvSpPr>
        <p:spPr>
          <a:xfrm>
            <a:off x="914400" y="3931920"/>
            <a:ext cx="10332360" cy="22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文件柜  =  存储  +  用你的眼睛来查询。</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Excel + Ctrl-F  =  存储  +  用查找替换来查询。</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真正的数据库还增加了：规模、速度、并发，以及一种正式的语言。</a:t>
            </a:r>
            <a:endParaRPr lang="en-US" sz="2600" b="0" u="none" strike="noStrike">
              <a:solidFill>
                <a:srgbClr val="FFFFFF"/>
              </a:solidFill>
              <a:effectLst/>
              <a:uFillTx/>
              <a:latin typeface="Arial"/>
            </a:endParaRPr>
          </a:p>
        </p:txBody>
      </p:sp>
      <p:sp>
        <p:nvSpPr>
          <p:cNvPr id="100"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101"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2" name="TextBox 1" descr="Vocabulary slide listing six core database terms: table, row, column, query, schema, index — plus the CRUD verbs." title="Vocabulary slide listing six core database terms: table, row, column, query, sc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你需要掌握的六个词</a:t>
            </a:r>
            <a:endParaRPr lang="en-US" sz="4200" b="0" u="none" strike="noStrike">
              <a:solidFill>
                <a:srgbClr val="FFFFFF"/>
              </a:solidFill>
              <a:effectLst/>
              <a:uFillTx/>
              <a:latin typeface="Arial"/>
            </a:endParaRPr>
          </a:p>
        </p:txBody>
      </p:sp>
      <p:sp>
        <p:nvSpPr>
          <p:cNvPr id="103"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4" name="TextBox 3"/>
          <p:cNvSpPr/>
          <p:nvPr/>
        </p:nvSpPr>
        <p:spPr>
          <a:xfrm>
            <a:off x="731520" y="1691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表</a:t>
            </a:r>
            <a:endParaRPr lang="en-US" sz="3200" b="0" u="none" strike="noStrike">
              <a:solidFill>
                <a:srgbClr val="FFFFFF"/>
              </a:solidFill>
              <a:effectLst/>
              <a:uFillTx/>
              <a:latin typeface="Arial"/>
            </a:endParaRPr>
          </a:p>
        </p:txBody>
      </p:sp>
      <p:sp>
        <p:nvSpPr>
          <p:cNvPr id="105" name="TextBox 4"/>
          <p:cNvSpPr/>
          <p:nvPr/>
        </p:nvSpPr>
        <p:spPr>
          <a:xfrm>
            <a:off x="3931920" y="1691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6" name="TextBox 5"/>
          <p:cNvSpPr/>
          <p:nvPr/>
        </p:nvSpPr>
        <p:spPr>
          <a:xfrm>
            <a:off x="4480560" y="1691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一个电子表格的标签页</a:t>
            </a:r>
            <a:endParaRPr lang="en-US" sz="2800" b="0" u="none" strike="noStrike">
              <a:solidFill>
                <a:srgbClr val="FFFFFF"/>
              </a:solidFill>
              <a:effectLst/>
              <a:uFillTx/>
              <a:latin typeface="Arial"/>
            </a:endParaRPr>
          </a:p>
        </p:txBody>
      </p:sp>
      <p:sp>
        <p:nvSpPr>
          <p:cNvPr id="107" name="TextBox 6"/>
          <p:cNvSpPr/>
          <p:nvPr/>
        </p:nvSpPr>
        <p:spPr>
          <a:xfrm>
            <a:off x="731520" y="2404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行</a:t>
            </a:r>
            <a:endParaRPr lang="en-US" sz="3200" b="0" u="none" strike="noStrike">
              <a:solidFill>
                <a:srgbClr val="FFFFFF"/>
              </a:solidFill>
              <a:effectLst/>
              <a:uFillTx/>
              <a:latin typeface="Arial"/>
            </a:endParaRPr>
          </a:p>
        </p:txBody>
      </p:sp>
      <p:sp>
        <p:nvSpPr>
          <p:cNvPr id="108" name="TextBox 7"/>
          <p:cNvSpPr/>
          <p:nvPr/>
        </p:nvSpPr>
        <p:spPr>
          <a:xfrm>
            <a:off x="3931920" y="2404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9" name="TextBox 8"/>
          <p:cNvSpPr/>
          <p:nvPr/>
        </p:nvSpPr>
        <p:spPr>
          <a:xfrm>
            <a:off x="4480560" y="2404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一条记录（一个客户，一条告警）</a:t>
            </a:r>
            <a:endParaRPr lang="en-US" sz="2800" b="0" u="none" strike="noStrike">
              <a:solidFill>
                <a:srgbClr val="FFFFFF"/>
              </a:solidFill>
              <a:effectLst/>
              <a:uFillTx/>
              <a:latin typeface="Arial"/>
            </a:endParaRPr>
          </a:p>
        </p:txBody>
      </p:sp>
      <p:sp>
        <p:nvSpPr>
          <p:cNvPr id="110" name="TextBox 9"/>
          <p:cNvSpPr/>
          <p:nvPr/>
        </p:nvSpPr>
        <p:spPr>
          <a:xfrm>
            <a:off x="731520" y="311796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列</a:t>
            </a:r>
            <a:endParaRPr lang="en-US" sz="3200" b="0" u="none" strike="noStrike">
              <a:solidFill>
                <a:srgbClr val="FFFFFF"/>
              </a:solidFill>
              <a:effectLst/>
              <a:uFillTx/>
              <a:latin typeface="Arial"/>
            </a:endParaRPr>
          </a:p>
        </p:txBody>
      </p:sp>
      <p:sp>
        <p:nvSpPr>
          <p:cNvPr id="111" name="TextBox 10"/>
          <p:cNvSpPr/>
          <p:nvPr/>
        </p:nvSpPr>
        <p:spPr>
          <a:xfrm>
            <a:off x="3931920" y="311796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2" name="TextBox 11"/>
          <p:cNvSpPr/>
          <p:nvPr/>
        </p:nvSpPr>
        <p:spPr>
          <a:xfrm>
            <a:off x="4480560" y="311796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一个属性（邮箱、IP、总计）</a:t>
            </a:r>
            <a:endParaRPr lang="en-US" sz="2800" b="0" u="none" strike="noStrike">
              <a:solidFill>
                <a:srgbClr val="FFFFFF"/>
              </a:solidFill>
              <a:effectLst/>
              <a:uFillTx/>
              <a:latin typeface="Arial"/>
            </a:endParaRPr>
          </a:p>
        </p:txBody>
      </p:sp>
      <p:sp>
        <p:nvSpPr>
          <p:cNvPr id="113" name="TextBox 12"/>
          <p:cNvSpPr/>
          <p:nvPr/>
        </p:nvSpPr>
        <p:spPr>
          <a:xfrm>
            <a:off x="731520" y="383148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查询</a:t>
            </a:r>
            <a:endParaRPr lang="en-US" sz="3200" b="0" u="none" strike="noStrike">
              <a:solidFill>
                <a:srgbClr val="FFFFFF"/>
              </a:solidFill>
              <a:effectLst/>
              <a:uFillTx/>
              <a:latin typeface="Arial"/>
            </a:endParaRPr>
          </a:p>
        </p:txBody>
      </p:sp>
      <p:sp>
        <p:nvSpPr>
          <p:cNvPr id="114" name="TextBox 13"/>
          <p:cNvSpPr/>
          <p:nvPr/>
        </p:nvSpPr>
        <p:spPr>
          <a:xfrm>
            <a:off x="3931920" y="383148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5" name="TextBox 14"/>
          <p:cNvSpPr/>
          <p:nvPr/>
        </p:nvSpPr>
        <p:spPr>
          <a:xfrm>
            <a:off x="4480560" y="383148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你提出的问题</a:t>
            </a:r>
            <a:endParaRPr lang="en-US" sz="2800" b="0" u="none" strike="noStrike">
              <a:solidFill>
                <a:srgbClr val="FFFFFF"/>
              </a:solidFill>
              <a:effectLst/>
              <a:uFillTx/>
              <a:latin typeface="Arial"/>
            </a:endParaRPr>
          </a:p>
        </p:txBody>
      </p:sp>
      <p:sp>
        <p:nvSpPr>
          <p:cNvPr id="116" name="TextBox 15"/>
          <p:cNvSpPr/>
          <p:nvPr/>
        </p:nvSpPr>
        <p:spPr>
          <a:xfrm>
            <a:off x="731520" y="4544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模式</a:t>
            </a:r>
            <a:endParaRPr lang="en-US" sz="3200" b="0" u="none" strike="noStrike">
              <a:solidFill>
                <a:srgbClr val="FFFFFF"/>
              </a:solidFill>
              <a:effectLst/>
              <a:uFillTx/>
              <a:latin typeface="Arial"/>
            </a:endParaRPr>
          </a:p>
        </p:txBody>
      </p:sp>
      <p:sp>
        <p:nvSpPr>
          <p:cNvPr id="117" name="TextBox 16"/>
          <p:cNvSpPr/>
          <p:nvPr/>
        </p:nvSpPr>
        <p:spPr>
          <a:xfrm>
            <a:off x="3931920" y="4544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8" name="TextBox 17"/>
          <p:cNvSpPr/>
          <p:nvPr/>
        </p:nvSpPr>
        <p:spPr>
          <a:xfrm>
            <a:off x="4480560" y="4544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数据的结构</a:t>
            </a:r>
            <a:endParaRPr lang="en-US" sz="2800" b="0" u="none" strike="noStrike">
              <a:solidFill>
                <a:srgbClr val="FFFFFF"/>
              </a:solidFill>
              <a:effectLst/>
              <a:uFillTx/>
              <a:latin typeface="Arial"/>
            </a:endParaRPr>
          </a:p>
        </p:txBody>
      </p:sp>
      <p:sp>
        <p:nvSpPr>
          <p:cNvPr id="119" name="TextBox 18"/>
          <p:cNvSpPr/>
          <p:nvPr/>
        </p:nvSpPr>
        <p:spPr>
          <a:xfrm>
            <a:off x="731520" y="5257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索引</a:t>
            </a:r>
            <a:endParaRPr lang="en-US" sz="3200" b="0" u="none" strike="noStrike">
              <a:solidFill>
                <a:srgbClr val="FFFFFF"/>
              </a:solidFill>
              <a:effectLst/>
              <a:uFillTx/>
              <a:latin typeface="Arial"/>
            </a:endParaRPr>
          </a:p>
        </p:txBody>
      </p:sp>
      <p:sp>
        <p:nvSpPr>
          <p:cNvPr id="120" name="TextBox 19"/>
          <p:cNvSpPr/>
          <p:nvPr/>
        </p:nvSpPr>
        <p:spPr>
          <a:xfrm>
            <a:off x="3931920" y="5257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21" name="TextBox 20"/>
          <p:cNvSpPr/>
          <p:nvPr/>
        </p:nvSpPr>
        <p:spPr>
          <a:xfrm>
            <a:off x="4480560" y="5257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让查找变快的书签</a:t>
            </a:r>
            <a:endParaRPr lang="en-US" sz="2800" b="0" u="none" strike="noStrike">
              <a:solidFill>
                <a:srgbClr val="FFFFFF"/>
              </a:solidFill>
              <a:effectLst/>
              <a:uFillTx/>
              <a:latin typeface="Arial"/>
            </a:endParaRPr>
          </a:p>
        </p:txBody>
      </p:sp>
      <p:sp>
        <p:nvSpPr>
          <p:cNvPr id="122" name="TextBox 21"/>
          <p:cNvSpPr/>
          <p:nvPr/>
        </p:nvSpPr>
        <p:spPr>
          <a:xfrm>
            <a:off x="457200" y="59893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6B35"/>
                </a:solidFill>
                <a:effectLst/>
                <a:uFillTx/>
                <a:latin typeface="Calibri"/>
              </a:rPr>
              <a:t>+  CRUD  =  创建  •  读取  •  更新  •  删除</a:t>
            </a:r>
            <a:endParaRPr lang="en-US" sz="2600" b="0" u="none" strike="noStrike">
              <a:solidFill>
                <a:srgbClr val="FFFFFF"/>
              </a:solidFill>
              <a:effectLst/>
              <a:uFillTx/>
              <a:latin typeface="Arial"/>
            </a:endParaRPr>
          </a:p>
        </p:txBody>
      </p:sp>
      <p:sp>
        <p:nvSpPr>
          <p:cNvPr id="123" name="TextBox 2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124" name="TextBox 2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5" name="TextBox 1" descr="Timeline of database eras from 1960s flat files to 2020s vector databases, each annotated with its security implication." title="Timeline of database eras from 1960s flat files to 2020s vector databases, each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历史巡礼 — 你将在生产环境中见到的化石</a:t>
            </a:r>
            <a:endParaRPr lang="en-US" sz="4200" b="0" u="none" strike="noStrike">
              <a:solidFill>
                <a:srgbClr val="FFFFFF"/>
              </a:solidFill>
              <a:effectLst/>
              <a:uFillTx/>
              <a:latin typeface="Arial"/>
            </a:endParaRPr>
          </a:p>
        </p:txBody>
      </p:sp>
      <p:sp>
        <p:nvSpPr>
          <p:cNvPr id="12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7" name="TextBox 3"/>
          <p:cNvSpPr/>
          <p:nvPr/>
        </p:nvSpPr>
        <p:spPr>
          <a:xfrm>
            <a:off x="457200" y="16002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1960s</a:t>
            </a:r>
            <a:endParaRPr lang="en-US" sz="2200" b="0" u="none" strike="noStrike">
              <a:solidFill>
                <a:srgbClr val="FFFFFF"/>
              </a:solidFill>
              <a:effectLst/>
              <a:uFillTx/>
              <a:latin typeface="Arial"/>
            </a:endParaRPr>
          </a:p>
        </p:txBody>
      </p:sp>
      <p:sp>
        <p:nvSpPr>
          <p:cNvPr id="128" name="TextBox 4"/>
          <p:cNvSpPr/>
          <p:nvPr/>
        </p:nvSpPr>
        <p:spPr>
          <a:xfrm>
            <a:off x="2286000" y="16002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平面文件</a:t>
            </a:r>
            <a:endParaRPr lang="en-US" sz="2200" b="0" u="none" strike="noStrike">
              <a:solidFill>
                <a:srgbClr val="FFFFFF"/>
              </a:solidFill>
              <a:effectLst/>
              <a:uFillTx/>
              <a:latin typeface="Arial"/>
            </a:endParaRPr>
          </a:p>
        </p:txBody>
      </p:sp>
      <p:sp>
        <p:nvSpPr>
          <p:cNvPr id="129" name="TextBox 5"/>
          <p:cNvSpPr/>
          <p:nvPr/>
        </p:nvSpPr>
        <p:spPr>
          <a:xfrm>
            <a:off x="5943600" y="16002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0" name="TextBox 6"/>
          <p:cNvSpPr/>
          <p:nvPr/>
        </p:nvSpPr>
        <p:spPr>
          <a:xfrm>
            <a:off x="6309360" y="16002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文件系统权限 = 唯一的访问控制</a:t>
            </a:r>
            <a:endParaRPr lang="en-US" sz="2000" b="0" u="none" strike="noStrike">
              <a:solidFill>
                <a:srgbClr val="FFFFFF"/>
              </a:solidFill>
              <a:effectLst/>
              <a:uFillTx/>
              <a:latin typeface="Arial"/>
            </a:endParaRPr>
          </a:p>
        </p:txBody>
      </p:sp>
      <p:sp>
        <p:nvSpPr>
          <p:cNvPr id="131" name="TextBox 7"/>
          <p:cNvSpPr/>
          <p:nvPr/>
        </p:nvSpPr>
        <p:spPr>
          <a:xfrm>
            <a:off x="457200" y="21121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1960 年代末</a:t>
            </a:r>
            <a:endParaRPr lang="en-US" sz="2200" b="0" u="none" strike="noStrike">
              <a:solidFill>
                <a:srgbClr val="FFFFFF"/>
              </a:solidFill>
              <a:effectLst/>
              <a:uFillTx/>
              <a:latin typeface="Arial"/>
            </a:endParaRPr>
          </a:p>
        </p:txBody>
      </p:sp>
      <p:sp>
        <p:nvSpPr>
          <p:cNvPr id="132" name="TextBox 8"/>
          <p:cNvSpPr/>
          <p:nvPr/>
        </p:nvSpPr>
        <p:spPr>
          <a:xfrm>
            <a:off x="2286000" y="21121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层次型（IMS）</a:t>
            </a:r>
            <a:endParaRPr lang="en-US" sz="2200" b="0" u="none" strike="noStrike">
              <a:solidFill>
                <a:srgbClr val="FFFFFF"/>
              </a:solidFill>
              <a:effectLst/>
              <a:uFillTx/>
              <a:latin typeface="Arial"/>
            </a:endParaRPr>
          </a:p>
        </p:txBody>
      </p:sp>
      <p:sp>
        <p:nvSpPr>
          <p:cNvPr id="133" name="TextBox 9"/>
          <p:cNvSpPr/>
          <p:nvPr/>
        </p:nvSpPr>
        <p:spPr>
          <a:xfrm>
            <a:off x="5943600" y="21121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4" name="TextBox 10"/>
          <p:cNvSpPr/>
          <p:nvPr/>
        </p:nvSpPr>
        <p:spPr>
          <a:xfrm>
            <a:off x="6309360" y="21121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大型机时代，物理威胁模型</a:t>
            </a:r>
            <a:endParaRPr lang="en-US" sz="2000" b="0" u="none" strike="noStrike">
              <a:solidFill>
                <a:srgbClr val="FFFFFF"/>
              </a:solidFill>
              <a:effectLst/>
              <a:uFillTx/>
              <a:latin typeface="Arial"/>
            </a:endParaRPr>
          </a:p>
        </p:txBody>
      </p:sp>
      <p:sp>
        <p:nvSpPr>
          <p:cNvPr id="135" name="TextBox 11"/>
          <p:cNvSpPr/>
          <p:nvPr/>
        </p:nvSpPr>
        <p:spPr>
          <a:xfrm>
            <a:off x="457200" y="26244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1970s</a:t>
            </a:r>
            <a:endParaRPr lang="en-US" sz="2200" b="0" u="none" strike="noStrike">
              <a:solidFill>
                <a:srgbClr val="FFFFFF"/>
              </a:solidFill>
              <a:effectLst/>
              <a:uFillTx/>
              <a:latin typeface="Arial"/>
            </a:endParaRPr>
          </a:p>
        </p:txBody>
      </p:sp>
      <p:sp>
        <p:nvSpPr>
          <p:cNvPr id="136" name="TextBox 12"/>
          <p:cNvSpPr/>
          <p:nvPr/>
        </p:nvSpPr>
        <p:spPr>
          <a:xfrm>
            <a:off x="2286000" y="26244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网状 / CODASYL</a:t>
            </a:r>
            <a:endParaRPr lang="en-US" sz="2200" b="0" u="none" strike="noStrike">
              <a:solidFill>
                <a:srgbClr val="FFFFFF"/>
              </a:solidFill>
              <a:effectLst/>
              <a:uFillTx/>
              <a:latin typeface="Arial"/>
            </a:endParaRPr>
          </a:p>
        </p:txBody>
      </p:sp>
      <p:sp>
        <p:nvSpPr>
          <p:cNvPr id="137" name="TextBox 13"/>
          <p:cNvSpPr/>
          <p:nvPr/>
        </p:nvSpPr>
        <p:spPr>
          <a:xfrm>
            <a:off x="5943600" y="26244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8" name="TextBox 14"/>
          <p:cNvSpPr/>
          <p:nvPr/>
        </p:nvSpPr>
        <p:spPr>
          <a:xfrm>
            <a:off x="6309360" y="26244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至今仍在你银行的后台运转</a:t>
            </a:r>
            <a:endParaRPr lang="en-US" sz="2000" b="0" u="none" strike="noStrike">
              <a:solidFill>
                <a:srgbClr val="FFFFFF"/>
              </a:solidFill>
              <a:effectLst/>
              <a:uFillTx/>
              <a:latin typeface="Arial"/>
            </a:endParaRPr>
          </a:p>
        </p:txBody>
      </p:sp>
      <p:sp>
        <p:nvSpPr>
          <p:cNvPr id="139" name="TextBox 15"/>
          <p:cNvSpPr/>
          <p:nvPr/>
        </p:nvSpPr>
        <p:spPr>
          <a:xfrm>
            <a:off x="457200" y="31363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a:t>
            </a:r>
            <a:endParaRPr lang="en-US" sz="2200" b="0" u="none" strike="noStrike">
              <a:solidFill>
                <a:srgbClr val="FFFFFF"/>
              </a:solidFill>
              <a:effectLst/>
              <a:uFillTx/>
              <a:latin typeface="Arial"/>
            </a:endParaRPr>
          </a:p>
        </p:txBody>
      </p:sp>
      <p:sp>
        <p:nvSpPr>
          <p:cNvPr id="140" name="TextBox 16"/>
          <p:cNvSpPr/>
          <p:nvPr/>
        </p:nvSpPr>
        <p:spPr>
          <a:xfrm>
            <a:off x="2286000" y="31363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Codd 的关系型</a:t>
            </a:r>
            <a:endParaRPr lang="en-US" sz="2200" b="0" u="none" strike="noStrike">
              <a:solidFill>
                <a:srgbClr val="FFFFFF"/>
              </a:solidFill>
              <a:effectLst/>
              <a:uFillTx/>
              <a:latin typeface="Arial"/>
            </a:endParaRPr>
          </a:p>
        </p:txBody>
      </p:sp>
      <p:sp>
        <p:nvSpPr>
          <p:cNvPr id="141" name="TextBox 17"/>
          <p:cNvSpPr/>
          <p:nvPr/>
        </p:nvSpPr>
        <p:spPr>
          <a:xfrm>
            <a:off x="5943600" y="31363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2" name="TextBox 18"/>
          <p:cNvSpPr/>
          <p:nvPr/>
        </p:nvSpPr>
        <p:spPr>
          <a:xfrm>
            <a:off x="6309360" y="31363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GRANT、角色 — 数据库内部的访问控制</a:t>
            </a:r>
            <a:endParaRPr lang="en-US" sz="2000" b="0" u="none" strike="noStrike">
              <a:solidFill>
                <a:srgbClr val="FFFFFF"/>
              </a:solidFill>
              <a:effectLst/>
              <a:uFillTx/>
              <a:latin typeface="Arial"/>
            </a:endParaRPr>
          </a:p>
        </p:txBody>
      </p:sp>
      <p:sp>
        <p:nvSpPr>
          <p:cNvPr id="143" name="TextBox 19"/>
          <p:cNvSpPr/>
          <p:nvPr/>
        </p:nvSpPr>
        <p:spPr>
          <a:xfrm>
            <a:off x="457200" y="36486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1980s</a:t>
            </a:r>
            <a:endParaRPr lang="en-US" sz="2200" b="0" u="none" strike="noStrike">
              <a:solidFill>
                <a:srgbClr val="FFFFFF"/>
              </a:solidFill>
              <a:effectLst/>
              <a:uFillTx/>
              <a:latin typeface="Arial"/>
            </a:endParaRPr>
          </a:p>
        </p:txBody>
      </p:sp>
      <p:sp>
        <p:nvSpPr>
          <p:cNvPr id="144" name="TextBox 20"/>
          <p:cNvSpPr/>
          <p:nvPr/>
        </p:nvSpPr>
        <p:spPr>
          <a:xfrm>
            <a:off x="2286000" y="36486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Oracle、DB2、SQL Svr</a:t>
            </a:r>
            <a:endParaRPr lang="en-US" sz="2200" b="0" u="none" strike="noStrike">
              <a:solidFill>
                <a:srgbClr val="FFFFFF"/>
              </a:solidFill>
              <a:effectLst/>
              <a:uFillTx/>
              <a:latin typeface="Arial"/>
            </a:endParaRPr>
          </a:p>
        </p:txBody>
      </p:sp>
      <p:sp>
        <p:nvSpPr>
          <p:cNvPr id="145" name="TextBox 21"/>
          <p:cNvSpPr/>
          <p:nvPr/>
        </p:nvSpPr>
        <p:spPr>
          <a:xfrm>
            <a:off x="5943600" y="36486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6" name="TextBox 22"/>
          <p:cNvSpPr/>
          <p:nvPr/>
        </p:nvSpPr>
        <p:spPr>
          <a:xfrm>
            <a:off x="6309360" y="36486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数据库接入网络 → 身份认证问题</a:t>
            </a:r>
            <a:endParaRPr lang="en-US" sz="2000" b="0" u="none" strike="noStrike">
              <a:solidFill>
                <a:srgbClr val="FFFFFF"/>
              </a:solidFill>
              <a:effectLst/>
              <a:uFillTx/>
              <a:latin typeface="Arial"/>
            </a:endParaRPr>
          </a:p>
        </p:txBody>
      </p:sp>
      <p:sp>
        <p:nvSpPr>
          <p:cNvPr id="147" name="TextBox 23"/>
          <p:cNvSpPr/>
          <p:nvPr/>
        </p:nvSpPr>
        <p:spPr>
          <a:xfrm>
            <a:off x="457200" y="41605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1990s</a:t>
            </a:r>
            <a:endParaRPr lang="en-US" sz="2200" b="0" u="none" strike="noStrike">
              <a:solidFill>
                <a:srgbClr val="FFFFFF"/>
              </a:solidFill>
              <a:effectLst/>
              <a:uFillTx/>
              <a:latin typeface="Arial"/>
            </a:endParaRPr>
          </a:p>
        </p:txBody>
      </p:sp>
      <p:sp>
        <p:nvSpPr>
          <p:cNvPr id="148" name="TextBox 24"/>
          <p:cNvSpPr/>
          <p:nvPr/>
        </p:nvSpPr>
        <p:spPr>
          <a:xfrm>
            <a:off x="2286000" y="41605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客户端-服务器、开源软件</a:t>
            </a:r>
            <a:endParaRPr lang="en-US" sz="2200" b="0" u="none" strike="noStrike">
              <a:solidFill>
                <a:srgbClr val="FFFFFF"/>
              </a:solidFill>
              <a:effectLst/>
              <a:uFillTx/>
              <a:latin typeface="Arial"/>
            </a:endParaRPr>
          </a:p>
        </p:txBody>
      </p:sp>
      <p:sp>
        <p:nvSpPr>
          <p:cNvPr id="149" name="TextBox 25"/>
          <p:cNvSpPr/>
          <p:nvPr/>
        </p:nvSpPr>
        <p:spPr>
          <a:xfrm>
            <a:off x="5943600" y="41605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0" name="TextBox 26"/>
          <p:cNvSpPr/>
          <p:nvPr/>
        </p:nvSpPr>
        <p:spPr>
          <a:xfrm>
            <a:off x="6309360" y="41605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SQL 注入开始登场</a:t>
            </a:r>
            <a:endParaRPr lang="en-US" sz="2000" b="0" u="none" strike="noStrike">
              <a:solidFill>
                <a:srgbClr val="FFFFFF"/>
              </a:solidFill>
              <a:effectLst/>
              <a:uFillTx/>
              <a:latin typeface="Arial"/>
            </a:endParaRPr>
          </a:p>
        </p:txBody>
      </p:sp>
      <p:sp>
        <p:nvSpPr>
          <p:cNvPr id="151" name="TextBox 27"/>
          <p:cNvSpPr/>
          <p:nvPr/>
        </p:nvSpPr>
        <p:spPr>
          <a:xfrm>
            <a:off x="457200" y="46724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2000s</a:t>
            </a:r>
            <a:endParaRPr lang="en-US" sz="2200" b="0" u="none" strike="noStrike">
              <a:solidFill>
                <a:srgbClr val="FFFFFF"/>
              </a:solidFill>
              <a:effectLst/>
              <a:uFillTx/>
              <a:latin typeface="Arial"/>
            </a:endParaRPr>
          </a:p>
        </p:txBody>
      </p:sp>
      <p:sp>
        <p:nvSpPr>
          <p:cNvPr id="152" name="TextBox 28"/>
          <p:cNvSpPr/>
          <p:nvPr/>
        </p:nvSpPr>
        <p:spPr>
          <a:xfrm>
            <a:off x="2286000" y="46724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NoSQL 大爆发</a:t>
            </a:r>
            <a:endParaRPr lang="en-US" sz="2200" b="0" u="none" strike="noStrike">
              <a:solidFill>
                <a:srgbClr val="FFFFFF"/>
              </a:solidFill>
              <a:effectLst/>
              <a:uFillTx/>
              <a:latin typeface="Arial"/>
            </a:endParaRPr>
          </a:p>
        </p:txBody>
      </p:sp>
      <p:sp>
        <p:nvSpPr>
          <p:cNvPr id="153" name="TextBox 29"/>
          <p:cNvSpPr/>
          <p:nvPr/>
        </p:nvSpPr>
        <p:spPr>
          <a:xfrm>
            <a:off x="5943600" y="46724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4" name="TextBox 30"/>
          <p:cNvSpPr/>
          <p:nvPr/>
        </p:nvSpPr>
        <p:spPr>
          <a:xfrm>
            <a:off x="6309360" y="46724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“抛弃了根基” — 包括安全</a:t>
            </a:r>
            <a:endParaRPr lang="en-US" sz="2000" b="0" u="none" strike="noStrike">
              <a:solidFill>
                <a:srgbClr val="FFFFFF"/>
              </a:solidFill>
              <a:effectLst/>
              <a:uFillTx/>
              <a:latin typeface="Arial"/>
            </a:endParaRPr>
          </a:p>
        </p:txBody>
      </p:sp>
      <p:sp>
        <p:nvSpPr>
          <p:cNvPr id="155" name="TextBox 31"/>
          <p:cNvSpPr/>
          <p:nvPr/>
        </p:nvSpPr>
        <p:spPr>
          <a:xfrm>
            <a:off x="457200" y="51847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2010s</a:t>
            </a:r>
            <a:endParaRPr lang="en-US" sz="2200" b="0" u="none" strike="noStrike">
              <a:solidFill>
                <a:srgbClr val="FFFFFF"/>
              </a:solidFill>
              <a:effectLst/>
              <a:uFillTx/>
              <a:latin typeface="Arial"/>
            </a:endParaRPr>
          </a:p>
        </p:txBody>
      </p:sp>
      <p:sp>
        <p:nvSpPr>
          <p:cNvPr id="156" name="TextBox 32"/>
          <p:cNvSpPr/>
          <p:nvPr/>
        </p:nvSpPr>
        <p:spPr>
          <a:xfrm>
            <a:off x="2286000" y="51847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云 / NewSQL</a:t>
            </a:r>
            <a:endParaRPr lang="en-US" sz="2200" b="0" u="none" strike="noStrike">
              <a:solidFill>
                <a:srgbClr val="FFFFFF"/>
              </a:solidFill>
              <a:effectLst/>
              <a:uFillTx/>
              <a:latin typeface="Arial"/>
            </a:endParaRPr>
          </a:p>
        </p:txBody>
      </p:sp>
      <p:sp>
        <p:nvSpPr>
          <p:cNvPr id="157" name="TextBox 33"/>
          <p:cNvSpPr/>
          <p:nvPr/>
        </p:nvSpPr>
        <p:spPr>
          <a:xfrm>
            <a:off x="5943600" y="51847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8" name="TextBox 34"/>
          <p:cNvSpPr/>
          <p:nvPr/>
        </p:nvSpPr>
        <p:spPr>
          <a:xfrm>
            <a:off x="6309360" y="51847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责任共担，客户配置错误</a:t>
            </a:r>
            <a:endParaRPr lang="en-US" sz="2000" b="0" u="none" strike="noStrike">
              <a:solidFill>
                <a:srgbClr val="FFFFFF"/>
              </a:solidFill>
              <a:effectLst/>
              <a:uFillTx/>
              <a:latin typeface="Arial"/>
            </a:endParaRPr>
          </a:p>
        </p:txBody>
      </p:sp>
      <p:sp>
        <p:nvSpPr>
          <p:cNvPr id="159" name="TextBox 35"/>
          <p:cNvSpPr/>
          <p:nvPr/>
        </p:nvSpPr>
        <p:spPr>
          <a:xfrm>
            <a:off x="457200" y="56966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2020s</a:t>
            </a:r>
            <a:endParaRPr lang="en-US" sz="2200" b="0" u="none" strike="noStrike">
              <a:solidFill>
                <a:srgbClr val="FFFFFF"/>
              </a:solidFill>
              <a:effectLst/>
              <a:uFillTx/>
              <a:latin typeface="Arial"/>
            </a:endParaRPr>
          </a:p>
        </p:txBody>
      </p:sp>
      <p:sp>
        <p:nvSpPr>
          <p:cNvPr id="160" name="TextBox 36"/>
          <p:cNvSpPr/>
          <p:nvPr/>
        </p:nvSpPr>
        <p:spPr>
          <a:xfrm>
            <a:off x="2286000" y="56966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向量 / 无服务器</a:t>
            </a:r>
            <a:endParaRPr lang="en-US" sz="2200" b="0" u="none" strike="noStrike">
              <a:solidFill>
                <a:srgbClr val="FFFFFF"/>
              </a:solidFill>
              <a:effectLst/>
              <a:uFillTx/>
              <a:latin typeface="Arial"/>
            </a:endParaRPr>
          </a:p>
        </p:txBody>
      </p:sp>
      <p:sp>
        <p:nvSpPr>
          <p:cNvPr id="161" name="TextBox 37"/>
          <p:cNvSpPr/>
          <p:nvPr/>
        </p:nvSpPr>
        <p:spPr>
          <a:xfrm>
            <a:off x="5943600" y="56966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62" name="TextBox 38"/>
          <p:cNvSpPr/>
          <p:nvPr/>
        </p:nvSpPr>
        <p:spPr>
          <a:xfrm>
            <a:off x="6309360" y="56966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数据投毒、提示注入</a:t>
            </a:r>
            <a:endParaRPr lang="en-US" sz="2000" b="0" u="none" strike="noStrike">
              <a:solidFill>
                <a:srgbClr val="FFFFFF"/>
              </a:solidFill>
              <a:effectLst/>
              <a:uFillTx/>
              <a:latin typeface="Arial"/>
            </a:endParaRPr>
          </a:p>
        </p:txBody>
      </p:sp>
      <p:sp>
        <p:nvSpPr>
          <p:cNvPr id="163"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164"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65" name="TextBox 1" descr="Grid of the ten database families with example products: relational, document, key-value, column-family, graph, search, time-series, vector, embedded, and data lake." title="Grid of the ten database families with example products: relational, document, k"/>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数据库的十大家族</a:t>
            </a:r>
            <a:endParaRPr lang="en-US" sz="4200" b="0" u="none" strike="noStrike">
              <a:solidFill>
                <a:srgbClr val="FFFFFF"/>
              </a:solidFill>
              <a:effectLst/>
              <a:uFillTx/>
              <a:latin typeface="Arial"/>
            </a:endParaRPr>
          </a:p>
        </p:txBody>
      </p:sp>
      <p:sp>
        <p:nvSpPr>
          <p:cNvPr id="16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7" name="Rounded Rectangle 3"/>
          <p:cNvSpPr/>
          <p:nvPr/>
        </p:nvSpPr>
        <p:spPr>
          <a:xfrm>
            <a:off x="54864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4"/>
          <p:cNvSpPr/>
          <p:nvPr/>
        </p:nvSpPr>
        <p:spPr>
          <a:xfrm>
            <a:off x="68580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a:t>
            </a:r>
            <a:endParaRPr lang="en-US" sz="2200" b="0" u="none" strike="noStrike">
              <a:solidFill>
                <a:srgbClr val="FFFFFF"/>
              </a:solidFill>
              <a:effectLst/>
              <a:uFillTx/>
              <a:latin typeface="Arial"/>
            </a:endParaRPr>
          </a:p>
        </p:txBody>
      </p:sp>
      <p:sp>
        <p:nvSpPr>
          <p:cNvPr id="169" name="TextBox 5"/>
          <p:cNvSpPr/>
          <p:nvPr/>
        </p:nvSpPr>
        <p:spPr>
          <a:xfrm>
            <a:off x="173736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关系型</a:t>
            </a:r>
            <a:endParaRPr lang="en-US" sz="2200" b="0" u="none" strike="noStrike">
              <a:solidFill>
                <a:srgbClr val="FFFFFF"/>
              </a:solidFill>
              <a:effectLst/>
              <a:uFillTx/>
              <a:latin typeface="Arial"/>
            </a:endParaRPr>
          </a:p>
        </p:txBody>
      </p:sp>
      <p:sp>
        <p:nvSpPr>
          <p:cNvPr id="170" name="TextBox 6"/>
          <p:cNvSpPr/>
          <p:nvPr/>
        </p:nvSpPr>
        <p:spPr>
          <a:xfrm>
            <a:off x="173736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SQL  •  PostgreSQL, MySQL</a:t>
            </a:r>
            <a:endParaRPr lang="en-US" sz="1800" b="0" u="none" strike="noStrike">
              <a:solidFill>
                <a:srgbClr val="FFFFFF"/>
              </a:solidFill>
              <a:effectLst/>
              <a:uFillTx/>
              <a:latin typeface="Arial"/>
            </a:endParaRPr>
          </a:p>
        </p:txBody>
      </p:sp>
      <p:sp>
        <p:nvSpPr>
          <p:cNvPr id="171" name="Rounded Rectangle 7"/>
          <p:cNvSpPr/>
          <p:nvPr/>
        </p:nvSpPr>
        <p:spPr>
          <a:xfrm>
            <a:off x="621792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8"/>
          <p:cNvSpPr/>
          <p:nvPr/>
        </p:nvSpPr>
        <p:spPr>
          <a:xfrm>
            <a:off x="635508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2.</a:t>
            </a:r>
            <a:endParaRPr lang="en-US" sz="2200" b="0" u="none" strike="noStrike">
              <a:solidFill>
                <a:srgbClr val="FFFFFF"/>
              </a:solidFill>
              <a:effectLst/>
              <a:uFillTx/>
              <a:latin typeface="Arial"/>
            </a:endParaRPr>
          </a:p>
        </p:txBody>
      </p:sp>
      <p:sp>
        <p:nvSpPr>
          <p:cNvPr id="173" name="TextBox 9"/>
          <p:cNvSpPr/>
          <p:nvPr/>
        </p:nvSpPr>
        <p:spPr>
          <a:xfrm>
            <a:off x="740664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文档型</a:t>
            </a:r>
            <a:endParaRPr lang="en-US" sz="2200" b="0" u="none" strike="noStrike">
              <a:solidFill>
                <a:srgbClr val="FFFFFF"/>
              </a:solidFill>
              <a:effectLst/>
              <a:uFillTx/>
              <a:latin typeface="Arial"/>
            </a:endParaRPr>
          </a:p>
        </p:txBody>
      </p:sp>
      <p:sp>
        <p:nvSpPr>
          <p:cNvPr id="174" name="TextBox 10"/>
          <p:cNvSpPr/>
          <p:nvPr/>
        </p:nvSpPr>
        <p:spPr>
          <a:xfrm>
            <a:off x="740664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JSON  •  MongoDB, Firestore</a:t>
            </a:r>
            <a:endParaRPr lang="en-US" sz="1800" b="0" u="none" strike="noStrike">
              <a:solidFill>
                <a:srgbClr val="FFFFFF"/>
              </a:solidFill>
              <a:effectLst/>
              <a:uFillTx/>
              <a:latin typeface="Arial"/>
            </a:endParaRPr>
          </a:p>
        </p:txBody>
      </p:sp>
      <p:sp>
        <p:nvSpPr>
          <p:cNvPr id="175" name="Rounded Rectangle 11"/>
          <p:cNvSpPr/>
          <p:nvPr/>
        </p:nvSpPr>
        <p:spPr>
          <a:xfrm>
            <a:off x="54864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TextBox 12"/>
          <p:cNvSpPr/>
          <p:nvPr/>
        </p:nvSpPr>
        <p:spPr>
          <a:xfrm>
            <a:off x="68580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3.</a:t>
            </a:r>
            <a:endParaRPr lang="en-US" sz="2200" b="0" u="none" strike="noStrike">
              <a:solidFill>
                <a:srgbClr val="FFFFFF"/>
              </a:solidFill>
              <a:effectLst/>
              <a:uFillTx/>
              <a:latin typeface="Arial"/>
            </a:endParaRPr>
          </a:p>
        </p:txBody>
      </p:sp>
      <p:sp>
        <p:nvSpPr>
          <p:cNvPr id="177" name="TextBox 13"/>
          <p:cNvSpPr/>
          <p:nvPr/>
        </p:nvSpPr>
        <p:spPr>
          <a:xfrm>
            <a:off x="173736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键值型</a:t>
            </a:r>
            <a:endParaRPr lang="en-US" sz="2200" b="0" u="none" strike="noStrike">
              <a:solidFill>
                <a:srgbClr val="FFFFFF"/>
              </a:solidFill>
              <a:effectLst/>
              <a:uFillTx/>
              <a:latin typeface="Arial"/>
            </a:endParaRPr>
          </a:p>
        </p:txBody>
      </p:sp>
      <p:sp>
        <p:nvSpPr>
          <p:cNvPr id="178" name="TextBox 14"/>
          <p:cNvSpPr/>
          <p:nvPr/>
        </p:nvSpPr>
        <p:spPr>
          <a:xfrm>
            <a:off x="173736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字典  •  Redis, DynamoDB</a:t>
            </a:r>
            <a:endParaRPr lang="en-US" sz="1800" b="0" u="none" strike="noStrike">
              <a:solidFill>
                <a:srgbClr val="FFFFFF"/>
              </a:solidFill>
              <a:effectLst/>
              <a:uFillTx/>
              <a:latin typeface="Arial"/>
            </a:endParaRPr>
          </a:p>
        </p:txBody>
      </p:sp>
      <p:sp>
        <p:nvSpPr>
          <p:cNvPr id="179" name="Rounded Rectangle 15"/>
          <p:cNvSpPr/>
          <p:nvPr/>
        </p:nvSpPr>
        <p:spPr>
          <a:xfrm>
            <a:off x="621792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 name="TextBox 16"/>
          <p:cNvSpPr/>
          <p:nvPr/>
        </p:nvSpPr>
        <p:spPr>
          <a:xfrm>
            <a:off x="635508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4.</a:t>
            </a:r>
            <a:endParaRPr lang="en-US" sz="2200" b="0" u="none" strike="noStrike">
              <a:solidFill>
                <a:srgbClr val="FFFFFF"/>
              </a:solidFill>
              <a:effectLst/>
              <a:uFillTx/>
              <a:latin typeface="Arial"/>
            </a:endParaRPr>
          </a:p>
        </p:txBody>
      </p:sp>
      <p:sp>
        <p:nvSpPr>
          <p:cNvPr id="181" name="TextBox 17"/>
          <p:cNvSpPr/>
          <p:nvPr/>
        </p:nvSpPr>
        <p:spPr>
          <a:xfrm>
            <a:off x="740664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列族型</a:t>
            </a:r>
            <a:endParaRPr lang="en-US" sz="2200" b="0" u="none" strike="noStrike">
              <a:solidFill>
                <a:srgbClr val="FFFFFF"/>
              </a:solidFill>
              <a:effectLst/>
              <a:uFillTx/>
              <a:latin typeface="Arial"/>
            </a:endParaRPr>
          </a:p>
        </p:txBody>
      </p:sp>
      <p:sp>
        <p:nvSpPr>
          <p:cNvPr id="182" name="TextBox 18"/>
          <p:cNvSpPr/>
          <p:nvPr/>
        </p:nvSpPr>
        <p:spPr>
          <a:xfrm>
            <a:off x="740664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宽列  •  Cassandra, HBase</a:t>
            </a:r>
            <a:endParaRPr lang="en-US" sz="1800" b="0" u="none" strike="noStrike">
              <a:solidFill>
                <a:srgbClr val="FFFFFF"/>
              </a:solidFill>
              <a:effectLst/>
              <a:uFillTx/>
              <a:latin typeface="Arial"/>
            </a:endParaRPr>
          </a:p>
        </p:txBody>
      </p:sp>
      <p:sp>
        <p:nvSpPr>
          <p:cNvPr id="183" name="Rounded Rectangle 19"/>
          <p:cNvSpPr/>
          <p:nvPr/>
        </p:nvSpPr>
        <p:spPr>
          <a:xfrm>
            <a:off x="54864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extBox 20"/>
          <p:cNvSpPr/>
          <p:nvPr/>
        </p:nvSpPr>
        <p:spPr>
          <a:xfrm>
            <a:off x="68580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5.</a:t>
            </a:r>
            <a:endParaRPr lang="en-US" sz="2200" b="0" u="none" strike="noStrike">
              <a:solidFill>
                <a:srgbClr val="FFFFFF"/>
              </a:solidFill>
              <a:effectLst/>
              <a:uFillTx/>
              <a:latin typeface="Arial"/>
            </a:endParaRPr>
          </a:p>
        </p:txBody>
      </p:sp>
      <p:sp>
        <p:nvSpPr>
          <p:cNvPr id="185" name="TextBox 21"/>
          <p:cNvSpPr/>
          <p:nvPr/>
        </p:nvSpPr>
        <p:spPr>
          <a:xfrm>
            <a:off x="173736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图型</a:t>
            </a:r>
            <a:endParaRPr lang="en-US" sz="2200" b="0" u="none" strike="noStrike">
              <a:solidFill>
                <a:srgbClr val="FFFFFF"/>
              </a:solidFill>
              <a:effectLst/>
              <a:uFillTx/>
              <a:latin typeface="Arial"/>
            </a:endParaRPr>
          </a:p>
        </p:txBody>
      </p:sp>
      <p:sp>
        <p:nvSpPr>
          <p:cNvPr id="186" name="TextBox 22"/>
          <p:cNvSpPr/>
          <p:nvPr/>
        </p:nvSpPr>
        <p:spPr>
          <a:xfrm>
            <a:off x="173736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节点+边  •  Neo4j, Neptune</a:t>
            </a:r>
            <a:endParaRPr lang="en-US" sz="1800" b="0" u="none" strike="noStrike">
              <a:solidFill>
                <a:srgbClr val="FFFFFF"/>
              </a:solidFill>
              <a:effectLst/>
              <a:uFillTx/>
              <a:latin typeface="Arial"/>
            </a:endParaRPr>
          </a:p>
        </p:txBody>
      </p:sp>
      <p:sp>
        <p:nvSpPr>
          <p:cNvPr id="187" name="Rounded Rectangle 23"/>
          <p:cNvSpPr/>
          <p:nvPr/>
        </p:nvSpPr>
        <p:spPr>
          <a:xfrm>
            <a:off x="621792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8" name="TextBox 24"/>
          <p:cNvSpPr/>
          <p:nvPr/>
        </p:nvSpPr>
        <p:spPr>
          <a:xfrm>
            <a:off x="635508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6.</a:t>
            </a:r>
            <a:endParaRPr lang="en-US" sz="2200" b="0" u="none" strike="noStrike">
              <a:solidFill>
                <a:srgbClr val="FFFFFF"/>
              </a:solidFill>
              <a:effectLst/>
              <a:uFillTx/>
              <a:latin typeface="Arial"/>
            </a:endParaRPr>
          </a:p>
        </p:txBody>
      </p:sp>
      <p:sp>
        <p:nvSpPr>
          <p:cNvPr id="189" name="TextBox 25"/>
          <p:cNvSpPr/>
          <p:nvPr/>
        </p:nvSpPr>
        <p:spPr>
          <a:xfrm>
            <a:off x="740664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搜索型</a:t>
            </a:r>
            <a:endParaRPr lang="en-US" sz="2200" b="0" u="none" strike="noStrike">
              <a:solidFill>
                <a:srgbClr val="FFFFFF"/>
              </a:solidFill>
              <a:effectLst/>
              <a:uFillTx/>
              <a:latin typeface="Arial"/>
            </a:endParaRPr>
          </a:p>
        </p:txBody>
      </p:sp>
      <p:sp>
        <p:nvSpPr>
          <p:cNvPr id="190" name="TextBox 26"/>
          <p:cNvSpPr/>
          <p:nvPr/>
        </p:nvSpPr>
        <p:spPr>
          <a:xfrm>
            <a:off x="740664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全文  •  Elastic, OpenSearch</a:t>
            </a:r>
            <a:endParaRPr lang="en-US" sz="1800" b="0" u="none" strike="noStrike">
              <a:solidFill>
                <a:srgbClr val="FFFFFF"/>
              </a:solidFill>
              <a:effectLst/>
              <a:uFillTx/>
              <a:latin typeface="Arial"/>
            </a:endParaRPr>
          </a:p>
        </p:txBody>
      </p:sp>
      <p:sp>
        <p:nvSpPr>
          <p:cNvPr id="191" name="Rounded Rectangle 27"/>
          <p:cNvSpPr/>
          <p:nvPr/>
        </p:nvSpPr>
        <p:spPr>
          <a:xfrm>
            <a:off x="54864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28"/>
          <p:cNvSpPr/>
          <p:nvPr/>
        </p:nvSpPr>
        <p:spPr>
          <a:xfrm>
            <a:off x="68580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7.</a:t>
            </a:r>
            <a:endParaRPr lang="en-US" sz="2200" b="0" u="none" strike="noStrike">
              <a:solidFill>
                <a:srgbClr val="FFFFFF"/>
              </a:solidFill>
              <a:effectLst/>
              <a:uFillTx/>
              <a:latin typeface="Arial"/>
            </a:endParaRPr>
          </a:p>
        </p:txBody>
      </p:sp>
      <p:sp>
        <p:nvSpPr>
          <p:cNvPr id="193" name="TextBox 29"/>
          <p:cNvSpPr/>
          <p:nvPr/>
        </p:nvSpPr>
        <p:spPr>
          <a:xfrm>
            <a:off x="173736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时序型</a:t>
            </a:r>
            <a:endParaRPr lang="en-US" sz="2200" b="0" u="none" strike="noStrike">
              <a:solidFill>
                <a:srgbClr val="FFFFFF"/>
              </a:solidFill>
              <a:effectLst/>
              <a:uFillTx/>
              <a:latin typeface="Arial"/>
            </a:endParaRPr>
          </a:p>
        </p:txBody>
      </p:sp>
      <p:sp>
        <p:nvSpPr>
          <p:cNvPr id="194" name="TextBox 30"/>
          <p:cNvSpPr/>
          <p:nvPr/>
        </p:nvSpPr>
        <p:spPr>
          <a:xfrm>
            <a:off x="173736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指标  •  Influx, Prometheus</a:t>
            </a:r>
            <a:endParaRPr lang="en-US" sz="1800" b="0" u="none" strike="noStrike">
              <a:solidFill>
                <a:srgbClr val="FFFFFF"/>
              </a:solidFill>
              <a:effectLst/>
              <a:uFillTx/>
              <a:latin typeface="Arial"/>
            </a:endParaRPr>
          </a:p>
        </p:txBody>
      </p:sp>
      <p:sp>
        <p:nvSpPr>
          <p:cNvPr id="195" name="Rounded Rectangle 31"/>
          <p:cNvSpPr/>
          <p:nvPr/>
        </p:nvSpPr>
        <p:spPr>
          <a:xfrm>
            <a:off x="621792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32"/>
          <p:cNvSpPr/>
          <p:nvPr/>
        </p:nvSpPr>
        <p:spPr>
          <a:xfrm>
            <a:off x="635508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8.</a:t>
            </a:r>
            <a:endParaRPr lang="en-US" sz="2200" b="0" u="none" strike="noStrike">
              <a:solidFill>
                <a:srgbClr val="FFFFFF"/>
              </a:solidFill>
              <a:effectLst/>
              <a:uFillTx/>
              <a:latin typeface="Arial"/>
            </a:endParaRPr>
          </a:p>
        </p:txBody>
      </p:sp>
      <p:sp>
        <p:nvSpPr>
          <p:cNvPr id="197" name="TextBox 33"/>
          <p:cNvSpPr/>
          <p:nvPr/>
        </p:nvSpPr>
        <p:spPr>
          <a:xfrm>
            <a:off x="740664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向量型</a:t>
            </a:r>
            <a:endParaRPr lang="en-US" sz="2200" b="0" u="none" strike="noStrike">
              <a:solidFill>
                <a:srgbClr val="FFFFFF"/>
              </a:solidFill>
              <a:effectLst/>
              <a:uFillTx/>
              <a:latin typeface="Arial"/>
            </a:endParaRPr>
          </a:p>
        </p:txBody>
      </p:sp>
      <p:sp>
        <p:nvSpPr>
          <p:cNvPr id="198" name="TextBox 34"/>
          <p:cNvSpPr/>
          <p:nvPr/>
        </p:nvSpPr>
        <p:spPr>
          <a:xfrm>
            <a:off x="740664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嵌入向量  •  Pinecone, pgvector</a:t>
            </a:r>
            <a:endParaRPr lang="en-US" sz="1800" b="0" u="none" strike="noStrike">
              <a:solidFill>
                <a:srgbClr val="FFFFFF"/>
              </a:solidFill>
              <a:effectLst/>
              <a:uFillTx/>
              <a:latin typeface="Arial"/>
            </a:endParaRPr>
          </a:p>
        </p:txBody>
      </p:sp>
      <p:sp>
        <p:nvSpPr>
          <p:cNvPr id="199" name="Rounded Rectangle 35"/>
          <p:cNvSpPr/>
          <p:nvPr/>
        </p:nvSpPr>
        <p:spPr>
          <a:xfrm>
            <a:off x="54864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36"/>
          <p:cNvSpPr/>
          <p:nvPr/>
        </p:nvSpPr>
        <p:spPr>
          <a:xfrm>
            <a:off x="68580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9.</a:t>
            </a:r>
            <a:endParaRPr lang="en-US" sz="2200" b="0" u="none" strike="noStrike">
              <a:solidFill>
                <a:srgbClr val="FFFFFF"/>
              </a:solidFill>
              <a:effectLst/>
              <a:uFillTx/>
              <a:latin typeface="Arial"/>
            </a:endParaRPr>
          </a:p>
        </p:txBody>
      </p:sp>
      <p:sp>
        <p:nvSpPr>
          <p:cNvPr id="201" name="TextBox 37"/>
          <p:cNvSpPr/>
          <p:nvPr/>
        </p:nvSpPr>
        <p:spPr>
          <a:xfrm>
            <a:off x="173736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嵌入式/边缘</a:t>
            </a:r>
            <a:endParaRPr lang="en-US" sz="2200" b="0" u="none" strike="noStrike">
              <a:solidFill>
                <a:srgbClr val="FFFFFF"/>
              </a:solidFill>
              <a:effectLst/>
              <a:uFillTx/>
              <a:latin typeface="Arial"/>
            </a:endParaRPr>
          </a:p>
        </p:txBody>
      </p:sp>
      <p:sp>
        <p:nvSpPr>
          <p:cNvPr id="202" name="TextBox 38"/>
          <p:cNvSpPr/>
          <p:nvPr/>
        </p:nvSpPr>
        <p:spPr>
          <a:xfrm>
            <a:off x="173736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应用内  •  SQLite, DuckDB</a:t>
            </a:r>
            <a:endParaRPr lang="en-US" sz="1800" b="0" u="none" strike="noStrike">
              <a:solidFill>
                <a:srgbClr val="FFFFFF"/>
              </a:solidFill>
              <a:effectLst/>
              <a:uFillTx/>
              <a:latin typeface="Arial"/>
            </a:endParaRPr>
          </a:p>
        </p:txBody>
      </p:sp>
      <p:sp>
        <p:nvSpPr>
          <p:cNvPr id="203" name="Rounded Rectangle 39"/>
          <p:cNvSpPr/>
          <p:nvPr/>
        </p:nvSpPr>
        <p:spPr>
          <a:xfrm>
            <a:off x="621792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TextBox 40"/>
          <p:cNvSpPr/>
          <p:nvPr/>
        </p:nvSpPr>
        <p:spPr>
          <a:xfrm>
            <a:off x="635508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10.</a:t>
            </a:r>
            <a:endParaRPr lang="en-US" sz="2200" b="0" u="none" strike="noStrike">
              <a:solidFill>
                <a:srgbClr val="FFFFFF"/>
              </a:solidFill>
              <a:effectLst/>
              <a:uFillTx/>
              <a:latin typeface="Arial"/>
            </a:endParaRPr>
          </a:p>
        </p:txBody>
      </p:sp>
      <p:sp>
        <p:nvSpPr>
          <p:cNvPr id="205" name="TextBox 41"/>
          <p:cNvSpPr/>
          <p:nvPr/>
        </p:nvSpPr>
        <p:spPr>
          <a:xfrm>
            <a:off x="740664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数据湖</a:t>
            </a:r>
            <a:endParaRPr lang="en-US" sz="2200" b="0" u="none" strike="noStrike">
              <a:solidFill>
                <a:srgbClr val="FFFFFF"/>
              </a:solidFill>
              <a:effectLst/>
              <a:uFillTx/>
              <a:latin typeface="Arial"/>
            </a:endParaRPr>
          </a:p>
        </p:txBody>
      </p:sp>
      <p:sp>
        <p:nvSpPr>
          <p:cNvPr id="206" name="TextBox 42"/>
          <p:cNvSpPr/>
          <p:nvPr/>
        </p:nvSpPr>
        <p:spPr>
          <a:xfrm>
            <a:off x="740664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读时模式  •  S3+Athena, Iceberg</a:t>
            </a:r>
            <a:endParaRPr lang="en-US" sz="1800" b="0" u="none" strike="noStrike">
              <a:solidFill>
                <a:srgbClr val="FFFFFF"/>
              </a:solidFill>
              <a:effectLst/>
              <a:uFillTx/>
              <a:latin typeface="Arial"/>
            </a:endParaRPr>
          </a:p>
        </p:txBody>
      </p:sp>
      <p:sp>
        <p:nvSpPr>
          <p:cNvPr id="207" name="TextBox 4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08" name="TextBox 4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9"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0"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a:t>
            </a:r>
            <a:endParaRPr lang="en-US" sz="4400" b="0" u="none" strike="noStrike">
              <a:solidFill>
                <a:srgbClr val="FFFFFF"/>
              </a:solidFill>
              <a:effectLst/>
              <a:uFillTx/>
              <a:latin typeface="Arial"/>
            </a:endParaRPr>
          </a:p>
        </p:txBody>
      </p:sp>
      <p:sp>
        <p:nvSpPr>
          <p:cNvPr id="211"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关系型 / SQL</a:t>
            </a:r>
            <a:endParaRPr lang="en-US" sz="4600" b="0" u="none" strike="noStrike">
              <a:solidFill>
                <a:srgbClr val="FFFFFF"/>
              </a:solidFill>
              <a:effectLst/>
              <a:uFillTx/>
              <a:latin typeface="Arial"/>
            </a:endParaRPr>
          </a:p>
        </p:txBody>
      </p:sp>
      <p:sp>
        <p:nvSpPr>
          <p:cNvPr id="212"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3"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14"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PostgreSQL  •  MySQL/MariaDB  •  SQL Server  •  Oracle</a:t>
            </a:r>
            <a:endParaRPr lang="en-US" sz="2800" b="0" u="none" strike="noStrike">
              <a:solidFill>
                <a:srgbClr val="FFFFFF"/>
              </a:solidFill>
              <a:effectLst/>
              <a:uFillTx/>
              <a:latin typeface="Arial"/>
            </a:endParaRPr>
          </a:p>
        </p:txBody>
      </p:sp>
      <p:sp>
        <p:nvSpPr>
          <p:cNvPr id="215"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16"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关系清晰、需要一致性 — 金融、受监管的数据。</a:t>
            </a:r>
            <a:endParaRPr lang="en-US" sz="2400" b="0" u="none" strike="noStrike">
              <a:solidFill>
                <a:srgbClr val="FFFFFF"/>
              </a:solidFill>
              <a:effectLst/>
              <a:uFillTx/>
              <a:latin typeface="Arial"/>
            </a:endParaRPr>
          </a:p>
        </p:txBody>
      </p:sp>
      <p:sp>
        <p:nvSpPr>
          <p:cNvPr id="217"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19"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当开发者将用户输入拼接进查询时，就会出现 SQL 注入。</a:t>
            </a:r>
            <a:endParaRPr lang="en-US" sz="2400" b="0" u="none" strike="noStrike">
              <a:solidFill>
                <a:srgbClr val="FFFFFF"/>
              </a:solidFill>
              <a:effectLst/>
              <a:uFillTx/>
              <a:latin typeface="Arial"/>
            </a:endParaRPr>
          </a:p>
        </p:txBody>
      </p:sp>
      <p:sp>
        <p:nvSpPr>
          <p:cNvPr id="220"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21"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2</a:t>
            </a:r>
            <a:endParaRPr lang="en-US" sz="4400" b="0" u="none" strike="noStrike">
              <a:solidFill>
                <a:srgbClr val="FFFFFF"/>
              </a:solidFill>
              <a:effectLst/>
              <a:uFillTx/>
              <a:latin typeface="Arial"/>
            </a:endParaRPr>
          </a:p>
        </p:txBody>
      </p:sp>
      <p:sp>
        <p:nvSpPr>
          <p:cNvPr id="224"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文档存储</a:t>
            </a:r>
            <a:endParaRPr lang="en-US" sz="4600" b="0" u="none" strike="noStrike">
              <a:solidFill>
                <a:srgbClr val="FFFFFF"/>
              </a:solidFill>
              <a:effectLst/>
              <a:uFillTx/>
              <a:latin typeface="Arial"/>
            </a:endParaRPr>
          </a:p>
        </p:txBody>
      </p:sp>
      <p:sp>
        <p:nvSpPr>
          <p:cNvPr id="225"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6"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27"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MongoDB  •  Couchbase  •  Firestore</a:t>
            </a:r>
            <a:endParaRPr lang="en-US" sz="2800" b="0" u="none" strike="noStrike">
              <a:solidFill>
                <a:srgbClr val="FFFFFF"/>
              </a:solidFill>
              <a:effectLst/>
              <a:uFillTx/>
              <a:latin typeface="Arial"/>
            </a:endParaRPr>
          </a:p>
        </p:txBody>
      </p:sp>
      <p:sp>
        <p:nvSpPr>
          <p:cNvPr id="228"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29"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天然嵌套的数据；其结构随时间变化。</a:t>
            </a:r>
            <a:endParaRPr lang="en-US" sz="2400" b="0" u="none" strike="noStrike">
              <a:solidFill>
                <a:srgbClr val="FFFFFF"/>
              </a:solidFill>
              <a:effectLst/>
              <a:uFillTx/>
              <a:latin typeface="Arial"/>
            </a:endParaRPr>
          </a:p>
        </p:txBody>
      </p:sp>
      <p:sp>
        <p:nvSpPr>
          <p:cNvPr id="230"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32"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通过查询运算符（$ne, $gt, $where）进行 NoSQL 注入。默认无认证。</a:t>
            </a:r>
            <a:endParaRPr lang="en-US" sz="2400" b="0" u="none" strike="noStrike">
              <a:solidFill>
                <a:srgbClr val="FFFFFF"/>
              </a:solidFill>
              <a:effectLst/>
              <a:uFillTx/>
              <a:latin typeface="Arial"/>
            </a:endParaRPr>
          </a:p>
        </p:txBody>
      </p:sp>
      <p:sp>
        <p:nvSpPr>
          <p:cNvPr id="233"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34"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35"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3</a:t>
            </a:r>
            <a:endParaRPr lang="en-US" sz="4400" b="0" u="none" strike="noStrike">
              <a:solidFill>
                <a:srgbClr val="FFFFFF"/>
              </a:solidFill>
              <a:effectLst/>
              <a:uFillTx/>
              <a:latin typeface="Arial"/>
            </a:endParaRPr>
          </a:p>
        </p:txBody>
      </p:sp>
      <p:sp>
        <p:nvSpPr>
          <p:cNvPr id="237"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键值存储</a:t>
            </a:r>
            <a:endParaRPr lang="en-US" sz="4600" b="0" u="none" strike="noStrike">
              <a:solidFill>
                <a:srgbClr val="FFFFFF"/>
              </a:solidFill>
              <a:effectLst/>
              <a:uFillTx/>
              <a:latin typeface="Arial"/>
            </a:endParaRPr>
          </a:p>
        </p:txBody>
      </p:sp>
      <p:sp>
        <p:nvSpPr>
          <p:cNvPr id="238"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9"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40"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Redis  •  Memcached  •  DynamoDB</a:t>
            </a:r>
            <a:endParaRPr lang="en-US" sz="2800" b="0" u="none" strike="noStrike">
              <a:solidFill>
                <a:srgbClr val="FFFFFF"/>
              </a:solidFill>
              <a:effectLst/>
              <a:uFillTx/>
              <a:latin typeface="Arial"/>
            </a:endParaRPr>
          </a:p>
        </p:txBody>
      </p:sp>
      <p:sp>
        <p:nvSpPr>
          <p:cNvPr id="241"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42"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缓存、会话存储、限流器、排行榜。</a:t>
            </a:r>
            <a:endParaRPr lang="en-US" sz="2400" b="0" u="none" strike="noStrike">
              <a:solidFill>
                <a:srgbClr val="FFFFFF"/>
              </a:solidFill>
              <a:effectLst/>
              <a:uFillTx/>
              <a:latin typeface="Arial"/>
            </a:endParaRPr>
          </a:p>
        </p:txBody>
      </p:sp>
      <p:sp>
        <p:nvSpPr>
          <p:cNvPr id="243"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45"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默认无认证的 Redis + CONFIG SET → 将 SSH 密钥写入磁盘。</a:t>
            </a:r>
            <a:endParaRPr lang="en-US" sz="2400" b="0" u="none" strike="noStrike">
              <a:solidFill>
                <a:srgbClr val="FFFFFF"/>
              </a:solidFill>
              <a:effectLst/>
              <a:uFillTx/>
              <a:latin typeface="Arial"/>
            </a:endParaRPr>
          </a:p>
        </p:txBody>
      </p:sp>
      <p:sp>
        <p:nvSpPr>
          <p:cNvPr id="246"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47"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8"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9"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4</a:t>
            </a:r>
            <a:endParaRPr lang="en-US" sz="4400" b="0" u="none" strike="noStrike">
              <a:solidFill>
                <a:srgbClr val="FFFFFF"/>
              </a:solidFill>
              <a:effectLst/>
              <a:uFillTx/>
              <a:latin typeface="Arial"/>
            </a:endParaRPr>
          </a:p>
        </p:txBody>
      </p:sp>
      <p:sp>
        <p:nvSpPr>
          <p:cNvPr id="250"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列族型</a:t>
            </a:r>
            <a:endParaRPr lang="en-US" sz="4600" b="0" u="none" strike="noStrike">
              <a:solidFill>
                <a:srgbClr val="FFFFFF"/>
              </a:solidFill>
              <a:effectLst/>
              <a:uFillTx/>
              <a:latin typeface="Arial"/>
            </a:endParaRPr>
          </a:p>
        </p:txBody>
      </p:sp>
      <p:sp>
        <p:nvSpPr>
          <p:cNvPr id="251"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2"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53"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Apache Cassandra  •  HBase  •  ScyllaDB</a:t>
            </a:r>
            <a:endParaRPr lang="en-US" sz="2800" b="0" u="none" strike="noStrike">
              <a:solidFill>
                <a:srgbClr val="FFFFFF"/>
              </a:solidFill>
              <a:effectLst/>
              <a:uFillTx/>
              <a:latin typeface="Arial"/>
            </a:endParaRPr>
          </a:p>
        </p:txBody>
      </p:sp>
      <p:sp>
        <p:nvSpPr>
          <p:cNvPr id="254"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55"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跨多台机器的海量规模；无需复杂的连接操作。</a:t>
            </a:r>
            <a:endParaRPr lang="en-US" sz="2400" b="0" u="none" strike="noStrike">
              <a:solidFill>
                <a:srgbClr val="FFFFFF"/>
              </a:solidFill>
              <a:effectLst/>
              <a:uFillTx/>
              <a:latin typeface="Arial"/>
            </a:endParaRPr>
          </a:p>
        </p:txBody>
      </p:sp>
      <p:sp>
        <p:nvSpPr>
          <p:cNvPr id="256"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58"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集群通过 gossip 端口相互信任 — 管理网络 = root 权限。</a:t>
            </a:r>
            <a:endParaRPr lang="en-US" sz="2400" b="0" u="none" strike="noStrike">
              <a:solidFill>
                <a:srgbClr val="FFFFFF"/>
              </a:solidFill>
              <a:effectLst/>
              <a:uFillTx/>
              <a:latin typeface="Arial"/>
            </a:endParaRPr>
          </a:p>
        </p:txBody>
      </p:sp>
      <p:sp>
        <p:nvSpPr>
          <p:cNvPr id="259"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60"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1"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5</a:t>
            </a:r>
            <a:endParaRPr lang="en-US" sz="4400" b="0" u="none" strike="noStrike">
              <a:solidFill>
                <a:srgbClr val="FFFFFF"/>
              </a:solidFill>
              <a:effectLst/>
              <a:uFillTx/>
              <a:latin typeface="Arial"/>
            </a:endParaRPr>
          </a:p>
        </p:txBody>
      </p:sp>
      <p:sp>
        <p:nvSpPr>
          <p:cNvPr id="263"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图数据库</a:t>
            </a:r>
            <a:endParaRPr lang="en-US" sz="4600" b="0" u="none" strike="noStrike">
              <a:solidFill>
                <a:srgbClr val="FFFFFF"/>
              </a:solidFill>
              <a:effectLst/>
              <a:uFillTx/>
              <a:latin typeface="Arial"/>
            </a:endParaRPr>
          </a:p>
        </p:txBody>
      </p:sp>
      <p:sp>
        <p:nvSpPr>
          <p:cNvPr id="264"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5"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66"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Neo4j  •  Amazon Neptune  •  ArangoDB</a:t>
            </a:r>
            <a:endParaRPr lang="en-US" sz="2800" b="0" u="none" strike="noStrike">
              <a:solidFill>
                <a:srgbClr val="FFFFFF"/>
              </a:solidFill>
              <a:effectLst/>
              <a:uFillTx/>
              <a:latin typeface="Arial"/>
            </a:endParaRPr>
          </a:p>
        </p:txBody>
      </p:sp>
      <p:sp>
        <p:nvSpPr>
          <p:cNvPr id="267"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68"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社交网络、欺诈检测、IAM 分析（例如 BloodHound）。</a:t>
            </a:r>
            <a:endParaRPr lang="en-US" sz="2400" b="0" u="none" strike="noStrike">
              <a:solidFill>
                <a:srgbClr val="FFFFFF"/>
              </a:solidFill>
              <a:effectLst/>
              <a:uFillTx/>
              <a:latin typeface="Arial"/>
            </a:endParaRPr>
          </a:p>
        </p:txBody>
      </p:sp>
      <p:sp>
        <p:nvSpPr>
          <p:cNvPr id="269"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71"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像 Cypher 这样的查询语言同样可被注入。NoSQL 注入不止于 Mongo。</a:t>
            </a:r>
            <a:endParaRPr lang="en-US" sz="2400" b="0" u="none" strike="noStrike">
              <a:solidFill>
                <a:srgbClr val="FFFFFF"/>
              </a:solidFill>
              <a:effectLst/>
              <a:uFillTx/>
              <a:latin typeface="Arial"/>
            </a:endParaRPr>
          </a:p>
        </p:txBody>
      </p:sp>
      <p:sp>
        <p:nvSpPr>
          <p:cNvPr id="272"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73"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74"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6</a:t>
            </a:r>
            <a:endParaRPr lang="en-US" sz="4400" b="0" u="none" strike="noStrike">
              <a:solidFill>
                <a:srgbClr val="FFFFFF"/>
              </a:solidFill>
              <a:effectLst/>
              <a:uFillTx/>
              <a:latin typeface="Arial"/>
            </a:endParaRPr>
          </a:p>
        </p:txBody>
      </p:sp>
      <p:sp>
        <p:nvSpPr>
          <p:cNvPr id="276"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搜索引擎</a:t>
            </a:r>
            <a:endParaRPr lang="en-US" sz="4600" b="0" u="none" strike="noStrike">
              <a:solidFill>
                <a:srgbClr val="FFFFFF"/>
              </a:solidFill>
              <a:effectLst/>
              <a:uFillTx/>
              <a:latin typeface="Arial"/>
            </a:endParaRPr>
          </a:p>
        </p:txBody>
      </p:sp>
      <p:sp>
        <p:nvSpPr>
          <p:cNvPr id="277"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78"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79" name="TextBox 6"/>
          <p:cNvSpPr/>
          <p:nvPr/>
        </p:nvSpPr>
        <p:spPr>
          <a:xfrm>
            <a:off x="457200" y="2103120"/>
            <a:ext cx="11246760" cy="51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ea typeface="Arial Unicode MS"/>
              </a:rPr>
              <a:t>Elasticsearch  •  OpenSearch  •  Solr </a:t>
            </a:r>
            <a:endParaRPr lang="en-US" sz="2800" b="0" u="none" strike="noStrike">
              <a:solidFill>
                <a:srgbClr val="FFFFFF"/>
              </a:solidFill>
              <a:effectLst/>
              <a:uFillTx/>
              <a:latin typeface="Arial"/>
            </a:endParaRPr>
          </a:p>
        </p:txBody>
      </p:sp>
      <p:sp>
        <p:nvSpPr>
          <p:cNvPr id="280"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81"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日志搜索、SIEM 骨干、电商站内搜索。</a:t>
            </a:r>
            <a:endParaRPr lang="en-US" sz="2400" b="0" u="none" strike="noStrike">
              <a:solidFill>
                <a:srgbClr val="FFFFFF"/>
              </a:solidFill>
              <a:effectLst/>
              <a:uFillTx/>
              <a:latin typeface="Arial"/>
            </a:endParaRPr>
          </a:p>
        </p:txBody>
      </p:sp>
      <p:sp>
        <p:nvSpPr>
          <p:cNvPr id="282"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84"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历史上没有内置认证 — Shodan 上暴露了数十亿条记录。</a:t>
            </a:r>
            <a:endParaRPr lang="en-US" sz="2400" b="0" u="none" strike="noStrike">
              <a:solidFill>
                <a:srgbClr val="FFFFFF"/>
              </a:solidFill>
              <a:effectLst/>
              <a:uFillTx/>
              <a:latin typeface="Arial"/>
            </a:endParaRPr>
          </a:p>
        </p:txBody>
      </p:sp>
      <p:sp>
        <p:nvSpPr>
          <p:cNvPr id="285"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86"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87"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7</a:t>
            </a:r>
            <a:endParaRPr lang="en-US" sz="4400" b="0" u="none" strike="noStrike">
              <a:solidFill>
                <a:srgbClr val="FFFFFF"/>
              </a:solidFill>
              <a:effectLst/>
              <a:uFillTx/>
              <a:latin typeface="Arial"/>
            </a:endParaRPr>
          </a:p>
        </p:txBody>
      </p:sp>
      <p:sp>
        <p:nvSpPr>
          <p:cNvPr id="289"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时序型</a:t>
            </a:r>
            <a:endParaRPr lang="en-US" sz="4600" b="0" u="none" strike="noStrike">
              <a:solidFill>
                <a:srgbClr val="FFFFFF"/>
              </a:solidFill>
              <a:effectLst/>
              <a:uFillTx/>
              <a:latin typeface="Arial"/>
            </a:endParaRPr>
          </a:p>
        </p:txBody>
      </p:sp>
      <p:sp>
        <p:nvSpPr>
          <p:cNvPr id="290"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91"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292"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InfluxDB  •  TimescaleDB  •  Prometheus</a:t>
            </a:r>
            <a:endParaRPr lang="en-US" sz="2800" b="0" u="none" strike="noStrike">
              <a:solidFill>
                <a:srgbClr val="FFFFFF"/>
              </a:solidFill>
              <a:effectLst/>
              <a:uFillTx/>
              <a:latin typeface="Arial"/>
            </a:endParaRPr>
          </a:p>
        </p:txBody>
      </p:sp>
      <p:sp>
        <p:nvSpPr>
          <p:cNvPr id="293"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294"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指标、可观测性、IoT 遥测数据。</a:t>
            </a:r>
            <a:endParaRPr lang="en-US" sz="2400" b="0" u="none" strike="noStrike">
              <a:solidFill>
                <a:srgbClr val="FFFFFF"/>
              </a:solidFill>
              <a:effectLst/>
              <a:uFillTx/>
              <a:latin typeface="Arial"/>
            </a:endParaRPr>
          </a:p>
        </p:txBody>
      </p:sp>
      <p:sp>
        <p:nvSpPr>
          <p:cNvPr id="295"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297"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通常位于边界内部，往往无需认证。</a:t>
            </a:r>
            <a:endParaRPr lang="en-US" sz="2400" b="0" u="none" strike="noStrike">
              <a:solidFill>
                <a:srgbClr val="FFFFFF"/>
              </a:solidFill>
              <a:effectLst/>
              <a:uFillTx/>
              <a:latin typeface="Arial"/>
            </a:endParaRPr>
          </a:p>
        </p:txBody>
      </p:sp>
      <p:sp>
        <p:nvSpPr>
          <p:cNvPr id="298"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299"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00"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1"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8</a:t>
            </a:r>
            <a:endParaRPr lang="en-US" sz="4400" b="0" u="none" strike="noStrike">
              <a:solidFill>
                <a:srgbClr val="FFFFFF"/>
              </a:solidFill>
              <a:effectLst/>
              <a:uFillTx/>
              <a:latin typeface="Arial"/>
            </a:endParaRPr>
          </a:p>
        </p:txBody>
      </p:sp>
      <p:sp>
        <p:nvSpPr>
          <p:cNvPr id="302"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向量数据库</a:t>
            </a:r>
            <a:endParaRPr lang="en-US" sz="4600" b="0" u="none" strike="noStrike">
              <a:solidFill>
                <a:srgbClr val="FFFFFF"/>
              </a:solidFill>
              <a:effectLst/>
              <a:uFillTx/>
              <a:latin typeface="Arial"/>
            </a:endParaRPr>
          </a:p>
        </p:txBody>
      </p:sp>
      <p:sp>
        <p:nvSpPr>
          <p:cNvPr id="303"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04"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305"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Pinecone  •  Milvus  •  Weaviate  •  pgvector</a:t>
            </a:r>
            <a:endParaRPr lang="en-US" sz="2800" b="0" u="none" strike="noStrike">
              <a:solidFill>
                <a:srgbClr val="FFFFFF"/>
              </a:solidFill>
              <a:effectLst/>
              <a:uFillTx/>
              <a:latin typeface="Arial"/>
            </a:endParaRPr>
          </a:p>
        </p:txBody>
      </p:sp>
      <p:sp>
        <p:nvSpPr>
          <p:cNvPr id="306"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307"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RAG、推荐引擎、语义搜索。</a:t>
            </a:r>
            <a:endParaRPr lang="en-US" sz="2400" b="0" u="none" strike="noStrike">
              <a:solidFill>
                <a:srgbClr val="FFFFFF"/>
              </a:solidFill>
              <a:effectLst/>
              <a:uFillTx/>
              <a:latin typeface="Arial"/>
            </a:endParaRPr>
          </a:p>
        </p:txBody>
      </p:sp>
      <p:sp>
        <p:nvSpPr>
          <p:cNvPr id="308"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310"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数据投毒 — 偷偷塞进一份文档，LLM 就会把它当作事实引用。</a:t>
            </a:r>
            <a:endParaRPr lang="en-US" sz="2400" b="0" u="none" strike="noStrike">
              <a:solidFill>
                <a:srgbClr val="FFFFFF"/>
              </a:solidFill>
              <a:effectLst/>
              <a:uFillTx/>
              <a:latin typeface="Arial"/>
            </a:endParaRPr>
          </a:p>
        </p:txBody>
      </p:sp>
      <p:sp>
        <p:nvSpPr>
          <p:cNvPr id="311"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312"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13"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4"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9</a:t>
            </a:r>
            <a:endParaRPr lang="en-US" sz="4400" b="0" u="none" strike="noStrike">
              <a:solidFill>
                <a:srgbClr val="FFFFFF"/>
              </a:solidFill>
              <a:effectLst/>
              <a:uFillTx/>
              <a:latin typeface="Arial"/>
            </a:endParaRPr>
          </a:p>
        </p:txBody>
      </p:sp>
      <p:sp>
        <p:nvSpPr>
          <p:cNvPr id="315"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嵌入式 / 边缘</a:t>
            </a:r>
            <a:endParaRPr lang="en-US" sz="4600" b="0" u="none" strike="noStrike">
              <a:solidFill>
                <a:srgbClr val="FFFFFF"/>
              </a:solidFill>
              <a:effectLst/>
              <a:uFillTx/>
              <a:latin typeface="Arial"/>
            </a:endParaRPr>
          </a:p>
        </p:txBody>
      </p:sp>
      <p:sp>
        <p:nvSpPr>
          <p:cNvPr id="316"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17"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318"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SQLite  •  DuckDB  •  LevelDB</a:t>
            </a:r>
            <a:endParaRPr lang="en-US" sz="2800" b="0" u="none" strike="noStrike">
              <a:solidFill>
                <a:srgbClr val="FFFFFF"/>
              </a:solidFill>
              <a:effectLst/>
              <a:uFillTx/>
              <a:latin typeface="Arial"/>
            </a:endParaRPr>
          </a:p>
        </p:txBody>
      </p:sp>
      <p:sp>
        <p:nvSpPr>
          <p:cNvPr id="319"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320"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应用内存储 — 浏览器、手机、每一架现代飞机。</a:t>
            </a:r>
            <a:endParaRPr lang="en-US" sz="2400" b="0" u="none" strike="noStrike">
              <a:solidFill>
                <a:srgbClr val="FFFFFF"/>
              </a:solidFill>
              <a:effectLst/>
              <a:uFillTx/>
              <a:latin typeface="Arial"/>
            </a:endParaRPr>
          </a:p>
        </p:txBody>
      </p:sp>
      <p:sp>
        <p:nvSpPr>
          <p:cNvPr id="321"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323"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数据库就是一个文件 — 攻击就是“偷走这个文件”。移动渗透测试的世界。</a:t>
            </a:r>
            <a:endParaRPr lang="en-US" sz="2400" b="0" u="none" strike="noStrike">
              <a:solidFill>
                <a:srgbClr val="FFFFFF"/>
              </a:solidFill>
              <a:effectLst/>
              <a:uFillTx/>
              <a:latin typeface="Arial"/>
            </a:endParaRPr>
          </a:p>
        </p:txBody>
      </p:sp>
      <p:sp>
        <p:nvSpPr>
          <p:cNvPr id="324"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325"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26"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10</a:t>
            </a:r>
            <a:endParaRPr lang="en-US" sz="4400" b="0" u="none" strike="noStrike">
              <a:solidFill>
                <a:srgbClr val="FFFFFF"/>
              </a:solidFill>
              <a:effectLst/>
              <a:uFillTx/>
              <a:latin typeface="Arial"/>
            </a:endParaRPr>
          </a:p>
        </p:txBody>
      </p:sp>
      <p:sp>
        <p:nvSpPr>
          <p:cNvPr id="328"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数据湖 / 湖仓</a:t>
            </a:r>
            <a:endParaRPr lang="en-US" sz="4600" b="0" u="none" strike="noStrike">
              <a:solidFill>
                <a:srgbClr val="FFFFFF"/>
              </a:solidFill>
              <a:effectLst/>
              <a:uFillTx/>
              <a:latin typeface="Arial"/>
            </a:endParaRPr>
          </a:p>
        </p:txBody>
      </p:sp>
      <p:sp>
        <p:nvSpPr>
          <p:cNvPr id="329"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30"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产品</a:t>
            </a:r>
            <a:endParaRPr lang="en-US" sz="2000" b="0" u="none" strike="noStrike">
              <a:solidFill>
                <a:srgbClr val="FFFFFF"/>
              </a:solidFill>
              <a:effectLst/>
              <a:uFillTx/>
              <a:latin typeface="Arial"/>
            </a:endParaRPr>
          </a:p>
        </p:txBody>
      </p:sp>
      <p:sp>
        <p:nvSpPr>
          <p:cNvPr id="331"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S3 + Athena  •  Delta Lake  •  Iceberg  •  Snowflake</a:t>
            </a:r>
            <a:endParaRPr lang="en-US" sz="2800" b="0" u="none" strike="noStrike">
              <a:solidFill>
                <a:srgbClr val="FFFFFF"/>
              </a:solidFill>
              <a:effectLst/>
              <a:uFillTx/>
              <a:latin typeface="Arial"/>
            </a:endParaRPr>
          </a:p>
        </p:txBody>
      </p:sp>
      <p:sp>
        <p:nvSpPr>
          <p:cNvPr id="332"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适用场景</a:t>
            </a:r>
            <a:endParaRPr lang="en-US" sz="2000" b="0" u="none" strike="noStrike">
              <a:solidFill>
                <a:srgbClr val="FFFFFF"/>
              </a:solidFill>
              <a:effectLst/>
              <a:uFillTx/>
              <a:latin typeface="Arial"/>
            </a:endParaRPr>
          </a:p>
        </p:txBody>
      </p:sp>
      <p:sp>
        <p:nvSpPr>
          <p:cNvPr id="333"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读时模式而非写时模式。先转储，后查询。</a:t>
            </a:r>
            <a:endParaRPr lang="en-US" sz="2400" b="0" u="none" strike="noStrike">
              <a:solidFill>
                <a:srgbClr val="FFFFFF"/>
              </a:solidFill>
              <a:effectLst/>
              <a:uFillTx/>
              <a:latin typeface="Arial"/>
            </a:endParaRPr>
          </a:p>
        </p:txBody>
      </p:sp>
      <p:sp>
        <p:nvSpPr>
          <p:cNvPr id="334"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安全陷阱</a:t>
            </a:r>
            <a:endParaRPr lang="en-US" sz="2000" b="0" u="none" strike="noStrike">
              <a:solidFill>
                <a:srgbClr val="FFFFFF"/>
              </a:solidFill>
              <a:effectLst/>
              <a:uFillTx/>
              <a:latin typeface="Arial"/>
            </a:endParaRPr>
          </a:p>
        </p:txBody>
      </p:sp>
      <p:sp>
        <p:nvSpPr>
          <p:cNvPr id="336"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巨型 S3 存储池 + 宽松的 IAM，且不强制静态加密。</a:t>
            </a:r>
            <a:endParaRPr lang="en-US" sz="2400" b="0" u="none" strike="noStrike">
              <a:solidFill>
                <a:srgbClr val="FFFFFF"/>
              </a:solidFill>
              <a:effectLst/>
              <a:uFillTx/>
              <a:latin typeface="Arial"/>
            </a:endParaRPr>
          </a:p>
        </p:txBody>
      </p:sp>
      <p:sp>
        <p:nvSpPr>
          <p:cNvPr id="337"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338"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39" name="TextBox 1" descr="Three-column comparison of database services across AWS, GCP, and Azure: relational, document, warehouse, cache, graph, time-series, and object storage." title="Three-column comparison of database services across AWS, GCP, and Azure: relati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云数据库服务 — 全景概览</a:t>
            </a:r>
            <a:endParaRPr lang="en-US" sz="4200" b="0" u="none" strike="noStrike">
              <a:solidFill>
                <a:srgbClr val="FFFFFF"/>
              </a:solidFill>
              <a:effectLst/>
              <a:uFillTx/>
              <a:latin typeface="Arial"/>
            </a:endParaRPr>
          </a:p>
        </p:txBody>
      </p:sp>
      <p:sp>
        <p:nvSpPr>
          <p:cNvPr id="340"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41" name="Rectangle 3"/>
          <p:cNvSpPr/>
          <p:nvPr/>
        </p:nvSpPr>
        <p:spPr>
          <a:xfrm>
            <a:off x="457200" y="1554480"/>
            <a:ext cx="3748680" cy="63972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TextBox 4"/>
          <p:cNvSpPr/>
          <p:nvPr/>
        </p:nvSpPr>
        <p:spPr>
          <a:xfrm>
            <a:off x="45720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AWS</a:t>
            </a:r>
            <a:endParaRPr lang="en-US" sz="3200" b="0" u="none" strike="noStrike">
              <a:solidFill>
                <a:srgbClr val="FFFFFF"/>
              </a:solidFill>
              <a:effectLst/>
              <a:uFillTx/>
              <a:latin typeface="Arial"/>
            </a:endParaRPr>
          </a:p>
        </p:txBody>
      </p:sp>
      <p:sp>
        <p:nvSpPr>
          <p:cNvPr id="343" name="TextBox 5"/>
          <p:cNvSpPr/>
          <p:nvPr/>
        </p:nvSpPr>
        <p:spPr>
          <a:xfrm>
            <a:off x="54864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RDS, Aurora</a:t>
            </a:r>
            <a:endParaRPr lang="en-US" sz="1800" b="0" u="none" strike="noStrike">
              <a:solidFill>
                <a:srgbClr val="FFFFFF"/>
              </a:solidFill>
              <a:effectLst/>
              <a:uFillTx/>
              <a:latin typeface="Arial"/>
            </a:endParaRPr>
          </a:p>
        </p:txBody>
      </p:sp>
      <p:sp>
        <p:nvSpPr>
          <p:cNvPr id="344" name="TextBox 6"/>
          <p:cNvSpPr/>
          <p:nvPr/>
        </p:nvSpPr>
        <p:spPr>
          <a:xfrm>
            <a:off x="54864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DynamoDB, DocumentDB</a:t>
            </a:r>
            <a:endParaRPr lang="en-US" sz="1800" b="0" u="none" strike="noStrike">
              <a:solidFill>
                <a:srgbClr val="FFFFFF"/>
              </a:solidFill>
              <a:effectLst/>
              <a:uFillTx/>
              <a:latin typeface="Arial"/>
            </a:endParaRPr>
          </a:p>
        </p:txBody>
      </p:sp>
      <p:sp>
        <p:nvSpPr>
          <p:cNvPr id="345" name="TextBox 7"/>
          <p:cNvSpPr/>
          <p:nvPr/>
        </p:nvSpPr>
        <p:spPr>
          <a:xfrm>
            <a:off x="54864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Redshift, S3 + Athena</a:t>
            </a:r>
            <a:endParaRPr lang="en-US" sz="1800" b="0" u="none" strike="noStrike">
              <a:solidFill>
                <a:srgbClr val="FFFFFF"/>
              </a:solidFill>
              <a:effectLst/>
              <a:uFillTx/>
              <a:latin typeface="Arial"/>
            </a:endParaRPr>
          </a:p>
        </p:txBody>
      </p:sp>
      <p:sp>
        <p:nvSpPr>
          <p:cNvPr id="346" name="TextBox 8"/>
          <p:cNvSpPr/>
          <p:nvPr/>
        </p:nvSpPr>
        <p:spPr>
          <a:xfrm>
            <a:off x="54864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ElastiCache</a:t>
            </a:r>
            <a:endParaRPr lang="en-US" sz="1800" b="0" u="none" strike="noStrike">
              <a:solidFill>
                <a:srgbClr val="FFFFFF"/>
              </a:solidFill>
              <a:effectLst/>
              <a:uFillTx/>
              <a:latin typeface="Arial"/>
            </a:endParaRPr>
          </a:p>
        </p:txBody>
      </p:sp>
      <p:sp>
        <p:nvSpPr>
          <p:cNvPr id="347" name="TextBox 9"/>
          <p:cNvSpPr/>
          <p:nvPr/>
        </p:nvSpPr>
        <p:spPr>
          <a:xfrm>
            <a:off x="54864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Neptune（图）</a:t>
            </a:r>
            <a:endParaRPr lang="en-US" sz="1800" b="0" u="none" strike="noStrike">
              <a:solidFill>
                <a:srgbClr val="FFFFFF"/>
              </a:solidFill>
              <a:effectLst/>
              <a:uFillTx/>
              <a:latin typeface="Arial"/>
            </a:endParaRPr>
          </a:p>
        </p:txBody>
      </p:sp>
      <p:sp>
        <p:nvSpPr>
          <p:cNvPr id="348" name="TextBox 10"/>
          <p:cNvSpPr/>
          <p:nvPr/>
        </p:nvSpPr>
        <p:spPr>
          <a:xfrm>
            <a:off x="54864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Timestream</a:t>
            </a:r>
            <a:endParaRPr lang="en-US" sz="1800" b="0" u="none" strike="noStrike">
              <a:solidFill>
                <a:srgbClr val="FFFFFF"/>
              </a:solidFill>
              <a:effectLst/>
              <a:uFillTx/>
              <a:latin typeface="Arial"/>
            </a:endParaRPr>
          </a:p>
        </p:txBody>
      </p:sp>
      <p:sp>
        <p:nvSpPr>
          <p:cNvPr id="349" name="TextBox 11"/>
          <p:cNvSpPr/>
          <p:nvPr/>
        </p:nvSpPr>
        <p:spPr>
          <a:xfrm>
            <a:off x="54864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S3（对象存储）</a:t>
            </a:r>
            <a:endParaRPr lang="en-US" sz="1800" b="0" u="none" strike="noStrike">
              <a:solidFill>
                <a:srgbClr val="FFFFFF"/>
              </a:solidFill>
              <a:effectLst/>
              <a:uFillTx/>
              <a:latin typeface="Arial"/>
            </a:endParaRPr>
          </a:p>
        </p:txBody>
      </p:sp>
      <p:sp>
        <p:nvSpPr>
          <p:cNvPr id="350" name="Rectangle 12"/>
          <p:cNvSpPr/>
          <p:nvPr/>
        </p:nvSpPr>
        <p:spPr>
          <a:xfrm>
            <a:off x="4297680" y="1554480"/>
            <a:ext cx="3748680" cy="639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3"/>
          <p:cNvSpPr/>
          <p:nvPr/>
        </p:nvSpPr>
        <p:spPr>
          <a:xfrm>
            <a:off x="429768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GCP</a:t>
            </a:r>
            <a:endParaRPr lang="en-US" sz="3200" b="0" u="none" strike="noStrike">
              <a:solidFill>
                <a:srgbClr val="FFFFFF"/>
              </a:solidFill>
              <a:effectLst/>
              <a:uFillTx/>
              <a:latin typeface="Arial"/>
            </a:endParaRPr>
          </a:p>
        </p:txBody>
      </p:sp>
      <p:sp>
        <p:nvSpPr>
          <p:cNvPr id="352" name="TextBox 14"/>
          <p:cNvSpPr/>
          <p:nvPr/>
        </p:nvSpPr>
        <p:spPr>
          <a:xfrm>
            <a:off x="438912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SQL, AlloyDB</a:t>
            </a:r>
            <a:endParaRPr lang="en-US" sz="1800" b="0" u="none" strike="noStrike">
              <a:solidFill>
                <a:srgbClr val="FFFFFF"/>
              </a:solidFill>
              <a:effectLst/>
              <a:uFillTx/>
              <a:latin typeface="Arial"/>
            </a:endParaRPr>
          </a:p>
        </p:txBody>
      </p:sp>
      <p:sp>
        <p:nvSpPr>
          <p:cNvPr id="353" name="TextBox 15"/>
          <p:cNvSpPr/>
          <p:nvPr/>
        </p:nvSpPr>
        <p:spPr>
          <a:xfrm>
            <a:off x="438912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Firestore, Bigtable</a:t>
            </a:r>
            <a:endParaRPr lang="en-US" sz="1800" b="0" u="none" strike="noStrike">
              <a:solidFill>
                <a:srgbClr val="FFFFFF"/>
              </a:solidFill>
              <a:effectLst/>
              <a:uFillTx/>
              <a:latin typeface="Arial"/>
            </a:endParaRPr>
          </a:p>
        </p:txBody>
      </p:sp>
      <p:sp>
        <p:nvSpPr>
          <p:cNvPr id="354" name="TextBox 16"/>
          <p:cNvSpPr/>
          <p:nvPr/>
        </p:nvSpPr>
        <p:spPr>
          <a:xfrm>
            <a:off x="438912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BigQuery</a:t>
            </a:r>
            <a:endParaRPr lang="en-US" sz="1800" b="0" u="none" strike="noStrike">
              <a:solidFill>
                <a:srgbClr val="FFFFFF"/>
              </a:solidFill>
              <a:effectLst/>
              <a:uFillTx/>
              <a:latin typeface="Arial"/>
            </a:endParaRPr>
          </a:p>
        </p:txBody>
      </p:sp>
      <p:sp>
        <p:nvSpPr>
          <p:cNvPr id="355" name="TextBox 17"/>
          <p:cNvSpPr/>
          <p:nvPr/>
        </p:nvSpPr>
        <p:spPr>
          <a:xfrm>
            <a:off x="438912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Memorystore</a:t>
            </a:r>
            <a:endParaRPr lang="en-US" sz="1800" b="0" u="none" strike="noStrike">
              <a:solidFill>
                <a:srgbClr val="FFFFFF"/>
              </a:solidFill>
              <a:effectLst/>
              <a:uFillTx/>
              <a:latin typeface="Arial"/>
            </a:endParaRPr>
          </a:p>
        </p:txBody>
      </p:sp>
      <p:sp>
        <p:nvSpPr>
          <p:cNvPr id="356" name="TextBox 18"/>
          <p:cNvSpPr/>
          <p:nvPr/>
        </p:nvSpPr>
        <p:spPr>
          <a:xfrm>
            <a:off x="438912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—（即将推出）</a:t>
            </a:r>
            <a:endParaRPr lang="en-US" sz="1800" b="0" u="none" strike="noStrike">
              <a:solidFill>
                <a:srgbClr val="FFFFFF"/>
              </a:solidFill>
              <a:effectLst/>
              <a:uFillTx/>
              <a:latin typeface="Arial"/>
            </a:endParaRPr>
          </a:p>
        </p:txBody>
      </p:sp>
      <p:sp>
        <p:nvSpPr>
          <p:cNvPr id="357" name="TextBox 19"/>
          <p:cNvSpPr/>
          <p:nvPr/>
        </p:nvSpPr>
        <p:spPr>
          <a:xfrm>
            <a:off x="438912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—（自带）</a:t>
            </a:r>
            <a:endParaRPr lang="en-US" sz="1800" b="0" u="none" strike="noStrike">
              <a:solidFill>
                <a:srgbClr val="FFFFFF"/>
              </a:solidFill>
              <a:effectLst/>
              <a:uFillTx/>
              <a:latin typeface="Arial"/>
            </a:endParaRPr>
          </a:p>
        </p:txBody>
      </p:sp>
      <p:sp>
        <p:nvSpPr>
          <p:cNvPr id="358" name="TextBox 20"/>
          <p:cNvSpPr/>
          <p:nvPr/>
        </p:nvSpPr>
        <p:spPr>
          <a:xfrm>
            <a:off x="438912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Storage</a:t>
            </a:r>
            <a:endParaRPr lang="en-US" sz="1800" b="0" u="none" strike="noStrike">
              <a:solidFill>
                <a:srgbClr val="FFFFFF"/>
              </a:solidFill>
              <a:effectLst/>
              <a:uFillTx/>
              <a:latin typeface="Arial"/>
            </a:endParaRPr>
          </a:p>
        </p:txBody>
      </p:sp>
      <p:sp>
        <p:nvSpPr>
          <p:cNvPr id="359" name="Rectangle 21"/>
          <p:cNvSpPr/>
          <p:nvPr/>
        </p:nvSpPr>
        <p:spPr>
          <a:xfrm>
            <a:off x="8138160" y="1554480"/>
            <a:ext cx="3748680" cy="63972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2"/>
          <p:cNvSpPr/>
          <p:nvPr/>
        </p:nvSpPr>
        <p:spPr>
          <a:xfrm>
            <a:off x="813816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Azure</a:t>
            </a:r>
            <a:endParaRPr lang="en-US" sz="3200" b="0" u="none" strike="noStrike">
              <a:solidFill>
                <a:srgbClr val="FFFFFF"/>
              </a:solidFill>
              <a:effectLst/>
              <a:uFillTx/>
              <a:latin typeface="Arial"/>
            </a:endParaRPr>
          </a:p>
        </p:txBody>
      </p:sp>
      <p:sp>
        <p:nvSpPr>
          <p:cNvPr id="361" name="TextBox 23"/>
          <p:cNvSpPr/>
          <p:nvPr/>
        </p:nvSpPr>
        <p:spPr>
          <a:xfrm>
            <a:off x="822960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SQL DB</a:t>
            </a:r>
            <a:endParaRPr lang="en-US" sz="1800" b="0" u="none" strike="noStrike">
              <a:solidFill>
                <a:srgbClr val="FFFFFF"/>
              </a:solidFill>
              <a:effectLst/>
              <a:uFillTx/>
              <a:latin typeface="Arial"/>
            </a:endParaRPr>
          </a:p>
        </p:txBody>
      </p:sp>
      <p:sp>
        <p:nvSpPr>
          <p:cNvPr id="362" name="TextBox 24"/>
          <p:cNvSpPr/>
          <p:nvPr/>
        </p:nvSpPr>
        <p:spPr>
          <a:xfrm>
            <a:off x="822960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DB（多形态）</a:t>
            </a:r>
            <a:endParaRPr lang="en-US" sz="1800" b="0" u="none" strike="noStrike">
              <a:solidFill>
                <a:srgbClr val="FFFFFF"/>
              </a:solidFill>
              <a:effectLst/>
              <a:uFillTx/>
              <a:latin typeface="Arial"/>
            </a:endParaRPr>
          </a:p>
        </p:txBody>
      </p:sp>
      <p:sp>
        <p:nvSpPr>
          <p:cNvPr id="363" name="TextBox 25"/>
          <p:cNvSpPr/>
          <p:nvPr/>
        </p:nvSpPr>
        <p:spPr>
          <a:xfrm>
            <a:off x="822960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Synapse Analytics</a:t>
            </a:r>
            <a:endParaRPr lang="en-US" sz="1800" b="0" u="none" strike="noStrike">
              <a:solidFill>
                <a:srgbClr val="FFFFFF"/>
              </a:solidFill>
              <a:effectLst/>
              <a:uFillTx/>
              <a:latin typeface="Arial"/>
            </a:endParaRPr>
          </a:p>
        </p:txBody>
      </p:sp>
      <p:sp>
        <p:nvSpPr>
          <p:cNvPr id="364" name="TextBox 26"/>
          <p:cNvSpPr/>
          <p:nvPr/>
        </p:nvSpPr>
        <p:spPr>
          <a:xfrm>
            <a:off x="822960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Cache for Redis</a:t>
            </a:r>
            <a:endParaRPr lang="en-US" sz="1800" b="0" u="none" strike="noStrike">
              <a:solidFill>
                <a:srgbClr val="FFFFFF"/>
              </a:solidFill>
              <a:effectLst/>
              <a:uFillTx/>
              <a:latin typeface="Arial"/>
            </a:endParaRPr>
          </a:p>
        </p:txBody>
      </p:sp>
      <p:sp>
        <p:nvSpPr>
          <p:cNvPr id="365" name="TextBox 27"/>
          <p:cNvSpPr/>
          <p:nvPr/>
        </p:nvSpPr>
        <p:spPr>
          <a:xfrm>
            <a:off x="822960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图模式</a:t>
            </a:r>
            <a:endParaRPr lang="en-US" sz="1800" b="0" u="none" strike="noStrike">
              <a:solidFill>
                <a:srgbClr val="FFFFFF"/>
              </a:solidFill>
              <a:effectLst/>
              <a:uFillTx/>
              <a:latin typeface="Arial"/>
            </a:endParaRPr>
          </a:p>
        </p:txBody>
      </p:sp>
      <p:sp>
        <p:nvSpPr>
          <p:cNvPr id="366" name="TextBox 28"/>
          <p:cNvSpPr/>
          <p:nvPr/>
        </p:nvSpPr>
        <p:spPr>
          <a:xfrm>
            <a:off x="822960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—（自带）</a:t>
            </a:r>
            <a:endParaRPr lang="en-US" sz="1800" b="0" u="none" strike="noStrike">
              <a:solidFill>
                <a:srgbClr val="FFFFFF"/>
              </a:solidFill>
              <a:effectLst/>
              <a:uFillTx/>
              <a:latin typeface="Arial"/>
            </a:endParaRPr>
          </a:p>
        </p:txBody>
      </p:sp>
      <p:sp>
        <p:nvSpPr>
          <p:cNvPr id="367" name="TextBox 29"/>
          <p:cNvSpPr/>
          <p:nvPr/>
        </p:nvSpPr>
        <p:spPr>
          <a:xfrm>
            <a:off x="822960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Blob Storage</a:t>
            </a:r>
            <a:endParaRPr lang="en-US" sz="1800" b="0" u="none" strike="noStrike">
              <a:solidFill>
                <a:srgbClr val="FFFFFF"/>
              </a:solidFill>
              <a:effectLst/>
              <a:uFillTx/>
              <a:latin typeface="Arial"/>
            </a:endParaRPr>
          </a:p>
        </p:txBody>
      </p:sp>
      <p:sp>
        <p:nvSpPr>
          <p:cNvPr id="368" name="TextBox 3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369" name="TextBox 3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70" name="TextBox 1" descr="Cheat-sheet table comparing AWS, GCP, and Azure services across eight database categories." title="Cheat-sheet table comparing AWS, GCP, and Azure services across eight database c"/>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云数据库速查表</a:t>
            </a:r>
            <a:endParaRPr lang="en-US" sz="3800" b="0" u="none" strike="noStrike">
              <a:solidFill>
                <a:srgbClr val="FFFFFF"/>
              </a:solidFill>
              <a:effectLst/>
              <a:uFillTx/>
              <a:latin typeface="Arial"/>
            </a:endParaRPr>
          </a:p>
        </p:txBody>
      </p:sp>
      <p:sp>
        <p:nvSpPr>
          <p:cNvPr id="37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72" name="Rectangle 3"/>
          <p:cNvSpPr/>
          <p:nvPr/>
        </p:nvSpPr>
        <p:spPr>
          <a:xfrm>
            <a:off x="457200" y="1600200"/>
            <a:ext cx="11246760" cy="5025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4"/>
          <p:cNvSpPr/>
          <p:nvPr/>
        </p:nvSpPr>
        <p:spPr>
          <a:xfrm>
            <a:off x="548640" y="16459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类别</a:t>
            </a:r>
            <a:endParaRPr lang="en-US" sz="2000" b="0" u="none" strike="noStrike">
              <a:solidFill>
                <a:srgbClr val="FFFFFF"/>
              </a:solidFill>
              <a:effectLst/>
              <a:uFillTx/>
              <a:latin typeface="Arial"/>
            </a:endParaRPr>
          </a:p>
        </p:txBody>
      </p:sp>
      <p:sp>
        <p:nvSpPr>
          <p:cNvPr id="374" name="TextBox 5"/>
          <p:cNvSpPr/>
          <p:nvPr/>
        </p:nvSpPr>
        <p:spPr>
          <a:xfrm>
            <a:off x="329184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AWS</a:t>
            </a:r>
            <a:endParaRPr lang="en-US" sz="2000" b="0" u="none" strike="noStrike">
              <a:solidFill>
                <a:srgbClr val="FFFFFF"/>
              </a:solidFill>
              <a:effectLst/>
              <a:uFillTx/>
              <a:latin typeface="Arial"/>
            </a:endParaRPr>
          </a:p>
        </p:txBody>
      </p:sp>
      <p:sp>
        <p:nvSpPr>
          <p:cNvPr id="375" name="TextBox 6"/>
          <p:cNvSpPr/>
          <p:nvPr/>
        </p:nvSpPr>
        <p:spPr>
          <a:xfrm>
            <a:off x="594360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GCP</a:t>
            </a:r>
            <a:endParaRPr lang="en-US" sz="2000" b="0" u="none" strike="noStrike">
              <a:solidFill>
                <a:srgbClr val="FFFFFF"/>
              </a:solidFill>
              <a:effectLst/>
              <a:uFillTx/>
              <a:latin typeface="Arial"/>
            </a:endParaRPr>
          </a:p>
        </p:txBody>
      </p:sp>
      <p:sp>
        <p:nvSpPr>
          <p:cNvPr id="376" name="TextBox 7"/>
          <p:cNvSpPr/>
          <p:nvPr/>
        </p:nvSpPr>
        <p:spPr>
          <a:xfrm>
            <a:off x="8595360" y="16459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AZURE</a:t>
            </a:r>
            <a:endParaRPr lang="en-US" sz="2000" b="0" u="none" strike="noStrike">
              <a:solidFill>
                <a:srgbClr val="FFFFFF"/>
              </a:solidFill>
              <a:effectLst/>
              <a:uFillTx/>
              <a:latin typeface="Arial"/>
            </a:endParaRPr>
          </a:p>
        </p:txBody>
      </p:sp>
      <p:sp>
        <p:nvSpPr>
          <p:cNvPr id="377" name="TextBox 8"/>
          <p:cNvSpPr/>
          <p:nvPr/>
        </p:nvSpPr>
        <p:spPr>
          <a:xfrm>
            <a:off x="548640" y="21488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关系型</a:t>
            </a:r>
            <a:endParaRPr lang="en-US" sz="2000" b="0" u="none" strike="noStrike">
              <a:solidFill>
                <a:srgbClr val="FFFFFF"/>
              </a:solidFill>
              <a:effectLst/>
              <a:uFillTx/>
              <a:latin typeface="Arial"/>
            </a:endParaRPr>
          </a:p>
        </p:txBody>
      </p:sp>
      <p:sp>
        <p:nvSpPr>
          <p:cNvPr id="378" name="TextBox 9"/>
          <p:cNvSpPr/>
          <p:nvPr/>
        </p:nvSpPr>
        <p:spPr>
          <a:xfrm>
            <a:off x="329184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RDS / Aurora</a:t>
            </a:r>
            <a:endParaRPr lang="en-US" sz="2000" b="0" u="none" strike="noStrike">
              <a:solidFill>
                <a:srgbClr val="FFFFFF"/>
              </a:solidFill>
              <a:effectLst/>
              <a:uFillTx/>
              <a:latin typeface="Arial"/>
            </a:endParaRPr>
          </a:p>
        </p:txBody>
      </p:sp>
      <p:sp>
        <p:nvSpPr>
          <p:cNvPr id="379" name="TextBox 10"/>
          <p:cNvSpPr/>
          <p:nvPr/>
        </p:nvSpPr>
        <p:spPr>
          <a:xfrm>
            <a:off x="594360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SQL / AlloyDB</a:t>
            </a:r>
            <a:endParaRPr lang="en-US" sz="2000" b="0" u="none" strike="noStrike">
              <a:solidFill>
                <a:srgbClr val="FFFFFF"/>
              </a:solidFill>
              <a:effectLst/>
              <a:uFillTx/>
              <a:latin typeface="Arial"/>
            </a:endParaRPr>
          </a:p>
        </p:txBody>
      </p:sp>
      <p:sp>
        <p:nvSpPr>
          <p:cNvPr id="380" name="TextBox 11"/>
          <p:cNvSpPr/>
          <p:nvPr/>
        </p:nvSpPr>
        <p:spPr>
          <a:xfrm>
            <a:off x="8595360" y="21488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Azure SQL DB</a:t>
            </a:r>
            <a:endParaRPr lang="en-US" sz="2000" b="0" u="none" strike="noStrike">
              <a:solidFill>
                <a:srgbClr val="FFFFFF"/>
              </a:solidFill>
              <a:effectLst/>
              <a:uFillTx/>
              <a:latin typeface="Arial"/>
            </a:endParaRPr>
          </a:p>
        </p:txBody>
      </p:sp>
      <p:sp>
        <p:nvSpPr>
          <p:cNvPr id="381" name="Rectangle 12"/>
          <p:cNvSpPr/>
          <p:nvPr/>
        </p:nvSpPr>
        <p:spPr>
          <a:xfrm>
            <a:off x="457200" y="260604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2" name="TextBox 13"/>
          <p:cNvSpPr/>
          <p:nvPr/>
        </p:nvSpPr>
        <p:spPr>
          <a:xfrm>
            <a:off x="548640" y="26517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文档型/NoSQL</a:t>
            </a:r>
            <a:endParaRPr lang="en-US" sz="2000" b="0" u="none" strike="noStrike">
              <a:solidFill>
                <a:srgbClr val="FFFFFF"/>
              </a:solidFill>
              <a:effectLst/>
              <a:uFillTx/>
              <a:latin typeface="Arial"/>
            </a:endParaRPr>
          </a:p>
        </p:txBody>
      </p:sp>
      <p:sp>
        <p:nvSpPr>
          <p:cNvPr id="383" name="TextBox 14"/>
          <p:cNvSpPr/>
          <p:nvPr/>
        </p:nvSpPr>
        <p:spPr>
          <a:xfrm>
            <a:off x="329184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DynamoDB / DocDB</a:t>
            </a:r>
            <a:endParaRPr lang="en-US" sz="2000" b="0" u="none" strike="noStrike">
              <a:solidFill>
                <a:srgbClr val="FFFFFF"/>
              </a:solidFill>
              <a:effectLst/>
              <a:uFillTx/>
              <a:latin typeface="Arial"/>
            </a:endParaRPr>
          </a:p>
        </p:txBody>
      </p:sp>
      <p:sp>
        <p:nvSpPr>
          <p:cNvPr id="384" name="TextBox 15"/>
          <p:cNvSpPr/>
          <p:nvPr/>
        </p:nvSpPr>
        <p:spPr>
          <a:xfrm>
            <a:off x="594360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Firestore / Bigtable</a:t>
            </a:r>
            <a:endParaRPr lang="en-US" sz="2000" b="0" u="none" strike="noStrike">
              <a:solidFill>
                <a:srgbClr val="FFFFFF"/>
              </a:solidFill>
              <a:effectLst/>
              <a:uFillTx/>
              <a:latin typeface="Arial"/>
            </a:endParaRPr>
          </a:p>
        </p:txBody>
      </p:sp>
      <p:sp>
        <p:nvSpPr>
          <p:cNvPr id="385" name="TextBox 16"/>
          <p:cNvSpPr/>
          <p:nvPr/>
        </p:nvSpPr>
        <p:spPr>
          <a:xfrm>
            <a:off x="8595360" y="26517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a:t>
            </a:r>
            <a:endParaRPr lang="en-US" sz="2000" b="0" u="none" strike="noStrike">
              <a:solidFill>
                <a:srgbClr val="FFFFFF"/>
              </a:solidFill>
              <a:effectLst/>
              <a:uFillTx/>
              <a:latin typeface="Arial"/>
            </a:endParaRPr>
          </a:p>
        </p:txBody>
      </p:sp>
      <p:sp>
        <p:nvSpPr>
          <p:cNvPr id="386" name="TextBox 17"/>
          <p:cNvSpPr/>
          <p:nvPr/>
        </p:nvSpPr>
        <p:spPr>
          <a:xfrm>
            <a:off x="548640" y="315468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数据仓库</a:t>
            </a:r>
            <a:endParaRPr lang="en-US" sz="2000" b="0" u="none" strike="noStrike">
              <a:solidFill>
                <a:srgbClr val="FFFFFF"/>
              </a:solidFill>
              <a:effectLst/>
              <a:uFillTx/>
              <a:latin typeface="Arial"/>
            </a:endParaRPr>
          </a:p>
        </p:txBody>
      </p:sp>
      <p:sp>
        <p:nvSpPr>
          <p:cNvPr id="387" name="TextBox 18"/>
          <p:cNvSpPr/>
          <p:nvPr/>
        </p:nvSpPr>
        <p:spPr>
          <a:xfrm>
            <a:off x="329184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Redshift / Athena</a:t>
            </a:r>
            <a:endParaRPr lang="en-US" sz="2000" b="0" u="none" strike="noStrike">
              <a:solidFill>
                <a:srgbClr val="FFFFFF"/>
              </a:solidFill>
              <a:effectLst/>
              <a:uFillTx/>
              <a:latin typeface="Arial"/>
            </a:endParaRPr>
          </a:p>
        </p:txBody>
      </p:sp>
      <p:sp>
        <p:nvSpPr>
          <p:cNvPr id="388" name="TextBox 19"/>
          <p:cNvSpPr/>
          <p:nvPr/>
        </p:nvSpPr>
        <p:spPr>
          <a:xfrm>
            <a:off x="594360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BigQuery</a:t>
            </a:r>
            <a:endParaRPr lang="en-US" sz="2000" b="0" u="none" strike="noStrike">
              <a:solidFill>
                <a:srgbClr val="FFFFFF"/>
              </a:solidFill>
              <a:effectLst/>
              <a:uFillTx/>
              <a:latin typeface="Arial"/>
            </a:endParaRPr>
          </a:p>
        </p:txBody>
      </p:sp>
      <p:sp>
        <p:nvSpPr>
          <p:cNvPr id="389" name="TextBox 20"/>
          <p:cNvSpPr/>
          <p:nvPr/>
        </p:nvSpPr>
        <p:spPr>
          <a:xfrm>
            <a:off x="8595360" y="315468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Synapse</a:t>
            </a:r>
            <a:endParaRPr lang="en-US" sz="2000" b="0" u="none" strike="noStrike">
              <a:solidFill>
                <a:srgbClr val="FFFFFF"/>
              </a:solidFill>
              <a:effectLst/>
              <a:uFillTx/>
              <a:latin typeface="Arial"/>
            </a:endParaRPr>
          </a:p>
        </p:txBody>
      </p:sp>
      <p:sp>
        <p:nvSpPr>
          <p:cNvPr id="390" name="Rectangle 21"/>
          <p:cNvSpPr/>
          <p:nvPr/>
        </p:nvSpPr>
        <p:spPr>
          <a:xfrm>
            <a:off x="457200" y="361188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22"/>
          <p:cNvSpPr/>
          <p:nvPr/>
        </p:nvSpPr>
        <p:spPr>
          <a:xfrm>
            <a:off x="548640" y="365760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缓存</a:t>
            </a:r>
            <a:endParaRPr lang="en-US" sz="2000" b="0" u="none" strike="noStrike">
              <a:solidFill>
                <a:srgbClr val="FFFFFF"/>
              </a:solidFill>
              <a:effectLst/>
              <a:uFillTx/>
              <a:latin typeface="Arial"/>
            </a:endParaRPr>
          </a:p>
        </p:txBody>
      </p:sp>
      <p:sp>
        <p:nvSpPr>
          <p:cNvPr id="392" name="TextBox 23"/>
          <p:cNvSpPr/>
          <p:nvPr/>
        </p:nvSpPr>
        <p:spPr>
          <a:xfrm>
            <a:off x="329184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ElastiCache</a:t>
            </a:r>
            <a:endParaRPr lang="en-US" sz="2000" b="0" u="none" strike="noStrike">
              <a:solidFill>
                <a:srgbClr val="FFFFFF"/>
              </a:solidFill>
              <a:effectLst/>
              <a:uFillTx/>
              <a:latin typeface="Arial"/>
            </a:endParaRPr>
          </a:p>
        </p:txBody>
      </p:sp>
      <p:sp>
        <p:nvSpPr>
          <p:cNvPr id="393" name="TextBox 24"/>
          <p:cNvSpPr/>
          <p:nvPr/>
        </p:nvSpPr>
        <p:spPr>
          <a:xfrm>
            <a:off x="594360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Memorystore</a:t>
            </a:r>
            <a:endParaRPr lang="en-US" sz="2000" b="0" u="none" strike="noStrike">
              <a:solidFill>
                <a:srgbClr val="FFFFFF"/>
              </a:solidFill>
              <a:effectLst/>
              <a:uFillTx/>
              <a:latin typeface="Arial"/>
            </a:endParaRPr>
          </a:p>
        </p:txBody>
      </p:sp>
      <p:sp>
        <p:nvSpPr>
          <p:cNvPr id="394" name="TextBox 25"/>
          <p:cNvSpPr/>
          <p:nvPr/>
        </p:nvSpPr>
        <p:spPr>
          <a:xfrm>
            <a:off x="8595360" y="365760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Cache for Redis</a:t>
            </a:r>
            <a:endParaRPr lang="en-US" sz="2000" b="0" u="none" strike="noStrike">
              <a:solidFill>
                <a:srgbClr val="FFFFFF"/>
              </a:solidFill>
              <a:effectLst/>
              <a:uFillTx/>
              <a:latin typeface="Arial"/>
            </a:endParaRPr>
          </a:p>
        </p:txBody>
      </p:sp>
      <p:sp>
        <p:nvSpPr>
          <p:cNvPr id="395" name="TextBox 26"/>
          <p:cNvSpPr/>
          <p:nvPr/>
        </p:nvSpPr>
        <p:spPr>
          <a:xfrm>
            <a:off x="548640" y="41605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图型</a:t>
            </a:r>
            <a:endParaRPr lang="en-US" sz="2000" b="0" u="none" strike="noStrike">
              <a:solidFill>
                <a:srgbClr val="FFFFFF"/>
              </a:solidFill>
              <a:effectLst/>
              <a:uFillTx/>
              <a:latin typeface="Arial"/>
            </a:endParaRPr>
          </a:p>
        </p:txBody>
      </p:sp>
      <p:sp>
        <p:nvSpPr>
          <p:cNvPr id="396" name="TextBox 27"/>
          <p:cNvSpPr/>
          <p:nvPr/>
        </p:nvSpPr>
        <p:spPr>
          <a:xfrm>
            <a:off x="329184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Neptune</a:t>
            </a:r>
            <a:endParaRPr lang="en-US" sz="2000" b="0" u="none" strike="noStrike">
              <a:solidFill>
                <a:srgbClr val="FFFFFF"/>
              </a:solidFill>
              <a:effectLst/>
              <a:uFillTx/>
              <a:latin typeface="Arial"/>
            </a:endParaRPr>
          </a:p>
        </p:txBody>
      </p:sp>
      <p:sp>
        <p:nvSpPr>
          <p:cNvPr id="397" name="TextBox 28"/>
          <p:cNvSpPr/>
          <p:nvPr/>
        </p:nvSpPr>
        <p:spPr>
          <a:xfrm>
            <a:off x="594360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398" name="TextBox 29"/>
          <p:cNvSpPr/>
          <p:nvPr/>
        </p:nvSpPr>
        <p:spPr>
          <a:xfrm>
            <a:off x="8595360" y="41605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 图</a:t>
            </a:r>
            <a:endParaRPr lang="en-US" sz="2000" b="0" u="none" strike="noStrike">
              <a:solidFill>
                <a:srgbClr val="FFFFFF"/>
              </a:solidFill>
              <a:effectLst/>
              <a:uFillTx/>
              <a:latin typeface="Arial"/>
            </a:endParaRPr>
          </a:p>
        </p:txBody>
      </p:sp>
      <p:sp>
        <p:nvSpPr>
          <p:cNvPr id="399" name="Rectangle 30"/>
          <p:cNvSpPr/>
          <p:nvPr/>
        </p:nvSpPr>
        <p:spPr>
          <a:xfrm>
            <a:off x="457200" y="461772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0" name="TextBox 31"/>
          <p:cNvSpPr/>
          <p:nvPr/>
        </p:nvSpPr>
        <p:spPr>
          <a:xfrm>
            <a:off x="548640" y="46634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时序型</a:t>
            </a:r>
            <a:endParaRPr lang="en-US" sz="2000" b="0" u="none" strike="noStrike">
              <a:solidFill>
                <a:srgbClr val="FFFFFF"/>
              </a:solidFill>
              <a:effectLst/>
              <a:uFillTx/>
              <a:latin typeface="Arial"/>
            </a:endParaRPr>
          </a:p>
        </p:txBody>
      </p:sp>
      <p:sp>
        <p:nvSpPr>
          <p:cNvPr id="401" name="TextBox 32"/>
          <p:cNvSpPr/>
          <p:nvPr/>
        </p:nvSpPr>
        <p:spPr>
          <a:xfrm>
            <a:off x="329184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Timestream</a:t>
            </a:r>
            <a:endParaRPr lang="en-US" sz="2000" b="0" u="none" strike="noStrike">
              <a:solidFill>
                <a:srgbClr val="FFFFFF"/>
              </a:solidFill>
              <a:effectLst/>
              <a:uFillTx/>
              <a:latin typeface="Arial"/>
            </a:endParaRPr>
          </a:p>
        </p:txBody>
      </p:sp>
      <p:sp>
        <p:nvSpPr>
          <p:cNvPr id="402" name="TextBox 33"/>
          <p:cNvSpPr/>
          <p:nvPr/>
        </p:nvSpPr>
        <p:spPr>
          <a:xfrm>
            <a:off x="594360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3" name="TextBox 34"/>
          <p:cNvSpPr/>
          <p:nvPr/>
        </p:nvSpPr>
        <p:spPr>
          <a:xfrm>
            <a:off x="8595360" y="46634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4" name="TextBox 35"/>
          <p:cNvSpPr/>
          <p:nvPr/>
        </p:nvSpPr>
        <p:spPr>
          <a:xfrm>
            <a:off x="548640" y="51663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对象存储</a:t>
            </a:r>
            <a:endParaRPr lang="en-US" sz="2000" b="0" u="none" strike="noStrike">
              <a:solidFill>
                <a:srgbClr val="FFFFFF"/>
              </a:solidFill>
              <a:effectLst/>
              <a:uFillTx/>
              <a:latin typeface="Arial"/>
            </a:endParaRPr>
          </a:p>
        </p:txBody>
      </p:sp>
      <p:sp>
        <p:nvSpPr>
          <p:cNvPr id="405" name="TextBox 36"/>
          <p:cNvSpPr/>
          <p:nvPr/>
        </p:nvSpPr>
        <p:spPr>
          <a:xfrm>
            <a:off x="329184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S3</a:t>
            </a:r>
            <a:endParaRPr lang="en-US" sz="2000" b="0" u="none" strike="noStrike">
              <a:solidFill>
                <a:srgbClr val="FFFFFF"/>
              </a:solidFill>
              <a:effectLst/>
              <a:uFillTx/>
              <a:latin typeface="Arial"/>
            </a:endParaRPr>
          </a:p>
        </p:txBody>
      </p:sp>
      <p:sp>
        <p:nvSpPr>
          <p:cNvPr id="406" name="TextBox 37"/>
          <p:cNvSpPr/>
          <p:nvPr/>
        </p:nvSpPr>
        <p:spPr>
          <a:xfrm>
            <a:off x="594360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Storage</a:t>
            </a:r>
            <a:endParaRPr lang="en-US" sz="2000" b="0" u="none" strike="noStrike">
              <a:solidFill>
                <a:srgbClr val="FFFFFF"/>
              </a:solidFill>
              <a:effectLst/>
              <a:uFillTx/>
              <a:latin typeface="Arial"/>
            </a:endParaRPr>
          </a:p>
        </p:txBody>
      </p:sp>
      <p:sp>
        <p:nvSpPr>
          <p:cNvPr id="407" name="TextBox 38"/>
          <p:cNvSpPr/>
          <p:nvPr/>
        </p:nvSpPr>
        <p:spPr>
          <a:xfrm>
            <a:off x="8595360" y="51663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Blob Storage</a:t>
            </a:r>
            <a:endParaRPr lang="en-US" sz="2000" b="0" u="none" strike="noStrike">
              <a:solidFill>
                <a:srgbClr val="FFFFFF"/>
              </a:solidFill>
              <a:effectLst/>
              <a:uFillTx/>
              <a:latin typeface="Arial"/>
            </a:endParaRPr>
          </a:p>
        </p:txBody>
      </p:sp>
      <p:sp>
        <p:nvSpPr>
          <p:cNvPr id="408"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09"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10" name="TextBox 1" descr="Two-column diagram contrasting what the cloud vendor owns (hypervisor, engine, hardware) versus what the customer owns (config, IAM, data, encryption)." title="Two-column diagram contrasting what the cloud vendor owns (hypervisor, engine, 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责任共担模型</a:t>
            </a:r>
            <a:endParaRPr lang="en-US" sz="4200" b="0" u="none" strike="noStrike">
              <a:solidFill>
                <a:srgbClr val="FFFFFF"/>
              </a:solidFill>
              <a:effectLst/>
              <a:uFillTx/>
              <a:latin typeface="Arial"/>
            </a:endParaRPr>
          </a:p>
        </p:txBody>
      </p:sp>
      <p:sp>
        <p:nvSpPr>
          <p:cNvPr id="4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12" name="Rounded Rectangle 3"/>
          <p:cNvSpPr/>
          <p:nvPr/>
        </p:nvSpPr>
        <p:spPr>
          <a:xfrm>
            <a:off x="457200" y="1828800"/>
            <a:ext cx="5577480" cy="4114440"/>
          </a:xfrm>
          <a:prstGeom prst="roundRect">
            <a:avLst>
              <a:gd name="adj" fmla="val 16667"/>
            </a:avLst>
          </a:prstGeom>
          <a:solidFill>
            <a:srgbClr val="122A18"/>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4"/>
          <p:cNvSpPr/>
          <p:nvPr/>
        </p:nvSpPr>
        <p:spPr>
          <a:xfrm>
            <a:off x="548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00FF41"/>
                </a:solidFill>
                <a:effectLst/>
                <a:uFillTx/>
                <a:latin typeface="Calibri"/>
              </a:rPr>
              <a:t>✓  云厂商负责</a:t>
            </a:r>
            <a:endParaRPr lang="en-US" sz="2400" b="0" u="none" strike="noStrike">
              <a:solidFill>
                <a:srgbClr val="FFFFFF"/>
              </a:solidFill>
              <a:effectLst/>
              <a:uFillTx/>
              <a:latin typeface="Arial"/>
            </a:endParaRPr>
          </a:p>
        </p:txBody>
      </p:sp>
      <p:sp>
        <p:nvSpPr>
          <p:cNvPr id="414" name="TextBox 5"/>
          <p:cNvSpPr/>
          <p:nvPr/>
        </p:nvSpPr>
        <p:spPr>
          <a:xfrm>
            <a:off x="640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虚拟机监控程序与物理硬件</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数据库引擎补丁</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物理安全</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底层网络</a:t>
            </a:r>
            <a:endParaRPr lang="en-US" sz="2400" b="0" u="none" strike="noStrike">
              <a:solidFill>
                <a:srgbClr val="FFFFFF"/>
              </a:solidFill>
              <a:effectLst/>
              <a:uFillTx/>
              <a:latin typeface="Arial"/>
            </a:endParaRPr>
          </a:p>
        </p:txBody>
      </p:sp>
      <p:sp>
        <p:nvSpPr>
          <p:cNvPr id="415" name="Rounded Rectangle 6"/>
          <p:cNvSpPr/>
          <p:nvPr/>
        </p:nvSpPr>
        <p:spPr>
          <a:xfrm>
            <a:off x="6172200" y="1828800"/>
            <a:ext cx="5577480" cy="4114440"/>
          </a:xfrm>
          <a:prstGeom prst="roundRect">
            <a:avLst>
              <a:gd name="adj" fmla="val 16667"/>
            </a:avLst>
          </a:prstGeom>
          <a:solidFill>
            <a:srgbClr val="3A1F14"/>
          </a:solidFill>
          <a:ln w="3810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6" name="TextBox 7"/>
          <p:cNvSpPr/>
          <p:nvPr/>
        </p:nvSpPr>
        <p:spPr>
          <a:xfrm>
            <a:off x="6263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你负责</a:t>
            </a:r>
            <a:endParaRPr lang="en-US" sz="2400" b="0" u="none" strike="noStrike">
              <a:solidFill>
                <a:srgbClr val="FFFFFF"/>
              </a:solidFill>
              <a:effectLst/>
              <a:uFillTx/>
              <a:latin typeface="Arial"/>
            </a:endParaRPr>
          </a:p>
        </p:txBody>
      </p:sp>
      <p:sp>
        <p:nvSpPr>
          <p:cNvPr id="417" name="TextBox 8"/>
          <p:cNvSpPr/>
          <p:nvPr/>
        </p:nvSpPr>
        <p:spPr>
          <a:xfrm>
            <a:off x="6355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配置</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访问策略（IAM）</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数据本身</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加密选择</a:t>
            </a:r>
            <a:endParaRPr lang="en-US" sz="2400" b="0" u="none" strike="noStrike">
              <a:solidFill>
                <a:srgbClr val="FFFFFF"/>
              </a:solidFill>
              <a:effectLst/>
              <a:uFillTx/>
              <a:latin typeface="Arial"/>
            </a:endParaRPr>
          </a:p>
        </p:txBody>
      </p:sp>
      <p:sp>
        <p:nvSpPr>
          <p:cNvPr id="418" name="TextBox 9"/>
          <p:cNvSpPr/>
          <p:nvPr/>
        </p:nvSpPr>
        <p:spPr>
          <a:xfrm>
            <a:off x="457200" y="603504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几乎每一次云数据库泄露 = 客户配置错误。</a:t>
            </a:r>
            <a:endParaRPr lang="en-US" sz="2200" b="0" u="none" strike="noStrike">
              <a:solidFill>
                <a:srgbClr val="FFFFFF"/>
              </a:solidFill>
              <a:effectLst/>
              <a:uFillTx/>
              <a:latin typeface="Arial"/>
            </a:endParaRPr>
          </a:p>
        </p:txBody>
      </p:sp>
      <p:sp>
        <p:nvSpPr>
          <p:cNvPr id="419" name="TextBox 1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20" name="TextBox 1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21" name="TextBox 1" descr="Table of common database ports: MySQL 3306, PostgreSQL 5432, MS SQL 1433, MongoDB 27017, Redis 6379, Elasticsearch 9200, Cassandra 9042." title="Table of common database ports: MySQL 3306, PostgreSQL 5432, MS SQL 1433, MongoD"/>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常见数据库端口 — 牢记于心</a:t>
            </a:r>
            <a:endParaRPr lang="en-US" sz="4200" b="0" u="none" strike="noStrike">
              <a:solidFill>
                <a:srgbClr val="FFFFFF"/>
              </a:solidFill>
              <a:effectLst/>
              <a:uFillTx/>
              <a:latin typeface="Arial"/>
            </a:endParaRPr>
          </a:p>
        </p:txBody>
      </p:sp>
      <p:sp>
        <p:nvSpPr>
          <p:cNvPr id="42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23" name="TextBox 3"/>
          <p:cNvSpPr/>
          <p:nvPr/>
        </p:nvSpPr>
        <p:spPr>
          <a:xfrm>
            <a:off x="1371600" y="1645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3306</a:t>
            </a:r>
            <a:endParaRPr lang="en-US" sz="3600" b="0" u="none" strike="noStrike">
              <a:solidFill>
                <a:srgbClr val="FFFFFF"/>
              </a:solidFill>
              <a:effectLst/>
              <a:uFillTx/>
              <a:latin typeface="Arial"/>
            </a:endParaRPr>
          </a:p>
        </p:txBody>
      </p:sp>
      <p:sp>
        <p:nvSpPr>
          <p:cNvPr id="424" name="TextBox 4"/>
          <p:cNvSpPr/>
          <p:nvPr/>
        </p:nvSpPr>
        <p:spPr>
          <a:xfrm>
            <a:off x="3840480" y="1645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5" name="TextBox 5"/>
          <p:cNvSpPr/>
          <p:nvPr/>
        </p:nvSpPr>
        <p:spPr>
          <a:xfrm>
            <a:off x="4480560" y="1645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MySQL / MariaDB</a:t>
            </a:r>
            <a:endParaRPr lang="en-US" sz="3200" b="0" u="none" strike="noStrike">
              <a:solidFill>
                <a:srgbClr val="FFFFFF"/>
              </a:solidFill>
              <a:effectLst/>
              <a:uFillTx/>
              <a:latin typeface="Arial"/>
            </a:endParaRPr>
          </a:p>
        </p:txBody>
      </p:sp>
      <p:sp>
        <p:nvSpPr>
          <p:cNvPr id="426" name="TextBox 6"/>
          <p:cNvSpPr/>
          <p:nvPr/>
        </p:nvSpPr>
        <p:spPr>
          <a:xfrm>
            <a:off x="1371600" y="2212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5432</a:t>
            </a:r>
            <a:endParaRPr lang="en-US" sz="3600" b="0" u="none" strike="noStrike">
              <a:solidFill>
                <a:srgbClr val="FFFFFF"/>
              </a:solidFill>
              <a:effectLst/>
              <a:uFillTx/>
              <a:latin typeface="Arial"/>
            </a:endParaRPr>
          </a:p>
        </p:txBody>
      </p:sp>
      <p:sp>
        <p:nvSpPr>
          <p:cNvPr id="427" name="TextBox 7"/>
          <p:cNvSpPr/>
          <p:nvPr/>
        </p:nvSpPr>
        <p:spPr>
          <a:xfrm>
            <a:off x="3840480" y="2212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8" name="TextBox 8"/>
          <p:cNvSpPr/>
          <p:nvPr/>
        </p:nvSpPr>
        <p:spPr>
          <a:xfrm>
            <a:off x="4480560" y="2212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PostgreSQL</a:t>
            </a:r>
            <a:endParaRPr lang="en-US" sz="3200" b="0" u="none" strike="noStrike">
              <a:solidFill>
                <a:srgbClr val="FFFFFF"/>
              </a:solidFill>
              <a:effectLst/>
              <a:uFillTx/>
              <a:latin typeface="Arial"/>
            </a:endParaRPr>
          </a:p>
        </p:txBody>
      </p:sp>
      <p:sp>
        <p:nvSpPr>
          <p:cNvPr id="429" name="TextBox 9"/>
          <p:cNvSpPr/>
          <p:nvPr/>
        </p:nvSpPr>
        <p:spPr>
          <a:xfrm>
            <a:off x="1371600" y="2779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1433</a:t>
            </a:r>
            <a:endParaRPr lang="en-US" sz="3600" b="0" u="none" strike="noStrike">
              <a:solidFill>
                <a:srgbClr val="FFFFFF"/>
              </a:solidFill>
              <a:effectLst/>
              <a:uFillTx/>
              <a:latin typeface="Arial"/>
            </a:endParaRPr>
          </a:p>
        </p:txBody>
      </p:sp>
      <p:sp>
        <p:nvSpPr>
          <p:cNvPr id="430" name="TextBox 10"/>
          <p:cNvSpPr/>
          <p:nvPr/>
        </p:nvSpPr>
        <p:spPr>
          <a:xfrm>
            <a:off x="3840480" y="2779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1" name="TextBox 11"/>
          <p:cNvSpPr/>
          <p:nvPr/>
        </p:nvSpPr>
        <p:spPr>
          <a:xfrm>
            <a:off x="4480560" y="2779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Microsoft SQL Server</a:t>
            </a:r>
            <a:endParaRPr lang="en-US" sz="3200" b="0" u="none" strike="noStrike">
              <a:solidFill>
                <a:srgbClr val="FFFFFF"/>
              </a:solidFill>
              <a:effectLst/>
              <a:uFillTx/>
              <a:latin typeface="Arial"/>
            </a:endParaRPr>
          </a:p>
        </p:txBody>
      </p:sp>
      <p:sp>
        <p:nvSpPr>
          <p:cNvPr id="432" name="TextBox 12"/>
          <p:cNvSpPr/>
          <p:nvPr/>
        </p:nvSpPr>
        <p:spPr>
          <a:xfrm>
            <a:off x="1371600" y="3346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27017</a:t>
            </a:r>
            <a:endParaRPr lang="en-US" sz="3600" b="0" u="none" strike="noStrike">
              <a:solidFill>
                <a:srgbClr val="FFFFFF"/>
              </a:solidFill>
              <a:effectLst/>
              <a:uFillTx/>
              <a:latin typeface="Arial"/>
            </a:endParaRPr>
          </a:p>
        </p:txBody>
      </p:sp>
      <p:sp>
        <p:nvSpPr>
          <p:cNvPr id="433" name="TextBox 13"/>
          <p:cNvSpPr/>
          <p:nvPr/>
        </p:nvSpPr>
        <p:spPr>
          <a:xfrm>
            <a:off x="3840480" y="3346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4" name="TextBox 14"/>
          <p:cNvSpPr/>
          <p:nvPr/>
        </p:nvSpPr>
        <p:spPr>
          <a:xfrm>
            <a:off x="4480560" y="3346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MongoDB</a:t>
            </a:r>
            <a:endParaRPr lang="en-US" sz="3200" b="0" u="none" strike="noStrike">
              <a:solidFill>
                <a:srgbClr val="FFFFFF"/>
              </a:solidFill>
              <a:effectLst/>
              <a:uFillTx/>
              <a:latin typeface="Arial"/>
            </a:endParaRPr>
          </a:p>
        </p:txBody>
      </p:sp>
      <p:sp>
        <p:nvSpPr>
          <p:cNvPr id="435" name="TextBox 15"/>
          <p:cNvSpPr/>
          <p:nvPr/>
        </p:nvSpPr>
        <p:spPr>
          <a:xfrm>
            <a:off x="1371600" y="3913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6379</a:t>
            </a:r>
            <a:endParaRPr lang="en-US" sz="3600" b="0" u="none" strike="noStrike">
              <a:solidFill>
                <a:srgbClr val="FFFFFF"/>
              </a:solidFill>
              <a:effectLst/>
              <a:uFillTx/>
              <a:latin typeface="Arial"/>
            </a:endParaRPr>
          </a:p>
        </p:txBody>
      </p:sp>
      <p:sp>
        <p:nvSpPr>
          <p:cNvPr id="436" name="TextBox 16"/>
          <p:cNvSpPr/>
          <p:nvPr/>
        </p:nvSpPr>
        <p:spPr>
          <a:xfrm>
            <a:off x="3840480" y="3913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7" name="TextBox 17"/>
          <p:cNvSpPr/>
          <p:nvPr/>
        </p:nvSpPr>
        <p:spPr>
          <a:xfrm>
            <a:off x="4480560" y="3913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Redis</a:t>
            </a:r>
            <a:endParaRPr lang="en-US" sz="3200" b="0" u="none" strike="noStrike">
              <a:solidFill>
                <a:srgbClr val="FFFFFF"/>
              </a:solidFill>
              <a:effectLst/>
              <a:uFillTx/>
              <a:latin typeface="Arial"/>
            </a:endParaRPr>
          </a:p>
        </p:txBody>
      </p:sp>
      <p:sp>
        <p:nvSpPr>
          <p:cNvPr id="438" name="TextBox 18"/>
          <p:cNvSpPr/>
          <p:nvPr/>
        </p:nvSpPr>
        <p:spPr>
          <a:xfrm>
            <a:off x="1371600" y="4480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9200</a:t>
            </a:r>
            <a:endParaRPr lang="en-US" sz="3600" b="0" u="none" strike="noStrike">
              <a:solidFill>
                <a:srgbClr val="FFFFFF"/>
              </a:solidFill>
              <a:effectLst/>
              <a:uFillTx/>
              <a:latin typeface="Arial"/>
            </a:endParaRPr>
          </a:p>
        </p:txBody>
      </p:sp>
      <p:sp>
        <p:nvSpPr>
          <p:cNvPr id="439" name="TextBox 19"/>
          <p:cNvSpPr/>
          <p:nvPr/>
        </p:nvSpPr>
        <p:spPr>
          <a:xfrm>
            <a:off x="3840480" y="4480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0" name="TextBox 20"/>
          <p:cNvSpPr/>
          <p:nvPr/>
        </p:nvSpPr>
        <p:spPr>
          <a:xfrm>
            <a:off x="4480560" y="4480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Elasticsearch</a:t>
            </a:r>
            <a:endParaRPr lang="en-US" sz="3200" b="0" u="none" strike="noStrike">
              <a:solidFill>
                <a:srgbClr val="FFFFFF"/>
              </a:solidFill>
              <a:effectLst/>
              <a:uFillTx/>
              <a:latin typeface="Arial"/>
            </a:endParaRPr>
          </a:p>
        </p:txBody>
      </p:sp>
      <p:sp>
        <p:nvSpPr>
          <p:cNvPr id="441" name="TextBox 21"/>
          <p:cNvSpPr/>
          <p:nvPr/>
        </p:nvSpPr>
        <p:spPr>
          <a:xfrm>
            <a:off x="1371600" y="5047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9042</a:t>
            </a:r>
            <a:endParaRPr lang="en-US" sz="3600" b="0" u="none" strike="noStrike">
              <a:solidFill>
                <a:srgbClr val="FFFFFF"/>
              </a:solidFill>
              <a:effectLst/>
              <a:uFillTx/>
              <a:latin typeface="Arial"/>
            </a:endParaRPr>
          </a:p>
        </p:txBody>
      </p:sp>
      <p:sp>
        <p:nvSpPr>
          <p:cNvPr id="442" name="TextBox 22"/>
          <p:cNvSpPr/>
          <p:nvPr/>
        </p:nvSpPr>
        <p:spPr>
          <a:xfrm>
            <a:off x="3840480" y="5047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3" name="TextBox 23"/>
          <p:cNvSpPr/>
          <p:nvPr/>
        </p:nvSpPr>
        <p:spPr>
          <a:xfrm>
            <a:off x="4480560" y="5047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Cassandra</a:t>
            </a:r>
            <a:endParaRPr lang="en-US" sz="3200" b="0" u="none" strike="noStrike">
              <a:solidFill>
                <a:srgbClr val="FFFFFF"/>
              </a:solidFill>
              <a:effectLst/>
              <a:uFillTx/>
              <a:latin typeface="Arial"/>
            </a:endParaRPr>
          </a:p>
        </p:txBody>
      </p:sp>
      <p:sp>
        <p:nvSpPr>
          <p:cNvPr id="444" name="TextBox 24"/>
          <p:cNvSpPr/>
          <p:nvPr/>
        </p:nvSpPr>
        <p:spPr>
          <a:xfrm>
            <a:off x="457200" y="5989320"/>
            <a:ext cx="1124676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6B35"/>
                </a:solidFill>
                <a:effectLst/>
                <a:uFillTx/>
                <a:latin typeface="Calibri"/>
              </a:rPr>
              <a:t>其中任何一个暴露在互联网上 = 一个安全发现。每一次都是*</a:t>
            </a:r>
            <a:endParaRPr lang="en-US" sz="2200" b="0" u="none" strike="noStrike">
              <a:solidFill>
                <a:srgbClr val="FFFFFF"/>
              </a:solidFill>
              <a:effectLst/>
              <a:uFillTx/>
              <a:latin typeface="Arial"/>
            </a:endParaRPr>
          </a:p>
        </p:txBody>
      </p:sp>
      <p:sp>
        <p:nvSpPr>
          <p:cNvPr id="445" name="TextBox 25"/>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46" name="TextBox 2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47" name="TextBox 1" descr="Statement slide: Markdown files are now a database — the kind an LLM reads from via embeddings and RAG." title="Statement slide: Markdown files are now a database — the kind an LLM reads from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你的笔记现在也是数据库了</a:t>
            </a:r>
            <a:endParaRPr lang="en-US" sz="4200" b="0" u="none" strike="noStrike">
              <a:solidFill>
                <a:srgbClr val="FFFFFF"/>
              </a:solidFill>
              <a:effectLst/>
              <a:uFillTx/>
              <a:latin typeface="Arial"/>
            </a:endParaRPr>
          </a:p>
        </p:txBody>
      </p:sp>
      <p:sp>
        <p:nvSpPr>
          <p:cNvPr id="44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49"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0" u="none" strike="noStrike">
                <a:solidFill>
                  <a:srgbClr val="FFFFFF"/>
                </a:solidFill>
                <a:effectLst/>
                <a:uFillTx/>
                <a:latin typeface="Calibri"/>
              </a:rPr>
              <a:t>Markdown 文件如今成了</a:t>
            </a:r>
            <a:endParaRPr lang="en-US" sz="4400" b="0" u="none" strike="noStrike">
              <a:solidFill>
                <a:srgbClr val="FFFFFF"/>
              </a:solidFill>
              <a:effectLst/>
              <a:uFillTx/>
              <a:latin typeface="Arial"/>
            </a:endParaRPr>
          </a:p>
        </p:txBody>
      </p:sp>
      <p:sp>
        <p:nvSpPr>
          <p:cNvPr id="450" name="TextBox 4"/>
          <p:cNvSpPr/>
          <p:nvPr/>
        </p:nvSpPr>
        <p:spPr>
          <a:xfrm>
            <a:off x="457200" y="283464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00FF41"/>
                </a:solidFill>
                <a:effectLst/>
                <a:uFillTx/>
                <a:latin typeface="Calibri"/>
              </a:rPr>
              <a:t>LLM 读取数据的数据库。</a:t>
            </a:r>
            <a:endParaRPr lang="en-US" sz="4400" b="0" u="none" strike="noStrike">
              <a:solidFill>
                <a:srgbClr val="FFFFFF"/>
              </a:solidFill>
              <a:effectLst/>
              <a:uFillTx/>
              <a:latin typeface="Arial"/>
            </a:endParaRPr>
          </a:p>
        </p:txBody>
      </p:sp>
      <p:sp>
        <p:nvSpPr>
          <p:cNvPr id="451" name="TextBox 5"/>
          <p:cNvSpPr/>
          <p:nvPr/>
        </p:nvSpPr>
        <p:spPr>
          <a:xfrm>
            <a:off x="457200" y="420624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00D4FF"/>
                </a:solidFill>
                <a:effectLst/>
                <a:uFillTx/>
                <a:latin typeface="Calibri"/>
              </a:rPr>
              <a:t>Obsidian 知识库  •  Wiki 导出  •  会议笔记  •  GitHub 文档</a:t>
            </a:r>
            <a:endParaRPr lang="en-US" sz="2400" b="0" u="none" strike="noStrike">
              <a:solidFill>
                <a:srgbClr val="FFFFFF"/>
              </a:solidFill>
              <a:effectLst/>
              <a:uFillTx/>
              <a:latin typeface="Arial"/>
            </a:endParaRPr>
          </a:p>
        </p:txBody>
      </p:sp>
      <p:sp>
        <p:nvSpPr>
          <p:cNvPr id="452" name="TextBox 6"/>
          <p:cNvSpPr/>
          <p:nvPr/>
        </p:nvSpPr>
        <p:spPr>
          <a:xfrm>
            <a:off x="457200" y="493776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CCCCD6"/>
                </a:solidFill>
                <a:effectLst/>
                <a:uFillTx/>
                <a:latin typeface="Calibri"/>
              </a:rPr>
              <a:t>嵌入 → 向量数据库 → LLM 上下文 → 给用户的回答</a:t>
            </a:r>
            <a:endParaRPr lang="en-US" sz="2600" b="0" u="none" strike="noStrike">
              <a:solidFill>
                <a:srgbClr val="FFFFFF"/>
              </a:solidFill>
              <a:effectLst/>
              <a:uFillTx/>
              <a:latin typeface="Arial"/>
            </a:endParaRPr>
          </a:p>
        </p:txBody>
      </p:sp>
      <p:sp>
        <p:nvSpPr>
          <p:cNvPr id="45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5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55" name="TextBox 1" descr="Pipeline diagram: markdown files → embedder → vector DB → LLM prompt → answer. The trust boundary sits between authors and the embedder." title="Pipeline diagram: markdown files → embedder → vector DB → LLM prompt → answer. T"/>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RAG 流水线 — 信任边界在哪里？</a:t>
            </a:r>
            <a:endParaRPr lang="en-US" sz="3600" b="0" u="none" strike="noStrike">
              <a:solidFill>
                <a:srgbClr val="FFFFFF"/>
              </a:solidFill>
              <a:effectLst/>
              <a:uFillTx/>
              <a:latin typeface="Arial"/>
            </a:endParaRPr>
          </a:p>
        </p:txBody>
      </p:sp>
      <p:sp>
        <p:nvSpPr>
          <p:cNvPr id="45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57" name="Rounded Rectangle 3"/>
          <p:cNvSpPr/>
          <p:nvPr/>
        </p:nvSpPr>
        <p:spPr>
          <a:xfrm>
            <a:off x="457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8" name="TextBox 4"/>
          <p:cNvSpPr/>
          <p:nvPr/>
        </p:nvSpPr>
        <p:spPr>
          <a:xfrm>
            <a:off x="457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.md 文件</a:t>
            </a:r>
            <a:endParaRPr lang="en-US" sz="2200" b="0" u="none" strike="noStrike">
              <a:solidFill>
                <a:srgbClr val="FFFFFF"/>
              </a:solidFill>
              <a:effectLst/>
              <a:uFillTx/>
              <a:latin typeface="Arial"/>
            </a:endParaRPr>
          </a:p>
        </p:txBody>
      </p:sp>
      <p:sp>
        <p:nvSpPr>
          <p:cNvPr id="459" name="TextBox 5"/>
          <p:cNvSpPr/>
          <p:nvPr/>
        </p:nvSpPr>
        <p:spPr>
          <a:xfrm>
            <a:off x="2395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0" name="Rounded Rectangle 6"/>
          <p:cNvSpPr/>
          <p:nvPr/>
        </p:nvSpPr>
        <p:spPr>
          <a:xfrm>
            <a:off x="2743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TextBox 7"/>
          <p:cNvSpPr/>
          <p:nvPr/>
        </p:nvSpPr>
        <p:spPr>
          <a:xfrm>
            <a:off x="2743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嵌入器</a:t>
            </a:r>
            <a:endParaRPr lang="en-US" sz="2200" b="0" u="none" strike="noStrike">
              <a:solidFill>
                <a:srgbClr val="FFFFFF"/>
              </a:solidFill>
              <a:effectLst/>
              <a:uFillTx/>
              <a:latin typeface="Arial"/>
            </a:endParaRPr>
          </a:p>
        </p:txBody>
      </p:sp>
      <p:sp>
        <p:nvSpPr>
          <p:cNvPr id="462" name="TextBox 8"/>
          <p:cNvSpPr/>
          <p:nvPr/>
        </p:nvSpPr>
        <p:spPr>
          <a:xfrm>
            <a:off x="4681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3" name="Rounded Rectangle 9"/>
          <p:cNvSpPr/>
          <p:nvPr/>
        </p:nvSpPr>
        <p:spPr>
          <a:xfrm>
            <a:off x="5029200" y="2377440"/>
            <a:ext cx="1919880" cy="1096920"/>
          </a:xfrm>
          <a:prstGeom prst="roundRect">
            <a:avLst>
              <a:gd name="adj" fmla="val 16667"/>
            </a:avLst>
          </a:prstGeom>
          <a:solidFill>
            <a:srgbClr val="24243E"/>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0"/>
          <p:cNvSpPr/>
          <p:nvPr/>
        </p:nvSpPr>
        <p:spPr>
          <a:xfrm>
            <a:off x="5029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FF41"/>
                </a:solidFill>
                <a:effectLst/>
                <a:uFillTx/>
                <a:latin typeface="Calibri"/>
              </a:rPr>
              <a:t>向量数据库</a:t>
            </a:r>
            <a:endParaRPr lang="en-US" sz="2200" b="0" u="none" strike="noStrike">
              <a:solidFill>
                <a:srgbClr val="FFFFFF"/>
              </a:solidFill>
              <a:effectLst/>
              <a:uFillTx/>
              <a:latin typeface="Arial"/>
            </a:endParaRPr>
          </a:p>
        </p:txBody>
      </p:sp>
      <p:sp>
        <p:nvSpPr>
          <p:cNvPr id="465" name="TextBox 11"/>
          <p:cNvSpPr/>
          <p:nvPr/>
        </p:nvSpPr>
        <p:spPr>
          <a:xfrm>
            <a:off x="6967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6" name="Rounded Rectangle 12"/>
          <p:cNvSpPr/>
          <p:nvPr/>
        </p:nvSpPr>
        <p:spPr>
          <a:xfrm>
            <a:off x="7315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TextBox 13"/>
          <p:cNvSpPr/>
          <p:nvPr/>
        </p:nvSpPr>
        <p:spPr>
          <a:xfrm>
            <a:off x="7315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LLM 提示</a:t>
            </a:r>
            <a:endParaRPr lang="en-US" sz="2200" b="0" u="none" strike="noStrike">
              <a:solidFill>
                <a:srgbClr val="FFFFFF"/>
              </a:solidFill>
              <a:effectLst/>
              <a:uFillTx/>
              <a:latin typeface="Arial"/>
            </a:endParaRPr>
          </a:p>
        </p:txBody>
      </p:sp>
      <p:sp>
        <p:nvSpPr>
          <p:cNvPr id="468" name="TextBox 14"/>
          <p:cNvSpPr/>
          <p:nvPr/>
        </p:nvSpPr>
        <p:spPr>
          <a:xfrm>
            <a:off x="9253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9" name="Rounded Rectangle 15"/>
          <p:cNvSpPr/>
          <p:nvPr/>
        </p:nvSpPr>
        <p:spPr>
          <a:xfrm>
            <a:off x="9601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0" name="TextBox 16"/>
          <p:cNvSpPr/>
          <p:nvPr/>
        </p:nvSpPr>
        <p:spPr>
          <a:xfrm>
            <a:off x="9601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回答</a:t>
            </a:r>
            <a:endParaRPr lang="en-US" sz="2200" b="0" u="none" strike="noStrike">
              <a:solidFill>
                <a:srgbClr val="FFFFFF"/>
              </a:solidFill>
              <a:effectLst/>
              <a:uFillTx/>
              <a:latin typeface="Arial"/>
            </a:endParaRPr>
          </a:p>
        </p:txBody>
      </p:sp>
      <p:sp>
        <p:nvSpPr>
          <p:cNvPr id="471" name="Rectangle 17"/>
          <p:cNvSpPr/>
          <p:nvPr/>
        </p:nvSpPr>
        <p:spPr>
          <a:xfrm>
            <a:off x="2286000" y="2103120"/>
            <a:ext cx="54360" cy="16455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18"/>
          <p:cNvSpPr/>
          <p:nvPr/>
        </p:nvSpPr>
        <p:spPr>
          <a:xfrm>
            <a:off x="731520" y="3840480"/>
            <a:ext cx="27428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1" u="none" strike="noStrike">
                <a:solidFill>
                  <a:srgbClr val="FF6B35"/>
                </a:solidFill>
                <a:effectLst/>
                <a:uFillTx/>
                <a:latin typeface="Calibri"/>
              </a:rPr>
              <a:t>⚠ 信任边界</a:t>
            </a:r>
            <a:endParaRPr lang="en-US" sz="1800" b="0" u="none" strike="noStrike">
              <a:solidFill>
                <a:srgbClr val="FFFFFF"/>
              </a:solidFill>
              <a:effectLst/>
              <a:uFillTx/>
              <a:latin typeface="Arial"/>
            </a:endParaRPr>
          </a:p>
        </p:txBody>
      </p:sp>
      <p:sp>
        <p:nvSpPr>
          <p:cNvPr id="473" name="TextBox 19"/>
          <p:cNvSpPr/>
          <p:nvPr/>
        </p:nvSpPr>
        <p:spPr>
          <a:xfrm>
            <a:off x="457200" y="48463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FFFF"/>
                </a:solidFill>
                <a:effectLst/>
                <a:uFillTx/>
                <a:latin typeface="Calibri"/>
              </a:rPr>
              <a:t>如果任何人都能编辑这些 .md 文件，那么任何人都能植入</a:t>
            </a:r>
            <a:endParaRPr lang="en-US" sz="2600" b="0" u="none" strike="noStrike">
              <a:solidFill>
                <a:srgbClr val="FFFFFF"/>
              </a:solidFill>
              <a:effectLst/>
              <a:uFillTx/>
              <a:latin typeface="Arial"/>
            </a:endParaRPr>
          </a:p>
          <a:p>
            <a:pPr algn="ctr" defTabSz="457200">
              <a:lnSpc>
                <a:spcPct val="100000"/>
              </a:lnSpc>
            </a:pPr>
            <a:r>
              <a:rPr lang="en-US" sz="2600" b="1" u="none" strike="noStrike">
                <a:solidFill>
                  <a:srgbClr val="FFFFFF"/>
                </a:solidFill>
                <a:effectLst/>
                <a:uFillTx/>
                <a:latin typeface="Calibri"/>
              </a:rPr>
              <a:t>被 AI 当作权威引用的内容。</a:t>
            </a:r>
            <a:endParaRPr lang="en-US" sz="2600" b="0" u="none" strike="noStrike">
              <a:solidFill>
                <a:srgbClr val="FFFFFF"/>
              </a:solidFill>
              <a:effectLst/>
              <a:uFillTx/>
              <a:latin typeface="Arial"/>
            </a:endParaRPr>
          </a:p>
        </p:txBody>
      </p:sp>
      <p:sp>
        <p:nvSpPr>
          <p:cNvPr id="474" name="TextBox 2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75" name="TextBox 2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76" name="TextBox 1" descr="Takeaway slide: Treat markdown like a database — because to the LLM, it is. Apply access control, code review, and diff tracking." title="Takeaway slide: Treat markdown like a database — because to the LLM, it is. Appl"/>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核心要点</a:t>
            </a:r>
            <a:endParaRPr lang="en-US" sz="4200" b="0" u="none" strike="noStrike">
              <a:solidFill>
                <a:srgbClr val="FFFFFF"/>
              </a:solidFill>
              <a:effectLst/>
              <a:uFillTx/>
              <a:latin typeface="Arial"/>
            </a:endParaRPr>
          </a:p>
        </p:txBody>
      </p:sp>
      <p:sp>
        <p:nvSpPr>
          <p:cNvPr id="47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78" name="TextBox 3"/>
          <p:cNvSpPr/>
          <p:nvPr/>
        </p:nvSpPr>
        <p:spPr>
          <a:xfrm>
            <a:off x="457200" y="219456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把 markdown 当作数据库来对待。</a:t>
            </a:r>
            <a:endParaRPr lang="en-US" sz="5400" b="0" u="none" strike="noStrike">
              <a:solidFill>
                <a:srgbClr val="FFFFFF"/>
              </a:solidFill>
              <a:effectLst/>
              <a:uFillTx/>
              <a:latin typeface="Arial"/>
            </a:endParaRPr>
          </a:p>
        </p:txBody>
      </p:sp>
      <p:sp>
        <p:nvSpPr>
          <p:cNvPr id="479" name="TextBox 4"/>
          <p:cNvSpPr/>
          <p:nvPr/>
        </p:nvSpPr>
        <p:spPr>
          <a:xfrm>
            <a:off x="457200" y="33832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FFFFFF"/>
                </a:solidFill>
                <a:effectLst/>
                <a:uFillTx/>
                <a:latin typeface="Calibri"/>
              </a:rPr>
              <a:t>因为对 LLM 来说，它就是数据库。</a:t>
            </a:r>
            <a:endParaRPr lang="en-US" sz="4200" b="0" u="none" strike="noStrike">
              <a:solidFill>
                <a:srgbClr val="FFFFFF"/>
              </a:solidFill>
              <a:effectLst/>
              <a:uFillTx/>
              <a:latin typeface="Arial"/>
            </a:endParaRPr>
          </a:p>
        </p:txBody>
      </p:sp>
      <p:sp>
        <p:nvSpPr>
          <p:cNvPr id="480" name="TextBox 5"/>
          <p:cNvSpPr/>
          <p:nvPr/>
        </p:nvSpPr>
        <p:spPr>
          <a:xfrm>
            <a:off x="1828800" y="4572000"/>
            <a:ext cx="850356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对文档文件夹实施访问控制。</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对 .md 的变更进行代码评审。</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对 wiki 进行差异跟踪。</a:t>
            </a:r>
            <a:endParaRPr lang="en-US" sz="2400" b="0" u="none" strike="noStrike">
              <a:solidFill>
                <a:srgbClr val="FFFFFF"/>
              </a:solidFill>
              <a:effectLst/>
              <a:uFillTx/>
              <a:latin typeface="Arial"/>
            </a:endParaRPr>
          </a:p>
        </p:txBody>
      </p:sp>
      <p:sp>
        <p:nvSpPr>
          <p:cNvPr id="48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8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3" name="TextBox 1" descr="Section divider: SECURITY. What's actually getting hit in 2026" title="Section divider: SECURITY. What's actually getting hit in 2026"/>
          <p:cNvSpPr/>
          <p:nvPr/>
        </p:nvSpPr>
        <p:spPr>
          <a:xfrm>
            <a:off x="457200" y="2560320"/>
            <a:ext cx="11246760" cy="164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600" b="1" u="none" strike="noStrike">
                <a:solidFill>
                  <a:srgbClr val="00FF41"/>
                </a:solidFill>
                <a:effectLst/>
                <a:uFillTx/>
                <a:latin typeface="Calibri"/>
              </a:rPr>
              <a:t>安全</a:t>
            </a:r>
            <a:endParaRPr lang="en-US" sz="9600" b="0" u="none" strike="noStrike">
              <a:solidFill>
                <a:srgbClr val="FFFFFF"/>
              </a:solidFill>
              <a:effectLst/>
              <a:uFillTx/>
              <a:latin typeface="Arial"/>
            </a:endParaRPr>
          </a:p>
        </p:txBody>
      </p:sp>
      <p:sp>
        <p:nvSpPr>
          <p:cNvPr id="484" name="Rectangle 2"/>
          <p:cNvSpPr/>
          <p:nvPr/>
        </p:nvSpPr>
        <p:spPr>
          <a:xfrm>
            <a:off x="4724640" y="4297680"/>
            <a:ext cx="2742840" cy="9108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5" name="TextBox 3"/>
          <p:cNvSpPr/>
          <p:nvPr/>
        </p:nvSpPr>
        <p:spPr>
          <a:xfrm>
            <a:off x="457200" y="4572000"/>
            <a:ext cx="11246760" cy="578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FFFFFF"/>
                </a:solidFill>
                <a:effectLst/>
                <a:uFillTx/>
                <a:latin typeface="Calibri"/>
              </a:rPr>
              <a:t>2026 年真正遭受攻击的是什么*</a:t>
            </a:r>
            <a:endParaRPr lang="en-US" sz="3200" b="0" u="none" strike="noStrike">
              <a:solidFill>
                <a:srgbClr val="FFFFFF"/>
              </a:solidFill>
              <a:effectLst/>
              <a:uFillTx/>
              <a:latin typeface="Arial"/>
            </a:endParaRPr>
          </a:p>
        </p:txBody>
      </p:sp>
      <p:sp>
        <p:nvSpPr>
          <p:cNvPr id="486"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87"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8" name="TextBox 1" descr="Reference to xkcd #327 'Exploits of a Mom' (Bobby Tables): a mother names her son Robert'); DROP TABLE Students;-- and the school's student table is dropped. URL: https://xkcd.com/327/" title="Reference to xkcd #327 'Exploits of a Mom' (Bobby Tables): a mother names her s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xkcd #327 — Bobby Tables</a:t>
            </a:r>
            <a:endParaRPr lang="en-US" sz="3800" b="0" u="none" strike="noStrike">
              <a:solidFill>
                <a:srgbClr val="FFFFFF"/>
              </a:solidFill>
              <a:effectLst/>
              <a:uFillTx/>
              <a:latin typeface="Arial"/>
            </a:endParaRPr>
          </a:p>
        </p:txBody>
      </p:sp>
      <p:sp>
        <p:nvSpPr>
          <p:cNvPr id="489"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90" name="Rectangle 3"/>
          <p:cNvSpPr/>
          <p:nvPr/>
        </p:nvSpPr>
        <p:spPr>
          <a:xfrm>
            <a:off x="457200" y="1737360"/>
            <a:ext cx="11246760" cy="3200040"/>
          </a:xfrm>
          <a:prstGeom prst="rect">
            <a:avLst/>
          </a:prstGeom>
          <a:solidFill>
            <a:srgbClr val="24243E"/>
          </a:solidFill>
          <a:ln w="254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TextBox 4"/>
          <p:cNvSpPr/>
          <p:nvPr/>
        </p:nvSpPr>
        <p:spPr>
          <a:xfrm>
            <a:off x="731520" y="192024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学校：  “您好，这里是您儿子的学校。我们的</a:t>
            </a:r>
            <a:endParaRPr lang="en-US" sz="2400" b="0" u="none" strike="noStrike">
              <a:solidFill>
                <a:srgbClr val="FFFFFF"/>
              </a:solidFill>
              <a:effectLst/>
              <a:uFillTx/>
              <a:latin typeface="Arial"/>
            </a:endParaRPr>
          </a:p>
        </p:txBody>
      </p:sp>
      <p:sp>
        <p:nvSpPr>
          <p:cNvPr id="492" name="TextBox 5"/>
          <p:cNvSpPr/>
          <p:nvPr/>
        </p:nvSpPr>
        <p:spPr>
          <a:xfrm>
            <a:off x="731520" y="251460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         电脑出了点问题。”</a:t>
            </a:r>
            <a:endParaRPr lang="en-US" sz="2400" b="0" u="none" strike="noStrike">
              <a:solidFill>
                <a:srgbClr val="FFFFFF"/>
              </a:solidFill>
              <a:effectLst/>
              <a:uFillTx/>
              <a:latin typeface="Arial"/>
            </a:endParaRPr>
          </a:p>
        </p:txBody>
      </p:sp>
      <p:sp>
        <p:nvSpPr>
          <p:cNvPr id="493" name="TextBox 6"/>
          <p:cNvSpPr/>
          <p:nvPr/>
        </p:nvSpPr>
        <p:spPr>
          <a:xfrm>
            <a:off x="731520" y="3154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妈妈：     “哎呀 — 他是不是弄坏了什么？”</a:t>
            </a:r>
            <a:endParaRPr lang="en-US" sz="2400" b="0" u="none" strike="noStrike">
              <a:solidFill>
                <a:srgbClr val="FFFFFF"/>
              </a:solidFill>
              <a:effectLst/>
              <a:uFillTx/>
              <a:latin typeface="Arial"/>
            </a:endParaRPr>
          </a:p>
        </p:txBody>
      </p:sp>
      <p:sp>
        <p:nvSpPr>
          <p:cNvPr id="494" name="TextBox 7"/>
          <p:cNvSpPr/>
          <p:nvPr/>
        </p:nvSpPr>
        <p:spPr>
          <a:xfrm>
            <a:off x="731520" y="379476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FF41"/>
                </a:solidFill>
                <a:effectLst/>
                <a:uFillTx/>
                <a:latin typeface="Calibri"/>
              </a:rPr>
              <a:t>学校：  “您真的给儿子起名叫  Robert');</a:t>
            </a:r>
            <a:endParaRPr lang="en-US" sz="2400" b="0" u="none" strike="noStrike">
              <a:solidFill>
                <a:srgbClr val="FFFFFF"/>
              </a:solidFill>
              <a:effectLst/>
              <a:uFillTx/>
              <a:latin typeface="Arial"/>
            </a:endParaRPr>
          </a:p>
        </p:txBody>
      </p:sp>
      <p:sp>
        <p:nvSpPr>
          <p:cNvPr id="495" name="TextBox 8"/>
          <p:cNvSpPr/>
          <p:nvPr/>
        </p:nvSpPr>
        <p:spPr>
          <a:xfrm>
            <a:off x="731520" y="4297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DROP TABLE Students;--  吗？”</a:t>
            </a:r>
            <a:endParaRPr lang="en-US" sz="2400" b="0" u="none" strike="noStrike">
              <a:solidFill>
                <a:srgbClr val="FFFFFF"/>
              </a:solidFill>
              <a:effectLst/>
              <a:uFillTx/>
              <a:latin typeface="Arial"/>
            </a:endParaRPr>
          </a:p>
        </p:txBody>
      </p:sp>
      <p:sp>
        <p:nvSpPr>
          <p:cNvPr id="496" name="TextBox 9"/>
          <p:cNvSpPr/>
          <p:nvPr/>
        </p:nvSpPr>
        <p:spPr>
          <a:xfrm>
            <a:off x="457200" y="5212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00D4FF"/>
                </a:solidFill>
                <a:effectLst/>
                <a:uFillTx/>
                <a:latin typeface="Calibri"/>
              </a:rPr>
              <a:t>https://xkcd.com/327/</a:t>
            </a:r>
            <a:endParaRPr lang="en-US" sz="2800" b="0" u="none" strike="noStrike">
              <a:solidFill>
                <a:srgbClr val="FFFFFF"/>
              </a:solidFill>
              <a:effectLst/>
              <a:uFillTx/>
              <a:latin typeface="Arial"/>
            </a:endParaRPr>
          </a:p>
        </p:txBody>
      </p:sp>
      <p:sp>
        <p:nvSpPr>
          <p:cNvPr id="497" name="TextBox 10"/>
          <p:cNvSpPr/>
          <p:nvPr/>
        </p:nvSpPr>
        <p:spPr>
          <a:xfrm>
            <a:off x="457200" y="57607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CCCCD6"/>
                </a:solidFill>
                <a:effectLst/>
                <a:uFillTx/>
                <a:latin typeface="Calibri"/>
              </a:rPr>
              <a:t>其机理：在查询中进行字符串拼接。</a:t>
            </a:r>
            <a:endParaRPr lang="en-US" sz="2200" b="0" u="none" strike="noStrike">
              <a:solidFill>
                <a:srgbClr val="FFFFFF"/>
              </a:solidFill>
              <a:effectLst/>
              <a:uFillTx/>
              <a:latin typeface="Arial"/>
            </a:endParaRPr>
          </a:p>
        </p:txBody>
      </p:sp>
      <p:sp>
        <p:nvSpPr>
          <p:cNvPr id="498" name="TextBox 11"/>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499" name="TextBox 12"/>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0" name="TextBox 1" descr="Statement slide: The database attack surface has expanded, not shrunk. SQL injection is largely fixed; eleven newer categories now dominate." title="Statement slide: The database attack surface has expanded, not shrunk. SQL injec"/>
          <p:cNvSpPr/>
          <p:nvPr/>
        </p:nvSpPr>
        <p:spPr>
          <a:xfrm>
            <a:off x="457200" y="22860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0" u="none" strike="noStrike">
                <a:solidFill>
                  <a:srgbClr val="FFFFFF"/>
                </a:solidFill>
                <a:effectLst/>
                <a:uFillTx/>
                <a:latin typeface="Calibri"/>
              </a:rPr>
              <a:t>攻击面已经</a:t>
            </a:r>
            <a:endParaRPr lang="en-US" sz="5400" b="0" u="none" strike="noStrike">
              <a:solidFill>
                <a:srgbClr val="FFFFFF"/>
              </a:solidFill>
              <a:effectLst/>
              <a:uFillTx/>
              <a:latin typeface="Arial"/>
            </a:endParaRPr>
          </a:p>
        </p:txBody>
      </p:sp>
      <p:sp>
        <p:nvSpPr>
          <p:cNvPr id="501" name="TextBox 2"/>
          <p:cNvSpPr/>
          <p:nvPr/>
        </p:nvSpPr>
        <p:spPr>
          <a:xfrm>
            <a:off x="457200" y="32004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7200" b="1" u="none" strike="noStrike">
                <a:solidFill>
                  <a:srgbClr val="FF6B35"/>
                </a:solidFill>
                <a:effectLst/>
                <a:uFillTx/>
                <a:latin typeface="Calibri"/>
              </a:rPr>
              <a:t>扩大了，而非缩小。</a:t>
            </a:r>
            <a:endParaRPr lang="en-US" sz="7200" b="0" u="none" strike="noStrike">
              <a:solidFill>
                <a:srgbClr val="FFFFFF"/>
              </a:solidFill>
              <a:effectLst/>
              <a:uFillTx/>
              <a:latin typeface="Arial"/>
            </a:endParaRPr>
          </a:p>
        </p:txBody>
      </p:sp>
      <p:sp>
        <p:nvSpPr>
          <p:cNvPr id="502" name="TextBox 3"/>
          <p:cNvSpPr/>
          <p:nvPr/>
        </p:nvSpPr>
        <p:spPr>
          <a:xfrm>
            <a:off x="457200" y="484632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SQL 注入已被修复。十一个新的类别取而代之。</a:t>
            </a:r>
            <a:endParaRPr lang="en-US" sz="2600" b="0" u="none" strike="noStrike">
              <a:solidFill>
                <a:srgbClr val="FFFFFF"/>
              </a:solidFill>
              <a:effectLst/>
              <a:uFillTx/>
              <a:latin typeface="Arial"/>
            </a:endParaRPr>
          </a:p>
        </p:txBody>
      </p:sp>
      <p:sp>
        <p:nvSpPr>
          <p:cNvPr id="503"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04"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5"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0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NoSQL 注入</a:t>
            </a:r>
            <a:endParaRPr lang="en-US" sz="4200" b="0" u="none" strike="noStrike">
              <a:solidFill>
                <a:srgbClr val="FFFFFF"/>
              </a:solidFill>
              <a:effectLst/>
              <a:uFillTx/>
              <a:latin typeface="Arial"/>
            </a:endParaRPr>
          </a:p>
        </p:txBody>
      </p:sp>
      <p:sp>
        <p:nvSpPr>
          <p:cNvPr id="50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0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MongoDB JSON 查询 + 未经处理的用户输入 = SQL 注入重生。</a:t>
            </a:r>
            <a:endParaRPr lang="en-US" sz="2400" b="0" u="none" strike="noStrike">
              <a:solidFill>
                <a:srgbClr val="FFFFFF"/>
              </a:solidFill>
              <a:effectLst/>
              <a:uFillTx/>
              <a:latin typeface="Arial"/>
            </a:endParaRPr>
          </a:p>
        </p:txBody>
      </p:sp>
      <p:sp>
        <p:nvSpPr>
          <p:cNvPr id="50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登录绕过： { username: 'alice', password: { $ne: 'x' } }</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$where 让你能够直接将 JavaScript 注入数据库。</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Couchbase N1QL 带有 SQL 风格 — 经典的 SQL 注入模式同样适用。</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原则：任何解释器都可能被注入，不仅仅是 SQL。</a:t>
            </a:r>
            <a:endParaRPr lang="en-US" sz="2300" b="0" u="none" strike="noStrike">
              <a:solidFill>
                <a:srgbClr val="FFFFFF"/>
              </a:solidFill>
              <a:effectLst/>
              <a:uFillTx/>
              <a:latin typeface="Arial"/>
            </a:endParaRPr>
          </a:p>
        </p:txBody>
      </p:sp>
      <p:sp>
        <p:nvSpPr>
          <p:cNvPr id="51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Top 10 2025：“动态查询……被直接用于解释器中。”</a:t>
            </a:r>
            <a:endParaRPr lang="en-US" sz="1600" b="0" u="none" strike="noStrike">
              <a:solidFill>
                <a:srgbClr val="FFFFFF"/>
              </a:solidFill>
              <a:effectLst/>
              <a:uFillTx/>
              <a:latin typeface="Arial"/>
            </a:endParaRPr>
          </a:p>
        </p:txBody>
      </p:sp>
      <p:sp>
        <p:nvSpPr>
          <p:cNvPr id="51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1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13"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1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暴露与配置错误的数据库</a:t>
            </a:r>
            <a:endParaRPr lang="en-US" sz="4200" b="0" u="none" strike="noStrike">
              <a:solidFill>
                <a:srgbClr val="FFFFFF"/>
              </a:solidFill>
              <a:effectLst/>
              <a:uFillTx/>
              <a:latin typeface="Arial"/>
            </a:endParaRPr>
          </a:p>
        </p:txBody>
      </p:sp>
      <p:sp>
        <p:nvSpPr>
          <p:cNvPr id="51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1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Shodan 和 Censys 上充斥着本不该出现在那里的数据库。</a:t>
            </a:r>
            <a:endParaRPr lang="en-US" sz="2400" b="0" u="none" strike="noStrike">
              <a:solidFill>
                <a:srgbClr val="FFFFFF"/>
              </a:solidFill>
              <a:effectLst/>
              <a:uFillTx/>
              <a:latin typeface="Arial"/>
            </a:endParaRPr>
          </a:p>
        </p:txBody>
      </p:sp>
      <p:sp>
        <p:nvSpPr>
          <p:cNvPr id="51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MongoDB 绑定到 0.0.0.0 且无认证。</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Elasticsearch 集群完全敞开。Redis 没有密码。</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 的 pg_hba.conf 被设置为 'host all all 0.0.0.0/0 trust'。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Meow 攻击（2020）：机器人出于消遣抹除了数千个开放的数据库。</a:t>
            </a:r>
            <a:endParaRPr lang="en-US" sz="2300" b="0" u="none" strike="noStrike">
              <a:solidFill>
                <a:srgbClr val="FFFFFF"/>
              </a:solidFill>
              <a:effectLst/>
              <a:uFillTx/>
              <a:latin typeface="Arial"/>
            </a:endParaRPr>
          </a:p>
        </p:txBody>
      </p:sp>
      <p:sp>
        <p:nvSpPr>
          <p:cNvPr id="51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行动项：查清你的组织有哪些东西绑定到了公网接口。就在今天。</a:t>
            </a:r>
            <a:endParaRPr lang="en-US" sz="1600" b="0" u="none" strike="noStrike">
              <a:solidFill>
                <a:srgbClr val="FFFFFF"/>
              </a:solidFill>
              <a:effectLst/>
              <a:uFillTx/>
              <a:latin typeface="Arial"/>
            </a:endParaRPr>
          </a:p>
        </p:txBody>
      </p:sp>
      <p:sp>
        <p:nvSpPr>
          <p:cNvPr id="51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2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1"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2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云配置错误</a:t>
            </a:r>
            <a:endParaRPr lang="en-US" sz="4200" b="0" u="none" strike="noStrike">
              <a:solidFill>
                <a:srgbClr val="FFFFFF"/>
              </a:solidFill>
              <a:effectLst/>
              <a:uFillTx/>
              <a:latin typeface="Arial"/>
            </a:endParaRPr>
          </a:p>
        </p:txBody>
      </p:sp>
      <p:sp>
        <p:nvSpPr>
          <p:cNvPr id="52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2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在云上，问题很少出在引擎本身，而在于围绕它的策略。</a:t>
            </a:r>
            <a:endParaRPr lang="en-US" sz="2400" b="0" u="none" strike="noStrike">
              <a:solidFill>
                <a:srgbClr val="FFFFFF"/>
              </a:solidFill>
              <a:effectLst/>
              <a:uFillTx/>
              <a:latin typeface="Arial"/>
            </a:endParaRPr>
          </a:p>
        </p:txBody>
      </p:sp>
      <p:sp>
        <p:nvSpPr>
          <p:cNvPr id="52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塞满数据库转储文件的公开 S3 存储桶（Accenture、Verizon 等）。</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Capital One 2019：SSRF 诱使 WAF 泄露了其 IAM 凭证 → S3。</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对 * 授予 s3:* 权限的 Lambda，只因为它“第一次就跑通了”。</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安全组：在 5432 端口上开放 0.0.0.0/0。</a:t>
            </a:r>
            <a:endParaRPr lang="en-US" sz="2300" b="0" u="none" strike="noStrike">
              <a:solidFill>
                <a:srgbClr val="FFFFFF"/>
              </a:solidFill>
              <a:effectLst/>
              <a:uFillTx/>
              <a:latin typeface="Arial"/>
            </a:endParaRPr>
          </a:p>
        </p:txBody>
      </p:sp>
      <p:sp>
        <p:nvSpPr>
          <p:cNvPr id="52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AWS 管理：“弃用 Root 账户，在一切必要之处改用 IAM。”</a:t>
            </a:r>
            <a:endParaRPr lang="en-US" sz="1600" b="0" u="none" strike="noStrike">
              <a:solidFill>
                <a:srgbClr val="FFFFFF"/>
              </a:solidFill>
              <a:effectLst/>
              <a:uFillTx/>
              <a:latin typeface="Arial"/>
            </a:endParaRPr>
          </a:p>
        </p:txBody>
      </p:sp>
      <p:sp>
        <p:nvSpPr>
          <p:cNvPr id="52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2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9"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权限提升：数据库 → 操作系统</a:t>
            </a:r>
            <a:endParaRPr lang="en-US" sz="4200" b="0" u="none" strike="noStrike">
              <a:solidFill>
                <a:srgbClr val="FFFFFF"/>
              </a:solidFill>
              <a:effectLst/>
              <a:uFillTx/>
              <a:latin typeface="Arial"/>
            </a:endParaRPr>
          </a:p>
        </p:txBody>
      </p:sp>
      <p:sp>
        <p:nvSpPr>
          <p:cNvPr id="53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数据库账户可以变成 shell 访问权限。三个经典手法。</a:t>
            </a:r>
            <a:endParaRPr lang="en-US" sz="2400" b="0" u="none" strike="noStrike">
              <a:solidFill>
                <a:srgbClr val="FFFFFF"/>
              </a:solidFill>
              <a:effectLst/>
              <a:uFillTx/>
              <a:latin typeface="Arial"/>
            </a:endParaRPr>
          </a:p>
        </p:txBody>
      </p:sp>
      <p:sp>
        <p:nvSpPr>
          <p:cNvPr id="53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MS SQL：xp_cmdshell — 以数据库进程的身份运行 shell 命令。</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PostgreSQL：COPY ... TO PROGRAM — 将输出通过管道送入 shell。</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MySQL：加载一个 UDF .so 文件 → 在操作系统上执行 sys_exec。</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规律：每一项有特权的数据库功能都是攻击面的一部分。</a:t>
            </a:r>
            <a:endParaRPr lang="en-US" sz="2300" b="0" u="none" strike="noStrike">
              <a:solidFill>
                <a:srgbClr val="FFFFFF"/>
              </a:solidFill>
              <a:effectLst/>
              <a:uFillTx/>
              <a:latin typeface="Arial"/>
            </a:endParaRPr>
          </a:p>
        </p:txBody>
      </p:sp>
      <p:sp>
        <p:nvSpPr>
          <p:cNvPr id="534"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35"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36"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7"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数据湖安全缺口</a:t>
            </a:r>
            <a:endParaRPr lang="en-US" sz="4200" b="0" u="none" strike="noStrike">
              <a:solidFill>
                <a:srgbClr val="FFFFFF"/>
              </a:solidFill>
              <a:effectLst/>
              <a:uFillTx/>
              <a:latin typeface="Arial"/>
            </a:endParaRPr>
          </a:p>
        </p:txBody>
      </p:sp>
      <p:sp>
        <p:nvSpPr>
          <p:cNvPr id="538"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9"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一切最终都进了 S3 — 包括你本不打算放进去的东西。</a:t>
            </a:r>
            <a:endParaRPr lang="en-US" sz="2400" b="0" u="none" strike="noStrike">
              <a:solidFill>
                <a:srgbClr val="FFFFFF"/>
              </a:solidFill>
              <a:effectLst/>
              <a:uFillTx/>
              <a:latin typeface="Arial"/>
            </a:endParaRPr>
          </a:p>
        </p:txBody>
      </p:sp>
      <p:sp>
        <p:nvSpPr>
          <p:cNvPr id="540"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宽松的 IAM 让权限从计算角色泄漏到人。</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对存储桶对象不强制静态加密。</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写入端没有校验 — 任何人都能投放被投毒的数据。</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首要问题：谁能写入数据湖？谁能读取？</a:t>
            </a:r>
            <a:endParaRPr lang="en-US" sz="2300" b="0" u="none" strike="noStrike">
              <a:solidFill>
                <a:srgbClr val="FFFFFF"/>
              </a:solidFill>
              <a:effectLst/>
              <a:uFillTx/>
              <a:latin typeface="Arial"/>
            </a:endParaRPr>
          </a:p>
        </p:txBody>
      </p:sp>
      <p:sp>
        <p:nvSpPr>
          <p:cNvPr id="54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4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43"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4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勒索软件钟爱数据库</a:t>
            </a:r>
            <a:endParaRPr lang="en-US" sz="4200" b="0" u="none" strike="noStrike">
              <a:solidFill>
                <a:srgbClr val="FFFFFF"/>
              </a:solidFill>
              <a:effectLst/>
              <a:uFillTx/>
              <a:latin typeface="Arial"/>
            </a:endParaRPr>
          </a:p>
        </p:txBody>
      </p:sp>
      <p:sp>
        <p:nvSpPr>
          <p:cNvPr id="54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4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数据库正是业务亟需恢复的东西 — 提供最大的筹码。</a:t>
            </a:r>
            <a:endParaRPr lang="en-US" sz="2400" b="0" u="none" strike="noStrike">
              <a:solidFill>
                <a:srgbClr val="FFFFFF"/>
              </a:solidFill>
              <a:effectLst/>
              <a:uFillTx/>
              <a:latin typeface="Arial"/>
            </a:endParaRPr>
          </a:p>
        </p:txBody>
      </p:sp>
      <p:sp>
        <p:nvSpPr>
          <p:cNvPr id="54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加密正在运行的数据库。</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加密备份（否则客户直接恢复就行了）。</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先窃取一份副本 — 即使他们恢复了，也能以公开披露相要挟。</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防御：离线、不可变的备份 + 经过测试的恢复。</a:t>
            </a:r>
            <a:endParaRPr lang="en-US" sz="2300" b="0" u="none" strike="noStrike">
              <a:solidFill>
                <a:srgbClr val="FFFFFF"/>
              </a:solidFill>
              <a:effectLst/>
              <a:uFillTx/>
              <a:latin typeface="Arial"/>
            </a:endParaRPr>
          </a:p>
        </p:txBody>
      </p:sp>
      <p:sp>
        <p:nvSpPr>
          <p:cNvPr id="54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网络安全攻防：WannaCry — 补丁在 59 天前就已发布。</a:t>
            </a:r>
            <a:endParaRPr lang="en-US" sz="1600" b="0" u="none" strike="noStrike">
              <a:solidFill>
                <a:srgbClr val="FFFFFF"/>
              </a:solidFill>
              <a:effectLst/>
              <a:uFillTx/>
              <a:latin typeface="Arial"/>
            </a:endParaRPr>
          </a:p>
        </p:txBody>
      </p:sp>
      <p:sp>
        <p:nvSpPr>
          <p:cNvPr id="54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5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1"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5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凭证攻击</a:t>
            </a:r>
            <a:endParaRPr lang="en-US" sz="4200" b="0" u="none" strike="noStrike">
              <a:solidFill>
                <a:srgbClr val="FFFFFF"/>
              </a:solidFill>
              <a:effectLst/>
              <a:uFillTx/>
              <a:latin typeface="Arial"/>
            </a:endParaRPr>
          </a:p>
        </p:txBody>
      </p:sp>
      <p:sp>
        <p:nvSpPr>
          <p:cNvPr id="55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5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默认凭证与泄露的连接字符串 — 两个古老而长存的漏洞。</a:t>
            </a:r>
            <a:endParaRPr lang="en-US" sz="2400" b="0" u="none" strike="noStrike">
              <a:solidFill>
                <a:srgbClr val="FFFFFF"/>
              </a:solidFill>
              <a:effectLst/>
              <a:uFillTx/>
              <a:latin typeface="Arial"/>
            </a:endParaRPr>
          </a:p>
        </p:txBody>
      </p:sp>
      <p:sp>
        <p:nvSpPr>
          <p:cNvPr id="55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Redis：多年来默认没有密码。</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Elastic：免费版没有认证 — 同样持续了多年。</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Connection strings (postgres://user:pass@host) committed to Git.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提交前的密钥扫描 — 本周就修复。</a:t>
            </a:r>
            <a:endParaRPr lang="en-US" sz="2300" b="0" u="none" strike="noStrike">
              <a:solidFill>
                <a:srgbClr val="FFFFFF"/>
              </a:solidFill>
              <a:effectLst/>
              <a:uFillTx/>
              <a:latin typeface="Arial"/>
            </a:endParaRPr>
          </a:p>
        </p:txBody>
      </p:sp>
      <p:sp>
        <p:nvSpPr>
          <p:cNvPr id="55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网络安全攻防：被盗凭证 = 有组织犯罪的首选攻击途径。</a:t>
            </a:r>
            <a:endParaRPr lang="en-US" sz="1600" b="0" u="none" strike="noStrike">
              <a:solidFill>
                <a:srgbClr val="FFFFFF"/>
              </a:solidFill>
              <a:effectLst/>
              <a:uFillTx/>
              <a:latin typeface="Arial"/>
            </a:endParaRPr>
          </a:p>
        </p:txBody>
      </p:sp>
      <p:sp>
        <p:nvSpPr>
          <p:cNvPr id="55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5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9"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供应链 — 你所信任的数据库库</a:t>
            </a:r>
            <a:endParaRPr lang="en-US" sz="4200" b="0" u="none" strike="noStrike">
              <a:solidFill>
                <a:srgbClr val="FFFFFF"/>
              </a:solidFill>
              <a:effectLst/>
              <a:uFillTx/>
              <a:latin typeface="Arial"/>
            </a:endParaRPr>
          </a:p>
        </p:txBody>
      </p:sp>
      <p:sp>
        <p:nvSpPr>
          <p:cNvPr id="56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6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你的数据库驱动来自 npm/PyPI/Maven。其他所有人的也一样。</a:t>
            </a:r>
            <a:endParaRPr lang="en-US" sz="2400" b="0" u="none" strike="noStrike">
              <a:solidFill>
                <a:srgbClr val="FFFFFF"/>
              </a:solidFill>
              <a:effectLst/>
              <a:uFillTx/>
              <a:latin typeface="Arial"/>
            </a:endParaRPr>
          </a:p>
        </p:txBody>
      </p:sp>
      <p:sp>
        <p:nvSpPr>
          <p:cNvPr id="56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伪装成 ORM / 驱动的恶意 npm 包。</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被植入木马的热门数据库 Docker Hub 镜像。</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被攻陷的 PostgreSQL 扩展 / MySQL 插件。</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扩展以数据库权限运行 — 通常权限很大。</a:t>
            </a:r>
            <a:endParaRPr lang="en-US" sz="2300" b="0" u="none" strike="noStrike">
              <a:solidFill>
                <a:srgbClr val="FFFFFF"/>
              </a:solidFill>
              <a:effectLst/>
              <a:uFillTx/>
              <a:latin typeface="Arial"/>
            </a:endParaRPr>
          </a:p>
        </p:txBody>
      </p:sp>
      <p:sp>
        <p:nvSpPr>
          <p:cNvPr id="564"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Shostack：“威胁往往聚集在信任边界周围。”</a:t>
            </a:r>
            <a:endParaRPr lang="en-US" sz="1600" b="0" u="none" strike="noStrike">
              <a:solidFill>
                <a:srgbClr val="FFFFFF"/>
              </a:solidFill>
              <a:effectLst/>
              <a:uFillTx/>
              <a:latin typeface="Arial"/>
            </a:endParaRPr>
          </a:p>
        </p:txBody>
      </p:sp>
      <p:sp>
        <p:nvSpPr>
          <p:cNvPr id="565"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66"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67"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8"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RAG / LLM 数据投毒</a:t>
            </a:r>
            <a:endParaRPr lang="en-US" sz="4200" b="0" u="none" strike="noStrike">
              <a:solidFill>
                <a:srgbClr val="FFFFFF"/>
              </a:solidFill>
              <a:effectLst/>
              <a:uFillTx/>
              <a:latin typeface="Arial"/>
            </a:endParaRPr>
          </a:p>
        </p:txBody>
      </p:sp>
      <p:sp>
        <p:nvSpPr>
          <p:cNvPr id="569"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0"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AI 时代的存储型 XSS。写入知识库 → LLM 引用它。</a:t>
            </a:r>
            <a:endParaRPr lang="en-US" sz="2400" b="0" u="none" strike="noStrike">
              <a:solidFill>
                <a:srgbClr val="FFFFFF"/>
              </a:solidFill>
              <a:effectLst/>
              <a:uFillTx/>
              <a:latin typeface="Arial"/>
            </a:endParaRPr>
          </a:p>
        </p:txBody>
      </p:sp>
      <p:sp>
        <p:nvSpPr>
          <p:cNvPr id="571"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被投毒的支持文章：“要重置，请将你的密码发送到……”</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被投毒的内部文档：“公司政策是将款项电汇至……”</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嵌入在检索文档中的提示注入。</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防御：严格的写入 ACL、来源标签、人在回路。</a:t>
            </a:r>
            <a:endParaRPr lang="en-US" sz="2300" b="0" u="none" strike="noStrike">
              <a:solidFill>
                <a:srgbClr val="FFFFFF"/>
              </a:solidFill>
              <a:effectLst/>
              <a:uFillTx/>
              <a:latin typeface="Arial"/>
            </a:endParaRPr>
          </a:p>
        </p:txBody>
      </p:sp>
      <p:sp>
        <p:nvSpPr>
          <p:cNvPr id="572"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2025 存储型 XSS 原则 — 把“管理员”换成“LLM”。</a:t>
            </a:r>
            <a:endParaRPr lang="en-US" sz="1600" b="0" u="none" strike="noStrike">
              <a:solidFill>
                <a:srgbClr val="FFFFFF"/>
              </a:solidFill>
              <a:effectLst/>
              <a:uFillTx/>
              <a:latin typeface="Arial"/>
            </a:endParaRPr>
          </a:p>
        </p:txBody>
      </p:sp>
      <p:sp>
        <p:nvSpPr>
          <p:cNvPr id="57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7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75"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7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内部威胁与数据库间横向移动</a:t>
            </a:r>
            <a:endParaRPr lang="en-US" sz="4200" b="0" u="none" strike="noStrike">
              <a:solidFill>
                <a:srgbClr val="FFFFFF"/>
              </a:solidFill>
              <a:effectLst/>
              <a:uFillTx/>
              <a:latin typeface="Arial"/>
            </a:endParaRPr>
          </a:p>
        </p:txBody>
      </p:sp>
      <p:sp>
        <p:nvSpPr>
          <p:cNvPr id="57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数据库不是终点。它们是图中的节点。</a:t>
            </a:r>
            <a:endParaRPr lang="en-US" sz="2400" b="0" u="none" strike="noStrike">
              <a:solidFill>
                <a:srgbClr val="FFFFFF"/>
              </a:solidFill>
              <a:effectLst/>
              <a:uFillTx/>
              <a:latin typeface="Arial"/>
            </a:endParaRPr>
          </a:p>
        </p:txBody>
      </p:sp>
      <p:sp>
        <p:nvSpPr>
          <p:cNvPr id="57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权限过大的服务账户。拥有生产环境读取权的工程师。</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没有审计记录的数据库管理员。</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Oracle DB_LINK、SQL Server 链接服务器、Postgres FDW。</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存储的凭证 → 攻陷 A，跳到 B，再跳到 C。</a:t>
            </a:r>
            <a:endParaRPr lang="en-US" sz="2300" b="0" u="none" strike="noStrike">
              <a:solidFill>
                <a:srgbClr val="FFFFFF"/>
              </a:solidFill>
              <a:effectLst/>
              <a:uFillTx/>
              <a:latin typeface="Arial"/>
            </a:endParaRPr>
          </a:p>
        </p:txBody>
      </p:sp>
      <p:sp>
        <p:nvSpPr>
          <p:cNvPr id="58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《Web 应用黑客手册》：保护不力的审计日志 = 一座金矿。</a:t>
            </a:r>
            <a:endParaRPr lang="en-US" sz="1600" b="0" u="none" strike="noStrike">
              <a:solidFill>
                <a:srgbClr val="FFFFFF"/>
              </a:solidFill>
              <a:effectLst/>
              <a:uFillTx/>
              <a:latin typeface="Arial"/>
            </a:endParaRPr>
          </a:p>
        </p:txBody>
      </p:sp>
      <p:sp>
        <p:nvSpPr>
          <p:cNvPr id="58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8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83"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8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备份与快照暴露</a:t>
            </a:r>
            <a:endParaRPr lang="en-US" sz="4200" b="0" u="none" strike="noStrike">
              <a:solidFill>
                <a:srgbClr val="FFFFFF"/>
              </a:solidFill>
              <a:effectLst/>
              <a:uFillTx/>
              <a:latin typeface="Arial"/>
            </a:endParaRPr>
          </a:p>
        </p:txBody>
      </p:sp>
      <p:sp>
        <p:nvSpPr>
          <p:cNvPr id="58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8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与生产环境同样的数据，却只得到一半的呵护。</a:t>
            </a:r>
            <a:endParaRPr lang="en-US" sz="2400" b="0" u="none" strike="noStrike">
              <a:solidFill>
                <a:srgbClr val="FFFFFF"/>
              </a:solidFill>
              <a:effectLst/>
              <a:uFillTx/>
              <a:latin typeface="Arial"/>
            </a:endParaRPr>
          </a:p>
        </p:txBody>
      </p:sp>
      <p:sp>
        <p:nvSpPr>
          <p:cNvPr id="58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存放在 Domain Users 可读共享目录中的未加密数据库备份。</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跨账户共享的云快照，从未被取消共享。</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发往从未核查过其安全状况的供应商的异地备份。</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备份是最后的防线。施加识别-认证-授权-审计。</a:t>
            </a:r>
            <a:endParaRPr lang="en-US" sz="2300" b="0" u="none" strike="noStrike">
              <a:solidFill>
                <a:srgbClr val="FFFFFF"/>
              </a:solidFill>
              <a:effectLst/>
              <a:uFillTx/>
              <a:latin typeface="Arial"/>
            </a:endParaRPr>
          </a:p>
        </p:txBody>
      </p:sp>
      <p:sp>
        <p:nvSpPr>
          <p:cNvPr id="58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Schneier：识别、认证、授权、审计 — 同一套模型。</a:t>
            </a:r>
            <a:endParaRPr lang="en-US" sz="1600" b="0" u="none" strike="noStrike">
              <a:solidFill>
                <a:srgbClr val="FFFFFF"/>
              </a:solidFill>
              <a:effectLst/>
              <a:uFillTx/>
              <a:latin typeface="Arial"/>
            </a:endParaRPr>
          </a:p>
        </p:txBody>
      </p:sp>
      <p:sp>
        <p:nvSpPr>
          <p:cNvPr id="58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9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1" name="TextBox 1" descr="Recap of the mental map: definition, ten families, cloud shared responsibility, markdown as a database, and the expanded attack surface." title="Recap of the mental map: definition, ten families, cloud shared responsibility,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你的思维导图</a:t>
            </a:r>
            <a:endParaRPr lang="en-US" sz="4200" b="0" u="none" strike="noStrike">
              <a:solidFill>
                <a:srgbClr val="FFFFFF"/>
              </a:solidFill>
              <a:effectLst/>
              <a:uFillTx/>
              <a:latin typeface="Arial"/>
            </a:endParaRPr>
          </a:p>
        </p:txBody>
      </p:sp>
      <p:sp>
        <p:nvSpPr>
          <p:cNvPr id="59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3" name="TextBox 3"/>
          <p:cNvSpPr/>
          <p:nvPr/>
        </p:nvSpPr>
        <p:spPr>
          <a:xfrm>
            <a:off x="640080" y="1828800"/>
            <a:ext cx="109724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数据库 = 有组织的存储 + 一种提问的方式。</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十大家族，每个都有自己的陷阱。</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云 = 责任共担。配置与数据由你负责。</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Markdown 是 LLM 的数据库。RAG 投毒真实存在。</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SQL 注入被修复了。攻击面却扩大了。</a:t>
            </a:r>
            <a:endParaRPr lang="en-US" sz="2800" b="0" u="none" strike="noStrike">
              <a:solidFill>
                <a:srgbClr val="FFFFFF"/>
              </a:solidFill>
              <a:effectLst/>
              <a:uFillTx/>
              <a:latin typeface="Arial"/>
            </a:endParaRPr>
          </a:p>
        </p:txBody>
      </p:sp>
      <p:sp>
        <p:nvSpPr>
          <p:cNvPr id="594"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595"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6" name="TextBox 1" descr="Five concrete next steps: install PostgreSQL, do PortSwigger SQLi labs, browse Shodan/Censys legally, read breach reports, list your org's databases." title="Five concrete next steps: install PostgreSQL, do PortSwigger SQLi labs, browse S"/>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下周该做什么</a:t>
            </a:r>
            <a:endParaRPr lang="en-US" sz="4200" b="0" u="none" strike="noStrike">
              <a:solidFill>
                <a:srgbClr val="FFFFFF"/>
              </a:solidFill>
              <a:effectLst/>
              <a:uFillTx/>
              <a:latin typeface="Arial"/>
            </a:endParaRPr>
          </a:p>
        </p:txBody>
      </p:sp>
      <p:sp>
        <p:nvSpPr>
          <p:cNvPr id="59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8" name="TextBox 3"/>
          <p:cNvSpPr/>
          <p:nvPr/>
        </p:nvSpPr>
        <p:spPr>
          <a:xfrm>
            <a:off x="548640" y="178308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1.</a:t>
            </a:r>
            <a:endParaRPr lang="en-US" sz="3600" b="0" u="none" strike="noStrike">
              <a:solidFill>
                <a:srgbClr val="FFFFFF"/>
              </a:solidFill>
              <a:effectLst/>
              <a:uFillTx/>
              <a:latin typeface="Arial"/>
            </a:endParaRPr>
          </a:p>
        </p:txBody>
      </p:sp>
      <p:sp>
        <p:nvSpPr>
          <p:cNvPr id="599" name="TextBox 4"/>
          <p:cNvSpPr/>
          <p:nvPr/>
        </p:nvSpPr>
        <p:spPr>
          <a:xfrm>
            <a:off x="1554480" y="182880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在本地安装 PostgreSQL。写一条 SELECT。</a:t>
            </a:r>
            <a:endParaRPr lang="en-US" sz="2600" b="0" u="none" strike="noStrike">
              <a:solidFill>
                <a:srgbClr val="FFFFFF"/>
              </a:solidFill>
              <a:effectLst/>
              <a:uFillTx/>
              <a:latin typeface="Arial"/>
            </a:endParaRPr>
          </a:p>
        </p:txBody>
      </p:sp>
      <p:sp>
        <p:nvSpPr>
          <p:cNvPr id="600" name="TextBox 5"/>
          <p:cNvSpPr/>
          <p:nvPr/>
        </p:nvSpPr>
        <p:spPr>
          <a:xfrm>
            <a:off x="548640" y="260604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2.</a:t>
            </a:r>
            <a:endParaRPr lang="en-US" sz="3600" b="0" u="none" strike="noStrike">
              <a:solidFill>
                <a:srgbClr val="FFFFFF"/>
              </a:solidFill>
              <a:effectLst/>
              <a:uFillTx/>
              <a:latin typeface="Arial"/>
            </a:endParaRPr>
          </a:p>
        </p:txBody>
      </p:sp>
      <p:sp>
        <p:nvSpPr>
          <p:cNvPr id="601" name="TextBox 6"/>
          <p:cNvSpPr/>
          <p:nvPr/>
        </p:nvSpPr>
        <p:spPr>
          <a:xfrm>
            <a:off x="1554480" y="265176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做一做 PortSwigger 的 SQL 注入实验（免费）。</a:t>
            </a:r>
            <a:endParaRPr lang="en-US" sz="2600" b="0" u="none" strike="noStrike">
              <a:solidFill>
                <a:srgbClr val="FFFFFF"/>
              </a:solidFill>
              <a:effectLst/>
              <a:uFillTx/>
              <a:latin typeface="Arial"/>
            </a:endParaRPr>
          </a:p>
        </p:txBody>
      </p:sp>
      <p:sp>
        <p:nvSpPr>
          <p:cNvPr id="602" name="TextBox 7"/>
          <p:cNvSpPr/>
          <p:nvPr/>
        </p:nvSpPr>
        <p:spPr>
          <a:xfrm>
            <a:off x="548640" y="342900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3.</a:t>
            </a:r>
            <a:endParaRPr lang="en-US" sz="3600" b="0" u="none" strike="noStrike">
              <a:solidFill>
                <a:srgbClr val="FFFFFF"/>
              </a:solidFill>
              <a:effectLst/>
              <a:uFillTx/>
              <a:latin typeface="Arial"/>
            </a:endParaRPr>
          </a:p>
        </p:txBody>
      </p:sp>
      <p:sp>
        <p:nvSpPr>
          <p:cNvPr id="603" name="TextBox 8"/>
          <p:cNvSpPr/>
          <p:nvPr/>
        </p:nvSpPr>
        <p:spPr>
          <a:xfrm>
            <a:off x="1554480" y="347472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浏览 Shodan / Censys — 只看你拥有的系统。</a:t>
            </a:r>
            <a:endParaRPr lang="en-US" sz="2600" b="0" u="none" strike="noStrike">
              <a:solidFill>
                <a:srgbClr val="FFFFFF"/>
              </a:solidFill>
              <a:effectLst/>
              <a:uFillTx/>
              <a:latin typeface="Arial"/>
            </a:endParaRPr>
          </a:p>
        </p:txBody>
      </p:sp>
      <p:sp>
        <p:nvSpPr>
          <p:cNvPr id="604" name="TextBox 9"/>
          <p:cNvSpPr/>
          <p:nvPr/>
        </p:nvSpPr>
        <p:spPr>
          <a:xfrm>
            <a:off x="548640" y="425196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4.</a:t>
            </a:r>
            <a:endParaRPr lang="en-US" sz="3600" b="0" u="none" strike="noStrike">
              <a:solidFill>
                <a:srgbClr val="FFFFFF"/>
              </a:solidFill>
              <a:effectLst/>
              <a:uFillTx/>
              <a:latin typeface="Arial"/>
            </a:endParaRPr>
          </a:p>
        </p:txBody>
      </p:sp>
      <p:sp>
        <p:nvSpPr>
          <p:cNvPr id="605" name="TextBox 10"/>
          <p:cNvSpPr/>
          <p:nvPr/>
        </p:nvSpPr>
        <p:spPr>
          <a:xfrm>
            <a:off x="1554480" y="429768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读一份入侵报告 — Capital One、Equifax、MOVEit。</a:t>
            </a:r>
            <a:endParaRPr lang="en-US" sz="2600" b="0" u="none" strike="noStrike">
              <a:solidFill>
                <a:srgbClr val="FFFFFF"/>
              </a:solidFill>
              <a:effectLst/>
              <a:uFillTx/>
              <a:latin typeface="Arial"/>
            </a:endParaRPr>
          </a:p>
        </p:txBody>
      </p:sp>
      <p:sp>
        <p:nvSpPr>
          <p:cNvPr id="606" name="TextBox 11"/>
          <p:cNvSpPr/>
          <p:nvPr/>
        </p:nvSpPr>
        <p:spPr>
          <a:xfrm>
            <a:off x="548640" y="507492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5.</a:t>
            </a:r>
            <a:endParaRPr lang="en-US" sz="3600" b="0" u="none" strike="noStrike">
              <a:solidFill>
                <a:srgbClr val="FFFFFF"/>
              </a:solidFill>
              <a:effectLst/>
              <a:uFillTx/>
              <a:latin typeface="Arial"/>
            </a:endParaRPr>
          </a:p>
        </p:txBody>
      </p:sp>
      <p:sp>
        <p:nvSpPr>
          <p:cNvPr id="607" name="TextBox 12"/>
          <p:cNvSpPr/>
          <p:nvPr/>
        </p:nvSpPr>
        <p:spPr>
          <a:xfrm>
            <a:off x="1554480" y="512064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查清你的组织实际运行着哪些数据库。</a:t>
            </a:r>
            <a:endParaRPr lang="en-US" sz="2600" b="0" u="none" strike="noStrike">
              <a:solidFill>
                <a:srgbClr val="FFFFFF"/>
              </a:solidFill>
              <a:effectLst/>
              <a:uFillTx/>
              <a:latin typeface="Arial"/>
            </a:endParaRPr>
          </a:p>
        </p:txBody>
      </p:sp>
      <p:sp>
        <p:nvSpPr>
          <p:cNvPr id="608" name="TextBox 1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609" name="TextBox 1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10" name="TextBox 1" descr="Resource list: PortSwigger Web Security Academy, SQLBolt, Use The Index Luke, DB-Engines, and the OWASP Top 10." title="Resource list: PortSwigger Web Security Academy, SQLBolt, Use The Index Luke, DB"/>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值得收藏的资源</a:t>
            </a:r>
            <a:endParaRPr lang="en-US" sz="4200" b="0" u="none" strike="noStrike">
              <a:solidFill>
                <a:srgbClr val="FFFFFF"/>
              </a:solidFill>
              <a:effectLst/>
              <a:uFillTx/>
              <a:latin typeface="Arial"/>
            </a:endParaRPr>
          </a:p>
        </p:txBody>
      </p:sp>
      <p:sp>
        <p:nvSpPr>
          <p:cNvPr id="6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12" name="TextBox 3"/>
          <p:cNvSpPr/>
          <p:nvPr/>
        </p:nvSpPr>
        <p:spPr>
          <a:xfrm>
            <a:off x="548640" y="182880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3" name="TextBox 4"/>
          <p:cNvSpPr/>
          <p:nvPr/>
        </p:nvSpPr>
        <p:spPr>
          <a:xfrm>
            <a:off x="1097280" y="182880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PortSwigger Web Security Academy</a:t>
            </a:r>
            <a:endParaRPr lang="en-US" sz="2600" b="0" u="none" strike="noStrike">
              <a:solidFill>
                <a:srgbClr val="FFFFFF"/>
              </a:solidFill>
              <a:effectLst/>
              <a:uFillTx/>
              <a:latin typeface="Arial"/>
            </a:endParaRPr>
          </a:p>
        </p:txBody>
      </p:sp>
      <p:sp>
        <p:nvSpPr>
          <p:cNvPr id="614" name="TextBox 5"/>
          <p:cNvSpPr/>
          <p:nvPr/>
        </p:nvSpPr>
        <p:spPr>
          <a:xfrm>
            <a:off x="7040880" y="182880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portswigger.net/web-security</a:t>
            </a:r>
            <a:endParaRPr lang="en-US" sz="2200" b="0" u="none" strike="noStrike">
              <a:solidFill>
                <a:srgbClr val="FFFFFF"/>
              </a:solidFill>
              <a:effectLst/>
              <a:uFillTx/>
              <a:latin typeface="Arial"/>
            </a:endParaRPr>
          </a:p>
        </p:txBody>
      </p:sp>
      <p:sp>
        <p:nvSpPr>
          <p:cNvPr id="615" name="TextBox 6"/>
          <p:cNvSpPr/>
          <p:nvPr/>
        </p:nvSpPr>
        <p:spPr>
          <a:xfrm>
            <a:off x="548640" y="260604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6" name="TextBox 7"/>
          <p:cNvSpPr/>
          <p:nvPr/>
        </p:nvSpPr>
        <p:spPr>
          <a:xfrm>
            <a:off x="1097280" y="260604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SQLBolt</a:t>
            </a:r>
            <a:endParaRPr lang="en-US" sz="2600" b="0" u="none" strike="noStrike">
              <a:solidFill>
                <a:srgbClr val="FFFFFF"/>
              </a:solidFill>
              <a:effectLst/>
              <a:uFillTx/>
              <a:latin typeface="Arial"/>
            </a:endParaRPr>
          </a:p>
        </p:txBody>
      </p:sp>
      <p:sp>
        <p:nvSpPr>
          <p:cNvPr id="617" name="TextBox 8"/>
          <p:cNvSpPr/>
          <p:nvPr/>
        </p:nvSpPr>
        <p:spPr>
          <a:xfrm>
            <a:off x="7040880" y="260604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sqlbolt.com</a:t>
            </a:r>
            <a:endParaRPr lang="en-US" sz="2200" b="0" u="none" strike="noStrike">
              <a:solidFill>
                <a:srgbClr val="FFFFFF"/>
              </a:solidFill>
              <a:effectLst/>
              <a:uFillTx/>
              <a:latin typeface="Arial"/>
            </a:endParaRPr>
          </a:p>
        </p:txBody>
      </p:sp>
      <p:sp>
        <p:nvSpPr>
          <p:cNvPr id="618" name="TextBox 9"/>
          <p:cNvSpPr/>
          <p:nvPr/>
        </p:nvSpPr>
        <p:spPr>
          <a:xfrm>
            <a:off x="548640" y="338328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9" name="TextBox 10"/>
          <p:cNvSpPr/>
          <p:nvPr/>
        </p:nvSpPr>
        <p:spPr>
          <a:xfrm>
            <a:off x="1097280" y="338328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Use The Index, Luke</a:t>
            </a:r>
            <a:endParaRPr lang="en-US" sz="2600" b="0" u="none" strike="noStrike">
              <a:solidFill>
                <a:srgbClr val="FFFFFF"/>
              </a:solidFill>
              <a:effectLst/>
              <a:uFillTx/>
              <a:latin typeface="Arial"/>
            </a:endParaRPr>
          </a:p>
        </p:txBody>
      </p:sp>
      <p:sp>
        <p:nvSpPr>
          <p:cNvPr id="620" name="TextBox 11"/>
          <p:cNvSpPr/>
          <p:nvPr/>
        </p:nvSpPr>
        <p:spPr>
          <a:xfrm>
            <a:off x="7040880" y="338328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use-the-index-luke.com</a:t>
            </a:r>
            <a:endParaRPr lang="en-US" sz="2200" b="0" u="none" strike="noStrike">
              <a:solidFill>
                <a:srgbClr val="FFFFFF"/>
              </a:solidFill>
              <a:effectLst/>
              <a:uFillTx/>
              <a:latin typeface="Arial"/>
            </a:endParaRPr>
          </a:p>
        </p:txBody>
      </p:sp>
      <p:sp>
        <p:nvSpPr>
          <p:cNvPr id="621" name="TextBox 12"/>
          <p:cNvSpPr/>
          <p:nvPr/>
        </p:nvSpPr>
        <p:spPr>
          <a:xfrm>
            <a:off x="548640" y="416052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2" name="TextBox 13"/>
          <p:cNvSpPr/>
          <p:nvPr/>
        </p:nvSpPr>
        <p:spPr>
          <a:xfrm>
            <a:off x="1097280" y="416052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DB-Engines Ranking</a:t>
            </a:r>
            <a:endParaRPr lang="en-US" sz="2600" b="0" u="none" strike="noStrike">
              <a:solidFill>
                <a:srgbClr val="FFFFFF"/>
              </a:solidFill>
              <a:effectLst/>
              <a:uFillTx/>
              <a:latin typeface="Arial"/>
            </a:endParaRPr>
          </a:p>
        </p:txBody>
      </p:sp>
      <p:sp>
        <p:nvSpPr>
          <p:cNvPr id="623" name="TextBox 14"/>
          <p:cNvSpPr/>
          <p:nvPr/>
        </p:nvSpPr>
        <p:spPr>
          <a:xfrm>
            <a:off x="7040880" y="416052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db-engines.com</a:t>
            </a:r>
            <a:endParaRPr lang="en-US" sz="2200" b="0" u="none" strike="noStrike">
              <a:solidFill>
                <a:srgbClr val="FFFFFF"/>
              </a:solidFill>
              <a:effectLst/>
              <a:uFillTx/>
              <a:latin typeface="Arial"/>
            </a:endParaRPr>
          </a:p>
        </p:txBody>
      </p:sp>
      <p:sp>
        <p:nvSpPr>
          <p:cNvPr id="624" name="TextBox 15"/>
          <p:cNvSpPr/>
          <p:nvPr/>
        </p:nvSpPr>
        <p:spPr>
          <a:xfrm>
            <a:off x="548640" y="493776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5" name="TextBox 16"/>
          <p:cNvSpPr/>
          <p:nvPr/>
        </p:nvSpPr>
        <p:spPr>
          <a:xfrm>
            <a:off x="1097280" y="493776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OWASP Top 10</a:t>
            </a:r>
            <a:endParaRPr lang="en-US" sz="2600" b="0" u="none" strike="noStrike">
              <a:solidFill>
                <a:srgbClr val="FFFFFF"/>
              </a:solidFill>
              <a:effectLst/>
              <a:uFillTx/>
              <a:latin typeface="Arial"/>
            </a:endParaRPr>
          </a:p>
        </p:txBody>
      </p:sp>
      <p:sp>
        <p:nvSpPr>
          <p:cNvPr id="626" name="TextBox 17"/>
          <p:cNvSpPr/>
          <p:nvPr/>
        </p:nvSpPr>
        <p:spPr>
          <a:xfrm>
            <a:off x="7040880" y="493776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owasp.org/Top10/</a:t>
            </a:r>
            <a:endParaRPr lang="en-US" sz="2200" b="0" u="none" strike="noStrike">
              <a:solidFill>
                <a:srgbClr val="FFFFFF"/>
              </a:solidFill>
              <a:effectLst/>
              <a:uFillTx/>
              <a:latin typeface="Arial"/>
            </a:endParaRPr>
          </a:p>
        </p:txBody>
      </p:sp>
      <p:sp>
        <p:nvSpPr>
          <p:cNvPr id="627" name="TextBox 18"/>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628" name="TextBox 19"/>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29" name="TextBox 1" descr="Closing slide: Databases are where the money is. Literally. Now you know where to look. Ronin 48." title="Closing slide: Databases are where the money is. Literally. Now you know where t"/>
          <p:cNvSpPr/>
          <p:nvPr/>
        </p:nvSpPr>
        <p:spPr>
          <a:xfrm>
            <a:off x="457200" y="137160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FFFFFF"/>
                </a:solidFill>
                <a:effectLst/>
                <a:uFillTx/>
                <a:latin typeface="Calibri"/>
              </a:rPr>
              <a:t>“数据库正是</a:t>
            </a:r>
            <a:endParaRPr lang="en-US" sz="5800" b="0" u="none" strike="noStrike">
              <a:solidFill>
                <a:srgbClr val="FFFFFF"/>
              </a:solidFill>
              <a:effectLst/>
              <a:uFillTx/>
              <a:latin typeface="Arial"/>
            </a:endParaRPr>
          </a:p>
        </p:txBody>
      </p:sp>
      <p:sp>
        <p:nvSpPr>
          <p:cNvPr id="630" name="TextBox 2"/>
          <p:cNvSpPr/>
          <p:nvPr/>
        </p:nvSpPr>
        <p:spPr>
          <a:xfrm>
            <a:off x="457200" y="237744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00FF41"/>
                </a:solidFill>
                <a:effectLst/>
                <a:uFillTx/>
                <a:latin typeface="Calibri"/>
              </a:rPr>
              <a:t>钱所在的地方。字面意义上的。”</a:t>
            </a:r>
            <a:endParaRPr lang="en-US" sz="5800" b="0" u="none" strike="noStrike">
              <a:solidFill>
                <a:srgbClr val="FFFFFF"/>
              </a:solidFill>
              <a:effectLst/>
              <a:uFillTx/>
              <a:latin typeface="Arial"/>
            </a:endParaRPr>
          </a:p>
        </p:txBody>
      </p:sp>
      <p:sp>
        <p:nvSpPr>
          <p:cNvPr id="631" name="Rectangle 3"/>
          <p:cNvSpPr/>
          <p:nvPr/>
        </p:nvSpPr>
        <p:spPr>
          <a:xfrm>
            <a:off x="7772760" y="4114800"/>
            <a:ext cx="27428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32" name="TextBox 4"/>
          <p:cNvSpPr/>
          <p:nvPr/>
        </p:nvSpPr>
        <p:spPr>
          <a:xfrm>
            <a:off x="-45360" y="571500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00D4FF"/>
                </a:solidFill>
                <a:effectLst/>
                <a:uFillTx/>
                <a:latin typeface="Calibri"/>
              </a:rPr>
              <a:t>现在你知道该往哪里看了。</a:t>
            </a:r>
            <a:endParaRPr lang="en-US" sz="4200" b="0" u="none" strike="noStrike">
              <a:solidFill>
                <a:srgbClr val="FFFFFF"/>
              </a:solidFill>
              <a:effectLst/>
              <a:uFillTx/>
              <a:latin typeface="Arial"/>
            </a:endParaRPr>
          </a:p>
        </p:txBody>
      </p:sp>
      <p:sp>
        <p:nvSpPr>
          <p:cNvPr id="633" name="TextBox 5"/>
          <p:cNvSpPr/>
          <p:nvPr/>
        </p:nvSpPr>
        <p:spPr>
          <a:xfrm>
            <a:off x="7315200" y="3429000"/>
            <a:ext cx="3886200" cy="517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CCCCD6"/>
                </a:solidFill>
                <a:effectLst/>
                <a:uFillTx/>
                <a:latin typeface="Calibri"/>
              </a:rPr>
              <a:t>~Larry Ellison（大概吧）</a:t>
            </a:r>
            <a:endParaRPr lang="en-US" sz="2800" b="0" u="none" strike="noStrike">
              <a:solidFill>
                <a:srgbClr val="FFFFFF"/>
              </a:solidFill>
              <a:effectLst/>
              <a:uFillTx/>
              <a:latin typeface="Arial"/>
            </a:endParaRPr>
          </a:p>
        </p:txBody>
      </p:sp>
      <p:sp>
        <p:nvSpPr>
          <p:cNvPr id="634" name="TextBox 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35"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p:nvPr/>
        </p:nvSpPr>
        <p:spPr>
          <a:xfrm>
            <a:off x="457200" y="320040"/>
            <a:ext cx="11246760" cy="669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参考文献 — 引用作品</a:t>
            </a:r>
            <a:endParaRPr lang="en-US" sz="3800" b="0" u="none" strike="noStrike">
              <a:solidFill>
                <a:srgbClr val="FFFFFF"/>
              </a:solidFill>
              <a:effectLst/>
              <a:uFillTx/>
              <a:latin typeface="Arial"/>
            </a:endParaRPr>
          </a:p>
        </p:txBody>
      </p:sp>
      <p:sp>
        <p:nvSpPr>
          <p:cNvPr id="63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37" name="TextBox 3"/>
          <p:cNvSpPr/>
          <p:nvPr/>
        </p:nvSpPr>
        <p:spPr>
          <a:xfrm>
            <a:off x="457200" y="169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38" name="TextBox 4"/>
          <p:cNvSpPr/>
          <p:nvPr/>
        </p:nvSpPr>
        <p:spPr>
          <a:xfrm>
            <a:off x="777240" y="16642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Beaulieu, A. — Learning SQL, 2nd Edition (O'Reilly)</a:t>
            </a:r>
            <a:endParaRPr lang="en-US" sz="1600" b="0" u="none" strike="noStrike">
              <a:solidFill>
                <a:srgbClr val="FFFFFF"/>
              </a:solidFill>
              <a:effectLst/>
              <a:uFillTx/>
              <a:latin typeface="Arial"/>
            </a:endParaRPr>
          </a:p>
        </p:txBody>
      </p:sp>
      <p:sp>
        <p:nvSpPr>
          <p:cNvPr id="639" name="TextBox 5"/>
          <p:cNvSpPr/>
          <p:nvPr/>
        </p:nvSpPr>
        <p:spPr>
          <a:xfrm>
            <a:off x="457200" y="20026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0" name="TextBox 6"/>
          <p:cNvSpPr/>
          <p:nvPr/>
        </p:nvSpPr>
        <p:spPr>
          <a:xfrm>
            <a:off x="777240" y="197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Clarke, J. et al. — SQL Injection Attacks and Defense (Syngress)</a:t>
            </a:r>
            <a:endParaRPr lang="en-US" sz="1600" b="0" u="none" strike="noStrike">
              <a:solidFill>
                <a:srgbClr val="FFFFFF"/>
              </a:solidFill>
              <a:effectLst/>
              <a:uFillTx/>
              <a:latin typeface="Arial"/>
            </a:endParaRPr>
          </a:p>
        </p:txBody>
      </p:sp>
      <p:sp>
        <p:nvSpPr>
          <p:cNvPr id="641" name="TextBox 7"/>
          <p:cNvSpPr/>
          <p:nvPr/>
        </p:nvSpPr>
        <p:spPr>
          <a:xfrm>
            <a:off x="457200" y="231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2" name="TextBox 8"/>
          <p:cNvSpPr/>
          <p:nvPr/>
        </p:nvSpPr>
        <p:spPr>
          <a:xfrm>
            <a:off x="777240" y="228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Crowther, P. — Concise Guide to Databases (Springer, 2013)</a:t>
            </a:r>
            <a:endParaRPr lang="en-US" sz="1600" b="0" u="none" strike="noStrike">
              <a:solidFill>
                <a:srgbClr val="FFFFFF"/>
              </a:solidFill>
              <a:effectLst/>
              <a:uFillTx/>
              <a:latin typeface="Arial"/>
            </a:endParaRPr>
          </a:p>
        </p:txBody>
      </p:sp>
      <p:sp>
        <p:nvSpPr>
          <p:cNvPr id="643" name="TextBox 9"/>
          <p:cNvSpPr/>
          <p:nvPr/>
        </p:nvSpPr>
        <p:spPr>
          <a:xfrm>
            <a:off x="457200" y="26244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4" name="TextBox 10"/>
          <p:cNvSpPr/>
          <p:nvPr/>
        </p:nvSpPr>
        <p:spPr>
          <a:xfrm>
            <a:off x="777240" y="25970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DeBarros, A. — Practical SQL (No Starch Press)</a:t>
            </a:r>
            <a:endParaRPr lang="en-US" sz="1600" b="0" u="none" strike="noStrike">
              <a:solidFill>
                <a:srgbClr val="FFFFFF"/>
              </a:solidFill>
              <a:effectLst/>
              <a:uFillTx/>
              <a:latin typeface="Arial"/>
            </a:endParaRPr>
          </a:p>
        </p:txBody>
      </p:sp>
      <p:sp>
        <p:nvSpPr>
          <p:cNvPr id="645" name="TextBox 11"/>
          <p:cNvSpPr/>
          <p:nvPr/>
        </p:nvSpPr>
        <p:spPr>
          <a:xfrm>
            <a:off x="457200" y="29350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6" name="TextBox 12"/>
          <p:cNvSpPr/>
          <p:nvPr/>
        </p:nvSpPr>
        <p:spPr>
          <a:xfrm>
            <a:off x="777240" y="29077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Diogenes &amp; Ozkaya — Cybersecurity Attack and Defense Strategies (Packt)</a:t>
            </a:r>
            <a:endParaRPr lang="en-US" sz="1600" b="0" u="none" strike="noStrike">
              <a:solidFill>
                <a:srgbClr val="FFFFFF"/>
              </a:solidFill>
              <a:effectLst/>
              <a:uFillTx/>
              <a:latin typeface="Arial"/>
            </a:endParaRPr>
          </a:p>
        </p:txBody>
      </p:sp>
      <p:sp>
        <p:nvSpPr>
          <p:cNvPr id="647" name="TextBox 13"/>
          <p:cNvSpPr/>
          <p:nvPr/>
        </p:nvSpPr>
        <p:spPr>
          <a:xfrm>
            <a:off x="457200" y="32461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8" name="TextBox 14"/>
          <p:cNvSpPr/>
          <p:nvPr/>
        </p:nvSpPr>
        <p:spPr>
          <a:xfrm>
            <a:off x="777240" y="32187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Janca, T. — Alice and Bob Learn Application Security (Wiley)</a:t>
            </a:r>
            <a:endParaRPr lang="en-US" sz="1600" b="0" u="none" strike="noStrike">
              <a:solidFill>
                <a:srgbClr val="FFFFFF"/>
              </a:solidFill>
              <a:effectLst/>
              <a:uFillTx/>
              <a:latin typeface="Arial"/>
            </a:endParaRPr>
          </a:p>
        </p:txBody>
      </p:sp>
      <p:sp>
        <p:nvSpPr>
          <p:cNvPr id="649" name="TextBox 15"/>
          <p:cNvSpPr/>
          <p:nvPr/>
        </p:nvSpPr>
        <p:spPr>
          <a:xfrm>
            <a:off x="457200" y="35571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0" name="TextBox 16"/>
          <p:cNvSpPr/>
          <p:nvPr/>
        </p:nvSpPr>
        <p:spPr>
          <a:xfrm>
            <a:off x="777240" y="35294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Mishra &amp; Singh — PostgreSQL Development Essentials (Packt)</a:t>
            </a:r>
            <a:endParaRPr lang="en-US" sz="1600" b="0" u="none" strike="noStrike">
              <a:solidFill>
                <a:srgbClr val="FFFFFF"/>
              </a:solidFill>
              <a:effectLst/>
              <a:uFillTx/>
              <a:latin typeface="Arial"/>
            </a:endParaRPr>
          </a:p>
        </p:txBody>
      </p:sp>
      <p:sp>
        <p:nvSpPr>
          <p:cNvPr id="651" name="TextBox 17"/>
          <p:cNvSpPr/>
          <p:nvPr/>
        </p:nvSpPr>
        <p:spPr>
          <a:xfrm>
            <a:off x="457200" y="38678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2" name="TextBox 18"/>
          <p:cNvSpPr/>
          <p:nvPr/>
        </p:nvSpPr>
        <p:spPr>
          <a:xfrm>
            <a:off x="777240" y="38404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MongoDB Cookbook (Packt)  •  10gen — Top 5 NoSQL Considerations</a:t>
            </a:r>
            <a:endParaRPr lang="en-US" sz="1600" b="0" u="none" strike="noStrike">
              <a:solidFill>
                <a:srgbClr val="FFFFFF"/>
              </a:solidFill>
              <a:effectLst/>
              <a:uFillTx/>
              <a:latin typeface="Arial"/>
            </a:endParaRPr>
          </a:p>
        </p:txBody>
      </p:sp>
      <p:sp>
        <p:nvSpPr>
          <p:cNvPr id="653" name="TextBox 19"/>
          <p:cNvSpPr/>
          <p:nvPr/>
        </p:nvSpPr>
        <p:spPr>
          <a:xfrm>
            <a:off x="457200" y="41788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4" name="TextBox 20"/>
          <p:cNvSpPr/>
          <p:nvPr/>
        </p:nvSpPr>
        <p:spPr>
          <a:xfrm>
            <a:off x="777240" y="41515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OWASP Top 10 — 2025 版</a:t>
            </a:r>
            <a:endParaRPr lang="en-US" sz="1600" b="0" u="none" strike="noStrike">
              <a:solidFill>
                <a:srgbClr val="FFFFFF"/>
              </a:solidFill>
              <a:effectLst/>
              <a:uFillTx/>
              <a:latin typeface="Arial"/>
            </a:endParaRPr>
          </a:p>
        </p:txBody>
      </p:sp>
      <p:sp>
        <p:nvSpPr>
          <p:cNvPr id="655" name="TextBox 21"/>
          <p:cNvSpPr/>
          <p:nvPr/>
        </p:nvSpPr>
        <p:spPr>
          <a:xfrm>
            <a:off x="457200" y="44895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6" name="TextBox 22"/>
          <p:cNvSpPr/>
          <p:nvPr/>
        </p:nvSpPr>
        <p:spPr>
          <a:xfrm>
            <a:off x="777240" y="44622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Sharma, M. — Cosmos DB for MongoDB Developers (Apress, 2018)</a:t>
            </a:r>
            <a:endParaRPr lang="en-US" sz="1600" b="0" u="none" strike="noStrike">
              <a:solidFill>
                <a:srgbClr val="FFFFFF"/>
              </a:solidFill>
              <a:effectLst/>
              <a:uFillTx/>
              <a:latin typeface="Arial"/>
            </a:endParaRPr>
          </a:p>
        </p:txBody>
      </p:sp>
      <p:sp>
        <p:nvSpPr>
          <p:cNvPr id="657" name="TextBox 23"/>
          <p:cNvSpPr/>
          <p:nvPr/>
        </p:nvSpPr>
        <p:spPr>
          <a:xfrm>
            <a:off x="457200" y="48006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8" name="TextBox 24"/>
          <p:cNvSpPr/>
          <p:nvPr/>
        </p:nvSpPr>
        <p:spPr>
          <a:xfrm>
            <a:off x="777240" y="47732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Schneier, B. — Secrets and Lies (Wiley)</a:t>
            </a:r>
            <a:endParaRPr lang="en-US" sz="1600" b="0" u="none" strike="noStrike">
              <a:solidFill>
                <a:srgbClr val="FFFFFF"/>
              </a:solidFill>
              <a:effectLst/>
              <a:uFillTx/>
              <a:latin typeface="Arial"/>
            </a:endParaRPr>
          </a:p>
        </p:txBody>
      </p:sp>
      <p:sp>
        <p:nvSpPr>
          <p:cNvPr id="659" name="TextBox 25"/>
          <p:cNvSpPr/>
          <p:nvPr/>
        </p:nvSpPr>
        <p:spPr>
          <a:xfrm>
            <a:off x="457200" y="511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0" name="TextBox 26"/>
          <p:cNvSpPr/>
          <p:nvPr/>
        </p:nvSpPr>
        <p:spPr>
          <a:xfrm>
            <a:off x="777240" y="50839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Stuttard &amp; Pinto — Web Application Hacker's Handbook, 2nd Ed.</a:t>
            </a:r>
            <a:endParaRPr lang="en-US" sz="1600" b="0" u="none" strike="noStrike">
              <a:solidFill>
                <a:srgbClr val="FFFFFF"/>
              </a:solidFill>
              <a:effectLst/>
              <a:uFillTx/>
              <a:latin typeface="Arial"/>
            </a:endParaRPr>
          </a:p>
        </p:txBody>
      </p:sp>
      <p:sp>
        <p:nvSpPr>
          <p:cNvPr id="661" name="TextBox 27"/>
          <p:cNvSpPr/>
          <p:nvPr/>
        </p:nvSpPr>
        <p:spPr>
          <a:xfrm>
            <a:off x="457200" y="54223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2" name="TextBox 28"/>
          <p:cNvSpPr/>
          <p:nvPr/>
        </p:nvSpPr>
        <p:spPr>
          <a:xfrm>
            <a:off x="777240" y="539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Shostack, A. — Threat Modeling: Designing for Security (Wiley)</a:t>
            </a:r>
            <a:endParaRPr lang="en-US" sz="1600" b="0" u="none" strike="noStrike">
              <a:solidFill>
                <a:srgbClr val="FFFFFF"/>
              </a:solidFill>
              <a:effectLst/>
              <a:uFillTx/>
              <a:latin typeface="Arial"/>
            </a:endParaRPr>
          </a:p>
        </p:txBody>
      </p:sp>
      <p:sp>
        <p:nvSpPr>
          <p:cNvPr id="663" name="TextBox 29"/>
          <p:cNvSpPr/>
          <p:nvPr/>
        </p:nvSpPr>
        <p:spPr>
          <a:xfrm>
            <a:off x="457200" y="573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4" name="TextBox 30"/>
          <p:cNvSpPr/>
          <p:nvPr/>
        </p:nvSpPr>
        <p:spPr>
          <a:xfrm>
            <a:off x="777240" y="570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《AWS Administration: The Definitive Guide》（Packt）</a:t>
            </a:r>
            <a:endParaRPr lang="en-US" sz="1600" b="0" u="none" strike="noStrike">
              <a:solidFill>
                <a:srgbClr val="FFFFFF"/>
              </a:solidFill>
              <a:effectLst/>
              <a:uFillTx/>
              <a:latin typeface="Arial"/>
            </a:endParaRPr>
          </a:p>
        </p:txBody>
      </p:sp>
      <p:sp>
        <p:nvSpPr>
          <p:cNvPr id="665" name="TextBox 31"/>
          <p:cNvSpPr/>
          <p:nvPr/>
        </p:nvSpPr>
        <p:spPr>
          <a:xfrm>
            <a:off x="457200" y="60440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6" name="TextBox 32"/>
          <p:cNvSpPr/>
          <p:nvPr/>
        </p:nvSpPr>
        <p:spPr>
          <a:xfrm>
            <a:off x="777240" y="60166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《Fundamentals of Azure, 2nd Edition》（Microsoft Press）</a:t>
            </a:r>
            <a:endParaRPr lang="en-US" sz="1600" b="0" u="none" strike="noStrike">
              <a:solidFill>
                <a:srgbClr val="FFFFFF"/>
              </a:solidFill>
              <a:effectLst/>
              <a:uFillTx/>
              <a:latin typeface="Arial"/>
            </a:endParaRPr>
          </a:p>
        </p:txBody>
      </p:sp>
      <p:sp>
        <p:nvSpPr>
          <p:cNvPr id="667" name="TextBox 3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
        <p:nvSpPr>
          <p:cNvPr id="668" name="TextBox 34"/>
          <p:cNvSpPr/>
          <p:nvPr/>
        </p:nvSpPr>
        <p:spPr>
          <a:xfrm>
            <a:off x="10972800" y="6446520"/>
            <a:ext cx="1096920" cy="303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69" name="TextBox 1" descr="Questions and answers slide." title="Questions and answers slide."/>
          <p:cNvSpPr/>
          <p:nvPr/>
        </p:nvSpPr>
        <p:spPr>
          <a:xfrm>
            <a:off x="411840" y="1371600"/>
            <a:ext cx="11246760" cy="2832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0" b="1" u="none" strike="noStrike">
                <a:solidFill>
                  <a:srgbClr val="00FF41"/>
                </a:solidFill>
                <a:effectLst/>
                <a:uFillTx/>
                <a:latin typeface="Calibri"/>
              </a:rPr>
              <a:t>问答*</a:t>
            </a:r>
            <a:endParaRPr lang="en-US" sz="18000" b="0" u="none" strike="noStrike">
              <a:solidFill>
                <a:srgbClr val="FFFFFF"/>
              </a:solidFill>
              <a:effectLst/>
              <a:uFillTx/>
              <a:latin typeface="Arial"/>
            </a:endParaRPr>
          </a:p>
        </p:txBody>
      </p:sp>
      <p:sp>
        <p:nvSpPr>
          <p:cNvPr id="670" name="TextBox 2"/>
          <p:cNvSpPr/>
          <p:nvPr/>
        </p:nvSpPr>
        <p:spPr>
          <a:xfrm>
            <a:off x="457200" y="4754880"/>
            <a:ext cx="11246760" cy="63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答 == 茫然的目光</a:t>
            </a:r>
            <a:endParaRPr lang="en-US" sz="3600" b="0" u="none" strike="noStrike">
              <a:solidFill>
                <a:srgbClr val="FFFFFF"/>
              </a:solidFill>
              <a:effectLst/>
              <a:uFillTx/>
              <a:latin typeface="Arial"/>
            </a:endParaRPr>
          </a:p>
        </p:txBody>
      </p:sp>
      <p:sp>
        <p:nvSpPr>
          <p:cNvPr id="671" name="TextBox 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黑客数据库入门</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2026-06-04T07:38:35Z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