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D68741-070C-4AE3-AD19-11384171AC7E}"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1143000" y="685800"/>
            <a:ext cx="4571640" cy="3428640"/>
          </a:xfrm>
          <a:prstGeom prst="rect">
            <a:avLst/>
          </a:prstGeom>
          <a:ln w="0">
            <a:noFill/>
          </a:ln>
        </p:spPr>
      </p:sp>
      <p:sp>
        <p:nvSpPr>
          <p:cNvPr id="6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Welcome. This is a 45-minute talk for new security analysts. No computer-science background required. There's a script, slides, and a recording — nothing to memorize.</a:t>
            </a:r>
            <a:endParaRPr lang="en-US" sz="2000" b="0" u="none" strike="noStrike">
              <a:solidFill>
                <a:srgbClr val="000000"/>
              </a:solidFill>
              <a:effectLst/>
              <a:uFillTx/>
              <a:latin typeface="Arial"/>
            </a:endParaRPr>
          </a:p>
        </p:txBody>
      </p:sp>
      <p:sp>
        <p:nvSpPr>
          <p:cNvPr id="674"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BE1352F-AE15-4FB6-9A2D-D4F624A0138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1143000" y="685800"/>
            <a:ext cx="4571640" cy="3428640"/>
          </a:xfrm>
          <a:prstGeom prst="rect">
            <a:avLst/>
          </a:prstGeom>
          <a:ln w="0">
            <a:noFill/>
          </a:ln>
        </p:spPr>
      </p:sp>
      <p:sp>
        <p:nvSpPr>
          <p:cNvPr id="6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yourself. Aaron K. Clark, Ronin 48. Brief pause, let the audience settle.</a:t>
            </a:r>
            <a:endParaRPr lang="en-US" sz="2000" b="0" u="none" strike="noStrike">
              <a:solidFill>
                <a:srgbClr val="000000"/>
              </a:solidFill>
              <a:effectLst/>
              <a:uFillTx/>
              <a:latin typeface="Arial"/>
            </a:endParaRPr>
          </a:p>
        </p:txBody>
      </p:sp>
      <p:sp>
        <p:nvSpPr>
          <p:cNvPr id="677"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EEF7A2-6551-4F71-83DA-1861A6CB79E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1143000" y="685800"/>
            <a:ext cx="4571640" cy="3428640"/>
          </a:xfrm>
          <a:prstGeom prst="rect">
            <a:avLst/>
          </a:prstGeom>
          <a:ln w="0">
            <a:noFill/>
          </a:ln>
        </p:spPr>
      </p:sp>
      <p:sp>
        <p:nvSpPr>
          <p:cNvPr id="6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Equifax, Capital One, MOVEit, SolarWinds, T-Mobile, LinkedIn, OPM, Marriott — every one of those breaches ended at a database. Attackers care about data, not architecture diagrams. </a:t>
            </a:r>
            <a:br>
              <a:rPr sz="2000"/>
            </a:br>
            <a:br>
              <a:rPr sz="2000"/>
            </a:br>
            <a:r>
              <a:rPr lang="en-US" sz="2000" b="0" u="none" strike="noStrike">
                <a:solidFill>
                  <a:srgbClr val="000000"/>
                </a:solidFill>
                <a:effectLst/>
                <a:uFillTx/>
                <a:latin typeface="Arial"/>
              </a:rPr>
              <a:t>* Except where it didn’t</a:t>
            </a:r>
            <a:endParaRPr lang="en-US" sz="2000" b="0" u="none" strike="noStrike">
              <a:solidFill>
                <a:srgbClr val="000000"/>
              </a:solidFill>
              <a:effectLst/>
              <a:uFillTx/>
              <a:latin typeface="Arial"/>
            </a:endParaRPr>
          </a:p>
        </p:txBody>
      </p:sp>
      <p:sp>
        <p:nvSpPr>
          <p:cNvPr id="680"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C63972C-0984-4E8A-A148-C8688852C7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1143000" y="685800"/>
            <a:ext cx="4571640" cy="3428640"/>
          </a:xfrm>
          <a:prstGeom prst="rect">
            <a:avLst/>
          </a:prstGeom>
          <a:ln w="0">
            <a:noFill/>
          </a:ln>
        </p:spPr>
      </p:sp>
      <p:sp>
        <p:nvSpPr>
          <p:cNvPr id="6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Attackers don't care about your beautiful SPA or your microservices diagram. They care about the data — the crown jewels — because that's what converts into money, leverage, or headlines.</a:t>
            </a:r>
            <a:endParaRPr lang="en-US" sz="2000" b="0" u="none" strike="noStrike">
              <a:solidFill>
                <a:srgbClr val="000000"/>
              </a:solidFill>
              <a:effectLst/>
              <a:uFillTx/>
              <a:latin typeface="Arial"/>
            </a:endParaRPr>
          </a:p>
        </p:txBody>
      </p:sp>
      <p:sp>
        <p:nvSpPr>
          <p:cNvPr id="683"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CA42F3E-B692-43D2-8F9A-E2F0F74411C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1143000" y="685800"/>
            <a:ext cx="4571640" cy="3428640"/>
          </a:xfrm>
          <a:prstGeom prst="rect">
            <a:avLst/>
          </a:prstGeom>
          <a:ln w="0">
            <a:noFill/>
          </a:ln>
        </p:spPr>
      </p:sp>
      <p:sp>
        <p:nvSpPr>
          <p:cNvPr id="6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Strip the jargon: organized storage plus a query language. If you've used Ctrl-F in Excel, you've used a database. Real databases add scale, speed, concurrency, and a formal query language.</a:t>
            </a:r>
            <a:endParaRPr lang="en-US" sz="2000" b="0" u="none" strike="noStrike">
              <a:solidFill>
                <a:srgbClr val="000000"/>
              </a:solidFill>
              <a:effectLst/>
              <a:uFillTx/>
              <a:latin typeface="Arial"/>
            </a:endParaRPr>
          </a:p>
        </p:txBody>
      </p:sp>
      <p:sp>
        <p:nvSpPr>
          <p:cNvPr id="686"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3085B2-6AD0-4680-B019-05D1B1CA1C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1143000" y="685800"/>
            <a:ext cx="4571640" cy="3428640"/>
          </a:xfrm>
          <a:prstGeom prst="rect">
            <a:avLst/>
          </a:prstGeom>
          <a:ln w="0">
            <a:noFill/>
          </a:ln>
        </p:spPr>
      </p:sp>
      <p:sp>
        <p:nvSpPr>
          <p:cNvPr id="6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Memorize these six words and you can hold a real conversation with a DBA. Table is a tab, row is a record, column is an attribute, query is a question, schema is the shape, index is the bookmark. CRUD covers every action: create, read, update, delete.</a:t>
            </a:r>
            <a:endParaRPr lang="en-US" sz="2000" b="0" u="none" strike="noStrike">
              <a:solidFill>
                <a:srgbClr val="000000"/>
              </a:solidFill>
              <a:effectLst/>
              <a:uFillTx/>
              <a:latin typeface="Arial"/>
            </a:endParaRPr>
          </a:p>
        </p:txBody>
      </p:sp>
      <p:sp>
        <p:nvSpPr>
          <p:cNvPr id="689"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9D71965-AC47-4220-99FB-2E0429DD71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1143000" y="685800"/>
            <a:ext cx="4571640" cy="3428640"/>
          </a:xfrm>
          <a:prstGeom prst="rect">
            <a:avLst/>
          </a:prstGeom>
          <a:ln w="0">
            <a:noFill/>
          </a:ln>
        </p:spPr>
      </p:sp>
      <p:sp>
        <p:nvSpPr>
          <p:cNvPr id="6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weird thing you'll see in a real environment is a fossil from one of these eras. Knowing which era something comes from is a real superpower in incident response and pentesting.</a:t>
            </a:r>
            <a:endParaRPr lang="en-US" sz="2000" b="0" u="none" strike="noStrike">
              <a:solidFill>
                <a:srgbClr val="000000"/>
              </a:solidFill>
              <a:effectLst/>
              <a:uFillTx/>
              <a:latin typeface="Arial"/>
            </a:endParaRPr>
          </a:p>
        </p:txBody>
      </p:sp>
      <p:sp>
        <p:nvSpPr>
          <p:cNvPr id="692"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F4F706-402B-4506-8469-0C9D97D42C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1143000" y="685800"/>
            <a:ext cx="4571640" cy="3428640"/>
          </a:xfrm>
          <a:prstGeom prst="rect">
            <a:avLst/>
          </a:prstGeom>
          <a:ln w="0">
            <a:noFill/>
          </a:ln>
        </p:spPr>
      </p:sp>
      <p:sp>
        <p:nvSpPr>
          <p:cNvPr id="6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Ten families you'll meet in the wild. For each: what it stores, what it's for, key products, and the security gotcha.</a:t>
            </a:r>
            <a:endParaRPr lang="en-US" sz="2000" b="0" u="none" strike="noStrike">
              <a:solidFill>
                <a:srgbClr val="000000"/>
              </a:solidFill>
              <a:effectLst/>
              <a:uFillTx/>
              <a:latin typeface="Arial"/>
            </a:endParaRPr>
          </a:p>
        </p:txBody>
      </p:sp>
      <p:sp>
        <p:nvSpPr>
          <p:cNvPr id="695"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19C9-ED69-4663-B568-C458999B68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1143000" y="685800"/>
            <a:ext cx="4571640" cy="3428640"/>
          </a:xfrm>
          <a:prstGeom prst="rect">
            <a:avLst/>
          </a:prstGeom>
          <a:ln w="0">
            <a:noFill/>
          </a:ln>
        </p:spPr>
      </p:sp>
      <p:sp>
        <p:nvSpPr>
          <p:cNvPr id="6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 Relational / SQL. Products include PostgreSQL  •  MySQL/MariaDB  •  SQL Server  •  Oracle. Clear relationships, consistency required — finance, regulated data. Security gotcha: SQL injection when developers concatenate user input into queries.</a:t>
            </a:r>
            <a:endParaRPr lang="en-US" sz="2000" b="0" u="none" strike="noStrike">
              <a:solidFill>
                <a:srgbClr val="000000"/>
              </a:solidFill>
              <a:effectLst/>
              <a:uFillTx/>
              <a:latin typeface="Arial"/>
            </a:endParaRPr>
          </a:p>
        </p:txBody>
      </p:sp>
      <p:sp>
        <p:nvSpPr>
          <p:cNvPr id="698"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47FC2-2234-49D1-B8B2-6A98C64806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1143000" y="685800"/>
            <a:ext cx="4571640" cy="3428640"/>
          </a:xfrm>
          <a:prstGeom prst="rect">
            <a:avLst/>
          </a:prstGeom>
          <a:ln w="0">
            <a:noFill/>
          </a:ln>
        </p:spPr>
      </p:sp>
      <p:sp>
        <p:nvSpPr>
          <p:cNvPr id="7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2: Document Stores. Products include MongoDB  •  Couchbase  •  Firestore. Naturally nested data; the shape changes over time. Security gotcha: NoSQL injection via query operators ($ne, $gt, $where). Default no-auth.</a:t>
            </a:r>
            <a:endParaRPr lang="en-US" sz="2000" b="0" u="none" strike="noStrike">
              <a:solidFill>
                <a:srgbClr val="000000"/>
              </a:solidFill>
              <a:effectLst/>
              <a:uFillTx/>
              <a:latin typeface="Arial"/>
            </a:endParaRPr>
          </a:p>
        </p:txBody>
      </p:sp>
      <p:sp>
        <p:nvSpPr>
          <p:cNvPr id="701"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722488-A93E-41A1-8FBC-E82B81520A8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1143000" y="685800"/>
            <a:ext cx="4571640" cy="3428640"/>
          </a:xfrm>
          <a:prstGeom prst="rect">
            <a:avLst/>
          </a:prstGeom>
          <a:ln w="0">
            <a:noFill/>
          </a:ln>
        </p:spPr>
      </p:sp>
      <p:sp>
        <p:nvSpPr>
          <p:cNvPr id="7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3: Key-Value Stores. Products include Redis  •  Memcached  •  DynamoDB. Caches, session stores, rate limiters, leaderboards. Security gotcha: Default no-auth Redis + CONFIG SET → writing SSH keys to disk.</a:t>
            </a:r>
            <a:endParaRPr lang="en-US" sz="2000" b="0" u="none" strike="noStrike">
              <a:solidFill>
                <a:srgbClr val="000000"/>
              </a:solidFill>
              <a:effectLst/>
              <a:uFillTx/>
              <a:latin typeface="Arial"/>
            </a:endParaRPr>
          </a:p>
        </p:txBody>
      </p:sp>
      <p:sp>
        <p:nvSpPr>
          <p:cNvPr id="704"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A296E8-F0D1-499F-9EDD-8D848FA8A7C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1143000" y="685800"/>
            <a:ext cx="4571640" cy="3428640"/>
          </a:xfrm>
          <a:prstGeom prst="rect">
            <a:avLst/>
          </a:prstGeom>
          <a:ln w="0">
            <a:noFill/>
          </a:ln>
        </p:spPr>
      </p:sp>
      <p:sp>
        <p:nvSpPr>
          <p:cNvPr id="7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4: Column-Family. Products include Apache Cassandra  •  HBase  •  ScyllaDB. Massive scale across many machines; no complex joins needed. Security gotcha: Clusters trust each other on gossip ports — mgmt network = root.</a:t>
            </a:r>
            <a:endParaRPr lang="en-US" sz="2000" b="0" u="none" strike="noStrike">
              <a:solidFill>
                <a:srgbClr val="000000"/>
              </a:solidFill>
              <a:effectLst/>
              <a:uFillTx/>
              <a:latin typeface="Arial"/>
            </a:endParaRPr>
          </a:p>
        </p:txBody>
      </p:sp>
      <p:sp>
        <p:nvSpPr>
          <p:cNvPr id="707"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7A863D0-B30E-4FEC-9A1D-B82090AD8A4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1143000" y="685800"/>
            <a:ext cx="4571640" cy="3428640"/>
          </a:xfrm>
          <a:prstGeom prst="rect">
            <a:avLst/>
          </a:prstGeom>
          <a:ln w="0">
            <a:noFill/>
          </a:ln>
        </p:spPr>
      </p:sp>
      <p:sp>
        <p:nvSpPr>
          <p:cNvPr id="7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5: Graph Databases. Products include Neo4j  •  Amazon Neptune  •  ArangoDB. Social networks, fraud detection, IAM analysis (e.g. BloodHound). Security gotcha: Query languages like Cypher are injectable too. NoSQLi isn't just Mongo.</a:t>
            </a:r>
            <a:endParaRPr lang="en-US" sz="2000" b="0" u="none" strike="noStrike">
              <a:solidFill>
                <a:srgbClr val="000000"/>
              </a:solidFill>
              <a:effectLst/>
              <a:uFillTx/>
              <a:latin typeface="Arial"/>
            </a:endParaRPr>
          </a:p>
        </p:txBody>
      </p:sp>
      <p:sp>
        <p:nvSpPr>
          <p:cNvPr id="710"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AECD6E-E4FB-4F3A-B4B8-D918A888D7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1143000" y="685800"/>
            <a:ext cx="4571640" cy="3428640"/>
          </a:xfrm>
          <a:prstGeom prst="rect">
            <a:avLst/>
          </a:prstGeom>
          <a:ln w="0">
            <a:noFill/>
          </a:ln>
        </p:spPr>
      </p:sp>
      <p:sp>
        <p:nvSpPr>
          <p:cNvPr id="71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6: Search Engines. Products include Elasticsearch  •  OpenSearch  •  Solr. Log search, SIEM backbones, e-commerce site search. Security gotcha: No built-in auth historically — billions of records exposed on Shodan.</a:t>
            </a:r>
            <a:endParaRPr lang="en-US" sz="2000" b="0" u="none" strike="noStrike">
              <a:solidFill>
                <a:srgbClr val="000000"/>
              </a:solidFill>
              <a:effectLst/>
              <a:uFillTx/>
              <a:latin typeface="Arial"/>
            </a:endParaRPr>
          </a:p>
        </p:txBody>
      </p:sp>
      <p:sp>
        <p:nvSpPr>
          <p:cNvPr id="713"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65A6C1-FC86-46A8-B12C-80D3769A1E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1143000" y="685800"/>
            <a:ext cx="4571640" cy="3428640"/>
          </a:xfrm>
          <a:prstGeom prst="rect">
            <a:avLst/>
          </a:prstGeom>
          <a:ln w="0">
            <a:noFill/>
          </a:ln>
        </p:spPr>
      </p:sp>
      <p:sp>
        <p:nvSpPr>
          <p:cNvPr id="71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7: Time-Series. Products include InfluxDB  •  TimescaleDB  •  Prometheus. Metrics, observability, IoT telemetry. Security gotcha: Usually inside the perimeter, often unauthenticated.</a:t>
            </a:r>
            <a:endParaRPr lang="en-US" sz="2000" b="0" u="none" strike="noStrike">
              <a:solidFill>
                <a:srgbClr val="000000"/>
              </a:solidFill>
              <a:effectLst/>
              <a:uFillTx/>
              <a:latin typeface="Arial"/>
            </a:endParaRPr>
          </a:p>
        </p:txBody>
      </p:sp>
      <p:sp>
        <p:nvSpPr>
          <p:cNvPr id="716"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500C33-800C-43BF-A9C0-CDCEEC11A3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1143000" y="685800"/>
            <a:ext cx="4571640" cy="3428640"/>
          </a:xfrm>
          <a:prstGeom prst="rect">
            <a:avLst/>
          </a:prstGeom>
          <a:ln w="0">
            <a:noFill/>
          </a:ln>
        </p:spPr>
      </p:sp>
      <p:sp>
        <p:nvSpPr>
          <p:cNvPr id="71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8: Vector Databases. Products include Pinecone  •  Milvus  •  Weaviate  •  pgvector. RAG, recommendation engines, semantic search. Security gotcha: Data poisoning — sneak in a doc, the LLM quotes it as truth.</a:t>
            </a:r>
            <a:endParaRPr lang="en-US" sz="2000" b="0" u="none" strike="noStrike">
              <a:solidFill>
                <a:srgbClr val="000000"/>
              </a:solidFill>
              <a:effectLst/>
              <a:uFillTx/>
              <a:latin typeface="Arial"/>
            </a:endParaRPr>
          </a:p>
        </p:txBody>
      </p:sp>
      <p:sp>
        <p:nvSpPr>
          <p:cNvPr id="719"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7CBBC2-49BC-4CE4-9F20-2C89647A4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1143000" y="685800"/>
            <a:ext cx="4571640" cy="3428640"/>
          </a:xfrm>
          <a:prstGeom prst="rect">
            <a:avLst/>
          </a:prstGeom>
          <a:ln w="0">
            <a:noFill/>
          </a:ln>
        </p:spPr>
      </p:sp>
      <p:sp>
        <p:nvSpPr>
          <p:cNvPr id="72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9: Embedded / Edge. Products include SQLite  •  DuckDB  •  LevelDB. In-app storage — browsers, phones, every modern airplane. Security gotcha: DB is a file — attack is 'steal the file'. Mobile pentest world.</a:t>
            </a:r>
            <a:endParaRPr lang="en-US" sz="2000" b="0" u="none" strike="noStrike">
              <a:solidFill>
                <a:srgbClr val="000000"/>
              </a:solidFill>
              <a:effectLst/>
              <a:uFillTx/>
              <a:latin typeface="Arial"/>
            </a:endParaRPr>
          </a:p>
        </p:txBody>
      </p:sp>
      <p:sp>
        <p:nvSpPr>
          <p:cNvPr id="722"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18390-E5FA-4DE9-8805-1540285BAD5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1143000" y="685800"/>
            <a:ext cx="4571640" cy="3428640"/>
          </a:xfrm>
          <a:prstGeom prst="rect">
            <a:avLst/>
          </a:prstGeom>
          <a:ln w="0">
            <a:noFill/>
          </a:ln>
        </p:spPr>
      </p:sp>
      <p:sp>
        <p:nvSpPr>
          <p:cNvPr id="72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10: Data Lakes / Lakehouses. Products include S3 + Athena  •  Delta Lake  •  Iceberg  •  Snowflake. Schema-on-read instead of schema-on-write. Dump now, query later. Security gotcha: Giant S3 pools + permissive IAM, no encryption-at-rest enforcement.</a:t>
            </a:r>
            <a:endParaRPr lang="en-US" sz="2000" b="0" u="none" strike="noStrike">
              <a:solidFill>
                <a:srgbClr val="000000"/>
              </a:solidFill>
              <a:effectLst/>
              <a:uFillTx/>
              <a:latin typeface="Arial"/>
            </a:endParaRPr>
          </a:p>
        </p:txBody>
      </p:sp>
      <p:sp>
        <p:nvSpPr>
          <p:cNvPr id="725"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482BD9-25C3-445B-A76A-5B58C179018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1143000" y="685800"/>
            <a:ext cx="4571640" cy="3428640"/>
          </a:xfrm>
          <a:prstGeom prst="rect">
            <a:avLst/>
          </a:prstGeom>
          <a:ln w="0">
            <a:noFill/>
          </a:ln>
        </p:spPr>
      </p:sp>
      <p:sp>
        <p:nvSpPr>
          <p:cNvPr id="72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Know the cloud vendor names — that's how databases appear in alerts, IAM policies, and incident response. AWS RDS/Aurora, GCP Cloud SQL, Azure SQL. Document side: DynamoDB, Firestore, Cosmos DB.</a:t>
            </a:r>
            <a:endParaRPr lang="en-US" sz="2000" b="0" u="none" strike="noStrike">
              <a:solidFill>
                <a:srgbClr val="000000"/>
              </a:solidFill>
              <a:effectLst/>
              <a:uFillTx/>
              <a:latin typeface="Arial"/>
            </a:endParaRPr>
          </a:p>
        </p:txBody>
      </p:sp>
      <p:sp>
        <p:nvSpPr>
          <p:cNvPr id="728"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51E937-AB40-4E5E-BC61-E8434BCF803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1143000" y="685800"/>
            <a:ext cx="4571640" cy="3428640"/>
          </a:xfrm>
          <a:prstGeom prst="rect">
            <a:avLst/>
          </a:prstGeom>
          <a:ln w="0">
            <a:noFill/>
          </a:ln>
        </p:spPr>
      </p:sp>
      <p:sp>
        <p:nvSpPr>
          <p:cNvPr id="73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Side-by-side table. Memorize the row labels — those are the categories. The vendor columns rotate with the market.</a:t>
            </a:r>
            <a:endParaRPr lang="en-US" sz="2000" b="0" u="none" strike="noStrike">
              <a:solidFill>
                <a:srgbClr val="000000"/>
              </a:solidFill>
              <a:effectLst/>
              <a:uFillTx/>
              <a:latin typeface="Arial"/>
            </a:endParaRPr>
          </a:p>
        </p:txBody>
      </p:sp>
      <p:sp>
        <p:nvSpPr>
          <p:cNvPr id="731"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14DDBB-53E0-469E-B433-5D45616EC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1143000" y="685800"/>
            <a:ext cx="4571640" cy="3428640"/>
          </a:xfrm>
          <a:prstGeom prst="rect">
            <a:avLst/>
          </a:prstGeom>
          <a:ln w="0">
            <a:noFill/>
          </a:ln>
        </p:spPr>
      </p:sp>
      <p:sp>
        <p:nvSpPr>
          <p:cNvPr id="73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vendor patches hypervisor and engine. You own config, IAM, and the data. Almost every cloud DB breach is a customer-side misconfiguration — public S3, wide security group, snapshot shared to wrong account.</a:t>
            </a:r>
            <a:endParaRPr lang="en-US" sz="2000" b="0" u="none" strike="noStrike">
              <a:solidFill>
                <a:srgbClr val="000000"/>
              </a:solidFill>
              <a:effectLst/>
              <a:uFillTx/>
              <a:latin typeface="Arial"/>
            </a:endParaRPr>
          </a:p>
        </p:txBody>
      </p:sp>
      <p:sp>
        <p:nvSpPr>
          <p:cNvPr id="734"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C78ED2F-D546-4142-950D-3EC2423A67D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1143000" y="685800"/>
            <a:ext cx="4571640" cy="3428640"/>
          </a:xfrm>
          <a:prstGeom prst="rect">
            <a:avLst/>
          </a:prstGeom>
          <a:ln w="0">
            <a:noFill/>
          </a:ln>
        </p:spPr>
      </p:sp>
      <p:sp>
        <p:nvSpPr>
          <p:cNvPr id="73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SOC analysts use these every day. Pentesters scan for them every day. If you see any of these exposed to the internet in a real environment, that's a finding.</a:t>
            </a:r>
            <a:endParaRPr lang="en-US" sz="2000" b="0" u="none" strike="noStrike">
              <a:solidFill>
                <a:srgbClr val="000000"/>
              </a:solidFill>
              <a:effectLst/>
              <a:uFillTx/>
              <a:latin typeface="Arial"/>
            </a:endParaRPr>
          </a:p>
        </p:txBody>
      </p:sp>
      <p:sp>
        <p:nvSpPr>
          <p:cNvPr id="737"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75702B6-EEA3-480B-92CD-409423D7B15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1143000" y="685800"/>
            <a:ext cx="4571640" cy="3428640"/>
          </a:xfrm>
          <a:prstGeom prst="rect">
            <a:avLst/>
          </a:prstGeom>
          <a:ln w="0">
            <a:noFill/>
          </a:ln>
        </p:spPr>
      </p:sp>
      <p:sp>
        <p:nvSpPr>
          <p:cNvPr id="73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Markdown files are a database now — literally. Folder of .md files → embedder → vector DB → LLM prompt. This pattern is called RAG.</a:t>
            </a:r>
            <a:endParaRPr lang="en-US" sz="2000" b="0" u="none" strike="noStrike">
              <a:solidFill>
                <a:srgbClr val="000000"/>
              </a:solidFill>
              <a:effectLst/>
              <a:uFillTx/>
              <a:latin typeface="Arial"/>
            </a:endParaRPr>
          </a:p>
        </p:txBody>
      </p:sp>
      <p:sp>
        <p:nvSpPr>
          <p:cNvPr id="740"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909F91F-7AF8-429D-8850-C5E25E78A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1143000" y="685800"/>
            <a:ext cx="4571640" cy="3428640"/>
          </a:xfrm>
          <a:prstGeom prst="rect">
            <a:avLst/>
          </a:prstGeom>
          <a:ln w="0">
            <a:noFill/>
          </a:ln>
        </p:spPr>
      </p:sp>
      <p:sp>
        <p:nvSpPr>
          <p:cNvPr id="74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Trust boundary is between whoever writes markdown and the embedder. Anyone who can edit those files can plant content the LLM will quote.</a:t>
            </a:r>
            <a:endParaRPr lang="en-US" sz="2000" b="0" u="none" strike="noStrike">
              <a:solidFill>
                <a:srgbClr val="000000"/>
              </a:solidFill>
              <a:effectLst/>
              <a:uFillTx/>
              <a:latin typeface="Arial"/>
            </a:endParaRPr>
          </a:p>
        </p:txBody>
      </p:sp>
      <p:sp>
        <p:nvSpPr>
          <p:cNvPr id="743"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BBC146-01C7-4455-8D7A-6D9B6423C1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1143000" y="685800"/>
            <a:ext cx="4571640" cy="3428640"/>
          </a:xfrm>
          <a:prstGeom prst="rect">
            <a:avLst/>
          </a:prstGeom>
          <a:ln w="0">
            <a:noFill/>
          </a:ln>
        </p:spPr>
      </p:sp>
      <p:sp>
        <p:nvSpPr>
          <p:cNvPr id="74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your org is doing any kind of internal AI assistant, the markdown files feeding it are infrastructure. Treat them like infrastructure.</a:t>
            </a:r>
            <a:endParaRPr lang="en-US" sz="2000" b="0" u="none" strike="noStrike">
              <a:solidFill>
                <a:srgbClr val="000000"/>
              </a:solidFill>
              <a:effectLst/>
              <a:uFillTx/>
              <a:latin typeface="Arial"/>
            </a:endParaRPr>
          </a:p>
        </p:txBody>
      </p:sp>
      <p:sp>
        <p:nvSpPr>
          <p:cNvPr id="746"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99AB81-F463-4ECE-BADF-3EC60FDF43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1143000" y="685800"/>
            <a:ext cx="4571640" cy="3428640"/>
          </a:xfrm>
          <a:prstGeom prst="rect">
            <a:avLst/>
          </a:prstGeom>
          <a:ln w="0">
            <a:noFill/>
          </a:ln>
        </p:spPr>
      </p:sp>
      <p:sp>
        <p:nvSpPr>
          <p:cNvPr id="74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Section divider: SECURITY — What's actually getting hit in 2026</a:t>
            </a:r>
            <a:endParaRPr lang="en-US" sz="2000" b="0" u="none" strike="noStrike">
              <a:solidFill>
                <a:srgbClr val="000000"/>
              </a:solidFill>
              <a:effectLst/>
              <a:uFillTx/>
              <a:latin typeface="Arial"/>
            </a:endParaRPr>
          </a:p>
        </p:txBody>
      </p:sp>
      <p:sp>
        <p:nvSpPr>
          <p:cNvPr id="749"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CBBF95-5D12-476F-9F77-4EC9F8DC0B4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1143000" y="685800"/>
            <a:ext cx="4571640" cy="3428640"/>
          </a:xfrm>
          <a:prstGeom prst="rect">
            <a:avLst/>
          </a:prstGeom>
          <a:ln w="0">
            <a:noFill/>
          </a:ln>
        </p:spPr>
      </p:sp>
      <p:sp>
        <p:nvSpPr>
          <p:cNvPr id="75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famous database attack of all time. xkcd #327. Mom names her kid Robert'); DROP TABLE Students;-- and the school's database disappears because someone built a query by gluing strings. Fix is parameterized queries.</a:t>
            </a:r>
            <a:endParaRPr lang="en-US" sz="2000" b="0" u="none" strike="noStrike">
              <a:solidFill>
                <a:srgbClr val="000000"/>
              </a:solidFill>
              <a:effectLst/>
              <a:uFillTx/>
              <a:latin typeface="Arial"/>
            </a:endParaRPr>
          </a:p>
        </p:txBody>
      </p:sp>
      <p:sp>
        <p:nvSpPr>
          <p:cNvPr id="752"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1F060F0-AA9B-4352-A15A-0DD56FCDB4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1143000" y="685800"/>
            <a:ext cx="4571640" cy="3428640"/>
          </a:xfrm>
          <a:prstGeom prst="rect">
            <a:avLst/>
          </a:prstGeom>
          <a:ln w="0">
            <a:noFill/>
          </a:ln>
        </p:spPr>
      </p:sp>
      <p:sp>
        <p:nvSpPr>
          <p:cNvPr id="75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SQL injection is a success story — parameterized queries fixed it. But the attack surface didn't shrink, it expanded into new shapes.</a:t>
            </a:r>
            <a:endParaRPr lang="en-US" sz="2000" b="0" u="none" strike="noStrike">
              <a:solidFill>
                <a:srgbClr val="000000"/>
              </a:solidFill>
              <a:effectLst/>
              <a:uFillTx/>
              <a:latin typeface="Arial"/>
            </a:endParaRPr>
          </a:p>
        </p:txBody>
      </p:sp>
      <p:sp>
        <p:nvSpPr>
          <p:cNvPr id="755" name="PlaceHolder 3"/>
          <p:cNvSpPr>
            <a:spLocks noGrp="1"/>
          </p:cNvSpPr>
          <p:nvPr>
            <p:ph type="sldNum" idx="6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1F2106A-BDF7-46A1-8E10-09CAA59042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1143000" y="685800"/>
            <a:ext cx="4571640" cy="3428640"/>
          </a:xfrm>
          <a:prstGeom prst="rect">
            <a:avLst/>
          </a:prstGeom>
          <a:ln w="0">
            <a:noFill/>
          </a:ln>
        </p:spPr>
      </p:sp>
      <p:sp>
        <p:nvSpPr>
          <p:cNvPr id="75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endParaRPr lang="en-US" sz="2000" b="0" u="none" strike="noStrike">
              <a:solidFill>
                <a:srgbClr val="000000"/>
              </a:solidFill>
              <a:effectLst/>
              <a:uFillTx/>
              <a:latin typeface="Arial"/>
            </a:endParaRPr>
          </a:p>
        </p:txBody>
      </p:sp>
      <p:sp>
        <p:nvSpPr>
          <p:cNvPr id="758" name="PlaceHolder 3"/>
          <p:cNvSpPr>
            <a:spLocks noGrp="1"/>
          </p:cNvSpPr>
          <p:nvPr>
            <p:ph type="sldNum" idx="6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413CF6D-E3CC-4C91-BB61-857F039D5C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1143000" y="685800"/>
            <a:ext cx="4571640" cy="3428640"/>
          </a:xfrm>
          <a:prstGeom prst="rect">
            <a:avLst/>
          </a:prstGeom>
          <a:ln w="0">
            <a:noFill/>
          </a:ln>
        </p:spPr>
      </p:sp>
      <p:sp>
        <p:nvSpPr>
          <p:cNvPr id="76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endParaRPr lang="en-US" sz="2000" b="0" u="none" strike="noStrike">
              <a:solidFill>
                <a:srgbClr val="000000"/>
              </a:solidFill>
              <a:effectLst/>
              <a:uFillTx/>
              <a:latin typeface="Arial"/>
            </a:endParaRPr>
          </a:p>
        </p:txBody>
      </p:sp>
      <p:sp>
        <p:nvSpPr>
          <p:cNvPr id="761" name="PlaceHolder 3"/>
          <p:cNvSpPr>
            <a:spLocks noGrp="1"/>
          </p:cNvSpPr>
          <p:nvPr>
            <p:ph type="sldNum" idx="6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F14A9EA-BC2F-44A5-A1B7-D0C477DE50F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1143000" y="685800"/>
            <a:ext cx="4571640" cy="3428640"/>
          </a:xfrm>
          <a:prstGeom prst="rect">
            <a:avLst/>
          </a:prstGeom>
          <a:ln w="0">
            <a:noFill/>
          </a:ln>
        </p:spPr>
      </p:sp>
      <p:sp>
        <p:nvSpPr>
          <p:cNvPr id="76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endParaRPr lang="en-US" sz="2000" b="0" u="none" strike="noStrike">
              <a:solidFill>
                <a:srgbClr val="000000"/>
              </a:solidFill>
              <a:effectLst/>
              <a:uFillTx/>
              <a:latin typeface="Arial"/>
            </a:endParaRPr>
          </a:p>
        </p:txBody>
      </p:sp>
      <p:sp>
        <p:nvSpPr>
          <p:cNvPr id="764" name="PlaceHolder 3"/>
          <p:cNvSpPr>
            <a:spLocks noGrp="1"/>
          </p:cNvSpPr>
          <p:nvPr>
            <p:ph type="sldNum" idx="6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4CBB130-6887-4D3E-91E0-9561BD97F9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1143000" y="685800"/>
            <a:ext cx="4571640" cy="3428640"/>
          </a:xfrm>
          <a:prstGeom prst="rect">
            <a:avLst/>
          </a:prstGeom>
          <a:ln w="0">
            <a:noFill/>
          </a:ln>
        </p:spPr>
      </p:sp>
      <p:sp>
        <p:nvSpPr>
          <p:cNvPr id="76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endParaRPr lang="en-US" sz="2000" b="0" u="none" strike="noStrike">
              <a:solidFill>
                <a:srgbClr val="000000"/>
              </a:solidFill>
              <a:effectLst/>
              <a:uFillTx/>
              <a:latin typeface="Arial"/>
            </a:endParaRPr>
          </a:p>
        </p:txBody>
      </p:sp>
      <p:sp>
        <p:nvSpPr>
          <p:cNvPr id="767" name="PlaceHolder 3"/>
          <p:cNvSpPr>
            <a:spLocks noGrp="1"/>
          </p:cNvSpPr>
          <p:nvPr>
            <p:ph type="sldNum" idx="6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D053435-AB42-4381-A58A-2176026FB6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1143000" y="685800"/>
            <a:ext cx="4571640" cy="3428640"/>
          </a:xfrm>
          <a:prstGeom prst="rect">
            <a:avLst/>
          </a:prstGeom>
          <a:ln w="0">
            <a:noFill/>
          </a:ln>
        </p:spPr>
      </p:sp>
      <p:sp>
        <p:nvSpPr>
          <p:cNvPr id="76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endParaRPr lang="en-US" sz="2000" b="0" u="none" strike="noStrike">
              <a:solidFill>
                <a:srgbClr val="000000"/>
              </a:solidFill>
              <a:effectLst/>
              <a:uFillTx/>
              <a:latin typeface="Arial"/>
            </a:endParaRPr>
          </a:p>
        </p:txBody>
      </p:sp>
      <p:sp>
        <p:nvSpPr>
          <p:cNvPr id="770" name="PlaceHolder 3"/>
          <p:cNvSpPr>
            <a:spLocks noGrp="1"/>
          </p:cNvSpPr>
          <p:nvPr>
            <p:ph type="sldNum" idx="6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CC1B3C1-4D54-435F-911C-D4ABC6AE5B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1143000" y="685800"/>
            <a:ext cx="4571640" cy="3428640"/>
          </a:xfrm>
          <a:prstGeom prst="rect">
            <a:avLst/>
          </a:prstGeom>
          <a:ln w="0">
            <a:noFill/>
          </a:ln>
        </p:spPr>
      </p:sp>
      <p:sp>
        <p:nvSpPr>
          <p:cNvPr id="77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endParaRPr lang="en-US" sz="2000" b="0" u="none" strike="noStrike">
              <a:solidFill>
                <a:srgbClr val="000000"/>
              </a:solidFill>
              <a:effectLst/>
              <a:uFillTx/>
              <a:latin typeface="Arial"/>
            </a:endParaRPr>
          </a:p>
        </p:txBody>
      </p:sp>
      <p:sp>
        <p:nvSpPr>
          <p:cNvPr id="773" name="PlaceHolder 3"/>
          <p:cNvSpPr>
            <a:spLocks noGrp="1"/>
          </p:cNvSpPr>
          <p:nvPr>
            <p:ph type="sldNum" idx="7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FE2354-ED73-459D-BC3D-9F3FC30FDD8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1143000" y="685800"/>
            <a:ext cx="4571640" cy="3428640"/>
          </a:xfrm>
          <a:prstGeom prst="rect">
            <a:avLst/>
          </a:prstGeom>
          <a:ln w="0">
            <a:noFill/>
          </a:ln>
        </p:spPr>
      </p:sp>
      <p:sp>
        <p:nvSpPr>
          <p:cNvPr id="77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endParaRPr lang="en-US" sz="2000" b="0" u="none" strike="noStrike">
              <a:solidFill>
                <a:srgbClr val="000000"/>
              </a:solidFill>
              <a:effectLst/>
              <a:uFillTx/>
              <a:latin typeface="Arial"/>
            </a:endParaRPr>
          </a:p>
        </p:txBody>
      </p:sp>
      <p:sp>
        <p:nvSpPr>
          <p:cNvPr id="776" name="PlaceHolder 3"/>
          <p:cNvSpPr>
            <a:spLocks noGrp="1"/>
          </p:cNvSpPr>
          <p:nvPr>
            <p:ph type="sldNum" idx="7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B317AD9-5830-4F78-839E-A4E2738C77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1143000" y="685800"/>
            <a:ext cx="4571640" cy="3428640"/>
          </a:xfrm>
          <a:prstGeom prst="rect">
            <a:avLst/>
          </a:prstGeom>
          <a:ln w="0">
            <a:noFill/>
          </a:ln>
        </p:spPr>
      </p:sp>
      <p:sp>
        <p:nvSpPr>
          <p:cNvPr id="77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endParaRPr lang="en-US" sz="2000" b="0" u="none" strike="noStrike">
              <a:solidFill>
                <a:srgbClr val="000000"/>
              </a:solidFill>
              <a:effectLst/>
              <a:uFillTx/>
              <a:latin typeface="Arial"/>
            </a:endParaRPr>
          </a:p>
        </p:txBody>
      </p:sp>
      <p:sp>
        <p:nvSpPr>
          <p:cNvPr id="779" name="PlaceHolder 3"/>
          <p:cNvSpPr>
            <a:spLocks noGrp="1"/>
          </p:cNvSpPr>
          <p:nvPr>
            <p:ph type="sldNum" idx="7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4FD9980-AF43-4E65-B484-98B1E2AD72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1143000" y="685800"/>
            <a:ext cx="4571640" cy="3428640"/>
          </a:xfrm>
          <a:prstGeom prst="rect">
            <a:avLst/>
          </a:prstGeom>
          <a:ln w="0">
            <a:noFill/>
          </a:ln>
        </p:spPr>
      </p:sp>
      <p:sp>
        <p:nvSpPr>
          <p:cNvPr id="7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endParaRPr lang="en-US" sz="2000" b="0" u="none" strike="noStrike">
              <a:solidFill>
                <a:srgbClr val="000000"/>
              </a:solidFill>
              <a:effectLst/>
              <a:uFillTx/>
              <a:latin typeface="Arial"/>
            </a:endParaRPr>
          </a:p>
        </p:txBody>
      </p:sp>
      <p:sp>
        <p:nvSpPr>
          <p:cNvPr id="782" name="PlaceHolder 3"/>
          <p:cNvSpPr>
            <a:spLocks noGrp="1"/>
          </p:cNvSpPr>
          <p:nvPr>
            <p:ph type="sldNum" idx="7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13E76A-4F00-4D84-A61A-5BDDF63D75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1143000" y="685800"/>
            <a:ext cx="4571640" cy="3428640"/>
          </a:xfrm>
          <a:prstGeom prst="rect">
            <a:avLst/>
          </a:prstGeom>
          <a:ln w="0">
            <a:noFill/>
          </a:ln>
        </p:spPr>
      </p:sp>
      <p:sp>
        <p:nvSpPr>
          <p:cNvPr id="7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endParaRPr lang="en-US" sz="2000" b="0" u="none" strike="noStrike">
              <a:solidFill>
                <a:srgbClr val="000000"/>
              </a:solidFill>
              <a:effectLst/>
              <a:uFillTx/>
              <a:latin typeface="Arial"/>
            </a:endParaRPr>
          </a:p>
        </p:txBody>
      </p:sp>
      <p:sp>
        <p:nvSpPr>
          <p:cNvPr id="785" name="PlaceHolder 3"/>
          <p:cNvSpPr>
            <a:spLocks noGrp="1"/>
          </p:cNvSpPr>
          <p:nvPr>
            <p:ph type="sldNum" idx="7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D5ACF6D-C176-4605-9956-196272BAC8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1143000" y="685800"/>
            <a:ext cx="4571640" cy="3428640"/>
          </a:xfrm>
          <a:prstGeom prst="rect">
            <a:avLst/>
          </a:prstGeom>
          <a:ln w="0">
            <a:noFill/>
          </a:ln>
        </p:spPr>
      </p:sp>
      <p:sp>
        <p:nvSpPr>
          <p:cNvPr id="7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endParaRPr lang="en-US" sz="2000" b="0" u="none" strike="noStrike">
              <a:solidFill>
                <a:srgbClr val="000000"/>
              </a:solidFill>
              <a:effectLst/>
              <a:uFillTx/>
              <a:latin typeface="Arial"/>
            </a:endParaRPr>
          </a:p>
        </p:txBody>
      </p:sp>
      <p:sp>
        <p:nvSpPr>
          <p:cNvPr id="788" name="PlaceHolder 3"/>
          <p:cNvSpPr>
            <a:spLocks noGrp="1"/>
          </p:cNvSpPr>
          <p:nvPr>
            <p:ph type="sldNum" idx="7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2D936D3-ADB3-4A6A-AB7C-E4D68629B4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1143000" y="685800"/>
            <a:ext cx="4571640" cy="3428640"/>
          </a:xfrm>
          <a:prstGeom prst="rect">
            <a:avLst/>
          </a:prstGeom>
          <a:ln w="0">
            <a:noFill/>
          </a:ln>
        </p:spPr>
      </p:sp>
      <p:sp>
        <p:nvSpPr>
          <p:cNvPr id="7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Recap. Database is storage + questions. Ten families. Cloud is shared responsibility. Markdown is a database for LLMs. SQLi got fixed but the surface expanded.</a:t>
            </a:r>
            <a:endParaRPr lang="en-US" sz="2000" b="0" u="none" strike="noStrike">
              <a:solidFill>
                <a:srgbClr val="000000"/>
              </a:solidFill>
              <a:effectLst/>
              <a:uFillTx/>
              <a:latin typeface="Arial"/>
            </a:endParaRPr>
          </a:p>
        </p:txBody>
      </p:sp>
      <p:sp>
        <p:nvSpPr>
          <p:cNvPr id="791" name="PlaceHolder 3"/>
          <p:cNvSpPr>
            <a:spLocks noGrp="1"/>
          </p:cNvSpPr>
          <p:nvPr>
            <p:ph type="sldNum" idx="7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EB4DE6A-D90B-4591-B0D1-ADF241B22F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1143000" y="685800"/>
            <a:ext cx="4571640" cy="3428640"/>
          </a:xfrm>
          <a:prstGeom prst="rect">
            <a:avLst/>
          </a:prstGeom>
          <a:ln w="0">
            <a:noFill/>
          </a:ln>
        </p:spPr>
      </p:sp>
      <p:sp>
        <p:nvSpPr>
          <p:cNvPr id="7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concrete next-week actions. Install Postgres. PortSwigger labs. Browse Shodan legally. Read a breach report. List your org's DBs.</a:t>
            </a:r>
            <a:endParaRPr lang="en-US" sz="2000" b="0" u="none" strike="noStrike">
              <a:solidFill>
                <a:srgbClr val="000000"/>
              </a:solidFill>
              <a:effectLst/>
              <a:uFillTx/>
              <a:latin typeface="Arial"/>
            </a:endParaRPr>
          </a:p>
        </p:txBody>
      </p:sp>
      <p:sp>
        <p:nvSpPr>
          <p:cNvPr id="794" name="PlaceHolder 3"/>
          <p:cNvSpPr>
            <a:spLocks noGrp="1"/>
          </p:cNvSpPr>
          <p:nvPr>
            <p:ph type="sldNum" idx="7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A7A93D3-EDA2-4325-92C2-C804C842FB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1143000" y="685800"/>
            <a:ext cx="4571640" cy="3428640"/>
          </a:xfrm>
          <a:prstGeom prst="rect">
            <a:avLst/>
          </a:prstGeom>
          <a:ln w="0">
            <a:noFill/>
          </a:ln>
        </p:spPr>
      </p:sp>
      <p:sp>
        <p:nvSpPr>
          <p:cNvPr id="7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PortSwigger for SQLi labs. SQLBolt for learning SQL. Use The Index, Luke for deep DB internals. DB-Engines for popularity rankings. OWASP Top 10 for the canonical web vuln list.</a:t>
            </a:r>
            <a:endParaRPr lang="en-US" sz="2000" b="0" u="none" strike="noStrike">
              <a:solidFill>
                <a:srgbClr val="000000"/>
              </a:solidFill>
              <a:effectLst/>
              <a:uFillTx/>
              <a:latin typeface="Arial"/>
            </a:endParaRPr>
          </a:p>
        </p:txBody>
      </p:sp>
      <p:sp>
        <p:nvSpPr>
          <p:cNvPr id="797" name="PlaceHolder 3"/>
          <p:cNvSpPr>
            <a:spLocks noGrp="1"/>
          </p:cNvSpPr>
          <p:nvPr>
            <p:ph type="sldNum" idx="7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0B38DE-DF95-42F1-98E6-6B22CD48F3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1143000" y="685800"/>
            <a:ext cx="4571640" cy="3428640"/>
          </a:xfrm>
          <a:prstGeom prst="rect">
            <a:avLst/>
          </a:prstGeom>
          <a:ln w="0">
            <a:noFill/>
          </a:ln>
        </p:spPr>
      </p:sp>
      <p:sp>
        <p:nvSpPr>
          <p:cNvPr id="7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Willie Sutton said he robbed banks because that's where the money was. In 2026, the money is in databases.</a:t>
            </a:r>
            <a:endParaRPr lang="en-US" sz="2000" b="0" u="none" strike="noStrike">
              <a:solidFill>
                <a:srgbClr val="000000"/>
              </a:solidFill>
              <a:effectLst/>
              <a:uFillTx/>
              <a:latin typeface="Arial"/>
            </a:endParaRPr>
          </a:p>
        </p:txBody>
      </p:sp>
      <p:sp>
        <p:nvSpPr>
          <p:cNvPr id="800" name="PlaceHolder 3"/>
          <p:cNvSpPr>
            <a:spLocks noGrp="1"/>
          </p:cNvSpPr>
          <p:nvPr>
            <p:ph type="sldNum" idx="7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537C0A-B6AD-43BC-9712-4F7C5B98A24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1143000" y="685800"/>
            <a:ext cx="4571640" cy="3428640"/>
          </a:xfrm>
          <a:prstGeom prst="rect">
            <a:avLst/>
          </a:prstGeom>
          <a:ln w="0">
            <a:noFill/>
          </a:ln>
        </p:spPr>
      </p:sp>
      <p:sp>
        <p:nvSpPr>
          <p:cNvPr id="8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books cited throughout the talk. Worth picking any of these up — they're the durable references.</a:t>
            </a:r>
            <a:endParaRPr lang="en-US" sz="2000" b="0" u="none" strike="noStrike">
              <a:solidFill>
                <a:srgbClr val="000000"/>
              </a:solidFill>
              <a:effectLst/>
              <a:uFillTx/>
              <a:latin typeface="Arial"/>
            </a:endParaRPr>
          </a:p>
        </p:txBody>
      </p:sp>
      <p:sp>
        <p:nvSpPr>
          <p:cNvPr id="803" name="PlaceHolder 3"/>
          <p:cNvSpPr>
            <a:spLocks noGrp="1"/>
          </p:cNvSpPr>
          <p:nvPr>
            <p:ph type="sldNum" idx="8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F3B69F-F765-4B16-A63E-7C87CA6FB7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1143000" y="685800"/>
            <a:ext cx="4571640" cy="3428640"/>
          </a:xfrm>
          <a:prstGeom prst="rect">
            <a:avLst/>
          </a:prstGeom>
          <a:ln w="0">
            <a:noFill/>
          </a:ln>
        </p:spPr>
      </p:sp>
      <p:sp>
        <p:nvSpPr>
          <p:cNvPr id="8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the floor for five minutes of questions.</a:t>
            </a:r>
            <a:endParaRPr lang="en-US" sz="2000" b="0" u="none" strike="noStrike">
              <a:solidFill>
                <a:srgbClr val="000000"/>
              </a:solidFill>
              <a:effectLst/>
              <a:uFillTx/>
              <a:latin typeface="Arial"/>
            </a:endParaRPr>
          </a:p>
        </p:txBody>
      </p:sp>
      <p:sp>
        <p:nvSpPr>
          <p:cNvPr id="806" name="PlaceHolder 3"/>
          <p:cNvSpPr>
            <a:spLocks noGrp="1"/>
          </p:cNvSpPr>
          <p:nvPr>
            <p:ph type="sldNum" idx="8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A9EFEC3-B900-46E9-BB49-EC29641DEE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457F1F4-BBD6-452C-8ADB-1AA8D707A4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152F58-772C-4B56-A91A-FF0DF293E6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5D44B-8F25-4232-A3AB-6DD794CB79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EA8692A-667E-4307-A8C8-4CB3F9B3B8D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7269C-A5F5-4C3C-96D3-E136C7AF3F1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684BFB3-9243-47D8-80C6-1ABFDC64E4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3C5852-CA9B-46D5-8837-AFC5D07FDE1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48851FB-3E8F-4394-B220-DA477E3E93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7C714-D336-47DC-880C-4337074E09A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94C652-D21B-4E2A-8F57-28FEC59E44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337B5A-8161-474B-983B-CB7F596440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9.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7" name="TextBox 1" descr="Title slide: Databases for Hackers — A Ronin 48 stand-up talk." title="Title slide: Databases for Hackers — A Ronin 48 stand-up talk."/>
          <p:cNvSpPr/>
          <p:nvPr/>
        </p:nvSpPr>
        <p:spPr>
          <a:xfrm>
            <a:off x="457200" y="21031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数据库</a:t>
            </a:r>
            <a:endParaRPr lang="en-US" sz="8400" b="0" u="none" strike="noStrike">
              <a:solidFill>
                <a:srgbClr val="FFFFFF"/>
              </a:solidFill>
              <a:effectLst/>
              <a:uFillTx/>
              <a:latin typeface="Arial"/>
            </a:endParaRPr>
          </a:p>
        </p:txBody>
      </p:sp>
      <p:sp>
        <p:nvSpPr>
          <p:cNvPr id="68" name="TextBox 2"/>
          <p:cNvSpPr/>
          <p:nvPr/>
        </p:nvSpPr>
        <p:spPr>
          <a:xfrm>
            <a:off x="457200" y="3108960"/>
            <a:ext cx="11246760" cy="10047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000" b="1" u="none" strike="noStrike">
                <a:solidFill>
                  <a:srgbClr val="FFFFFF"/>
                </a:solidFill>
                <a:effectLst/>
                <a:uFillTx/>
                <a:latin typeface="Calibri"/>
              </a:rPr>
              <a:t>黑客入门</a:t>
            </a:r>
            <a:endParaRPr lang="en-US" sz="6000" b="0" u="none" strike="noStrike">
              <a:solidFill>
                <a:srgbClr val="FFFFFF"/>
              </a:solidFill>
              <a:effectLst/>
              <a:uFillTx/>
              <a:latin typeface="Arial"/>
            </a:endParaRPr>
          </a:p>
        </p:txBody>
      </p:sp>
      <p:sp>
        <p:nvSpPr>
          <p:cNvPr id="69" name="Rectangle 3"/>
          <p:cNvSpPr/>
          <p:nvPr/>
        </p:nvSpPr>
        <p:spPr>
          <a:xfrm>
            <a:off x="5181840" y="4297680"/>
            <a:ext cx="18284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70" name="TextBox 4"/>
          <p:cNvSpPr/>
          <p:nvPr/>
        </p:nvSpPr>
        <p:spPr>
          <a:xfrm>
            <a:off x="457200" y="4480560"/>
            <a:ext cx="11246760" cy="577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00D4FF"/>
                </a:solidFill>
                <a:effectLst/>
                <a:uFillTx/>
                <a:latin typeface="Calibri"/>
              </a:rPr>
              <a:t>CryptoJones 的独立演讲</a:t>
            </a:r>
            <a:endParaRPr lang="en-US" sz="3200" b="0" u="none" strike="noStrike">
              <a:solidFill>
                <a:srgbClr val="FFFFFF"/>
              </a:solidFill>
              <a:effectLst/>
              <a:uFillTx/>
              <a:latin typeface="Arial"/>
            </a:endParaRPr>
          </a:p>
        </p:txBody>
      </p:sp>
      <p:sp>
        <p:nvSpPr>
          <p:cNvPr id="71" name="TextBox 5"/>
          <p:cNvSpPr/>
          <p:nvPr/>
        </p:nvSpPr>
        <p:spPr>
          <a:xfrm>
            <a:off x="457200" y="5120640"/>
            <a:ext cx="11246760" cy="516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CCCCD6"/>
                </a:solidFill>
                <a:effectLst/>
                <a:uFillTx/>
                <a:latin typeface="Calibri"/>
                <a:ea typeface="Arial Unicode MS"/>
              </a:rPr>
              <a:t>45 分钟</a:t>
            </a:r>
            <a:r>
              <a:rPr lang="en-US" sz="2800" b="1" u="none" strike="noStrike">
                <a:solidFill>
                  <a:srgbClr val="00FF41"/>
                </a:solidFill>
                <a:effectLst/>
                <a:uFillTx/>
                <a:latin typeface="Calibri"/>
                <a:ea typeface="Arial Unicode MS"/>
              </a:rPr>
              <a:t>*</a:t>
            </a:r>
            <a:r>
              <a:rPr lang="en-US" sz="2400" b="0" u="none" strike="noStrike">
                <a:solidFill>
                  <a:srgbClr val="CCCCD6"/>
                </a:solidFill>
                <a:effectLst/>
                <a:uFillTx/>
                <a:latin typeface="Calibri"/>
              </a:rPr>
              <a:t>  •  无需学位</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2" name="TextBox 1"/>
          <p:cNvSpPr/>
          <p:nvPr/>
        </p:nvSpPr>
        <p:spPr>
          <a:xfrm>
            <a:off x="-1143000" y="2057400"/>
            <a:ext cx="944532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Aaron K. Clark</a:t>
            </a:r>
            <a:endParaRPr lang="en-US" sz="5400" b="0" u="none" strike="noStrike">
              <a:solidFill>
                <a:srgbClr val="FFFFFF"/>
              </a:solidFill>
              <a:effectLst/>
              <a:uFillTx/>
              <a:latin typeface="Arial"/>
            </a:endParaRPr>
          </a:p>
        </p:txBody>
      </p:sp>
      <p:sp>
        <p:nvSpPr>
          <p:cNvPr id="73" name="TextBox 2"/>
          <p:cNvSpPr/>
          <p:nvPr/>
        </p:nvSpPr>
        <p:spPr>
          <a:xfrm>
            <a:off x="-758520" y="3018600"/>
            <a:ext cx="944532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研究生，Eastern University*</a:t>
            </a:r>
            <a:endParaRPr lang="en-US" sz="3600" b="0" u="none" strike="noStrike">
              <a:solidFill>
                <a:srgbClr val="FFFFFF"/>
              </a:solidFill>
              <a:effectLst/>
              <a:uFillTx/>
              <a:latin typeface="Arial"/>
            </a:endParaRPr>
          </a:p>
        </p:txBody>
      </p:sp>
      <p:pic>
        <p:nvPicPr>
          <p:cNvPr id="74" name=""/>
          <p:cNvPicPr/>
          <p:nvPr/>
        </p:nvPicPr>
        <p:blipFill>
          <a:blip r:embed="rId1"/>
          <a:stretch/>
        </p:blipFill>
        <p:spPr>
          <a:xfrm>
            <a:off x="228600" y="6172200"/>
            <a:ext cx="457200" cy="457200"/>
          </a:xfrm>
          <a:prstGeom prst="rect">
            <a:avLst/>
          </a:prstGeom>
          <a:noFill/>
          <a:ln w="0">
            <a:noFill/>
          </a:ln>
        </p:spPr>
      </p:pic>
      <p:pic>
        <p:nvPicPr>
          <p:cNvPr id="75" name=""/>
          <p:cNvPicPr/>
          <p:nvPr/>
        </p:nvPicPr>
        <p:blipFill>
          <a:blip r:embed="rId2"/>
          <a:stretch/>
        </p:blipFill>
        <p:spPr>
          <a:xfrm>
            <a:off x="228600" y="228600"/>
            <a:ext cx="1371600" cy="1371600"/>
          </a:xfrm>
          <a:prstGeom prst="rect">
            <a:avLst/>
          </a:prstGeom>
          <a:noFill/>
          <a:ln w="0">
            <a:noFill/>
          </a:ln>
        </p:spPr>
      </p:pic>
      <p:pic>
        <p:nvPicPr>
          <p:cNvPr id="76" name=""/>
          <p:cNvPicPr/>
          <p:nvPr/>
        </p:nvPicPr>
        <p:blipFill>
          <a:blip r:embed="rId3"/>
          <a:stretch/>
        </p:blipFill>
        <p:spPr>
          <a:xfrm>
            <a:off x="9372600" y="228600"/>
            <a:ext cx="2514600" cy="914400"/>
          </a:xfrm>
          <a:prstGeom prst="rect">
            <a:avLst/>
          </a:prstGeom>
          <a:noFill/>
          <a:ln w="0">
            <a:noFill/>
          </a:ln>
        </p:spPr>
      </p:pic>
      <p:sp>
        <p:nvSpPr>
          <p:cNvPr id="77" name=""/>
          <p:cNvSpPr txBox="1"/>
          <p:nvPr/>
        </p:nvSpPr>
        <p:spPr>
          <a:xfrm>
            <a:off x="768240" y="6208200"/>
            <a:ext cx="3346560" cy="41112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github.com/CryptoJones</a:t>
            </a:r>
            <a:endParaRPr lang="en-US" sz="2400" b="0" u="none" strike="noStrike">
              <a:solidFill>
                <a:srgbClr val="FFFFFF"/>
              </a:solidFill>
              <a:effectLst/>
              <a:uFillTx/>
              <a:latin typeface="Arial"/>
            </a:endParaRPr>
          </a:p>
        </p:txBody>
      </p:sp>
      <p:pic>
        <p:nvPicPr>
          <p:cNvPr id="78" name=""/>
          <p:cNvPicPr/>
          <p:nvPr/>
        </p:nvPicPr>
        <p:blipFill>
          <a:blip r:embed="rId4"/>
          <a:stretch/>
        </p:blipFill>
        <p:spPr>
          <a:xfrm>
            <a:off x="7086600" y="6172200"/>
            <a:ext cx="399960" cy="457200"/>
          </a:xfrm>
          <a:prstGeom prst="rect">
            <a:avLst/>
          </a:prstGeom>
          <a:noFill/>
          <a:ln w="0">
            <a:noFill/>
          </a:ln>
        </p:spPr>
      </p:pic>
      <p:sp>
        <p:nvSpPr>
          <p:cNvPr id="79" name=""/>
          <p:cNvSpPr txBox="1"/>
          <p:nvPr/>
        </p:nvSpPr>
        <p:spPr>
          <a:xfrm>
            <a:off x="7590240" y="6208200"/>
            <a:ext cx="4224960" cy="39528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CryptoJones@infosec.exchange</a:t>
            </a:r>
            <a:endParaRPr lang="en-US" sz="2400" b="0" u="none" strike="noStrike">
              <a:solidFill>
                <a:srgbClr val="FFFFFF"/>
              </a:solidFill>
              <a:effectLst/>
              <a:uFillTx/>
              <a:latin typeface="Arial"/>
            </a:endParaRPr>
          </a:p>
        </p:txBody>
      </p:sp>
      <p:sp>
        <p:nvSpPr>
          <p:cNvPr id="80" name="TextBox 45"/>
          <p:cNvSpPr/>
          <p:nvPr/>
        </p:nvSpPr>
        <p:spPr>
          <a:xfrm>
            <a:off x="-457200" y="3704400"/>
            <a:ext cx="845820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1" u="none" strike="noStrike">
                <a:solidFill>
                  <a:srgbClr val="00FF41"/>
                </a:solidFill>
                <a:effectLst/>
                <a:uFillTx/>
                <a:latin typeface="Calibri"/>
              </a:rPr>
              <a:t>cryptojones@owasp.org</a:t>
            </a:r>
            <a:endParaRPr lang="en-US" sz="3600" b="0" u="none" strike="noStrike">
              <a:solidFill>
                <a:srgbClr val="FFFFFF"/>
              </a:solidFill>
              <a:effectLst/>
              <a:uFillTx/>
              <a:latin typeface="Arial"/>
            </a:endParaRPr>
          </a:p>
        </p:txBody>
      </p:sp>
      <p:pic>
        <p:nvPicPr>
          <p:cNvPr id="81" name=""/>
          <p:cNvPicPr/>
          <p:nvPr/>
        </p:nvPicPr>
        <p:blipFill>
          <a:blip r:embed="rId5"/>
          <a:stretch/>
        </p:blipFill>
        <p:spPr>
          <a:xfrm>
            <a:off x="8458200" y="2057400"/>
            <a:ext cx="32004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1" descr="Headline slide: Every breach you have ever read about ends at a database." title="Headline slide: Every breach you have ever read about ends at a database."/>
          <p:cNvSpPr/>
          <p:nvPr/>
        </p:nvSpPr>
        <p:spPr>
          <a:xfrm>
            <a:off x="457200" y="182880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你听说过的每一次入侵</a:t>
            </a:r>
            <a:endParaRPr lang="en-US" sz="5600" b="0" u="none" strike="noStrike">
              <a:solidFill>
                <a:srgbClr val="FFFFFF"/>
              </a:solidFill>
              <a:effectLst/>
              <a:uFillTx/>
              <a:latin typeface="Arial"/>
            </a:endParaRPr>
          </a:p>
        </p:txBody>
      </p:sp>
      <p:sp>
        <p:nvSpPr>
          <p:cNvPr id="83" name="TextBox 2"/>
          <p:cNvSpPr/>
          <p:nvPr/>
        </p:nvSpPr>
        <p:spPr>
          <a:xfrm>
            <a:off x="457200" y="283464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最终都指向一个</a:t>
            </a:r>
            <a:endParaRPr lang="en-US" sz="5600" b="0" u="none" strike="noStrike">
              <a:solidFill>
                <a:srgbClr val="FFFFFF"/>
              </a:solidFill>
              <a:effectLst/>
              <a:uFillTx/>
              <a:latin typeface="Arial"/>
            </a:endParaRPr>
          </a:p>
        </p:txBody>
      </p:sp>
      <p:sp>
        <p:nvSpPr>
          <p:cNvPr id="84" name="TextBox 3"/>
          <p:cNvSpPr/>
          <p:nvPr/>
        </p:nvSpPr>
        <p:spPr>
          <a:xfrm>
            <a:off x="457200" y="3840480"/>
            <a:ext cx="11246760" cy="1370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数据库*</a:t>
            </a:r>
            <a:endParaRPr lang="en-US" sz="8400" b="0" u="none" strike="noStrike">
              <a:solidFill>
                <a:srgbClr val="FFFFFF"/>
              </a:solidFill>
              <a:effectLst/>
              <a:uFillTx/>
              <a:latin typeface="Arial"/>
            </a:endParaRPr>
          </a:p>
        </p:txBody>
      </p:sp>
      <p:sp>
        <p:nvSpPr>
          <p:cNvPr id="85"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86"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7" name="TextBox 1" descr="A stylized vault icon next to four bullets explaining that attackers target the data, not the surrounding application or infrastructure." title="A stylized vault icon next to four bullets explaining that attackers target the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皇冠上的明珠</a:t>
            </a:r>
            <a:endParaRPr lang="en-US" sz="4200" b="0" u="none" strike="noStrike">
              <a:solidFill>
                <a:srgbClr val="FFFFFF"/>
              </a:solidFill>
              <a:effectLst/>
              <a:uFillTx/>
              <a:latin typeface="Arial"/>
            </a:endParaRPr>
          </a:p>
        </p:txBody>
      </p:sp>
      <p:sp>
        <p:nvSpPr>
          <p:cNvPr id="8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89" name="Rounded Rectangle 3"/>
          <p:cNvSpPr/>
          <p:nvPr/>
        </p:nvSpPr>
        <p:spPr>
          <a:xfrm>
            <a:off x="1371600" y="1828800"/>
            <a:ext cx="4114440" cy="3840120"/>
          </a:xfrm>
          <a:prstGeom prst="roundRect">
            <a:avLst>
              <a:gd name="adj" fmla="val 16667"/>
            </a:avLst>
          </a:prstGeom>
          <a:solidFill>
            <a:srgbClr val="2A2A44"/>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Oval 4"/>
          <p:cNvSpPr/>
          <p:nvPr/>
        </p:nvSpPr>
        <p:spPr>
          <a:xfrm>
            <a:off x="2971800" y="3291840"/>
            <a:ext cx="914040" cy="914040"/>
          </a:xfrm>
          <a:prstGeom prst="ellipse">
            <a:avLst/>
          </a:prstGeom>
          <a:solidFill>
            <a:srgbClr val="00FF41"/>
          </a:solidFill>
          <a:ln>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1" name="TextBox 5"/>
          <p:cNvSpPr/>
          <p:nvPr/>
        </p:nvSpPr>
        <p:spPr>
          <a:xfrm>
            <a:off x="1371600" y="5577840"/>
            <a:ext cx="41144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1" u="none" strike="noStrike">
                <a:solidFill>
                  <a:srgbClr val="00FF41"/>
                </a:solidFill>
                <a:effectLst/>
                <a:uFillTx/>
                <a:latin typeface="Calibri"/>
              </a:rPr>
              <a:t>数据  金库</a:t>
            </a:r>
            <a:endParaRPr lang="en-US" sz="2400" b="0" u="none" strike="noStrike">
              <a:solidFill>
                <a:srgbClr val="FFFFFF"/>
              </a:solidFill>
              <a:effectLst/>
              <a:uFillTx/>
              <a:latin typeface="Arial"/>
            </a:endParaRPr>
          </a:p>
        </p:txBody>
      </p:sp>
      <p:sp>
        <p:nvSpPr>
          <p:cNvPr id="92" name="TextBox 6"/>
          <p:cNvSpPr/>
          <p:nvPr/>
        </p:nvSpPr>
        <p:spPr>
          <a:xfrm>
            <a:off x="5943600" y="2011680"/>
            <a:ext cx="5943240" cy="384012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不是你的单页应用。</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不是你的防火墙。</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不是你的微服务。</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是数据。永远是数据。</a:t>
            </a:r>
            <a:endParaRPr lang="en-US" sz="3000" b="0" u="none" strike="noStrike">
              <a:solidFill>
                <a:srgbClr val="FFFFFF"/>
              </a:solidFill>
              <a:effectLst/>
              <a:uFillTx/>
              <a:latin typeface="Arial"/>
            </a:endParaRPr>
          </a:p>
        </p:txBody>
      </p:sp>
      <p:sp>
        <p:nvSpPr>
          <p:cNvPr id="9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9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5" name="TextBox 1" descr="Definition slide: A database is organized storage plus a way to ask questions, illustrated with filing-cabinet and Excel analogies." title="Definition slide: A database is organized storage plus a way to ask questions, i"/>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什么是数据库？</a:t>
            </a:r>
            <a:endParaRPr lang="en-US" sz="4200" b="0" u="none" strike="noStrike">
              <a:solidFill>
                <a:srgbClr val="FFFFFF"/>
              </a:solidFill>
              <a:effectLst/>
              <a:uFillTx/>
              <a:latin typeface="Arial"/>
            </a:endParaRPr>
          </a:p>
        </p:txBody>
      </p:sp>
      <p:sp>
        <p:nvSpPr>
          <p:cNvPr id="9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97"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000" b="1" u="none" strike="noStrike">
                <a:solidFill>
                  <a:srgbClr val="FFFFFF"/>
                </a:solidFill>
                <a:effectLst/>
                <a:uFillTx/>
                <a:latin typeface="Calibri"/>
              </a:rPr>
              <a:t>有组织的存储  +  一种提问的方式。</a:t>
            </a:r>
            <a:endParaRPr lang="en-US" sz="4000" b="0" u="none" strike="noStrike">
              <a:solidFill>
                <a:srgbClr val="FFFFFF"/>
              </a:solidFill>
              <a:effectLst/>
              <a:uFillTx/>
              <a:latin typeface="Arial"/>
            </a:endParaRPr>
          </a:p>
        </p:txBody>
      </p:sp>
      <p:sp>
        <p:nvSpPr>
          <p:cNvPr id="98" name="TextBox 4"/>
          <p:cNvSpPr/>
          <p:nvPr/>
        </p:nvSpPr>
        <p:spPr>
          <a:xfrm>
            <a:off x="457200" y="2926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就这么简单。其余的都是细节。</a:t>
            </a:r>
            <a:endParaRPr lang="en-US" sz="2600" b="0" u="none" strike="noStrike">
              <a:solidFill>
                <a:srgbClr val="FFFFFF"/>
              </a:solidFill>
              <a:effectLst/>
              <a:uFillTx/>
              <a:latin typeface="Arial"/>
            </a:endParaRPr>
          </a:p>
        </p:txBody>
      </p:sp>
      <p:sp>
        <p:nvSpPr>
          <p:cNvPr id="99" name="TextBox 5"/>
          <p:cNvSpPr/>
          <p:nvPr/>
        </p:nvSpPr>
        <p:spPr>
          <a:xfrm>
            <a:off x="914400" y="3931920"/>
            <a:ext cx="10332360" cy="2285640"/>
          </a:xfrm>
          <a:prstGeom prst="rect">
            <a:avLst/>
          </a:prstGeom>
          <a:noFill/>
          <a:ln w="0">
            <a:noFill/>
          </a:ln>
        </p:spPr>
        <p:style>
          <a:lnRef idx="0"/>
          <a:fillRef idx="0"/>
          <a:effectRef idx="0"/>
          <a:fontRef idx="minor"/>
        </p:style>
        <p:txBody>
          <a:bodyPr lIns="90000" tIns="45000" rIns="90000" bIns="45000" anchor="t">
            <a:spAutoFit/>
          </a:bodyPr>
          <a:p>
            <a:pPr defTabSz="457200">
              <a:lnSpc>
                <a:spcPct val="150000"/>
              </a:lnSpc>
            </a:pPr>
            <a:r>
              <a:rPr lang="en-US" sz="2550" b="1" u="none" strike="noStrike">
                <a:solidFill>
                  <a:srgbClr val="00D4FF"/>
                </a:solidFill>
                <a:effectLst/>
                <a:uFillTx/>
                <a:latin typeface="Calibri"/>
              </a:rPr>
              <a:t>▶ </a:t>
            </a:r>
            <a:r>
              <a:rPr lang="en-US" sz="2550" b="0" u="none" strike="noStrike">
                <a:solidFill>
                  <a:srgbClr val="FFFFFF"/>
                </a:solidFill>
                <a:effectLst/>
                <a:uFillTx/>
                <a:latin typeface="Calibri"/>
              </a:rPr>
              <a:t>文件柜  =  存储  +  用你的眼睛来查询。</a:t>
            </a:r>
            <a:endParaRPr lang="en-US" sz="2600" b="0" u="none" strike="noStrike">
              <a:solidFill>
                <a:srgbClr val="FFFFFF"/>
              </a:solidFill>
              <a:effectLst/>
              <a:uFillTx/>
              <a:latin typeface="Arial"/>
            </a:endParaRPr>
          </a:p>
          <a:p>
            <a:pPr defTabSz="457200">
              <a:lnSpc>
                <a:spcPct val="150000"/>
              </a:lnSpc>
            </a:pPr>
            <a:r>
              <a:rPr lang="en-US" sz="2550" b="1" u="none" strike="noStrike">
                <a:solidFill>
                  <a:srgbClr val="00D4FF"/>
                </a:solidFill>
                <a:effectLst/>
                <a:uFillTx/>
                <a:latin typeface="Calibri"/>
              </a:rPr>
              <a:t>▶ </a:t>
            </a:r>
            <a:r>
              <a:rPr lang="en-US" sz="2550" b="0" u="none" strike="noStrike">
                <a:solidFill>
                  <a:srgbClr val="FFFFFF"/>
                </a:solidFill>
                <a:effectLst/>
                <a:uFillTx/>
                <a:latin typeface="Calibri"/>
              </a:rPr>
              <a:t>Excel + Ctrl-F  =  存储  +  用查找替换来查询。</a:t>
            </a:r>
            <a:endParaRPr lang="en-US" sz="2600" b="0" u="none" strike="noStrike">
              <a:solidFill>
                <a:srgbClr val="FFFFFF"/>
              </a:solidFill>
              <a:effectLst/>
              <a:uFillTx/>
              <a:latin typeface="Arial"/>
            </a:endParaRPr>
          </a:p>
          <a:p>
            <a:pPr defTabSz="457200">
              <a:lnSpc>
                <a:spcPct val="150000"/>
              </a:lnSpc>
            </a:pPr>
            <a:r>
              <a:rPr lang="en-US" sz="2550" b="1" u="none" strike="noStrike">
                <a:solidFill>
                  <a:srgbClr val="00D4FF"/>
                </a:solidFill>
                <a:effectLst/>
                <a:uFillTx/>
                <a:latin typeface="Calibri"/>
              </a:rPr>
              <a:t>▶ </a:t>
            </a:r>
            <a:r>
              <a:rPr lang="en-US" sz="2550" b="0" u="none" strike="noStrike">
                <a:solidFill>
                  <a:srgbClr val="FFFFFF"/>
                </a:solidFill>
                <a:effectLst/>
                <a:uFillTx/>
                <a:latin typeface="Calibri"/>
              </a:rPr>
              <a:t>真正的数据库还增加了：规模、速度、并发，以及一种正式的语言。</a:t>
            </a:r>
            <a:endParaRPr lang="en-US" sz="2600" b="0" u="none" strike="noStrike">
              <a:solidFill>
                <a:srgbClr val="FFFFFF"/>
              </a:solidFill>
              <a:effectLst/>
              <a:uFillTx/>
              <a:latin typeface="Arial"/>
            </a:endParaRPr>
          </a:p>
        </p:txBody>
      </p:sp>
      <p:sp>
        <p:nvSpPr>
          <p:cNvPr id="100"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101"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2" name="TextBox 1" descr="Vocabulary slide listing six core database terms: table, row, column, query, schema, index — plus the CRUD verbs." title="Vocabulary slide listing six core database terms: table, row, column, query, sc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你需要掌握的六个词</a:t>
            </a:r>
            <a:endParaRPr lang="en-US" sz="4200" b="0" u="none" strike="noStrike">
              <a:solidFill>
                <a:srgbClr val="FFFFFF"/>
              </a:solidFill>
              <a:effectLst/>
              <a:uFillTx/>
              <a:latin typeface="Arial"/>
            </a:endParaRPr>
          </a:p>
        </p:txBody>
      </p:sp>
      <p:sp>
        <p:nvSpPr>
          <p:cNvPr id="103"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04" name="TextBox 3"/>
          <p:cNvSpPr/>
          <p:nvPr/>
        </p:nvSpPr>
        <p:spPr>
          <a:xfrm>
            <a:off x="731520" y="1691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表</a:t>
            </a:r>
            <a:endParaRPr lang="en-US" sz="3200" b="0" u="none" strike="noStrike">
              <a:solidFill>
                <a:srgbClr val="FFFFFF"/>
              </a:solidFill>
              <a:effectLst/>
              <a:uFillTx/>
              <a:latin typeface="Arial"/>
            </a:endParaRPr>
          </a:p>
        </p:txBody>
      </p:sp>
      <p:sp>
        <p:nvSpPr>
          <p:cNvPr id="105" name="TextBox 4"/>
          <p:cNvSpPr/>
          <p:nvPr/>
        </p:nvSpPr>
        <p:spPr>
          <a:xfrm>
            <a:off x="3931920" y="1691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6" name="TextBox 5"/>
          <p:cNvSpPr/>
          <p:nvPr/>
        </p:nvSpPr>
        <p:spPr>
          <a:xfrm>
            <a:off x="4480560" y="1691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一个电子表格的标签页</a:t>
            </a:r>
            <a:endParaRPr lang="en-US" sz="2800" b="0" u="none" strike="noStrike">
              <a:solidFill>
                <a:srgbClr val="FFFFFF"/>
              </a:solidFill>
              <a:effectLst/>
              <a:uFillTx/>
              <a:latin typeface="Arial"/>
            </a:endParaRPr>
          </a:p>
        </p:txBody>
      </p:sp>
      <p:sp>
        <p:nvSpPr>
          <p:cNvPr id="107" name="TextBox 6"/>
          <p:cNvSpPr/>
          <p:nvPr/>
        </p:nvSpPr>
        <p:spPr>
          <a:xfrm>
            <a:off x="731520" y="2404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行</a:t>
            </a:r>
            <a:endParaRPr lang="en-US" sz="3200" b="0" u="none" strike="noStrike">
              <a:solidFill>
                <a:srgbClr val="FFFFFF"/>
              </a:solidFill>
              <a:effectLst/>
              <a:uFillTx/>
              <a:latin typeface="Arial"/>
            </a:endParaRPr>
          </a:p>
        </p:txBody>
      </p:sp>
      <p:sp>
        <p:nvSpPr>
          <p:cNvPr id="108" name="TextBox 7"/>
          <p:cNvSpPr/>
          <p:nvPr/>
        </p:nvSpPr>
        <p:spPr>
          <a:xfrm>
            <a:off x="3931920" y="2404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9" name="TextBox 8"/>
          <p:cNvSpPr/>
          <p:nvPr/>
        </p:nvSpPr>
        <p:spPr>
          <a:xfrm>
            <a:off x="4480560" y="2404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一条记录（一个客户，一条告警）</a:t>
            </a:r>
            <a:endParaRPr lang="en-US" sz="2800" b="0" u="none" strike="noStrike">
              <a:solidFill>
                <a:srgbClr val="FFFFFF"/>
              </a:solidFill>
              <a:effectLst/>
              <a:uFillTx/>
              <a:latin typeface="Arial"/>
            </a:endParaRPr>
          </a:p>
        </p:txBody>
      </p:sp>
      <p:sp>
        <p:nvSpPr>
          <p:cNvPr id="110" name="TextBox 9"/>
          <p:cNvSpPr/>
          <p:nvPr/>
        </p:nvSpPr>
        <p:spPr>
          <a:xfrm>
            <a:off x="731520" y="311796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列</a:t>
            </a:r>
            <a:endParaRPr lang="en-US" sz="3200" b="0" u="none" strike="noStrike">
              <a:solidFill>
                <a:srgbClr val="FFFFFF"/>
              </a:solidFill>
              <a:effectLst/>
              <a:uFillTx/>
              <a:latin typeface="Arial"/>
            </a:endParaRPr>
          </a:p>
        </p:txBody>
      </p:sp>
      <p:sp>
        <p:nvSpPr>
          <p:cNvPr id="111" name="TextBox 10"/>
          <p:cNvSpPr/>
          <p:nvPr/>
        </p:nvSpPr>
        <p:spPr>
          <a:xfrm>
            <a:off x="3931920" y="311796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2" name="TextBox 11"/>
          <p:cNvSpPr/>
          <p:nvPr/>
        </p:nvSpPr>
        <p:spPr>
          <a:xfrm>
            <a:off x="4480560" y="311796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一个属性（邮箱、IP、总计）</a:t>
            </a:r>
            <a:endParaRPr lang="en-US" sz="2800" b="0" u="none" strike="noStrike">
              <a:solidFill>
                <a:srgbClr val="FFFFFF"/>
              </a:solidFill>
              <a:effectLst/>
              <a:uFillTx/>
              <a:latin typeface="Arial"/>
            </a:endParaRPr>
          </a:p>
        </p:txBody>
      </p:sp>
      <p:sp>
        <p:nvSpPr>
          <p:cNvPr id="113" name="TextBox 12"/>
          <p:cNvSpPr/>
          <p:nvPr/>
        </p:nvSpPr>
        <p:spPr>
          <a:xfrm>
            <a:off x="731520" y="383148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查询</a:t>
            </a:r>
            <a:endParaRPr lang="en-US" sz="3200" b="0" u="none" strike="noStrike">
              <a:solidFill>
                <a:srgbClr val="FFFFFF"/>
              </a:solidFill>
              <a:effectLst/>
              <a:uFillTx/>
              <a:latin typeface="Arial"/>
            </a:endParaRPr>
          </a:p>
        </p:txBody>
      </p:sp>
      <p:sp>
        <p:nvSpPr>
          <p:cNvPr id="114" name="TextBox 13"/>
          <p:cNvSpPr/>
          <p:nvPr/>
        </p:nvSpPr>
        <p:spPr>
          <a:xfrm>
            <a:off x="3931920" y="383148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5" name="TextBox 14"/>
          <p:cNvSpPr/>
          <p:nvPr/>
        </p:nvSpPr>
        <p:spPr>
          <a:xfrm>
            <a:off x="4480560" y="383148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你提出的问题</a:t>
            </a:r>
            <a:endParaRPr lang="en-US" sz="2800" b="0" u="none" strike="noStrike">
              <a:solidFill>
                <a:srgbClr val="FFFFFF"/>
              </a:solidFill>
              <a:effectLst/>
              <a:uFillTx/>
              <a:latin typeface="Arial"/>
            </a:endParaRPr>
          </a:p>
        </p:txBody>
      </p:sp>
      <p:sp>
        <p:nvSpPr>
          <p:cNvPr id="116" name="TextBox 15"/>
          <p:cNvSpPr/>
          <p:nvPr/>
        </p:nvSpPr>
        <p:spPr>
          <a:xfrm>
            <a:off x="731520" y="4544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模式</a:t>
            </a:r>
            <a:endParaRPr lang="en-US" sz="3200" b="0" u="none" strike="noStrike">
              <a:solidFill>
                <a:srgbClr val="FFFFFF"/>
              </a:solidFill>
              <a:effectLst/>
              <a:uFillTx/>
              <a:latin typeface="Arial"/>
            </a:endParaRPr>
          </a:p>
        </p:txBody>
      </p:sp>
      <p:sp>
        <p:nvSpPr>
          <p:cNvPr id="117" name="TextBox 16"/>
          <p:cNvSpPr/>
          <p:nvPr/>
        </p:nvSpPr>
        <p:spPr>
          <a:xfrm>
            <a:off x="3931920" y="4544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8" name="TextBox 17"/>
          <p:cNvSpPr/>
          <p:nvPr/>
        </p:nvSpPr>
        <p:spPr>
          <a:xfrm>
            <a:off x="4480560" y="4544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数据的结构</a:t>
            </a:r>
            <a:endParaRPr lang="en-US" sz="2800" b="0" u="none" strike="noStrike">
              <a:solidFill>
                <a:srgbClr val="FFFFFF"/>
              </a:solidFill>
              <a:effectLst/>
              <a:uFillTx/>
              <a:latin typeface="Arial"/>
            </a:endParaRPr>
          </a:p>
        </p:txBody>
      </p:sp>
      <p:sp>
        <p:nvSpPr>
          <p:cNvPr id="119" name="TextBox 18"/>
          <p:cNvSpPr/>
          <p:nvPr/>
        </p:nvSpPr>
        <p:spPr>
          <a:xfrm>
            <a:off x="731520" y="5257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索引</a:t>
            </a:r>
            <a:endParaRPr lang="en-US" sz="3200" b="0" u="none" strike="noStrike">
              <a:solidFill>
                <a:srgbClr val="FFFFFF"/>
              </a:solidFill>
              <a:effectLst/>
              <a:uFillTx/>
              <a:latin typeface="Arial"/>
            </a:endParaRPr>
          </a:p>
        </p:txBody>
      </p:sp>
      <p:sp>
        <p:nvSpPr>
          <p:cNvPr id="120" name="TextBox 19"/>
          <p:cNvSpPr/>
          <p:nvPr/>
        </p:nvSpPr>
        <p:spPr>
          <a:xfrm>
            <a:off x="3931920" y="5257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21" name="TextBox 20"/>
          <p:cNvSpPr/>
          <p:nvPr/>
        </p:nvSpPr>
        <p:spPr>
          <a:xfrm>
            <a:off x="4480560" y="5257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让查找变快的书签</a:t>
            </a:r>
            <a:endParaRPr lang="en-US" sz="2800" b="0" u="none" strike="noStrike">
              <a:solidFill>
                <a:srgbClr val="FFFFFF"/>
              </a:solidFill>
              <a:effectLst/>
              <a:uFillTx/>
              <a:latin typeface="Arial"/>
            </a:endParaRPr>
          </a:p>
        </p:txBody>
      </p:sp>
      <p:sp>
        <p:nvSpPr>
          <p:cNvPr id="122" name="TextBox 21"/>
          <p:cNvSpPr/>
          <p:nvPr/>
        </p:nvSpPr>
        <p:spPr>
          <a:xfrm>
            <a:off x="457200" y="59893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6B35"/>
                </a:solidFill>
                <a:effectLst/>
                <a:uFillTx/>
                <a:latin typeface="Calibri"/>
              </a:rPr>
              <a:t>+  CRUD  =  创建  •  读取  •  更新  •  删除</a:t>
            </a:r>
            <a:endParaRPr lang="en-US" sz="2600" b="0" u="none" strike="noStrike">
              <a:solidFill>
                <a:srgbClr val="FFFFFF"/>
              </a:solidFill>
              <a:effectLst/>
              <a:uFillTx/>
              <a:latin typeface="Arial"/>
            </a:endParaRPr>
          </a:p>
        </p:txBody>
      </p:sp>
      <p:sp>
        <p:nvSpPr>
          <p:cNvPr id="123" name="TextBox 2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124" name="TextBox 2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descr="Timeline of database eras from 1960s flat files to 2020s vector databases, each annotated with its security implication." title="Timeline of database eras from 1960s flat files to 2020s vector databases, each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历史巡礼 — 你将在生产环境中见到的化石</a:t>
            </a:r>
            <a:endParaRPr lang="en-US" sz="4200" b="0" u="none" strike="noStrike">
              <a:solidFill>
                <a:srgbClr val="FFFFFF"/>
              </a:solidFill>
              <a:effectLst/>
              <a:uFillTx/>
              <a:latin typeface="Arial"/>
            </a:endParaRPr>
          </a:p>
        </p:txBody>
      </p:sp>
      <p:sp>
        <p:nvSpPr>
          <p:cNvPr id="12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27" name="TextBox 3"/>
          <p:cNvSpPr/>
          <p:nvPr/>
        </p:nvSpPr>
        <p:spPr>
          <a:xfrm>
            <a:off x="457200" y="16002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1960s</a:t>
            </a:r>
            <a:endParaRPr lang="en-US" sz="2200" b="0" u="none" strike="noStrike">
              <a:solidFill>
                <a:srgbClr val="FFFFFF"/>
              </a:solidFill>
              <a:effectLst/>
              <a:uFillTx/>
              <a:latin typeface="Arial"/>
            </a:endParaRPr>
          </a:p>
        </p:txBody>
      </p:sp>
      <p:sp>
        <p:nvSpPr>
          <p:cNvPr id="128" name="TextBox 4"/>
          <p:cNvSpPr/>
          <p:nvPr/>
        </p:nvSpPr>
        <p:spPr>
          <a:xfrm>
            <a:off x="2286000" y="16002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平面文件</a:t>
            </a:r>
            <a:endParaRPr lang="en-US" sz="2200" b="0" u="none" strike="noStrike">
              <a:solidFill>
                <a:srgbClr val="FFFFFF"/>
              </a:solidFill>
              <a:effectLst/>
              <a:uFillTx/>
              <a:latin typeface="Arial"/>
            </a:endParaRPr>
          </a:p>
        </p:txBody>
      </p:sp>
      <p:sp>
        <p:nvSpPr>
          <p:cNvPr id="129" name="TextBox 5"/>
          <p:cNvSpPr/>
          <p:nvPr/>
        </p:nvSpPr>
        <p:spPr>
          <a:xfrm>
            <a:off x="5943600" y="16002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0" name="TextBox 6"/>
          <p:cNvSpPr/>
          <p:nvPr/>
        </p:nvSpPr>
        <p:spPr>
          <a:xfrm>
            <a:off x="6309360" y="16002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文件系统权限 = 唯一的访问控制</a:t>
            </a:r>
            <a:endParaRPr lang="en-US" sz="2000" b="0" u="none" strike="noStrike">
              <a:solidFill>
                <a:srgbClr val="FFFFFF"/>
              </a:solidFill>
              <a:effectLst/>
              <a:uFillTx/>
              <a:latin typeface="Arial"/>
            </a:endParaRPr>
          </a:p>
        </p:txBody>
      </p:sp>
      <p:sp>
        <p:nvSpPr>
          <p:cNvPr id="131" name="TextBox 7"/>
          <p:cNvSpPr/>
          <p:nvPr/>
        </p:nvSpPr>
        <p:spPr>
          <a:xfrm>
            <a:off x="457200" y="21121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 年代末</a:t>
            </a:r>
            <a:endParaRPr lang="en-US" sz="2200" b="0" u="none" strike="noStrike">
              <a:solidFill>
                <a:srgbClr val="FFFFFF"/>
              </a:solidFill>
              <a:effectLst/>
              <a:uFillTx/>
              <a:latin typeface="Arial"/>
            </a:endParaRPr>
          </a:p>
        </p:txBody>
      </p:sp>
      <p:sp>
        <p:nvSpPr>
          <p:cNvPr id="132" name="TextBox 8"/>
          <p:cNvSpPr/>
          <p:nvPr/>
        </p:nvSpPr>
        <p:spPr>
          <a:xfrm>
            <a:off x="2286000" y="21121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层次型（IMS）</a:t>
            </a:r>
            <a:endParaRPr lang="en-US" sz="2200" b="0" u="none" strike="noStrike">
              <a:solidFill>
                <a:srgbClr val="FFFFFF"/>
              </a:solidFill>
              <a:effectLst/>
              <a:uFillTx/>
              <a:latin typeface="Arial"/>
            </a:endParaRPr>
          </a:p>
        </p:txBody>
      </p:sp>
      <p:sp>
        <p:nvSpPr>
          <p:cNvPr id="133" name="TextBox 9"/>
          <p:cNvSpPr/>
          <p:nvPr/>
        </p:nvSpPr>
        <p:spPr>
          <a:xfrm>
            <a:off x="5943600" y="21121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4" name="TextBox 10"/>
          <p:cNvSpPr/>
          <p:nvPr/>
        </p:nvSpPr>
        <p:spPr>
          <a:xfrm>
            <a:off x="6309360" y="21121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大型机时代，物理威胁模型</a:t>
            </a:r>
            <a:endParaRPr lang="en-US" sz="2000" b="0" u="none" strike="noStrike">
              <a:solidFill>
                <a:srgbClr val="FFFFFF"/>
              </a:solidFill>
              <a:effectLst/>
              <a:uFillTx/>
              <a:latin typeface="Arial"/>
            </a:endParaRPr>
          </a:p>
        </p:txBody>
      </p:sp>
      <p:sp>
        <p:nvSpPr>
          <p:cNvPr id="135" name="TextBox 11"/>
          <p:cNvSpPr/>
          <p:nvPr/>
        </p:nvSpPr>
        <p:spPr>
          <a:xfrm>
            <a:off x="457200" y="26244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1970s</a:t>
            </a:r>
            <a:endParaRPr lang="en-US" sz="2200" b="0" u="none" strike="noStrike">
              <a:solidFill>
                <a:srgbClr val="FFFFFF"/>
              </a:solidFill>
              <a:effectLst/>
              <a:uFillTx/>
              <a:latin typeface="Arial"/>
            </a:endParaRPr>
          </a:p>
        </p:txBody>
      </p:sp>
      <p:sp>
        <p:nvSpPr>
          <p:cNvPr id="136" name="TextBox 12"/>
          <p:cNvSpPr/>
          <p:nvPr/>
        </p:nvSpPr>
        <p:spPr>
          <a:xfrm>
            <a:off x="2286000" y="26244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网状 / CODASYL</a:t>
            </a:r>
            <a:endParaRPr lang="en-US" sz="2200" b="0" u="none" strike="noStrike">
              <a:solidFill>
                <a:srgbClr val="FFFFFF"/>
              </a:solidFill>
              <a:effectLst/>
              <a:uFillTx/>
              <a:latin typeface="Arial"/>
            </a:endParaRPr>
          </a:p>
        </p:txBody>
      </p:sp>
      <p:sp>
        <p:nvSpPr>
          <p:cNvPr id="137" name="TextBox 13"/>
          <p:cNvSpPr/>
          <p:nvPr/>
        </p:nvSpPr>
        <p:spPr>
          <a:xfrm>
            <a:off x="5943600" y="26244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8" name="TextBox 14"/>
          <p:cNvSpPr/>
          <p:nvPr/>
        </p:nvSpPr>
        <p:spPr>
          <a:xfrm>
            <a:off x="6309360" y="26244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至今仍在你银行的后台运转</a:t>
            </a:r>
            <a:endParaRPr lang="en-US" sz="2000" b="0" u="none" strike="noStrike">
              <a:solidFill>
                <a:srgbClr val="FFFFFF"/>
              </a:solidFill>
              <a:effectLst/>
              <a:uFillTx/>
              <a:latin typeface="Arial"/>
            </a:endParaRPr>
          </a:p>
        </p:txBody>
      </p:sp>
      <p:sp>
        <p:nvSpPr>
          <p:cNvPr id="139" name="TextBox 15"/>
          <p:cNvSpPr/>
          <p:nvPr/>
        </p:nvSpPr>
        <p:spPr>
          <a:xfrm>
            <a:off x="457200" y="31363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a:t>
            </a:r>
            <a:endParaRPr lang="en-US" sz="2200" b="0" u="none" strike="noStrike">
              <a:solidFill>
                <a:srgbClr val="FFFFFF"/>
              </a:solidFill>
              <a:effectLst/>
              <a:uFillTx/>
              <a:latin typeface="Arial"/>
            </a:endParaRPr>
          </a:p>
        </p:txBody>
      </p:sp>
      <p:sp>
        <p:nvSpPr>
          <p:cNvPr id="140" name="TextBox 16"/>
          <p:cNvSpPr/>
          <p:nvPr/>
        </p:nvSpPr>
        <p:spPr>
          <a:xfrm>
            <a:off x="2286000" y="31363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Codd 的关系型</a:t>
            </a:r>
            <a:endParaRPr lang="en-US" sz="2200" b="0" u="none" strike="noStrike">
              <a:solidFill>
                <a:srgbClr val="FFFFFF"/>
              </a:solidFill>
              <a:effectLst/>
              <a:uFillTx/>
              <a:latin typeface="Arial"/>
            </a:endParaRPr>
          </a:p>
        </p:txBody>
      </p:sp>
      <p:sp>
        <p:nvSpPr>
          <p:cNvPr id="141" name="TextBox 17"/>
          <p:cNvSpPr/>
          <p:nvPr/>
        </p:nvSpPr>
        <p:spPr>
          <a:xfrm>
            <a:off x="5943600" y="31363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2" name="TextBox 18"/>
          <p:cNvSpPr/>
          <p:nvPr/>
        </p:nvSpPr>
        <p:spPr>
          <a:xfrm>
            <a:off x="6309360" y="31363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GRANT、角色 — 数据库内部的访问控制</a:t>
            </a:r>
            <a:endParaRPr lang="en-US" sz="2000" b="0" u="none" strike="noStrike">
              <a:solidFill>
                <a:srgbClr val="FFFFFF"/>
              </a:solidFill>
              <a:effectLst/>
              <a:uFillTx/>
              <a:latin typeface="Arial"/>
            </a:endParaRPr>
          </a:p>
        </p:txBody>
      </p:sp>
      <p:sp>
        <p:nvSpPr>
          <p:cNvPr id="143" name="TextBox 19"/>
          <p:cNvSpPr/>
          <p:nvPr/>
        </p:nvSpPr>
        <p:spPr>
          <a:xfrm>
            <a:off x="457200" y="36486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1980s</a:t>
            </a:r>
            <a:endParaRPr lang="en-US" sz="2200" b="0" u="none" strike="noStrike">
              <a:solidFill>
                <a:srgbClr val="FFFFFF"/>
              </a:solidFill>
              <a:effectLst/>
              <a:uFillTx/>
              <a:latin typeface="Arial"/>
            </a:endParaRPr>
          </a:p>
        </p:txBody>
      </p:sp>
      <p:sp>
        <p:nvSpPr>
          <p:cNvPr id="144" name="TextBox 20"/>
          <p:cNvSpPr/>
          <p:nvPr/>
        </p:nvSpPr>
        <p:spPr>
          <a:xfrm>
            <a:off x="2286000" y="36486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Oracle、DB2、SQL Svr</a:t>
            </a:r>
            <a:endParaRPr lang="en-US" sz="2200" b="0" u="none" strike="noStrike">
              <a:solidFill>
                <a:srgbClr val="FFFFFF"/>
              </a:solidFill>
              <a:effectLst/>
              <a:uFillTx/>
              <a:latin typeface="Arial"/>
            </a:endParaRPr>
          </a:p>
        </p:txBody>
      </p:sp>
      <p:sp>
        <p:nvSpPr>
          <p:cNvPr id="145" name="TextBox 21"/>
          <p:cNvSpPr/>
          <p:nvPr/>
        </p:nvSpPr>
        <p:spPr>
          <a:xfrm>
            <a:off x="5943600" y="36486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6" name="TextBox 22"/>
          <p:cNvSpPr/>
          <p:nvPr/>
        </p:nvSpPr>
        <p:spPr>
          <a:xfrm>
            <a:off x="6309360" y="36486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数据库接入网络 → 身份认证问题</a:t>
            </a:r>
            <a:endParaRPr lang="en-US" sz="2000" b="0" u="none" strike="noStrike">
              <a:solidFill>
                <a:srgbClr val="FFFFFF"/>
              </a:solidFill>
              <a:effectLst/>
              <a:uFillTx/>
              <a:latin typeface="Arial"/>
            </a:endParaRPr>
          </a:p>
        </p:txBody>
      </p:sp>
      <p:sp>
        <p:nvSpPr>
          <p:cNvPr id="147" name="TextBox 23"/>
          <p:cNvSpPr/>
          <p:nvPr/>
        </p:nvSpPr>
        <p:spPr>
          <a:xfrm>
            <a:off x="457200" y="41605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1990s</a:t>
            </a:r>
            <a:endParaRPr lang="en-US" sz="2200" b="0" u="none" strike="noStrike">
              <a:solidFill>
                <a:srgbClr val="FFFFFF"/>
              </a:solidFill>
              <a:effectLst/>
              <a:uFillTx/>
              <a:latin typeface="Arial"/>
            </a:endParaRPr>
          </a:p>
        </p:txBody>
      </p:sp>
      <p:sp>
        <p:nvSpPr>
          <p:cNvPr id="148" name="TextBox 24"/>
          <p:cNvSpPr/>
          <p:nvPr/>
        </p:nvSpPr>
        <p:spPr>
          <a:xfrm>
            <a:off x="2286000" y="41605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客户端-服务器、开源软件</a:t>
            </a:r>
            <a:endParaRPr lang="en-US" sz="2200" b="0" u="none" strike="noStrike">
              <a:solidFill>
                <a:srgbClr val="FFFFFF"/>
              </a:solidFill>
              <a:effectLst/>
              <a:uFillTx/>
              <a:latin typeface="Arial"/>
            </a:endParaRPr>
          </a:p>
        </p:txBody>
      </p:sp>
      <p:sp>
        <p:nvSpPr>
          <p:cNvPr id="149" name="TextBox 25"/>
          <p:cNvSpPr/>
          <p:nvPr/>
        </p:nvSpPr>
        <p:spPr>
          <a:xfrm>
            <a:off x="5943600" y="41605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0" name="TextBox 26"/>
          <p:cNvSpPr/>
          <p:nvPr/>
        </p:nvSpPr>
        <p:spPr>
          <a:xfrm>
            <a:off x="6309360" y="41605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SQL 注入开始登场</a:t>
            </a:r>
            <a:endParaRPr lang="en-US" sz="2000" b="0" u="none" strike="noStrike">
              <a:solidFill>
                <a:srgbClr val="FFFFFF"/>
              </a:solidFill>
              <a:effectLst/>
              <a:uFillTx/>
              <a:latin typeface="Arial"/>
            </a:endParaRPr>
          </a:p>
        </p:txBody>
      </p:sp>
      <p:sp>
        <p:nvSpPr>
          <p:cNvPr id="151" name="TextBox 27"/>
          <p:cNvSpPr/>
          <p:nvPr/>
        </p:nvSpPr>
        <p:spPr>
          <a:xfrm>
            <a:off x="457200" y="46724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2000s</a:t>
            </a:r>
            <a:endParaRPr lang="en-US" sz="2200" b="0" u="none" strike="noStrike">
              <a:solidFill>
                <a:srgbClr val="FFFFFF"/>
              </a:solidFill>
              <a:effectLst/>
              <a:uFillTx/>
              <a:latin typeface="Arial"/>
            </a:endParaRPr>
          </a:p>
        </p:txBody>
      </p:sp>
      <p:sp>
        <p:nvSpPr>
          <p:cNvPr id="152" name="TextBox 28"/>
          <p:cNvSpPr/>
          <p:nvPr/>
        </p:nvSpPr>
        <p:spPr>
          <a:xfrm>
            <a:off x="2286000" y="46724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NoSQL 大爆发</a:t>
            </a:r>
            <a:endParaRPr lang="en-US" sz="2200" b="0" u="none" strike="noStrike">
              <a:solidFill>
                <a:srgbClr val="FFFFFF"/>
              </a:solidFill>
              <a:effectLst/>
              <a:uFillTx/>
              <a:latin typeface="Arial"/>
            </a:endParaRPr>
          </a:p>
        </p:txBody>
      </p:sp>
      <p:sp>
        <p:nvSpPr>
          <p:cNvPr id="153" name="TextBox 29"/>
          <p:cNvSpPr/>
          <p:nvPr/>
        </p:nvSpPr>
        <p:spPr>
          <a:xfrm>
            <a:off x="5943600" y="46724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4" name="TextBox 30"/>
          <p:cNvSpPr/>
          <p:nvPr/>
        </p:nvSpPr>
        <p:spPr>
          <a:xfrm>
            <a:off x="6309360" y="46724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“抛弃了根基” — 包括安全</a:t>
            </a:r>
            <a:endParaRPr lang="en-US" sz="2000" b="0" u="none" strike="noStrike">
              <a:solidFill>
                <a:srgbClr val="FFFFFF"/>
              </a:solidFill>
              <a:effectLst/>
              <a:uFillTx/>
              <a:latin typeface="Arial"/>
            </a:endParaRPr>
          </a:p>
        </p:txBody>
      </p:sp>
      <p:sp>
        <p:nvSpPr>
          <p:cNvPr id="155" name="TextBox 31"/>
          <p:cNvSpPr/>
          <p:nvPr/>
        </p:nvSpPr>
        <p:spPr>
          <a:xfrm>
            <a:off x="457200" y="51847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2010s</a:t>
            </a:r>
            <a:endParaRPr lang="en-US" sz="2200" b="0" u="none" strike="noStrike">
              <a:solidFill>
                <a:srgbClr val="FFFFFF"/>
              </a:solidFill>
              <a:effectLst/>
              <a:uFillTx/>
              <a:latin typeface="Arial"/>
            </a:endParaRPr>
          </a:p>
        </p:txBody>
      </p:sp>
      <p:sp>
        <p:nvSpPr>
          <p:cNvPr id="156" name="TextBox 32"/>
          <p:cNvSpPr/>
          <p:nvPr/>
        </p:nvSpPr>
        <p:spPr>
          <a:xfrm>
            <a:off x="2286000" y="51847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云 / NewSQL</a:t>
            </a:r>
            <a:endParaRPr lang="en-US" sz="2200" b="0" u="none" strike="noStrike">
              <a:solidFill>
                <a:srgbClr val="FFFFFF"/>
              </a:solidFill>
              <a:effectLst/>
              <a:uFillTx/>
              <a:latin typeface="Arial"/>
            </a:endParaRPr>
          </a:p>
        </p:txBody>
      </p:sp>
      <p:sp>
        <p:nvSpPr>
          <p:cNvPr id="157" name="TextBox 33"/>
          <p:cNvSpPr/>
          <p:nvPr/>
        </p:nvSpPr>
        <p:spPr>
          <a:xfrm>
            <a:off x="5943600" y="51847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8" name="TextBox 34"/>
          <p:cNvSpPr/>
          <p:nvPr/>
        </p:nvSpPr>
        <p:spPr>
          <a:xfrm>
            <a:off x="6309360" y="51847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责任共担，客户配置错误</a:t>
            </a:r>
            <a:endParaRPr lang="en-US" sz="2000" b="0" u="none" strike="noStrike">
              <a:solidFill>
                <a:srgbClr val="FFFFFF"/>
              </a:solidFill>
              <a:effectLst/>
              <a:uFillTx/>
              <a:latin typeface="Arial"/>
            </a:endParaRPr>
          </a:p>
        </p:txBody>
      </p:sp>
      <p:sp>
        <p:nvSpPr>
          <p:cNvPr id="159" name="TextBox 35"/>
          <p:cNvSpPr/>
          <p:nvPr/>
        </p:nvSpPr>
        <p:spPr>
          <a:xfrm>
            <a:off x="457200" y="56966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2020s</a:t>
            </a:r>
            <a:endParaRPr lang="en-US" sz="2200" b="0" u="none" strike="noStrike">
              <a:solidFill>
                <a:srgbClr val="FFFFFF"/>
              </a:solidFill>
              <a:effectLst/>
              <a:uFillTx/>
              <a:latin typeface="Arial"/>
            </a:endParaRPr>
          </a:p>
        </p:txBody>
      </p:sp>
      <p:sp>
        <p:nvSpPr>
          <p:cNvPr id="160" name="TextBox 36"/>
          <p:cNvSpPr/>
          <p:nvPr/>
        </p:nvSpPr>
        <p:spPr>
          <a:xfrm>
            <a:off x="2286000" y="56966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向量 / 无服务器</a:t>
            </a:r>
            <a:endParaRPr lang="en-US" sz="2200" b="0" u="none" strike="noStrike">
              <a:solidFill>
                <a:srgbClr val="FFFFFF"/>
              </a:solidFill>
              <a:effectLst/>
              <a:uFillTx/>
              <a:latin typeface="Arial"/>
            </a:endParaRPr>
          </a:p>
        </p:txBody>
      </p:sp>
      <p:sp>
        <p:nvSpPr>
          <p:cNvPr id="161" name="TextBox 37"/>
          <p:cNvSpPr/>
          <p:nvPr/>
        </p:nvSpPr>
        <p:spPr>
          <a:xfrm>
            <a:off x="5943600" y="56966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62" name="TextBox 38"/>
          <p:cNvSpPr/>
          <p:nvPr/>
        </p:nvSpPr>
        <p:spPr>
          <a:xfrm>
            <a:off x="6309360" y="56966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数据投毒、提示注入</a:t>
            </a:r>
            <a:endParaRPr lang="en-US" sz="2000" b="0" u="none" strike="noStrike">
              <a:solidFill>
                <a:srgbClr val="FFFFFF"/>
              </a:solidFill>
              <a:effectLst/>
              <a:uFillTx/>
              <a:latin typeface="Arial"/>
            </a:endParaRPr>
          </a:p>
        </p:txBody>
      </p:sp>
      <p:sp>
        <p:nvSpPr>
          <p:cNvPr id="163"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164"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5" name="TextBox 1" descr="Grid of the ten database families with example products: relational, document, key-value, column-family, graph, search, time-series, vector, embedded, and data lake." title="Grid of the ten database families with example products: relational, document, k"/>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数据库的十大家族</a:t>
            </a:r>
            <a:endParaRPr lang="en-US" sz="4200" b="0" u="none" strike="noStrike">
              <a:solidFill>
                <a:srgbClr val="FFFFFF"/>
              </a:solidFill>
              <a:effectLst/>
              <a:uFillTx/>
              <a:latin typeface="Arial"/>
            </a:endParaRPr>
          </a:p>
        </p:txBody>
      </p:sp>
      <p:sp>
        <p:nvSpPr>
          <p:cNvPr id="16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67" name="Rounded Rectangle 3"/>
          <p:cNvSpPr/>
          <p:nvPr/>
        </p:nvSpPr>
        <p:spPr>
          <a:xfrm>
            <a:off x="54864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4"/>
          <p:cNvSpPr/>
          <p:nvPr/>
        </p:nvSpPr>
        <p:spPr>
          <a:xfrm>
            <a:off x="68580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a:t>
            </a:r>
            <a:endParaRPr lang="en-US" sz="2200" b="0" u="none" strike="noStrike">
              <a:solidFill>
                <a:srgbClr val="FFFFFF"/>
              </a:solidFill>
              <a:effectLst/>
              <a:uFillTx/>
              <a:latin typeface="Arial"/>
            </a:endParaRPr>
          </a:p>
        </p:txBody>
      </p:sp>
      <p:sp>
        <p:nvSpPr>
          <p:cNvPr id="169" name="TextBox 5"/>
          <p:cNvSpPr/>
          <p:nvPr/>
        </p:nvSpPr>
        <p:spPr>
          <a:xfrm>
            <a:off x="173736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关系型</a:t>
            </a:r>
            <a:endParaRPr lang="en-US" sz="2200" b="0" u="none" strike="noStrike">
              <a:solidFill>
                <a:srgbClr val="FFFFFF"/>
              </a:solidFill>
              <a:effectLst/>
              <a:uFillTx/>
              <a:latin typeface="Arial"/>
            </a:endParaRPr>
          </a:p>
        </p:txBody>
      </p:sp>
      <p:sp>
        <p:nvSpPr>
          <p:cNvPr id="170" name="TextBox 6"/>
          <p:cNvSpPr/>
          <p:nvPr/>
        </p:nvSpPr>
        <p:spPr>
          <a:xfrm>
            <a:off x="173736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SQL  •  PostgreSQL, MySQL</a:t>
            </a:r>
            <a:endParaRPr lang="en-US" sz="1800" b="0" u="none" strike="noStrike">
              <a:solidFill>
                <a:srgbClr val="FFFFFF"/>
              </a:solidFill>
              <a:effectLst/>
              <a:uFillTx/>
              <a:latin typeface="Arial"/>
            </a:endParaRPr>
          </a:p>
        </p:txBody>
      </p:sp>
      <p:sp>
        <p:nvSpPr>
          <p:cNvPr id="171" name="Rounded Rectangle 7"/>
          <p:cNvSpPr/>
          <p:nvPr/>
        </p:nvSpPr>
        <p:spPr>
          <a:xfrm>
            <a:off x="621792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8"/>
          <p:cNvSpPr/>
          <p:nvPr/>
        </p:nvSpPr>
        <p:spPr>
          <a:xfrm>
            <a:off x="635508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2.</a:t>
            </a:r>
            <a:endParaRPr lang="en-US" sz="2200" b="0" u="none" strike="noStrike">
              <a:solidFill>
                <a:srgbClr val="FFFFFF"/>
              </a:solidFill>
              <a:effectLst/>
              <a:uFillTx/>
              <a:latin typeface="Arial"/>
            </a:endParaRPr>
          </a:p>
        </p:txBody>
      </p:sp>
      <p:sp>
        <p:nvSpPr>
          <p:cNvPr id="173" name="TextBox 9"/>
          <p:cNvSpPr/>
          <p:nvPr/>
        </p:nvSpPr>
        <p:spPr>
          <a:xfrm>
            <a:off x="740664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文档型</a:t>
            </a:r>
            <a:endParaRPr lang="en-US" sz="2200" b="0" u="none" strike="noStrike">
              <a:solidFill>
                <a:srgbClr val="FFFFFF"/>
              </a:solidFill>
              <a:effectLst/>
              <a:uFillTx/>
              <a:latin typeface="Arial"/>
            </a:endParaRPr>
          </a:p>
        </p:txBody>
      </p:sp>
      <p:sp>
        <p:nvSpPr>
          <p:cNvPr id="174" name="TextBox 10"/>
          <p:cNvSpPr/>
          <p:nvPr/>
        </p:nvSpPr>
        <p:spPr>
          <a:xfrm>
            <a:off x="740664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JSON  •  MongoDB, Firestore</a:t>
            </a:r>
            <a:endParaRPr lang="en-US" sz="1800" b="0" u="none" strike="noStrike">
              <a:solidFill>
                <a:srgbClr val="FFFFFF"/>
              </a:solidFill>
              <a:effectLst/>
              <a:uFillTx/>
              <a:latin typeface="Arial"/>
            </a:endParaRPr>
          </a:p>
        </p:txBody>
      </p:sp>
      <p:sp>
        <p:nvSpPr>
          <p:cNvPr id="175" name="Rounded Rectangle 11"/>
          <p:cNvSpPr/>
          <p:nvPr/>
        </p:nvSpPr>
        <p:spPr>
          <a:xfrm>
            <a:off x="54864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6" name="TextBox 12"/>
          <p:cNvSpPr/>
          <p:nvPr/>
        </p:nvSpPr>
        <p:spPr>
          <a:xfrm>
            <a:off x="68580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3.</a:t>
            </a:r>
            <a:endParaRPr lang="en-US" sz="2200" b="0" u="none" strike="noStrike">
              <a:solidFill>
                <a:srgbClr val="FFFFFF"/>
              </a:solidFill>
              <a:effectLst/>
              <a:uFillTx/>
              <a:latin typeface="Arial"/>
            </a:endParaRPr>
          </a:p>
        </p:txBody>
      </p:sp>
      <p:sp>
        <p:nvSpPr>
          <p:cNvPr id="177" name="TextBox 13"/>
          <p:cNvSpPr/>
          <p:nvPr/>
        </p:nvSpPr>
        <p:spPr>
          <a:xfrm>
            <a:off x="173736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键值型</a:t>
            </a:r>
            <a:endParaRPr lang="en-US" sz="2200" b="0" u="none" strike="noStrike">
              <a:solidFill>
                <a:srgbClr val="FFFFFF"/>
              </a:solidFill>
              <a:effectLst/>
              <a:uFillTx/>
              <a:latin typeface="Arial"/>
            </a:endParaRPr>
          </a:p>
        </p:txBody>
      </p:sp>
      <p:sp>
        <p:nvSpPr>
          <p:cNvPr id="178" name="TextBox 14"/>
          <p:cNvSpPr/>
          <p:nvPr/>
        </p:nvSpPr>
        <p:spPr>
          <a:xfrm>
            <a:off x="173736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字典  •  Redis, DynamoDB</a:t>
            </a:r>
            <a:endParaRPr lang="en-US" sz="1800" b="0" u="none" strike="noStrike">
              <a:solidFill>
                <a:srgbClr val="FFFFFF"/>
              </a:solidFill>
              <a:effectLst/>
              <a:uFillTx/>
              <a:latin typeface="Arial"/>
            </a:endParaRPr>
          </a:p>
        </p:txBody>
      </p:sp>
      <p:sp>
        <p:nvSpPr>
          <p:cNvPr id="179" name="Rounded Rectangle 15"/>
          <p:cNvSpPr/>
          <p:nvPr/>
        </p:nvSpPr>
        <p:spPr>
          <a:xfrm>
            <a:off x="621792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6"/>
          <p:cNvSpPr/>
          <p:nvPr/>
        </p:nvSpPr>
        <p:spPr>
          <a:xfrm>
            <a:off x="635508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4.</a:t>
            </a:r>
            <a:endParaRPr lang="en-US" sz="2200" b="0" u="none" strike="noStrike">
              <a:solidFill>
                <a:srgbClr val="FFFFFF"/>
              </a:solidFill>
              <a:effectLst/>
              <a:uFillTx/>
              <a:latin typeface="Arial"/>
            </a:endParaRPr>
          </a:p>
        </p:txBody>
      </p:sp>
      <p:sp>
        <p:nvSpPr>
          <p:cNvPr id="181" name="TextBox 17"/>
          <p:cNvSpPr/>
          <p:nvPr/>
        </p:nvSpPr>
        <p:spPr>
          <a:xfrm>
            <a:off x="740664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列族型</a:t>
            </a:r>
            <a:endParaRPr lang="en-US" sz="2200" b="0" u="none" strike="noStrike">
              <a:solidFill>
                <a:srgbClr val="FFFFFF"/>
              </a:solidFill>
              <a:effectLst/>
              <a:uFillTx/>
              <a:latin typeface="Arial"/>
            </a:endParaRPr>
          </a:p>
        </p:txBody>
      </p:sp>
      <p:sp>
        <p:nvSpPr>
          <p:cNvPr id="182" name="TextBox 18"/>
          <p:cNvSpPr/>
          <p:nvPr/>
        </p:nvSpPr>
        <p:spPr>
          <a:xfrm>
            <a:off x="740664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宽列  •  Cassandra, HBase</a:t>
            </a:r>
            <a:endParaRPr lang="en-US" sz="1800" b="0" u="none" strike="noStrike">
              <a:solidFill>
                <a:srgbClr val="FFFFFF"/>
              </a:solidFill>
              <a:effectLst/>
              <a:uFillTx/>
              <a:latin typeface="Arial"/>
            </a:endParaRPr>
          </a:p>
        </p:txBody>
      </p:sp>
      <p:sp>
        <p:nvSpPr>
          <p:cNvPr id="183" name="Rounded Rectangle 19"/>
          <p:cNvSpPr/>
          <p:nvPr/>
        </p:nvSpPr>
        <p:spPr>
          <a:xfrm>
            <a:off x="54864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4" name="TextBox 20"/>
          <p:cNvSpPr/>
          <p:nvPr/>
        </p:nvSpPr>
        <p:spPr>
          <a:xfrm>
            <a:off x="68580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5.</a:t>
            </a:r>
            <a:endParaRPr lang="en-US" sz="2200" b="0" u="none" strike="noStrike">
              <a:solidFill>
                <a:srgbClr val="FFFFFF"/>
              </a:solidFill>
              <a:effectLst/>
              <a:uFillTx/>
              <a:latin typeface="Arial"/>
            </a:endParaRPr>
          </a:p>
        </p:txBody>
      </p:sp>
      <p:sp>
        <p:nvSpPr>
          <p:cNvPr id="185" name="TextBox 21"/>
          <p:cNvSpPr/>
          <p:nvPr/>
        </p:nvSpPr>
        <p:spPr>
          <a:xfrm>
            <a:off x="173736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图型</a:t>
            </a:r>
            <a:endParaRPr lang="en-US" sz="2200" b="0" u="none" strike="noStrike">
              <a:solidFill>
                <a:srgbClr val="FFFFFF"/>
              </a:solidFill>
              <a:effectLst/>
              <a:uFillTx/>
              <a:latin typeface="Arial"/>
            </a:endParaRPr>
          </a:p>
        </p:txBody>
      </p:sp>
      <p:sp>
        <p:nvSpPr>
          <p:cNvPr id="186" name="TextBox 22"/>
          <p:cNvSpPr/>
          <p:nvPr/>
        </p:nvSpPr>
        <p:spPr>
          <a:xfrm>
            <a:off x="173736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节点+边  •  Neo4j, Neptune</a:t>
            </a:r>
            <a:endParaRPr lang="en-US" sz="1800" b="0" u="none" strike="noStrike">
              <a:solidFill>
                <a:srgbClr val="FFFFFF"/>
              </a:solidFill>
              <a:effectLst/>
              <a:uFillTx/>
              <a:latin typeface="Arial"/>
            </a:endParaRPr>
          </a:p>
        </p:txBody>
      </p:sp>
      <p:sp>
        <p:nvSpPr>
          <p:cNvPr id="187" name="Rounded Rectangle 23"/>
          <p:cNvSpPr/>
          <p:nvPr/>
        </p:nvSpPr>
        <p:spPr>
          <a:xfrm>
            <a:off x="621792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24"/>
          <p:cNvSpPr/>
          <p:nvPr/>
        </p:nvSpPr>
        <p:spPr>
          <a:xfrm>
            <a:off x="635508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6.</a:t>
            </a:r>
            <a:endParaRPr lang="en-US" sz="2200" b="0" u="none" strike="noStrike">
              <a:solidFill>
                <a:srgbClr val="FFFFFF"/>
              </a:solidFill>
              <a:effectLst/>
              <a:uFillTx/>
              <a:latin typeface="Arial"/>
            </a:endParaRPr>
          </a:p>
        </p:txBody>
      </p:sp>
      <p:sp>
        <p:nvSpPr>
          <p:cNvPr id="189" name="TextBox 25"/>
          <p:cNvSpPr/>
          <p:nvPr/>
        </p:nvSpPr>
        <p:spPr>
          <a:xfrm>
            <a:off x="740664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搜索型</a:t>
            </a:r>
            <a:endParaRPr lang="en-US" sz="2200" b="0" u="none" strike="noStrike">
              <a:solidFill>
                <a:srgbClr val="FFFFFF"/>
              </a:solidFill>
              <a:effectLst/>
              <a:uFillTx/>
              <a:latin typeface="Arial"/>
            </a:endParaRPr>
          </a:p>
        </p:txBody>
      </p:sp>
      <p:sp>
        <p:nvSpPr>
          <p:cNvPr id="190" name="TextBox 26"/>
          <p:cNvSpPr/>
          <p:nvPr/>
        </p:nvSpPr>
        <p:spPr>
          <a:xfrm>
            <a:off x="740664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全文  •  Elastic, OpenSearch</a:t>
            </a:r>
            <a:endParaRPr lang="en-US" sz="1800" b="0" u="none" strike="noStrike">
              <a:solidFill>
                <a:srgbClr val="FFFFFF"/>
              </a:solidFill>
              <a:effectLst/>
              <a:uFillTx/>
              <a:latin typeface="Arial"/>
            </a:endParaRPr>
          </a:p>
        </p:txBody>
      </p:sp>
      <p:sp>
        <p:nvSpPr>
          <p:cNvPr id="191" name="Rounded Rectangle 27"/>
          <p:cNvSpPr/>
          <p:nvPr/>
        </p:nvSpPr>
        <p:spPr>
          <a:xfrm>
            <a:off x="54864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28"/>
          <p:cNvSpPr/>
          <p:nvPr/>
        </p:nvSpPr>
        <p:spPr>
          <a:xfrm>
            <a:off x="68580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7.</a:t>
            </a:r>
            <a:endParaRPr lang="en-US" sz="2200" b="0" u="none" strike="noStrike">
              <a:solidFill>
                <a:srgbClr val="FFFFFF"/>
              </a:solidFill>
              <a:effectLst/>
              <a:uFillTx/>
              <a:latin typeface="Arial"/>
            </a:endParaRPr>
          </a:p>
        </p:txBody>
      </p:sp>
      <p:sp>
        <p:nvSpPr>
          <p:cNvPr id="193" name="TextBox 29"/>
          <p:cNvSpPr/>
          <p:nvPr/>
        </p:nvSpPr>
        <p:spPr>
          <a:xfrm>
            <a:off x="173736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时序型</a:t>
            </a:r>
            <a:endParaRPr lang="en-US" sz="2200" b="0" u="none" strike="noStrike">
              <a:solidFill>
                <a:srgbClr val="FFFFFF"/>
              </a:solidFill>
              <a:effectLst/>
              <a:uFillTx/>
              <a:latin typeface="Arial"/>
            </a:endParaRPr>
          </a:p>
        </p:txBody>
      </p:sp>
      <p:sp>
        <p:nvSpPr>
          <p:cNvPr id="194" name="TextBox 30"/>
          <p:cNvSpPr/>
          <p:nvPr/>
        </p:nvSpPr>
        <p:spPr>
          <a:xfrm>
            <a:off x="173736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指标  •  Influx, Prometheus</a:t>
            </a:r>
            <a:endParaRPr lang="en-US" sz="1800" b="0" u="none" strike="noStrike">
              <a:solidFill>
                <a:srgbClr val="FFFFFF"/>
              </a:solidFill>
              <a:effectLst/>
              <a:uFillTx/>
              <a:latin typeface="Arial"/>
            </a:endParaRPr>
          </a:p>
        </p:txBody>
      </p:sp>
      <p:sp>
        <p:nvSpPr>
          <p:cNvPr id="195" name="Rounded Rectangle 31"/>
          <p:cNvSpPr/>
          <p:nvPr/>
        </p:nvSpPr>
        <p:spPr>
          <a:xfrm>
            <a:off x="621792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TextBox 32"/>
          <p:cNvSpPr/>
          <p:nvPr/>
        </p:nvSpPr>
        <p:spPr>
          <a:xfrm>
            <a:off x="635508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8.</a:t>
            </a:r>
            <a:endParaRPr lang="en-US" sz="2200" b="0" u="none" strike="noStrike">
              <a:solidFill>
                <a:srgbClr val="FFFFFF"/>
              </a:solidFill>
              <a:effectLst/>
              <a:uFillTx/>
              <a:latin typeface="Arial"/>
            </a:endParaRPr>
          </a:p>
        </p:txBody>
      </p:sp>
      <p:sp>
        <p:nvSpPr>
          <p:cNvPr id="197" name="TextBox 33"/>
          <p:cNvSpPr/>
          <p:nvPr/>
        </p:nvSpPr>
        <p:spPr>
          <a:xfrm>
            <a:off x="740664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向量型</a:t>
            </a:r>
            <a:endParaRPr lang="en-US" sz="2200" b="0" u="none" strike="noStrike">
              <a:solidFill>
                <a:srgbClr val="FFFFFF"/>
              </a:solidFill>
              <a:effectLst/>
              <a:uFillTx/>
              <a:latin typeface="Arial"/>
            </a:endParaRPr>
          </a:p>
        </p:txBody>
      </p:sp>
      <p:sp>
        <p:nvSpPr>
          <p:cNvPr id="198" name="TextBox 34"/>
          <p:cNvSpPr/>
          <p:nvPr/>
        </p:nvSpPr>
        <p:spPr>
          <a:xfrm>
            <a:off x="740664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嵌入向量  •  Pinecone, pgvector</a:t>
            </a:r>
            <a:endParaRPr lang="en-US" sz="1800" b="0" u="none" strike="noStrike">
              <a:solidFill>
                <a:srgbClr val="FFFFFF"/>
              </a:solidFill>
              <a:effectLst/>
              <a:uFillTx/>
              <a:latin typeface="Arial"/>
            </a:endParaRPr>
          </a:p>
        </p:txBody>
      </p:sp>
      <p:sp>
        <p:nvSpPr>
          <p:cNvPr id="199" name="Rounded Rectangle 35"/>
          <p:cNvSpPr/>
          <p:nvPr/>
        </p:nvSpPr>
        <p:spPr>
          <a:xfrm>
            <a:off x="54864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TextBox 36"/>
          <p:cNvSpPr/>
          <p:nvPr/>
        </p:nvSpPr>
        <p:spPr>
          <a:xfrm>
            <a:off x="68580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9.</a:t>
            </a:r>
            <a:endParaRPr lang="en-US" sz="2200" b="0" u="none" strike="noStrike">
              <a:solidFill>
                <a:srgbClr val="FFFFFF"/>
              </a:solidFill>
              <a:effectLst/>
              <a:uFillTx/>
              <a:latin typeface="Arial"/>
            </a:endParaRPr>
          </a:p>
        </p:txBody>
      </p:sp>
      <p:sp>
        <p:nvSpPr>
          <p:cNvPr id="201" name="TextBox 37"/>
          <p:cNvSpPr/>
          <p:nvPr/>
        </p:nvSpPr>
        <p:spPr>
          <a:xfrm>
            <a:off x="173736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嵌入式/边缘</a:t>
            </a:r>
            <a:endParaRPr lang="en-US" sz="2200" b="0" u="none" strike="noStrike">
              <a:solidFill>
                <a:srgbClr val="FFFFFF"/>
              </a:solidFill>
              <a:effectLst/>
              <a:uFillTx/>
              <a:latin typeface="Arial"/>
            </a:endParaRPr>
          </a:p>
        </p:txBody>
      </p:sp>
      <p:sp>
        <p:nvSpPr>
          <p:cNvPr id="202" name="TextBox 38"/>
          <p:cNvSpPr/>
          <p:nvPr/>
        </p:nvSpPr>
        <p:spPr>
          <a:xfrm>
            <a:off x="173736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应用内  •  SQLite, DuckDB</a:t>
            </a:r>
            <a:endParaRPr lang="en-US" sz="1800" b="0" u="none" strike="noStrike">
              <a:solidFill>
                <a:srgbClr val="FFFFFF"/>
              </a:solidFill>
              <a:effectLst/>
              <a:uFillTx/>
              <a:latin typeface="Arial"/>
            </a:endParaRPr>
          </a:p>
        </p:txBody>
      </p:sp>
      <p:sp>
        <p:nvSpPr>
          <p:cNvPr id="203" name="Rounded Rectangle 39"/>
          <p:cNvSpPr/>
          <p:nvPr/>
        </p:nvSpPr>
        <p:spPr>
          <a:xfrm>
            <a:off x="621792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40"/>
          <p:cNvSpPr/>
          <p:nvPr/>
        </p:nvSpPr>
        <p:spPr>
          <a:xfrm>
            <a:off x="635508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10.</a:t>
            </a:r>
            <a:endParaRPr lang="en-US" sz="2200" b="0" u="none" strike="noStrike">
              <a:solidFill>
                <a:srgbClr val="FFFFFF"/>
              </a:solidFill>
              <a:effectLst/>
              <a:uFillTx/>
              <a:latin typeface="Arial"/>
            </a:endParaRPr>
          </a:p>
        </p:txBody>
      </p:sp>
      <p:sp>
        <p:nvSpPr>
          <p:cNvPr id="205" name="TextBox 41"/>
          <p:cNvSpPr/>
          <p:nvPr/>
        </p:nvSpPr>
        <p:spPr>
          <a:xfrm>
            <a:off x="740664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数据湖</a:t>
            </a:r>
            <a:endParaRPr lang="en-US" sz="2200" b="0" u="none" strike="noStrike">
              <a:solidFill>
                <a:srgbClr val="FFFFFF"/>
              </a:solidFill>
              <a:effectLst/>
              <a:uFillTx/>
              <a:latin typeface="Arial"/>
            </a:endParaRPr>
          </a:p>
        </p:txBody>
      </p:sp>
      <p:sp>
        <p:nvSpPr>
          <p:cNvPr id="206" name="TextBox 42"/>
          <p:cNvSpPr/>
          <p:nvPr/>
        </p:nvSpPr>
        <p:spPr>
          <a:xfrm>
            <a:off x="740664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读时模式  •  S3+Athena, Iceberg</a:t>
            </a:r>
            <a:endParaRPr lang="en-US" sz="1800" b="0" u="none" strike="noStrike">
              <a:solidFill>
                <a:srgbClr val="FFFFFF"/>
              </a:solidFill>
              <a:effectLst/>
              <a:uFillTx/>
              <a:latin typeface="Arial"/>
            </a:endParaRPr>
          </a:p>
        </p:txBody>
      </p:sp>
      <p:sp>
        <p:nvSpPr>
          <p:cNvPr id="207" name="TextBox 4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208" name="TextBox 4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9"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a:t>
            </a:r>
            <a:endParaRPr lang="en-US" sz="4400" b="0" u="none" strike="noStrike">
              <a:solidFill>
                <a:srgbClr val="FFFFFF"/>
              </a:solidFill>
              <a:effectLst/>
              <a:uFillTx/>
              <a:latin typeface="Arial"/>
            </a:endParaRPr>
          </a:p>
        </p:txBody>
      </p:sp>
      <p:sp>
        <p:nvSpPr>
          <p:cNvPr id="211"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关系型 / SQL</a:t>
            </a:r>
            <a:endParaRPr lang="en-US" sz="4600" b="0" u="none" strike="noStrike">
              <a:solidFill>
                <a:srgbClr val="FFFFFF"/>
              </a:solidFill>
              <a:effectLst/>
              <a:uFillTx/>
              <a:latin typeface="Arial"/>
            </a:endParaRPr>
          </a:p>
        </p:txBody>
      </p:sp>
      <p:sp>
        <p:nvSpPr>
          <p:cNvPr id="212"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13"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产品</a:t>
            </a:r>
            <a:endParaRPr lang="en-US" sz="2000" b="0" u="none" strike="noStrike">
              <a:solidFill>
                <a:srgbClr val="FFFFFF"/>
              </a:solidFill>
              <a:effectLst/>
              <a:uFillTx/>
              <a:latin typeface="Arial"/>
            </a:endParaRPr>
          </a:p>
        </p:txBody>
      </p:sp>
      <p:sp>
        <p:nvSpPr>
          <p:cNvPr id="214"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PostgreSQL  •  MySQL/MariaDB  •  SQL Server  •  Oracle</a:t>
            </a:r>
            <a:endParaRPr lang="en-US" sz="2800" b="0" u="none" strike="noStrike">
              <a:solidFill>
                <a:srgbClr val="FFFFFF"/>
              </a:solidFill>
              <a:effectLst/>
              <a:uFillTx/>
              <a:latin typeface="Arial"/>
            </a:endParaRPr>
          </a:p>
        </p:txBody>
      </p:sp>
      <p:sp>
        <p:nvSpPr>
          <p:cNvPr id="215"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适用场景</a:t>
            </a:r>
            <a:endParaRPr lang="en-US" sz="2000" b="0" u="none" strike="noStrike">
              <a:solidFill>
                <a:srgbClr val="FFFFFF"/>
              </a:solidFill>
              <a:effectLst/>
              <a:uFillTx/>
              <a:latin typeface="Arial"/>
            </a:endParaRPr>
          </a:p>
        </p:txBody>
      </p:sp>
      <p:sp>
        <p:nvSpPr>
          <p:cNvPr id="216"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关系清晰、需要一致性 — 金融、受监管的数据。</a:t>
            </a:r>
            <a:endParaRPr lang="en-US" sz="2400" b="0" u="none" strike="noStrike">
              <a:solidFill>
                <a:srgbClr val="FFFFFF"/>
              </a:solidFill>
              <a:effectLst/>
              <a:uFillTx/>
              <a:latin typeface="Arial"/>
            </a:endParaRPr>
          </a:p>
        </p:txBody>
      </p:sp>
      <p:sp>
        <p:nvSpPr>
          <p:cNvPr id="217"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8"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安全陷阱</a:t>
            </a:r>
            <a:endParaRPr lang="en-US" sz="2000" b="0" u="none" strike="noStrike">
              <a:solidFill>
                <a:srgbClr val="FFFFFF"/>
              </a:solidFill>
              <a:effectLst/>
              <a:uFillTx/>
              <a:latin typeface="Arial"/>
            </a:endParaRPr>
          </a:p>
        </p:txBody>
      </p:sp>
      <p:sp>
        <p:nvSpPr>
          <p:cNvPr id="219"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当开发者将用户输入拼接进查询时，就会出现 SQL 注入。</a:t>
            </a:r>
            <a:endParaRPr lang="en-US" sz="2400" b="0" u="none" strike="noStrike">
              <a:solidFill>
                <a:srgbClr val="FFFFFF"/>
              </a:solidFill>
              <a:effectLst/>
              <a:uFillTx/>
              <a:latin typeface="Arial"/>
            </a:endParaRPr>
          </a:p>
        </p:txBody>
      </p:sp>
      <p:sp>
        <p:nvSpPr>
          <p:cNvPr id="220"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221"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2</a:t>
            </a:r>
            <a:endParaRPr lang="en-US" sz="4400" b="0" u="none" strike="noStrike">
              <a:solidFill>
                <a:srgbClr val="FFFFFF"/>
              </a:solidFill>
              <a:effectLst/>
              <a:uFillTx/>
              <a:latin typeface="Arial"/>
            </a:endParaRPr>
          </a:p>
        </p:txBody>
      </p:sp>
      <p:sp>
        <p:nvSpPr>
          <p:cNvPr id="224"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文档存储</a:t>
            </a:r>
            <a:endParaRPr lang="en-US" sz="4600" b="0" u="none" strike="noStrike">
              <a:solidFill>
                <a:srgbClr val="FFFFFF"/>
              </a:solidFill>
              <a:effectLst/>
              <a:uFillTx/>
              <a:latin typeface="Arial"/>
            </a:endParaRPr>
          </a:p>
        </p:txBody>
      </p:sp>
      <p:sp>
        <p:nvSpPr>
          <p:cNvPr id="225"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26"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产品</a:t>
            </a:r>
            <a:endParaRPr lang="en-US" sz="2000" b="0" u="none" strike="noStrike">
              <a:solidFill>
                <a:srgbClr val="FFFFFF"/>
              </a:solidFill>
              <a:effectLst/>
              <a:uFillTx/>
              <a:latin typeface="Arial"/>
            </a:endParaRPr>
          </a:p>
        </p:txBody>
      </p:sp>
      <p:sp>
        <p:nvSpPr>
          <p:cNvPr id="227"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MongoDB  •  Couchbase  •  Firestore</a:t>
            </a:r>
            <a:endParaRPr lang="en-US" sz="2800" b="0" u="none" strike="noStrike">
              <a:solidFill>
                <a:srgbClr val="FFFFFF"/>
              </a:solidFill>
              <a:effectLst/>
              <a:uFillTx/>
              <a:latin typeface="Arial"/>
            </a:endParaRPr>
          </a:p>
        </p:txBody>
      </p:sp>
      <p:sp>
        <p:nvSpPr>
          <p:cNvPr id="228"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适用场景</a:t>
            </a:r>
            <a:endParaRPr lang="en-US" sz="2000" b="0" u="none" strike="noStrike">
              <a:solidFill>
                <a:srgbClr val="FFFFFF"/>
              </a:solidFill>
              <a:effectLst/>
              <a:uFillTx/>
              <a:latin typeface="Arial"/>
            </a:endParaRPr>
          </a:p>
        </p:txBody>
      </p:sp>
      <p:sp>
        <p:nvSpPr>
          <p:cNvPr id="229"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天然嵌套的数据；其结构随时间变化。</a:t>
            </a:r>
            <a:endParaRPr lang="en-US" sz="2400" b="0" u="none" strike="noStrike">
              <a:solidFill>
                <a:srgbClr val="FFFFFF"/>
              </a:solidFill>
              <a:effectLst/>
              <a:uFillTx/>
              <a:latin typeface="Arial"/>
            </a:endParaRPr>
          </a:p>
        </p:txBody>
      </p:sp>
      <p:sp>
        <p:nvSpPr>
          <p:cNvPr id="230"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安全陷阱</a:t>
            </a:r>
            <a:endParaRPr lang="en-US" sz="2000" b="0" u="none" strike="noStrike">
              <a:solidFill>
                <a:srgbClr val="FFFFFF"/>
              </a:solidFill>
              <a:effectLst/>
              <a:uFillTx/>
              <a:latin typeface="Arial"/>
            </a:endParaRPr>
          </a:p>
        </p:txBody>
      </p:sp>
      <p:sp>
        <p:nvSpPr>
          <p:cNvPr id="232"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通过查询运算符（$ne, $gt, $where）进行 NoSQL 注入。默认无认证。</a:t>
            </a:r>
            <a:endParaRPr lang="en-US" sz="2400" b="0" u="none" strike="noStrike">
              <a:solidFill>
                <a:srgbClr val="FFFFFF"/>
              </a:solidFill>
              <a:effectLst/>
              <a:uFillTx/>
              <a:latin typeface="Arial"/>
            </a:endParaRPr>
          </a:p>
        </p:txBody>
      </p:sp>
      <p:sp>
        <p:nvSpPr>
          <p:cNvPr id="233"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234"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5"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3</a:t>
            </a:r>
            <a:endParaRPr lang="en-US" sz="4400" b="0" u="none" strike="noStrike">
              <a:solidFill>
                <a:srgbClr val="FFFFFF"/>
              </a:solidFill>
              <a:effectLst/>
              <a:uFillTx/>
              <a:latin typeface="Arial"/>
            </a:endParaRPr>
          </a:p>
        </p:txBody>
      </p:sp>
      <p:sp>
        <p:nvSpPr>
          <p:cNvPr id="237"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键值存储</a:t>
            </a:r>
            <a:endParaRPr lang="en-US" sz="4600" b="0" u="none" strike="noStrike">
              <a:solidFill>
                <a:srgbClr val="FFFFFF"/>
              </a:solidFill>
              <a:effectLst/>
              <a:uFillTx/>
              <a:latin typeface="Arial"/>
            </a:endParaRPr>
          </a:p>
        </p:txBody>
      </p:sp>
      <p:sp>
        <p:nvSpPr>
          <p:cNvPr id="238"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39"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产品</a:t>
            </a:r>
            <a:endParaRPr lang="en-US" sz="2000" b="0" u="none" strike="noStrike">
              <a:solidFill>
                <a:srgbClr val="FFFFFF"/>
              </a:solidFill>
              <a:effectLst/>
              <a:uFillTx/>
              <a:latin typeface="Arial"/>
            </a:endParaRPr>
          </a:p>
        </p:txBody>
      </p:sp>
      <p:sp>
        <p:nvSpPr>
          <p:cNvPr id="240"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Redis  •  Memcached  •  DynamoDB</a:t>
            </a:r>
            <a:endParaRPr lang="en-US" sz="2800" b="0" u="none" strike="noStrike">
              <a:solidFill>
                <a:srgbClr val="FFFFFF"/>
              </a:solidFill>
              <a:effectLst/>
              <a:uFillTx/>
              <a:latin typeface="Arial"/>
            </a:endParaRPr>
          </a:p>
        </p:txBody>
      </p:sp>
      <p:sp>
        <p:nvSpPr>
          <p:cNvPr id="241"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适用场景</a:t>
            </a:r>
            <a:endParaRPr lang="en-US" sz="2000" b="0" u="none" strike="noStrike">
              <a:solidFill>
                <a:srgbClr val="FFFFFF"/>
              </a:solidFill>
              <a:effectLst/>
              <a:uFillTx/>
              <a:latin typeface="Arial"/>
            </a:endParaRPr>
          </a:p>
        </p:txBody>
      </p:sp>
      <p:sp>
        <p:nvSpPr>
          <p:cNvPr id="242"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缓存、会话存储、限流器、排行榜。</a:t>
            </a:r>
            <a:endParaRPr lang="en-US" sz="2400" b="0" u="none" strike="noStrike">
              <a:solidFill>
                <a:srgbClr val="FFFFFF"/>
              </a:solidFill>
              <a:effectLst/>
              <a:uFillTx/>
              <a:latin typeface="Arial"/>
            </a:endParaRPr>
          </a:p>
        </p:txBody>
      </p:sp>
      <p:sp>
        <p:nvSpPr>
          <p:cNvPr id="243"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安全陷阱</a:t>
            </a:r>
            <a:endParaRPr lang="en-US" sz="2000" b="0" u="none" strike="noStrike">
              <a:solidFill>
                <a:srgbClr val="FFFFFF"/>
              </a:solidFill>
              <a:effectLst/>
              <a:uFillTx/>
              <a:latin typeface="Arial"/>
            </a:endParaRPr>
          </a:p>
        </p:txBody>
      </p:sp>
      <p:sp>
        <p:nvSpPr>
          <p:cNvPr id="245"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默认无认证的 Redis + CONFIG SET → 将 SSH 密钥写入磁盘。</a:t>
            </a:r>
            <a:endParaRPr lang="en-US" sz="2400" b="0" u="none" strike="noStrike">
              <a:solidFill>
                <a:srgbClr val="FFFFFF"/>
              </a:solidFill>
              <a:effectLst/>
              <a:uFillTx/>
              <a:latin typeface="Arial"/>
            </a:endParaRPr>
          </a:p>
        </p:txBody>
      </p:sp>
      <p:sp>
        <p:nvSpPr>
          <p:cNvPr id="246"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247"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4</a:t>
            </a:r>
            <a:endParaRPr lang="en-US" sz="4400" b="0" u="none" strike="noStrike">
              <a:solidFill>
                <a:srgbClr val="FFFFFF"/>
              </a:solidFill>
              <a:effectLst/>
              <a:uFillTx/>
              <a:latin typeface="Arial"/>
            </a:endParaRPr>
          </a:p>
        </p:txBody>
      </p:sp>
      <p:sp>
        <p:nvSpPr>
          <p:cNvPr id="250"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列族型</a:t>
            </a:r>
            <a:endParaRPr lang="en-US" sz="4600" b="0" u="none" strike="noStrike">
              <a:solidFill>
                <a:srgbClr val="FFFFFF"/>
              </a:solidFill>
              <a:effectLst/>
              <a:uFillTx/>
              <a:latin typeface="Arial"/>
            </a:endParaRPr>
          </a:p>
        </p:txBody>
      </p:sp>
      <p:sp>
        <p:nvSpPr>
          <p:cNvPr id="251"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52"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产品</a:t>
            </a:r>
            <a:endParaRPr lang="en-US" sz="2000" b="0" u="none" strike="noStrike">
              <a:solidFill>
                <a:srgbClr val="FFFFFF"/>
              </a:solidFill>
              <a:effectLst/>
              <a:uFillTx/>
              <a:latin typeface="Arial"/>
            </a:endParaRPr>
          </a:p>
        </p:txBody>
      </p:sp>
      <p:sp>
        <p:nvSpPr>
          <p:cNvPr id="253"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Apache Cassandra  •  HBase  •  ScyllaDB</a:t>
            </a:r>
            <a:endParaRPr lang="en-US" sz="2800" b="0" u="none" strike="noStrike">
              <a:solidFill>
                <a:srgbClr val="FFFFFF"/>
              </a:solidFill>
              <a:effectLst/>
              <a:uFillTx/>
              <a:latin typeface="Arial"/>
            </a:endParaRPr>
          </a:p>
        </p:txBody>
      </p:sp>
      <p:sp>
        <p:nvSpPr>
          <p:cNvPr id="254"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适用场景</a:t>
            </a:r>
            <a:endParaRPr lang="en-US" sz="2000" b="0" u="none" strike="noStrike">
              <a:solidFill>
                <a:srgbClr val="FFFFFF"/>
              </a:solidFill>
              <a:effectLst/>
              <a:uFillTx/>
              <a:latin typeface="Arial"/>
            </a:endParaRPr>
          </a:p>
        </p:txBody>
      </p:sp>
      <p:sp>
        <p:nvSpPr>
          <p:cNvPr id="255"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跨多台机器的海量规模；无需复杂的连接操作。</a:t>
            </a:r>
            <a:endParaRPr lang="en-US" sz="2400" b="0" u="none" strike="noStrike">
              <a:solidFill>
                <a:srgbClr val="FFFFFF"/>
              </a:solidFill>
              <a:effectLst/>
              <a:uFillTx/>
              <a:latin typeface="Arial"/>
            </a:endParaRPr>
          </a:p>
        </p:txBody>
      </p:sp>
      <p:sp>
        <p:nvSpPr>
          <p:cNvPr id="256"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安全陷阱</a:t>
            </a:r>
            <a:endParaRPr lang="en-US" sz="2000" b="0" u="none" strike="noStrike">
              <a:solidFill>
                <a:srgbClr val="FFFFFF"/>
              </a:solidFill>
              <a:effectLst/>
              <a:uFillTx/>
              <a:latin typeface="Arial"/>
            </a:endParaRPr>
          </a:p>
        </p:txBody>
      </p:sp>
      <p:sp>
        <p:nvSpPr>
          <p:cNvPr id="258"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集群通过 gossip 端口相互信任 — 管理网络 = root 权限。</a:t>
            </a:r>
            <a:endParaRPr lang="en-US" sz="2400" b="0" u="none" strike="noStrike">
              <a:solidFill>
                <a:srgbClr val="FFFFFF"/>
              </a:solidFill>
              <a:effectLst/>
              <a:uFillTx/>
              <a:latin typeface="Arial"/>
            </a:endParaRPr>
          </a:p>
        </p:txBody>
      </p:sp>
      <p:sp>
        <p:nvSpPr>
          <p:cNvPr id="259"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260"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1"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5</a:t>
            </a:r>
            <a:endParaRPr lang="en-US" sz="4400" b="0" u="none" strike="noStrike">
              <a:solidFill>
                <a:srgbClr val="FFFFFF"/>
              </a:solidFill>
              <a:effectLst/>
              <a:uFillTx/>
              <a:latin typeface="Arial"/>
            </a:endParaRPr>
          </a:p>
        </p:txBody>
      </p:sp>
      <p:sp>
        <p:nvSpPr>
          <p:cNvPr id="263"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图数据库</a:t>
            </a:r>
            <a:endParaRPr lang="en-US" sz="4600" b="0" u="none" strike="noStrike">
              <a:solidFill>
                <a:srgbClr val="FFFFFF"/>
              </a:solidFill>
              <a:effectLst/>
              <a:uFillTx/>
              <a:latin typeface="Arial"/>
            </a:endParaRPr>
          </a:p>
        </p:txBody>
      </p:sp>
      <p:sp>
        <p:nvSpPr>
          <p:cNvPr id="264"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65"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产品</a:t>
            </a:r>
            <a:endParaRPr lang="en-US" sz="2000" b="0" u="none" strike="noStrike">
              <a:solidFill>
                <a:srgbClr val="FFFFFF"/>
              </a:solidFill>
              <a:effectLst/>
              <a:uFillTx/>
              <a:latin typeface="Arial"/>
            </a:endParaRPr>
          </a:p>
        </p:txBody>
      </p:sp>
      <p:sp>
        <p:nvSpPr>
          <p:cNvPr id="266"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Neo4j  •  Amazon Neptune  •  ArangoDB</a:t>
            </a:r>
            <a:endParaRPr lang="en-US" sz="2800" b="0" u="none" strike="noStrike">
              <a:solidFill>
                <a:srgbClr val="FFFFFF"/>
              </a:solidFill>
              <a:effectLst/>
              <a:uFillTx/>
              <a:latin typeface="Arial"/>
            </a:endParaRPr>
          </a:p>
        </p:txBody>
      </p:sp>
      <p:sp>
        <p:nvSpPr>
          <p:cNvPr id="267"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适用场景</a:t>
            </a:r>
            <a:endParaRPr lang="en-US" sz="2000" b="0" u="none" strike="noStrike">
              <a:solidFill>
                <a:srgbClr val="FFFFFF"/>
              </a:solidFill>
              <a:effectLst/>
              <a:uFillTx/>
              <a:latin typeface="Arial"/>
            </a:endParaRPr>
          </a:p>
        </p:txBody>
      </p:sp>
      <p:sp>
        <p:nvSpPr>
          <p:cNvPr id="268"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社交网络、欺诈检测、IAM 分析（例如 BloodHound）。</a:t>
            </a:r>
            <a:endParaRPr lang="en-US" sz="2400" b="0" u="none" strike="noStrike">
              <a:solidFill>
                <a:srgbClr val="FFFFFF"/>
              </a:solidFill>
              <a:effectLst/>
              <a:uFillTx/>
              <a:latin typeface="Arial"/>
            </a:endParaRPr>
          </a:p>
        </p:txBody>
      </p:sp>
      <p:sp>
        <p:nvSpPr>
          <p:cNvPr id="269"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0"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安全陷阱</a:t>
            </a:r>
            <a:endParaRPr lang="en-US" sz="2000" b="0" u="none" strike="noStrike">
              <a:solidFill>
                <a:srgbClr val="FFFFFF"/>
              </a:solidFill>
              <a:effectLst/>
              <a:uFillTx/>
              <a:latin typeface="Arial"/>
            </a:endParaRPr>
          </a:p>
        </p:txBody>
      </p:sp>
      <p:sp>
        <p:nvSpPr>
          <p:cNvPr id="271"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像 Cypher 这样的查询语言同样可被注入。NoSQL 注入不止于 Mongo。</a:t>
            </a:r>
            <a:endParaRPr lang="en-US" sz="2400" b="0" u="none" strike="noStrike">
              <a:solidFill>
                <a:srgbClr val="FFFFFF"/>
              </a:solidFill>
              <a:effectLst/>
              <a:uFillTx/>
              <a:latin typeface="Arial"/>
            </a:endParaRPr>
          </a:p>
        </p:txBody>
      </p:sp>
      <p:sp>
        <p:nvSpPr>
          <p:cNvPr id="272"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273"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74"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6</a:t>
            </a:r>
            <a:endParaRPr lang="en-US" sz="4400" b="0" u="none" strike="noStrike">
              <a:solidFill>
                <a:srgbClr val="FFFFFF"/>
              </a:solidFill>
              <a:effectLst/>
              <a:uFillTx/>
              <a:latin typeface="Arial"/>
            </a:endParaRPr>
          </a:p>
        </p:txBody>
      </p:sp>
      <p:sp>
        <p:nvSpPr>
          <p:cNvPr id="276"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搜索引擎</a:t>
            </a:r>
            <a:endParaRPr lang="en-US" sz="4600" b="0" u="none" strike="noStrike">
              <a:solidFill>
                <a:srgbClr val="FFFFFF"/>
              </a:solidFill>
              <a:effectLst/>
              <a:uFillTx/>
              <a:latin typeface="Arial"/>
            </a:endParaRPr>
          </a:p>
        </p:txBody>
      </p:sp>
      <p:sp>
        <p:nvSpPr>
          <p:cNvPr id="277"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78"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产品</a:t>
            </a:r>
            <a:endParaRPr lang="en-US" sz="2000" b="0" u="none" strike="noStrike">
              <a:solidFill>
                <a:srgbClr val="FFFFFF"/>
              </a:solidFill>
              <a:effectLst/>
              <a:uFillTx/>
              <a:latin typeface="Arial"/>
            </a:endParaRPr>
          </a:p>
        </p:txBody>
      </p:sp>
      <p:sp>
        <p:nvSpPr>
          <p:cNvPr id="279" name="TextBox 6"/>
          <p:cNvSpPr/>
          <p:nvPr/>
        </p:nvSpPr>
        <p:spPr>
          <a:xfrm>
            <a:off x="457200" y="2103120"/>
            <a:ext cx="112467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ea typeface="Arial Unicode MS"/>
              </a:rPr>
              <a:t>Elasticsearch  •  OpenSearch  •  Solr </a:t>
            </a:r>
            <a:endParaRPr lang="en-US" sz="2800" b="0" u="none" strike="noStrike">
              <a:solidFill>
                <a:srgbClr val="FFFFFF"/>
              </a:solidFill>
              <a:effectLst/>
              <a:uFillTx/>
              <a:latin typeface="Arial"/>
            </a:endParaRPr>
          </a:p>
        </p:txBody>
      </p:sp>
      <p:sp>
        <p:nvSpPr>
          <p:cNvPr id="280"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适用场景</a:t>
            </a:r>
            <a:endParaRPr lang="en-US" sz="2000" b="0" u="none" strike="noStrike">
              <a:solidFill>
                <a:srgbClr val="FFFFFF"/>
              </a:solidFill>
              <a:effectLst/>
              <a:uFillTx/>
              <a:latin typeface="Arial"/>
            </a:endParaRPr>
          </a:p>
        </p:txBody>
      </p:sp>
      <p:sp>
        <p:nvSpPr>
          <p:cNvPr id="281"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日志搜索、SIEM 骨干、电商站内搜索。</a:t>
            </a:r>
            <a:endParaRPr lang="en-US" sz="2400" b="0" u="none" strike="noStrike">
              <a:solidFill>
                <a:srgbClr val="FFFFFF"/>
              </a:solidFill>
              <a:effectLst/>
              <a:uFillTx/>
              <a:latin typeface="Arial"/>
            </a:endParaRPr>
          </a:p>
        </p:txBody>
      </p:sp>
      <p:sp>
        <p:nvSpPr>
          <p:cNvPr id="282"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安全陷阱</a:t>
            </a:r>
            <a:endParaRPr lang="en-US" sz="2000" b="0" u="none" strike="noStrike">
              <a:solidFill>
                <a:srgbClr val="FFFFFF"/>
              </a:solidFill>
              <a:effectLst/>
              <a:uFillTx/>
              <a:latin typeface="Arial"/>
            </a:endParaRPr>
          </a:p>
        </p:txBody>
      </p:sp>
      <p:sp>
        <p:nvSpPr>
          <p:cNvPr id="284"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历史上没有内置认证 — Shodan 上暴露了数十亿条记录。</a:t>
            </a:r>
            <a:endParaRPr lang="en-US" sz="2400" b="0" u="none" strike="noStrike">
              <a:solidFill>
                <a:srgbClr val="FFFFFF"/>
              </a:solidFill>
              <a:effectLst/>
              <a:uFillTx/>
              <a:latin typeface="Arial"/>
            </a:endParaRPr>
          </a:p>
        </p:txBody>
      </p:sp>
      <p:sp>
        <p:nvSpPr>
          <p:cNvPr id="285"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286"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87"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8"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7</a:t>
            </a:r>
            <a:endParaRPr lang="en-US" sz="4400" b="0" u="none" strike="noStrike">
              <a:solidFill>
                <a:srgbClr val="FFFFFF"/>
              </a:solidFill>
              <a:effectLst/>
              <a:uFillTx/>
              <a:latin typeface="Arial"/>
            </a:endParaRPr>
          </a:p>
        </p:txBody>
      </p:sp>
      <p:sp>
        <p:nvSpPr>
          <p:cNvPr id="289"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时序型</a:t>
            </a:r>
            <a:endParaRPr lang="en-US" sz="4600" b="0" u="none" strike="noStrike">
              <a:solidFill>
                <a:srgbClr val="FFFFFF"/>
              </a:solidFill>
              <a:effectLst/>
              <a:uFillTx/>
              <a:latin typeface="Arial"/>
            </a:endParaRPr>
          </a:p>
        </p:txBody>
      </p:sp>
      <p:sp>
        <p:nvSpPr>
          <p:cNvPr id="290"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91"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产品</a:t>
            </a:r>
            <a:endParaRPr lang="en-US" sz="2000" b="0" u="none" strike="noStrike">
              <a:solidFill>
                <a:srgbClr val="FFFFFF"/>
              </a:solidFill>
              <a:effectLst/>
              <a:uFillTx/>
              <a:latin typeface="Arial"/>
            </a:endParaRPr>
          </a:p>
        </p:txBody>
      </p:sp>
      <p:sp>
        <p:nvSpPr>
          <p:cNvPr id="292"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InfluxDB  •  TimescaleDB  •  Prometheus</a:t>
            </a:r>
            <a:endParaRPr lang="en-US" sz="2800" b="0" u="none" strike="noStrike">
              <a:solidFill>
                <a:srgbClr val="FFFFFF"/>
              </a:solidFill>
              <a:effectLst/>
              <a:uFillTx/>
              <a:latin typeface="Arial"/>
            </a:endParaRPr>
          </a:p>
        </p:txBody>
      </p:sp>
      <p:sp>
        <p:nvSpPr>
          <p:cNvPr id="293"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适用场景</a:t>
            </a:r>
            <a:endParaRPr lang="en-US" sz="2000" b="0" u="none" strike="noStrike">
              <a:solidFill>
                <a:srgbClr val="FFFFFF"/>
              </a:solidFill>
              <a:effectLst/>
              <a:uFillTx/>
              <a:latin typeface="Arial"/>
            </a:endParaRPr>
          </a:p>
        </p:txBody>
      </p:sp>
      <p:sp>
        <p:nvSpPr>
          <p:cNvPr id="294"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指标、可观测性、IoT 遥测数据。</a:t>
            </a:r>
            <a:endParaRPr lang="en-US" sz="2400" b="0" u="none" strike="noStrike">
              <a:solidFill>
                <a:srgbClr val="FFFFFF"/>
              </a:solidFill>
              <a:effectLst/>
              <a:uFillTx/>
              <a:latin typeface="Arial"/>
            </a:endParaRPr>
          </a:p>
        </p:txBody>
      </p:sp>
      <p:sp>
        <p:nvSpPr>
          <p:cNvPr id="295"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安全陷阱</a:t>
            </a:r>
            <a:endParaRPr lang="en-US" sz="2000" b="0" u="none" strike="noStrike">
              <a:solidFill>
                <a:srgbClr val="FFFFFF"/>
              </a:solidFill>
              <a:effectLst/>
              <a:uFillTx/>
              <a:latin typeface="Arial"/>
            </a:endParaRPr>
          </a:p>
        </p:txBody>
      </p:sp>
      <p:sp>
        <p:nvSpPr>
          <p:cNvPr id="297"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通常位于边界内部，往往无需认证。</a:t>
            </a:r>
            <a:endParaRPr lang="en-US" sz="2400" b="0" u="none" strike="noStrike">
              <a:solidFill>
                <a:srgbClr val="FFFFFF"/>
              </a:solidFill>
              <a:effectLst/>
              <a:uFillTx/>
              <a:latin typeface="Arial"/>
            </a:endParaRPr>
          </a:p>
        </p:txBody>
      </p:sp>
      <p:sp>
        <p:nvSpPr>
          <p:cNvPr id="298"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299"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00"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8</a:t>
            </a:r>
            <a:endParaRPr lang="en-US" sz="4400" b="0" u="none" strike="noStrike">
              <a:solidFill>
                <a:srgbClr val="FFFFFF"/>
              </a:solidFill>
              <a:effectLst/>
              <a:uFillTx/>
              <a:latin typeface="Arial"/>
            </a:endParaRPr>
          </a:p>
        </p:txBody>
      </p:sp>
      <p:sp>
        <p:nvSpPr>
          <p:cNvPr id="302"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向量数据库</a:t>
            </a:r>
            <a:endParaRPr lang="en-US" sz="4600" b="0" u="none" strike="noStrike">
              <a:solidFill>
                <a:srgbClr val="FFFFFF"/>
              </a:solidFill>
              <a:effectLst/>
              <a:uFillTx/>
              <a:latin typeface="Arial"/>
            </a:endParaRPr>
          </a:p>
        </p:txBody>
      </p:sp>
      <p:sp>
        <p:nvSpPr>
          <p:cNvPr id="303"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04"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产品</a:t>
            </a:r>
            <a:endParaRPr lang="en-US" sz="2000" b="0" u="none" strike="noStrike">
              <a:solidFill>
                <a:srgbClr val="FFFFFF"/>
              </a:solidFill>
              <a:effectLst/>
              <a:uFillTx/>
              <a:latin typeface="Arial"/>
            </a:endParaRPr>
          </a:p>
        </p:txBody>
      </p:sp>
      <p:sp>
        <p:nvSpPr>
          <p:cNvPr id="305"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Pinecone  •  Milvus  •  Weaviate  •  pgvector</a:t>
            </a:r>
            <a:endParaRPr lang="en-US" sz="2800" b="0" u="none" strike="noStrike">
              <a:solidFill>
                <a:srgbClr val="FFFFFF"/>
              </a:solidFill>
              <a:effectLst/>
              <a:uFillTx/>
              <a:latin typeface="Arial"/>
            </a:endParaRPr>
          </a:p>
        </p:txBody>
      </p:sp>
      <p:sp>
        <p:nvSpPr>
          <p:cNvPr id="306"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适用场景</a:t>
            </a:r>
            <a:endParaRPr lang="en-US" sz="2000" b="0" u="none" strike="noStrike">
              <a:solidFill>
                <a:srgbClr val="FFFFFF"/>
              </a:solidFill>
              <a:effectLst/>
              <a:uFillTx/>
              <a:latin typeface="Arial"/>
            </a:endParaRPr>
          </a:p>
        </p:txBody>
      </p:sp>
      <p:sp>
        <p:nvSpPr>
          <p:cNvPr id="307"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RAG、推荐引擎、语义搜索。</a:t>
            </a:r>
            <a:endParaRPr lang="en-US" sz="2400" b="0" u="none" strike="noStrike">
              <a:solidFill>
                <a:srgbClr val="FFFFFF"/>
              </a:solidFill>
              <a:effectLst/>
              <a:uFillTx/>
              <a:latin typeface="Arial"/>
            </a:endParaRPr>
          </a:p>
        </p:txBody>
      </p:sp>
      <p:sp>
        <p:nvSpPr>
          <p:cNvPr id="308"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9"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安全陷阱</a:t>
            </a:r>
            <a:endParaRPr lang="en-US" sz="2000" b="0" u="none" strike="noStrike">
              <a:solidFill>
                <a:srgbClr val="FFFFFF"/>
              </a:solidFill>
              <a:effectLst/>
              <a:uFillTx/>
              <a:latin typeface="Arial"/>
            </a:endParaRPr>
          </a:p>
        </p:txBody>
      </p:sp>
      <p:sp>
        <p:nvSpPr>
          <p:cNvPr id="310"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数据投毒 — 偷偷塞进一份文档，LLM 就会把它当作事实引用。</a:t>
            </a:r>
            <a:endParaRPr lang="en-US" sz="2400" b="0" u="none" strike="noStrike">
              <a:solidFill>
                <a:srgbClr val="FFFFFF"/>
              </a:solidFill>
              <a:effectLst/>
              <a:uFillTx/>
              <a:latin typeface="Arial"/>
            </a:endParaRPr>
          </a:p>
        </p:txBody>
      </p:sp>
      <p:sp>
        <p:nvSpPr>
          <p:cNvPr id="311"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312"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13"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9</a:t>
            </a:r>
            <a:endParaRPr lang="en-US" sz="4400" b="0" u="none" strike="noStrike">
              <a:solidFill>
                <a:srgbClr val="FFFFFF"/>
              </a:solidFill>
              <a:effectLst/>
              <a:uFillTx/>
              <a:latin typeface="Arial"/>
            </a:endParaRPr>
          </a:p>
        </p:txBody>
      </p:sp>
      <p:sp>
        <p:nvSpPr>
          <p:cNvPr id="315"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嵌入式 / 边缘</a:t>
            </a:r>
            <a:endParaRPr lang="en-US" sz="4600" b="0" u="none" strike="noStrike">
              <a:solidFill>
                <a:srgbClr val="FFFFFF"/>
              </a:solidFill>
              <a:effectLst/>
              <a:uFillTx/>
              <a:latin typeface="Arial"/>
            </a:endParaRPr>
          </a:p>
        </p:txBody>
      </p:sp>
      <p:sp>
        <p:nvSpPr>
          <p:cNvPr id="316"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17"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产品</a:t>
            </a:r>
            <a:endParaRPr lang="en-US" sz="2000" b="0" u="none" strike="noStrike">
              <a:solidFill>
                <a:srgbClr val="FFFFFF"/>
              </a:solidFill>
              <a:effectLst/>
              <a:uFillTx/>
              <a:latin typeface="Arial"/>
            </a:endParaRPr>
          </a:p>
        </p:txBody>
      </p:sp>
      <p:sp>
        <p:nvSpPr>
          <p:cNvPr id="318"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SQLite  •  DuckDB  •  LevelDB</a:t>
            </a:r>
            <a:endParaRPr lang="en-US" sz="2800" b="0" u="none" strike="noStrike">
              <a:solidFill>
                <a:srgbClr val="FFFFFF"/>
              </a:solidFill>
              <a:effectLst/>
              <a:uFillTx/>
              <a:latin typeface="Arial"/>
            </a:endParaRPr>
          </a:p>
        </p:txBody>
      </p:sp>
      <p:sp>
        <p:nvSpPr>
          <p:cNvPr id="319"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适用场景</a:t>
            </a:r>
            <a:endParaRPr lang="en-US" sz="2000" b="0" u="none" strike="noStrike">
              <a:solidFill>
                <a:srgbClr val="FFFFFF"/>
              </a:solidFill>
              <a:effectLst/>
              <a:uFillTx/>
              <a:latin typeface="Arial"/>
            </a:endParaRPr>
          </a:p>
        </p:txBody>
      </p:sp>
      <p:sp>
        <p:nvSpPr>
          <p:cNvPr id="320"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应用内存储 — 浏览器、手机、每一架现代飞机。</a:t>
            </a:r>
            <a:endParaRPr lang="en-US" sz="2400" b="0" u="none" strike="noStrike">
              <a:solidFill>
                <a:srgbClr val="FFFFFF"/>
              </a:solidFill>
              <a:effectLst/>
              <a:uFillTx/>
              <a:latin typeface="Arial"/>
            </a:endParaRPr>
          </a:p>
        </p:txBody>
      </p:sp>
      <p:sp>
        <p:nvSpPr>
          <p:cNvPr id="321"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2"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安全陷阱</a:t>
            </a:r>
            <a:endParaRPr lang="en-US" sz="2000" b="0" u="none" strike="noStrike">
              <a:solidFill>
                <a:srgbClr val="FFFFFF"/>
              </a:solidFill>
              <a:effectLst/>
              <a:uFillTx/>
              <a:latin typeface="Arial"/>
            </a:endParaRPr>
          </a:p>
        </p:txBody>
      </p:sp>
      <p:sp>
        <p:nvSpPr>
          <p:cNvPr id="323"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数据库就是一个文件 — 攻击就是“偷走这个文件”。移动渗透测试的世界。</a:t>
            </a:r>
            <a:endParaRPr lang="en-US" sz="2400" b="0" u="none" strike="noStrike">
              <a:solidFill>
                <a:srgbClr val="FFFFFF"/>
              </a:solidFill>
              <a:effectLst/>
              <a:uFillTx/>
              <a:latin typeface="Arial"/>
            </a:endParaRPr>
          </a:p>
        </p:txBody>
      </p:sp>
      <p:sp>
        <p:nvSpPr>
          <p:cNvPr id="324"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325"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26"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10</a:t>
            </a:r>
            <a:endParaRPr lang="en-US" sz="4400" b="0" u="none" strike="noStrike">
              <a:solidFill>
                <a:srgbClr val="FFFFFF"/>
              </a:solidFill>
              <a:effectLst/>
              <a:uFillTx/>
              <a:latin typeface="Arial"/>
            </a:endParaRPr>
          </a:p>
        </p:txBody>
      </p:sp>
      <p:sp>
        <p:nvSpPr>
          <p:cNvPr id="328"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数据湖 / 湖仓</a:t>
            </a:r>
            <a:endParaRPr lang="en-US" sz="4600" b="0" u="none" strike="noStrike">
              <a:solidFill>
                <a:srgbClr val="FFFFFF"/>
              </a:solidFill>
              <a:effectLst/>
              <a:uFillTx/>
              <a:latin typeface="Arial"/>
            </a:endParaRPr>
          </a:p>
        </p:txBody>
      </p:sp>
      <p:sp>
        <p:nvSpPr>
          <p:cNvPr id="329"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30"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产品</a:t>
            </a:r>
            <a:endParaRPr lang="en-US" sz="2000" b="0" u="none" strike="noStrike">
              <a:solidFill>
                <a:srgbClr val="FFFFFF"/>
              </a:solidFill>
              <a:effectLst/>
              <a:uFillTx/>
              <a:latin typeface="Arial"/>
            </a:endParaRPr>
          </a:p>
        </p:txBody>
      </p:sp>
      <p:sp>
        <p:nvSpPr>
          <p:cNvPr id="331"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S3 + Athena  •  Delta Lake  •  Iceberg  •  Snowflake</a:t>
            </a:r>
            <a:endParaRPr lang="en-US" sz="2800" b="0" u="none" strike="noStrike">
              <a:solidFill>
                <a:srgbClr val="FFFFFF"/>
              </a:solidFill>
              <a:effectLst/>
              <a:uFillTx/>
              <a:latin typeface="Arial"/>
            </a:endParaRPr>
          </a:p>
        </p:txBody>
      </p:sp>
      <p:sp>
        <p:nvSpPr>
          <p:cNvPr id="332"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适用场景</a:t>
            </a:r>
            <a:endParaRPr lang="en-US" sz="2000" b="0" u="none" strike="noStrike">
              <a:solidFill>
                <a:srgbClr val="FFFFFF"/>
              </a:solidFill>
              <a:effectLst/>
              <a:uFillTx/>
              <a:latin typeface="Arial"/>
            </a:endParaRPr>
          </a:p>
        </p:txBody>
      </p:sp>
      <p:sp>
        <p:nvSpPr>
          <p:cNvPr id="333"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读时模式而非写时模式。先转储，后查询。</a:t>
            </a:r>
            <a:endParaRPr lang="en-US" sz="2400" b="0" u="none" strike="noStrike">
              <a:solidFill>
                <a:srgbClr val="FFFFFF"/>
              </a:solidFill>
              <a:effectLst/>
              <a:uFillTx/>
              <a:latin typeface="Arial"/>
            </a:endParaRPr>
          </a:p>
        </p:txBody>
      </p:sp>
      <p:sp>
        <p:nvSpPr>
          <p:cNvPr id="334"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安全陷阱</a:t>
            </a:r>
            <a:endParaRPr lang="en-US" sz="2000" b="0" u="none" strike="noStrike">
              <a:solidFill>
                <a:srgbClr val="FFFFFF"/>
              </a:solidFill>
              <a:effectLst/>
              <a:uFillTx/>
              <a:latin typeface="Arial"/>
            </a:endParaRPr>
          </a:p>
        </p:txBody>
      </p:sp>
      <p:sp>
        <p:nvSpPr>
          <p:cNvPr id="336"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巨型 S3 存储池 + 宽松的 IAM，且不强制静态加密。</a:t>
            </a:r>
            <a:endParaRPr lang="en-US" sz="2400" b="0" u="none" strike="noStrike">
              <a:solidFill>
                <a:srgbClr val="FFFFFF"/>
              </a:solidFill>
              <a:effectLst/>
              <a:uFillTx/>
              <a:latin typeface="Arial"/>
            </a:endParaRPr>
          </a:p>
        </p:txBody>
      </p:sp>
      <p:sp>
        <p:nvSpPr>
          <p:cNvPr id="337"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338"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39" name="TextBox 1" descr="Three-column comparison of database services across AWS, GCP, and Azure: relational, document, warehouse, cache, graph, time-series, and object storage." title="Three-column comparison of database services across AWS, GCP, and Azure: relati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云数据库服务 — 全景概览</a:t>
            </a:r>
            <a:endParaRPr lang="en-US" sz="4200" b="0" u="none" strike="noStrike">
              <a:solidFill>
                <a:srgbClr val="FFFFFF"/>
              </a:solidFill>
              <a:effectLst/>
              <a:uFillTx/>
              <a:latin typeface="Arial"/>
            </a:endParaRPr>
          </a:p>
        </p:txBody>
      </p:sp>
      <p:sp>
        <p:nvSpPr>
          <p:cNvPr id="340"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41" name="Rectangle 3"/>
          <p:cNvSpPr/>
          <p:nvPr/>
        </p:nvSpPr>
        <p:spPr>
          <a:xfrm>
            <a:off x="457200" y="1554480"/>
            <a:ext cx="3748680" cy="63972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4"/>
          <p:cNvSpPr/>
          <p:nvPr/>
        </p:nvSpPr>
        <p:spPr>
          <a:xfrm>
            <a:off x="45720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AWS</a:t>
            </a:r>
            <a:endParaRPr lang="en-US" sz="3200" b="0" u="none" strike="noStrike">
              <a:solidFill>
                <a:srgbClr val="FFFFFF"/>
              </a:solidFill>
              <a:effectLst/>
              <a:uFillTx/>
              <a:latin typeface="Arial"/>
            </a:endParaRPr>
          </a:p>
        </p:txBody>
      </p:sp>
      <p:sp>
        <p:nvSpPr>
          <p:cNvPr id="343" name="TextBox 5"/>
          <p:cNvSpPr/>
          <p:nvPr/>
        </p:nvSpPr>
        <p:spPr>
          <a:xfrm>
            <a:off x="54864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RDS, Aurora</a:t>
            </a:r>
            <a:endParaRPr lang="en-US" sz="1800" b="0" u="none" strike="noStrike">
              <a:solidFill>
                <a:srgbClr val="FFFFFF"/>
              </a:solidFill>
              <a:effectLst/>
              <a:uFillTx/>
              <a:latin typeface="Arial"/>
            </a:endParaRPr>
          </a:p>
        </p:txBody>
      </p:sp>
      <p:sp>
        <p:nvSpPr>
          <p:cNvPr id="344" name="TextBox 6"/>
          <p:cNvSpPr/>
          <p:nvPr/>
        </p:nvSpPr>
        <p:spPr>
          <a:xfrm>
            <a:off x="54864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DynamoDB, DocumentDB</a:t>
            </a:r>
            <a:endParaRPr lang="en-US" sz="1800" b="0" u="none" strike="noStrike">
              <a:solidFill>
                <a:srgbClr val="FFFFFF"/>
              </a:solidFill>
              <a:effectLst/>
              <a:uFillTx/>
              <a:latin typeface="Arial"/>
            </a:endParaRPr>
          </a:p>
        </p:txBody>
      </p:sp>
      <p:sp>
        <p:nvSpPr>
          <p:cNvPr id="345" name="TextBox 7"/>
          <p:cNvSpPr/>
          <p:nvPr/>
        </p:nvSpPr>
        <p:spPr>
          <a:xfrm>
            <a:off x="54864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Redshift, S3 + Athena</a:t>
            </a:r>
            <a:endParaRPr lang="en-US" sz="1800" b="0" u="none" strike="noStrike">
              <a:solidFill>
                <a:srgbClr val="FFFFFF"/>
              </a:solidFill>
              <a:effectLst/>
              <a:uFillTx/>
              <a:latin typeface="Arial"/>
            </a:endParaRPr>
          </a:p>
        </p:txBody>
      </p:sp>
      <p:sp>
        <p:nvSpPr>
          <p:cNvPr id="346" name="TextBox 8"/>
          <p:cNvSpPr/>
          <p:nvPr/>
        </p:nvSpPr>
        <p:spPr>
          <a:xfrm>
            <a:off x="54864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ElastiCache</a:t>
            </a:r>
            <a:endParaRPr lang="en-US" sz="1800" b="0" u="none" strike="noStrike">
              <a:solidFill>
                <a:srgbClr val="FFFFFF"/>
              </a:solidFill>
              <a:effectLst/>
              <a:uFillTx/>
              <a:latin typeface="Arial"/>
            </a:endParaRPr>
          </a:p>
        </p:txBody>
      </p:sp>
      <p:sp>
        <p:nvSpPr>
          <p:cNvPr id="347" name="TextBox 9"/>
          <p:cNvSpPr/>
          <p:nvPr/>
        </p:nvSpPr>
        <p:spPr>
          <a:xfrm>
            <a:off x="54864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Neptune（图）</a:t>
            </a:r>
            <a:endParaRPr lang="en-US" sz="1800" b="0" u="none" strike="noStrike">
              <a:solidFill>
                <a:srgbClr val="FFFFFF"/>
              </a:solidFill>
              <a:effectLst/>
              <a:uFillTx/>
              <a:latin typeface="Arial"/>
            </a:endParaRPr>
          </a:p>
        </p:txBody>
      </p:sp>
      <p:sp>
        <p:nvSpPr>
          <p:cNvPr id="348" name="TextBox 10"/>
          <p:cNvSpPr/>
          <p:nvPr/>
        </p:nvSpPr>
        <p:spPr>
          <a:xfrm>
            <a:off x="54864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Timestream</a:t>
            </a:r>
            <a:endParaRPr lang="en-US" sz="1800" b="0" u="none" strike="noStrike">
              <a:solidFill>
                <a:srgbClr val="FFFFFF"/>
              </a:solidFill>
              <a:effectLst/>
              <a:uFillTx/>
              <a:latin typeface="Arial"/>
            </a:endParaRPr>
          </a:p>
        </p:txBody>
      </p:sp>
      <p:sp>
        <p:nvSpPr>
          <p:cNvPr id="349" name="TextBox 11"/>
          <p:cNvSpPr/>
          <p:nvPr/>
        </p:nvSpPr>
        <p:spPr>
          <a:xfrm>
            <a:off x="54864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S3（对象存储）</a:t>
            </a:r>
            <a:endParaRPr lang="en-US" sz="1800" b="0" u="none" strike="noStrike">
              <a:solidFill>
                <a:srgbClr val="FFFFFF"/>
              </a:solidFill>
              <a:effectLst/>
              <a:uFillTx/>
              <a:latin typeface="Arial"/>
            </a:endParaRPr>
          </a:p>
        </p:txBody>
      </p:sp>
      <p:sp>
        <p:nvSpPr>
          <p:cNvPr id="350" name="Rectangle 12"/>
          <p:cNvSpPr/>
          <p:nvPr/>
        </p:nvSpPr>
        <p:spPr>
          <a:xfrm>
            <a:off x="4297680" y="1554480"/>
            <a:ext cx="3748680" cy="639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1" name="TextBox 13"/>
          <p:cNvSpPr/>
          <p:nvPr/>
        </p:nvSpPr>
        <p:spPr>
          <a:xfrm>
            <a:off x="429768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GCP</a:t>
            </a:r>
            <a:endParaRPr lang="en-US" sz="3200" b="0" u="none" strike="noStrike">
              <a:solidFill>
                <a:srgbClr val="FFFFFF"/>
              </a:solidFill>
              <a:effectLst/>
              <a:uFillTx/>
              <a:latin typeface="Arial"/>
            </a:endParaRPr>
          </a:p>
        </p:txBody>
      </p:sp>
      <p:sp>
        <p:nvSpPr>
          <p:cNvPr id="352" name="TextBox 14"/>
          <p:cNvSpPr/>
          <p:nvPr/>
        </p:nvSpPr>
        <p:spPr>
          <a:xfrm>
            <a:off x="438912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SQL, AlloyDB</a:t>
            </a:r>
            <a:endParaRPr lang="en-US" sz="1800" b="0" u="none" strike="noStrike">
              <a:solidFill>
                <a:srgbClr val="FFFFFF"/>
              </a:solidFill>
              <a:effectLst/>
              <a:uFillTx/>
              <a:latin typeface="Arial"/>
            </a:endParaRPr>
          </a:p>
        </p:txBody>
      </p:sp>
      <p:sp>
        <p:nvSpPr>
          <p:cNvPr id="353" name="TextBox 15"/>
          <p:cNvSpPr/>
          <p:nvPr/>
        </p:nvSpPr>
        <p:spPr>
          <a:xfrm>
            <a:off x="438912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Firestore, Bigtable</a:t>
            </a:r>
            <a:endParaRPr lang="en-US" sz="1800" b="0" u="none" strike="noStrike">
              <a:solidFill>
                <a:srgbClr val="FFFFFF"/>
              </a:solidFill>
              <a:effectLst/>
              <a:uFillTx/>
              <a:latin typeface="Arial"/>
            </a:endParaRPr>
          </a:p>
        </p:txBody>
      </p:sp>
      <p:sp>
        <p:nvSpPr>
          <p:cNvPr id="354" name="TextBox 16"/>
          <p:cNvSpPr/>
          <p:nvPr/>
        </p:nvSpPr>
        <p:spPr>
          <a:xfrm>
            <a:off x="438912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BigQuery</a:t>
            </a:r>
            <a:endParaRPr lang="en-US" sz="1800" b="0" u="none" strike="noStrike">
              <a:solidFill>
                <a:srgbClr val="FFFFFF"/>
              </a:solidFill>
              <a:effectLst/>
              <a:uFillTx/>
              <a:latin typeface="Arial"/>
            </a:endParaRPr>
          </a:p>
        </p:txBody>
      </p:sp>
      <p:sp>
        <p:nvSpPr>
          <p:cNvPr id="355" name="TextBox 17"/>
          <p:cNvSpPr/>
          <p:nvPr/>
        </p:nvSpPr>
        <p:spPr>
          <a:xfrm>
            <a:off x="438912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Memorystore</a:t>
            </a:r>
            <a:endParaRPr lang="en-US" sz="1800" b="0" u="none" strike="noStrike">
              <a:solidFill>
                <a:srgbClr val="FFFFFF"/>
              </a:solidFill>
              <a:effectLst/>
              <a:uFillTx/>
              <a:latin typeface="Arial"/>
            </a:endParaRPr>
          </a:p>
        </p:txBody>
      </p:sp>
      <p:sp>
        <p:nvSpPr>
          <p:cNvPr id="356" name="TextBox 18"/>
          <p:cNvSpPr/>
          <p:nvPr/>
        </p:nvSpPr>
        <p:spPr>
          <a:xfrm>
            <a:off x="438912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—（即将推出）</a:t>
            </a:r>
            <a:endParaRPr lang="en-US" sz="1800" b="0" u="none" strike="noStrike">
              <a:solidFill>
                <a:srgbClr val="FFFFFF"/>
              </a:solidFill>
              <a:effectLst/>
              <a:uFillTx/>
              <a:latin typeface="Arial"/>
            </a:endParaRPr>
          </a:p>
        </p:txBody>
      </p:sp>
      <p:sp>
        <p:nvSpPr>
          <p:cNvPr id="357" name="TextBox 19"/>
          <p:cNvSpPr/>
          <p:nvPr/>
        </p:nvSpPr>
        <p:spPr>
          <a:xfrm>
            <a:off x="438912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—（自带）</a:t>
            </a:r>
            <a:endParaRPr lang="en-US" sz="1800" b="0" u="none" strike="noStrike">
              <a:solidFill>
                <a:srgbClr val="FFFFFF"/>
              </a:solidFill>
              <a:effectLst/>
              <a:uFillTx/>
              <a:latin typeface="Arial"/>
            </a:endParaRPr>
          </a:p>
        </p:txBody>
      </p:sp>
      <p:sp>
        <p:nvSpPr>
          <p:cNvPr id="358" name="TextBox 20"/>
          <p:cNvSpPr/>
          <p:nvPr/>
        </p:nvSpPr>
        <p:spPr>
          <a:xfrm>
            <a:off x="438912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Storage</a:t>
            </a:r>
            <a:endParaRPr lang="en-US" sz="1800" b="0" u="none" strike="noStrike">
              <a:solidFill>
                <a:srgbClr val="FFFFFF"/>
              </a:solidFill>
              <a:effectLst/>
              <a:uFillTx/>
              <a:latin typeface="Arial"/>
            </a:endParaRPr>
          </a:p>
        </p:txBody>
      </p:sp>
      <p:sp>
        <p:nvSpPr>
          <p:cNvPr id="359" name="Rectangle 21"/>
          <p:cNvSpPr/>
          <p:nvPr/>
        </p:nvSpPr>
        <p:spPr>
          <a:xfrm>
            <a:off x="8138160" y="1554480"/>
            <a:ext cx="3748680" cy="63972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22"/>
          <p:cNvSpPr/>
          <p:nvPr/>
        </p:nvSpPr>
        <p:spPr>
          <a:xfrm>
            <a:off x="813816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Azure</a:t>
            </a:r>
            <a:endParaRPr lang="en-US" sz="3200" b="0" u="none" strike="noStrike">
              <a:solidFill>
                <a:srgbClr val="FFFFFF"/>
              </a:solidFill>
              <a:effectLst/>
              <a:uFillTx/>
              <a:latin typeface="Arial"/>
            </a:endParaRPr>
          </a:p>
        </p:txBody>
      </p:sp>
      <p:sp>
        <p:nvSpPr>
          <p:cNvPr id="361" name="TextBox 23"/>
          <p:cNvSpPr/>
          <p:nvPr/>
        </p:nvSpPr>
        <p:spPr>
          <a:xfrm>
            <a:off x="822960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SQL DB</a:t>
            </a:r>
            <a:endParaRPr lang="en-US" sz="1800" b="0" u="none" strike="noStrike">
              <a:solidFill>
                <a:srgbClr val="FFFFFF"/>
              </a:solidFill>
              <a:effectLst/>
              <a:uFillTx/>
              <a:latin typeface="Arial"/>
            </a:endParaRPr>
          </a:p>
        </p:txBody>
      </p:sp>
      <p:sp>
        <p:nvSpPr>
          <p:cNvPr id="362" name="TextBox 24"/>
          <p:cNvSpPr/>
          <p:nvPr/>
        </p:nvSpPr>
        <p:spPr>
          <a:xfrm>
            <a:off x="822960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DB（多形态）</a:t>
            </a:r>
            <a:endParaRPr lang="en-US" sz="1800" b="0" u="none" strike="noStrike">
              <a:solidFill>
                <a:srgbClr val="FFFFFF"/>
              </a:solidFill>
              <a:effectLst/>
              <a:uFillTx/>
              <a:latin typeface="Arial"/>
            </a:endParaRPr>
          </a:p>
        </p:txBody>
      </p:sp>
      <p:sp>
        <p:nvSpPr>
          <p:cNvPr id="363" name="TextBox 25"/>
          <p:cNvSpPr/>
          <p:nvPr/>
        </p:nvSpPr>
        <p:spPr>
          <a:xfrm>
            <a:off x="822960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Synapse Analytics</a:t>
            </a:r>
            <a:endParaRPr lang="en-US" sz="1800" b="0" u="none" strike="noStrike">
              <a:solidFill>
                <a:srgbClr val="FFFFFF"/>
              </a:solidFill>
              <a:effectLst/>
              <a:uFillTx/>
              <a:latin typeface="Arial"/>
            </a:endParaRPr>
          </a:p>
        </p:txBody>
      </p:sp>
      <p:sp>
        <p:nvSpPr>
          <p:cNvPr id="364" name="TextBox 26"/>
          <p:cNvSpPr/>
          <p:nvPr/>
        </p:nvSpPr>
        <p:spPr>
          <a:xfrm>
            <a:off x="822960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Cache for Redis</a:t>
            </a:r>
            <a:endParaRPr lang="en-US" sz="1800" b="0" u="none" strike="noStrike">
              <a:solidFill>
                <a:srgbClr val="FFFFFF"/>
              </a:solidFill>
              <a:effectLst/>
              <a:uFillTx/>
              <a:latin typeface="Arial"/>
            </a:endParaRPr>
          </a:p>
        </p:txBody>
      </p:sp>
      <p:sp>
        <p:nvSpPr>
          <p:cNvPr id="365" name="TextBox 27"/>
          <p:cNvSpPr/>
          <p:nvPr/>
        </p:nvSpPr>
        <p:spPr>
          <a:xfrm>
            <a:off x="822960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图模式</a:t>
            </a:r>
            <a:endParaRPr lang="en-US" sz="1800" b="0" u="none" strike="noStrike">
              <a:solidFill>
                <a:srgbClr val="FFFFFF"/>
              </a:solidFill>
              <a:effectLst/>
              <a:uFillTx/>
              <a:latin typeface="Arial"/>
            </a:endParaRPr>
          </a:p>
        </p:txBody>
      </p:sp>
      <p:sp>
        <p:nvSpPr>
          <p:cNvPr id="366" name="TextBox 28"/>
          <p:cNvSpPr/>
          <p:nvPr/>
        </p:nvSpPr>
        <p:spPr>
          <a:xfrm>
            <a:off x="822960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—（自带）</a:t>
            </a:r>
            <a:endParaRPr lang="en-US" sz="1800" b="0" u="none" strike="noStrike">
              <a:solidFill>
                <a:srgbClr val="FFFFFF"/>
              </a:solidFill>
              <a:effectLst/>
              <a:uFillTx/>
              <a:latin typeface="Arial"/>
            </a:endParaRPr>
          </a:p>
        </p:txBody>
      </p:sp>
      <p:sp>
        <p:nvSpPr>
          <p:cNvPr id="367" name="TextBox 29"/>
          <p:cNvSpPr/>
          <p:nvPr/>
        </p:nvSpPr>
        <p:spPr>
          <a:xfrm>
            <a:off x="822960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Blob Storage</a:t>
            </a:r>
            <a:endParaRPr lang="en-US" sz="1800" b="0" u="none" strike="noStrike">
              <a:solidFill>
                <a:srgbClr val="FFFFFF"/>
              </a:solidFill>
              <a:effectLst/>
              <a:uFillTx/>
              <a:latin typeface="Arial"/>
            </a:endParaRPr>
          </a:p>
        </p:txBody>
      </p:sp>
      <p:sp>
        <p:nvSpPr>
          <p:cNvPr id="368" name="TextBox 3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369" name="TextBox 3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70" name="TextBox 1" descr="Cheat-sheet table comparing AWS, GCP, and Azure services across eight database categories." title="Cheat-sheet table comparing AWS, GCP, and Azure services across eight database c"/>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云数据库速查表</a:t>
            </a:r>
            <a:endParaRPr lang="en-US" sz="3800" b="0" u="none" strike="noStrike">
              <a:solidFill>
                <a:srgbClr val="FFFFFF"/>
              </a:solidFill>
              <a:effectLst/>
              <a:uFillTx/>
              <a:latin typeface="Arial"/>
            </a:endParaRPr>
          </a:p>
        </p:txBody>
      </p:sp>
      <p:sp>
        <p:nvSpPr>
          <p:cNvPr id="37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72" name="Rectangle 3"/>
          <p:cNvSpPr/>
          <p:nvPr/>
        </p:nvSpPr>
        <p:spPr>
          <a:xfrm>
            <a:off x="457200" y="1600200"/>
            <a:ext cx="11246760" cy="5025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TextBox 4"/>
          <p:cNvSpPr/>
          <p:nvPr/>
        </p:nvSpPr>
        <p:spPr>
          <a:xfrm>
            <a:off x="548640" y="16459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类别</a:t>
            </a:r>
            <a:endParaRPr lang="en-US" sz="2000" b="0" u="none" strike="noStrike">
              <a:solidFill>
                <a:srgbClr val="FFFFFF"/>
              </a:solidFill>
              <a:effectLst/>
              <a:uFillTx/>
              <a:latin typeface="Arial"/>
            </a:endParaRPr>
          </a:p>
        </p:txBody>
      </p:sp>
      <p:sp>
        <p:nvSpPr>
          <p:cNvPr id="374" name="TextBox 5"/>
          <p:cNvSpPr/>
          <p:nvPr/>
        </p:nvSpPr>
        <p:spPr>
          <a:xfrm>
            <a:off x="329184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AWS</a:t>
            </a:r>
            <a:endParaRPr lang="en-US" sz="2000" b="0" u="none" strike="noStrike">
              <a:solidFill>
                <a:srgbClr val="FFFFFF"/>
              </a:solidFill>
              <a:effectLst/>
              <a:uFillTx/>
              <a:latin typeface="Arial"/>
            </a:endParaRPr>
          </a:p>
        </p:txBody>
      </p:sp>
      <p:sp>
        <p:nvSpPr>
          <p:cNvPr id="375" name="TextBox 6"/>
          <p:cNvSpPr/>
          <p:nvPr/>
        </p:nvSpPr>
        <p:spPr>
          <a:xfrm>
            <a:off x="594360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GCP</a:t>
            </a:r>
            <a:endParaRPr lang="en-US" sz="2000" b="0" u="none" strike="noStrike">
              <a:solidFill>
                <a:srgbClr val="FFFFFF"/>
              </a:solidFill>
              <a:effectLst/>
              <a:uFillTx/>
              <a:latin typeface="Arial"/>
            </a:endParaRPr>
          </a:p>
        </p:txBody>
      </p:sp>
      <p:sp>
        <p:nvSpPr>
          <p:cNvPr id="376" name="TextBox 7"/>
          <p:cNvSpPr/>
          <p:nvPr/>
        </p:nvSpPr>
        <p:spPr>
          <a:xfrm>
            <a:off x="8595360" y="16459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AZURE</a:t>
            </a:r>
            <a:endParaRPr lang="en-US" sz="2000" b="0" u="none" strike="noStrike">
              <a:solidFill>
                <a:srgbClr val="FFFFFF"/>
              </a:solidFill>
              <a:effectLst/>
              <a:uFillTx/>
              <a:latin typeface="Arial"/>
            </a:endParaRPr>
          </a:p>
        </p:txBody>
      </p:sp>
      <p:sp>
        <p:nvSpPr>
          <p:cNvPr id="377" name="TextBox 8"/>
          <p:cNvSpPr/>
          <p:nvPr/>
        </p:nvSpPr>
        <p:spPr>
          <a:xfrm>
            <a:off x="548640" y="21488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关系型</a:t>
            </a:r>
            <a:endParaRPr lang="en-US" sz="2000" b="0" u="none" strike="noStrike">
              <a:solidFill>
                <a:srgbClr val="FFFFFF"/>
              </a:solidFill>
              <a:effectLst/>
              <a:uFillTx/>
              <a:latin typeface="Arial"/>
            </a:endParaRPr>
          </a:p>
        </p:txBody>
      </p:sp>
      <p:sp>
        <p:nvSpPr>
          <p:cNvPr id="378" name="TextBox 9"/>
          <p:cNvSpPr/>
          <p:nvPr/>
        </p:nvSpPr>
        <p:spPr>
          <a:xfrm>
            <a:off x="329184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RDS / Aurora</a:t>
            </a:r>
            <a:endParaRPr lang="en-US" sz="2000" b="0" u="none" strike="noStrike">
              <a:solidFill>
                <a:srgbClr val="FFFFFF"/>
              </a:solidFill>
              <a:effectLst/>
              <a:uFillTx/>
              <a:latin typeface="Arial"/>
            </a:endParaRPr>
          </a:p>
        </p:txBody>
      </p:sp>
      <p:sp>
        <p:nvSpPr>
          <p:cNvPr id="379" name="TextBox 10"/>
          <p:cNvSpPr/>
          <p:nvPr/>
        </p:nvSpPr>
        <p:spPr>
          <a:xfrm>
            <a:off x="594360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Cloud SQL / AlloyDB</a:t>
            </a:r>
            <a:endParaRPr lang="en-US" sz="2000" b="0" u="none" strike="noStrike">
              <a:solidFill>
                <a:srgbClr val="FFFFFF"/>
              </a:solidFill>
              <a:effectLst/>
              <a:uFillTx/>
              <a:latin typeface="Arial"/>
            </a:endParaRPr>
          </a:p>
        </p:txBody>
      </p:sp>
      <p:sp>
        <p:nvSpPr>
          <p:cNvPr id="380" name="TextBox 11"/>
          <p:cNvSpPr/>
          <p:nvPr/>
        </p:nvSpPr>
        <p:spPr>
          <a:xfrm>
            <a:off x="8595360" y="21488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Azure SQL DB</a:t>
            </a:r>
            <a:endParaRPr lang="en-US" sz="2000" b="0" u="none" strike="noStrike">
              <a:solidFill>
                <a:srgbClr val="FFFFFF"/>
              </a:solidFill>
              <a:effectLst/>
              <a:uFillTx/>
              <a:latin typeface="Arial"/>
            </a:endParaRPr>
          </a:p>
        </p:txBody>
      </p:sp>
      <p:sp>
        <p:nvSpPr>
          <p:cNvPr id="381" name="Rectangle 12"/>
          <p:cNvSpPr/>
          <p:nvPr/>
        </p:nvSpPr>
        <p:spPr>
          <a:xfrm>
            <a:off x="457200" y="260604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13"/>
          <p:cNvSpPr/>
          <p:nvPr/>
        </p:nvSpPr>
        <p:spPr>
          <a:xfrm>
            <a:off x="548640" y="26517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文档型/NoSQL</a:t>
            </a:r>
            <a:endParaRPr lang="en-US" sz="2000" b="0" u="none" strike="noStrike">
              <a:solidFill>
                <a:srgbClr val="FFFFFF"/>
              </a:solidFill>
              <a:effectLst/>
              <a:uFillTx/>
              <a:latin typeface="Arial"/>
            </a:endParaRPr>
          </a:p>
        </p:txBody>
      </p:sp>
      <p:sp>
        <p:nvSpPr>
          <p:cNvPr id="383" name="TextBox 14"/>
          <p:cNvSpPr/>
          <p:nvPr/>
        </p:nvSpPr>
        <p:spPr>
          <a:xfrm>
            <a:off x="329184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DynamoDB / DocDB</a:t>
            </a:r>
            <a:endParaRPr lang="en-US" sz="2000" b="0" u="none" strike="noStrike">
              <a:solidFill>
                <a:srgbClr val="FFFFFF"/>
              </a:solidFill>
              <a:effectLst/>
              <a:uFillTx/>
              <a:latin typeface="Arial"/>
            </a:endParaRPr>
          </a:p>
        </p:txBody>
      </p:sp>
      <p:sp>
        <p:nvSpPr>
          <p:cNvPr id="384" name="TextBox 15"/>
          <p:cNvSpPr/>
          <p:nvPr/>
        </p:nvSpPr>
        <p:spPr>
          <a:xfrm>
            <a:off x="594360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Firestore / Bigtable</a:t>
            </a:r>
            <a:endParaRPr lang="en-US" sz="2000" b="0" u="none" strike="noStrike">
              <a:solidFill>
                <a:srgbClr val="FFFFFF"/>
              </a:solidFill>
              <a:effectLst/>
              <a:uFillTx/>
              <a:latin typeface="Arial"/>
            </a:endParaRPr>
          </a:p>
        </p:txBody>
      </p:sp>
      <p:sp>
        <p:nvSpPr>
          <p:cNvPr id="385" name="TextBox 16"/>
          <p:cNvSpPr/>
          <p:nvPr/>
        </p:nvSpPr>
        <p:spPr>
          <a:xfrm>
            <a:off x="8595360" y="26517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a:t>
            </a:r>
            <a:endParaRPr lang="en-US" sz="2000" b="0" u="none" strike="noStrike">
              <a:solidFill>
                <a:srgbClr val="FFFFFF"/>
              </a:solidFill>
              <a:effectLst/>
              <a:uFillTx/>
              <a:latin typeface="Arial"/>
            </a:endParaRPr>
          </a:p>
        </p:txBody>
      </p:sp>
      <p:sp>
        <p:nvSpPr>
          <p:cNvPr id="386" name="TextBox 17"/>
          <p:cNvSpPr/>
          <p:nvPr/>
        </p:nvSpPr>
        <p:spPr>
          <a:xfrm>
            <a:off x="548640" y="315468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数据仓库</a:t>
            </a:r>
            <a:endParaRPr lang="en-US" sz="2000" b="0" u="none" strike="noStrike">
              <a:solidFill>
                <a:srgbClr val="FFFFFF"/>
              </a:solidFill>
              <a:effectLst/>
              <a:uFillTx/>
              <a:latin typeface="Arial"/>
            </a:endParaRPr>
          </a:p>
        </p:txBody>
      </p:sp>
      <p:sp>
        <p:nvSpPr>
          <p:cNvPr id="387" name="TextBox 18"/>
          <p:cNvSpPr/>
          <p:nvPr/>
        </p:nvSpPr>
        <p:spPr>
          <a:xfrm>
            <a:off x="329184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Redshift / Athena</a:t>
            </a:r>
            <a:endParaRPr lang="en-US" sz="2000" b="0" u="none" strike="noStrike">
              <a:solidFill>
                <a:srgbClr val="FFFFFF"/>
              </a:solidFill>
              <a:effectLst/>
              <a:uFillTx/>
              <a:latin typeface="Arial"/>
            </a:endParaRPr>
          </a:p>
        </p:txBody>
      </p:sp>
      <p:sp>
        <p:nvSpPr>
          <p:cNvPr id="388" name="TextBox 19"/>
          <p:cNvSpPr/>
          <p:nvPr/>
        </p:nvSpPr>
        <p:spPr>
          <a:xfrm>
            <a:off x="594360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BigQuery</a:t>
            </a:r>
            <a:endParaRPr lang="en-US" sz="2000" b="0" u="none" strike="noStrike">
              <a:solidFill>
                <a:srgbClr val="FFFFFF"/>
              </a:solidFill>
              <a:effectLst/>
              <a:uFillTx/>
              <a:latin typeface="Arial"/>
            </a:endParaRPr>
          </a:p>
        </p:txBody>
      </p:sp>
      <p:sp>
        <p:nvSpPr>
          <p:cNvPr id="389" name="TextBox 20"/>
          <p:cNvSpPr/>
          <p:nvPr/>
        </p:nvSpPr>
        <p:spPr>
          <a:xfrm>
            <a:off x="8595360" y="315468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Synapse</a:t>
            </a:r>
            <a:endParaRPr lang="en-US" sz="2000" b="0" u="none" strike="noStrike">
              <a:solidFill>
                <a:srgbClr val="FFFFFF"/>
              </a:solidFill>
              <a:effectLst/>
              <a:uFillTx/>
              <a:latin typeface="Arial"/>
            </a:endParaRPr>
          </a:p>
        </p:txBody>
      </p:sp>
      <p:sp>
        <p:nvSpPr>
          <p:cNvPr id="390" name="Rectangle 21"/>
          <p:cNvSpPr/>
          <p:nvPr/>
        </p:nvSpPr>
        <p:spPr>
          <a:xfrm>
            <a:off x="457200" y="361188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1" name="TextBox 22"/>
          <p:cNvSpPr/>
          <p:nvPr/>
        </p:nvSpPr>
        <p:spPr>
          <a:xfrm>
            <a:off x="548640" y="365760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缓存</a:t>
            </a:r>
            <a:endParaRPr lang="en-US" sz="2000" b="0" u="none" strike="noStrike">
              <a:solidFill>
                <a:srgbClr val="FFFFFF"/>
              </a:solidFill>
              <a:effectLst/>
              <a:uFillTx/>
              <a:latin typeface="Arial"/>
            </a:endParaRPr>
          </a:p>
        </p:txBody>
      </p:sp>
      <p:sp>
        <p:nvSpPr>
          <p:cNvPr id="392" name="TextBox 23"/>
          <p:cNvSpPr/>
          <p:nvPr/>
        </p:nvSpPr>
        <p:spPr>
          <a:xfrm>
            <a:off x="329184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ElastiCache</a:t>
            </a:r>
            <a:endParaRPr lang="en-US" sz="2000" b="0" u="none" strike="noStrike">
              <a:solidFill>
                <a:srgbClr val="FFFFFF"/>
              </a:solidFill>
              <a:effectLst/>
              <a:uFillTx/>
              <a:latin typeface="Arial"/>
            </a:endParaRPr>
          </a:p>
        </p:txBody>
      </p:sp>
      <p:sp>
        <p:nvSpPr>
          <p:cNvPr id="393" name="TextBox 24"/>
          <p:cNvSpPr/>
          <p:nvPr/>
        </p:nvSpPr>
        <p:spPr>
          <a:xfrm>
            <a:off x="594360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Memorystore</a:t>
            </a:r>
            <a:endParaRPr lang="en-US" sz="2000" b="0" u="none" strike="noStrike">
              <a:solidFill>
                <a:srgbClr val="FFFFFF"/>
              </a:solidFill>
              <a:effectLst/>
              <a:uFillTx/>
              <a:latin typeface="Arial"/>
            </a:endParaRPr>
          </a:p>
        </p:txBody>
      </p:sp>
      <p:sp>
        <p:nvSpPr>
          <p:cNvPr id="394" name="TextBox 25"/>
          <p:cNvSpPr/>
          <p:nvPr/>
        </p:nvSpPr>
        <p:spPr>
          <a:xfrm>
            <a:off x="8595360" y="365760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Cache for Redis</a:t>
            </a:r>
            <a:endParaRPr lang="en-US" sz="2000" b="0" u="none" strike="noStrike">
              <a:solidFill>
                <a:srgbClr val="FFFFFF"/>
              </a:solidFill>
              <a:effectLst/>
              <a:uFillTx/>
              <a:latin typeface="Arial"/>
            </a:endParaRPr>
          </a:p>
        </p:txBody>
      </p:sp>
      <p:sp>
        <p:nvSpPr>
          <p:cNvPr id="395" name="TextBox 26"/>
          <p:cNvSpPr/>
          <p:nvPr/>
        </p:nvSpPr>
        <p:spPr>
          <a:xfrm>
            <a:off x="548640" y="41605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图型</a:t>
            </a:r>
            <a:endParaRPr lang="en-US" sz="2000" b="0" u="none" strike="noStrike">
              <a:solidFill>
                <a:srgbClr val="FFFFFF"/>
              </a:solidFill>
              <a:effectLst/>
              <a:uFillTx/>
              <a:latin typeface="Arial"/>
            </a:endParaRPr>
          </a:p>
        </p:txBody>
      </p:sp>
      <p:sp>
        <p:nvSpPr>
          <p:cNvPr id="396" name="TextBox 27"/>
          <p:cNvSpPr/>
          <p:nvPr/>
        </p:nvSpPr>
        <p:spPr>
          <a:xfrm>
            <a:off x="329184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Neptune</a:t>
            </a:r>
            <a:endParaRPr lang="en-US" sz="2000" b="0" u="none" strike="noStrike">
              <a:solidFill>
                <a:srgbClr val="FFFFFF"/>
              </a:solidFill>
              <a:effectLst/>
              <a:uFillTx/>
              <a:latin typeface="Arial"/>
            </a:endParaRPr>
          </a:p>
        </p:txBody>
      </p:sp>
      <p:sp>
        <p:nvSpPr>
          <p:cNvPr id="397" name="TextBox 28"/>
          <p:cNvSpPr/>
          <p:nvPr/>
        </p:nvSpPr>
        <p:spPr>
          <a:xfrm>
            <a:off x="594360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398" name="TextBox 29"/>
          <p:cNvSpPr/>
          <p:nvPr/>
        </p:nvSpPr>
        <p:spPr>
          <a:xfrm>
            <a:off x="8595360" y="41605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 图</a:t>
            </a:r>
            <a:endParaRPr lang="en-US" sz="2000" b="0" u="none" strike="noStrike">
              <a:solidFill>
                <a:srgbClr val="FFFFFF"/>
              </a:solidFill>
              <a:effectLst/>
              <a:uFillTx/>
              <a:latin typeface="Arial"/>
            </a:endParaRPr>
          </a:p>
        </p:txBody>
      </p:sp>
      <p:sp>
        <p:nvSpPr>
          <p:cNvPr id="399" name="Rectangle 30"/>
          <p:cNvSpPr/>
          <p:nvPr/>
        </p:nvSpPr>
        <p:spPr>
          <a:xfrm>
            <a:off x="457200" y="461772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0" name="TextBox 31"/>
          <p:cNvSpPr/>
          <p:nvPr/>
        </p:nvSpPr>
        <p:spPr>
          <a:xfrm>
            <a:off x="548640" y="46634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时序型</a:t>
            </a:r>
            <a:endParaRPr lang="en-US" sz="2000" b="0" u="none" strike="noStrike">
              <a:solidFill>
                <a:srgbClr val="FFFFFF"/>
              </a:solidFill>
              <a:effectLst/>
              <a:uFillTx/>
              <a:latin typeface="Arial"/>
            </a:endParaRPr>
          </a:p>
        </p:txBody>
      </p:sp>
      <p:sp>
        <p:nvSpPr>
          <p:cNvPr id="401" name="TextBox 32"/>
          <p:cNvSpPr/>
          <p:nvPr/>
        </p:nvSpPr>
        <p:spPr>
          <a:xfrm>
            <a:off x="329184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Timestream</a:t>
            </a:r>
            <a:endParaRPr lang="en-US" sz="2000" b="0" u="none" strike="noStrike">
              <a:solidFill>
                <a:srgbClr val="FFFFFF"/>
              </a:solidFill>
              <a:effectLst/>
              <a:uFillTx/>
              <a:latin typeface="Arial"/>
            </a:endParaRPr>
          </a:p>
        </p:txBody>
      </p:sp>
      <p:sp>
        <p:nvSpPr>
          <p:cNvPr id="402" name="TextBox 33"/>
          <p:cNvSpPr/>
          <p:nvPr/>
        </p:nvSpPr>
        <p:spPr>
          <a:xfrm>
            <a:off x="594360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3" name="TextBox 34"/>
          <p:cNvSpPr/>
          <p:nvPr/>
        </p:nvSpPr>
        <p:spPr>
          <a:xfrm>
            <a:off x="8595360" y="46634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4" name="TextBox 35"/>
          <p:cNvSpPr/>
          <p:nvPr/>
        </p:nvSpPr>
        <p:spPr>
          <a:xfrm>
            <a:off x="548640" y="51663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对象存储</a:t>
            </a:r>
            <a:endParaRPr lang="en-US" sz="2000" b="0" u="none" strike="noStrike">
              <a:solidFill>
                <a:srgbClr val="FFFFFF"/>
              </a:solidFill>
              <a:effectLst/>
              <a:uFillTx/>
              <a:latin typeface="Arial"/>
            </a:endParaRPr>
          </a:p>
        </p:txBody>
      </p:sp>
      <p:sp>
        <p:nvSpPr>
          <p:cNvPr id="405" name="TextBox 36"/>
          <p:cNvSpPr/>
          <p:nvPr/>
        </p:nvSpPr>
        <p:spPr>
          <a:xfrm>
            <a:off x="329184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S3</a:t>
            </a:r>
            <a:endParaRPr lang="en-US" sz="2000" b="0" u="none" strike="noStrike">
              <a:solidFill>
                <a:srgbClr val="FFFFFF"/>
              </a:solidFill>
              <a:effectLst/>
              <a:uFillTx/>
              <a:latin typeface="Arial"/>
            </a:endParaRPr>
          </a:p>
        </p:txBody>
      </p:sp>
      <p:sp>
        <p:nvSpPr>
          <p:cNvPr id="406" name="TextBox 37"/>
          <p:cNvSpPr/>
          <p:nvPr/>
        </p:nvSpPr>
        <p:spPr>
          <a:xfrm>
            <a:off x="594360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Storage</a:t>
            </a:r>
            <a:endParaRPr lang="en-US" sz="2000" b="0" u="none" strike="noStrike">
              <a:solidFill>
                <a:srgbClr val="FFFFFF"/>
              </a:solidFill>
              <a:effectLst/>
              <a:uFillTx/>
              <a:latin typeface="Arial"/>
            </a:endParaRPr>
          </a:p>
        </p:txBody>
      </p:sp>
      <p:sp>
        <p:nvSpPr>
          <p:cNvPr id="407" name="TextBox 38"/>
          <p:cNvSpPr/>
          <p:nvPr/>
        </p:nvSpPr>
        <p:spPr>
          <a:xfrm>
            <a:off x="8595360" y="51663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Blob Storage</a:t>
            </a:r>
            <a:endParaRPr lang="en-US" sz="2000" b="0" u="none" strike="noStrike">
              <a:solidFill>
                <a:srgbClr val="FFFFFF"/>
              </a:solidFill>
              <a:effectLst/>
              <a:uFillTx/>
              <a:latin typeface="Arial"/>
            </a:endParaRPr>
          </a:p>
        </p:txBody>
      </p:sp>
      <p:sp>
        <p:nvSpPr>
          <p:cNvPr id="408"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409"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10" name="TextBox 1" descr="Two-column diagram contrasting what the cloud vendor owns (hypervisor, engine, hardware) versus what the customer owns (config, IAM, data, encryption)." title="Two-column diagram contrasting what the cloud vendor owns (hypervisor, engine, 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责任共担模型</a:t>
            </a:r>
            <a:endParaRPr lang="en-US" sz="4200" b="0" u="none" strike="noStrike">
              <a:solidFill>
                <a:srgbClr val="FFFFFF"/>
              </a:solidFill>
              <a:effectLst/>
              <a:uFillTx/>
              <a:latin typeface="Arial"/>
            </a:endParaRPr>
          </a:p>
        </p:txBody>
      </p:sp>
      <p:sp>
        <p:nvSpPr>
          <p:cNvPr id="4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12" name="Rounded Rectangle 3"/>
          <p:cNvSpPr/>
          <p:nvPr/>
        </p:nvSpPr>
        <p:spPr>
          <a:xfrm>
            <a:off x="457200" y="1828800"/>
            <a:ext cx="5577480" cy="4114440"/>
          </a:xfrm>
          <a:prstGeom prst="roundRect">
            <a:avLst>
              <a:gd name="adj" fmla="val 16667"/>
            </a:avLst>
          </a:prstGeom>
          <a:solidFill>
            <a:srgbClr val="122A18"/>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4"/>
          <p:cNvSpPr/>
          <p:nvPr/>
        </p:nvSpPr>
        <p:spPr>
          <a:xfrm>
            <a:off x="548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00FF41"/>
                </a:solidFill>
                <a:effectLst/>
                <a:uFillTx/>
                <a:latin typeface="Calibri"/>
              </a:rPr>
              <a:t>✓  云厂商负责</a:t>
            </a:r>
            <a:endParaRPr lang="en-US" sz="2400" b="0" u="none" strike="noStrike">
              <a:solidFill>
                <a:srgbClr val="FFFFFF"/>
              </a:solidFill>
              <a:effectLst/>
              <a:uFillTx/>
              <a:latin typeface="Arial"/>
            </a:endParaRPr>
          </a:p>
        </p:txBody>
      </p:sp>
      <p:sp>
        <p:nvSpPr>
          <p:cNvPr id="414" name="TextBox 5"/>
          <p:cNvSpPr/>
          <p:nvPr/>
        </p:nvSpPr>
        <p:spPr>
          <a:xfrm>
            <a:off x="640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虚拟机监控程序与物理硬件</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数据库引擎补丁</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物理安全</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底层网络</a:t>
            </a:r>
            <a:endParaRPr lang="en-US" sz="2400" b="0" u="none" strike="noStrike">
              <a:solidFill>
                <a:srgbClr val="FFFFFF"/>
              </a:solidFill>
              <a:effectLst/>
              <a:uFillTx/>
              <a:latin typeface="Arial"/>
            </a:endParaRPr>
          </a:p>
        </p:txBody>
      </p:sp>
      <p:sp>
        <p:nvSpPr>
          <p:cNvPr id="415" name="Rounded Rectangle 6"/>
          <p:cNvSpPr/>
          <p:nvPr/>
        </p:nvSpPr>
        <p:spPr>
          <a:xfrm>
            <a:off x="6172200" y="1828800"/>
            <a:ext cx="5577480" cy="4114440"/>
          </a:xfrm>
          <a:prstGeom prst="roundRect">
            <a:avLst>
              <a:gd name="adj" fmla="val 16667"/>
            </a:avLst>
          </a:prstGeom>
          <a:solidFill>
            <a:srgbClr val="3A1F14"/>
          </a:solidFill>
          <a:ln w="3810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6" name="TextBox 7"/>
          <p:cNvSpPr/>
          <p:nvPr/>
        </p:nvSpPr>
        <p:spPr>
          <a:xfrm>
            <a:off x="6263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你负责</a:t>
            </a:r>
            <a:endParaRPr lang="en-US" sz="2400" b="0" u="none" strike="noStrike">
              <a:solidFill>
                <a:srgbClr val="FFFFFF"/>
              </a:solidFill>
              <a:effectLst/>
              <a:uFillTx/>
              <a:latin typeface="Arial"/>
            </a:endParaRPr>
          </a:p>
        </p:txBody>
      </p:sp>
      <p:sp>
        <p:nvSpPr>
          <p:cNvPr id="417" name="TextBox 8"/>
          <p:cNvSpPr/>
          <p:nvPr/>
        </p:nvSpPr>
        <p:spPr>
          <a:xfrm>
            <a:off x="6355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配置</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访问策略（IAM）</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数据本身</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加密选择</a:t>
            </a:r>
            <a:endParaRPr lang="en-US" sz="2400" b="0" u="none" strike="noStrike">
              <a:solidFill>
                <a:srgbClr val="FFFFFF"/>
              </a:solidFill>
              <a:effectLst/>
              <a:uFillTx/>
              <a:latin typeface="Arial"/>
            </a:endParaRPr>
          </a:p>
        </p:txBody>
      </p:sp>
      <p:sp>
        <p:nvSpPr>
          <p:cNvPr id="418" name="TextBox 9"/>
          <p:cNvSpPr/>
          <p:nvPr/>
        </p:nvSpPr>
        <p:spPr>
          <a:xfrm>
            <a:off x="457200" y="603504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几乎每一次云数据库泄露 = 客户配置错误。</a:t>
            </a:r>
            <a:endParaRPr lang="en-US" sz="2200" b="0" u="none" strike="noStrike">
              <a:solidFill>
                <a:srgbClr val="FFFFFF"/>
              </a:solidFill>
              <a:effectLst/>
              <a:uFillTx/>
              <a:latin typeface="Arial"/>
            </a:endParaRPr>
          </a:p>
        </p:txBody>
      </p:sp>
      <p:sp>
        <p:nvSpPr>
          <p:cNvPr id="419" name="TextBox 1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420" name="TextBox 1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21" name="TextBox 1" descr="Table of common database ports: MySQL 3306, PostgreSQL 5432, MS SQL 1433, MongoDB 27017, Redis 6379, Elasticsearch 9200, Cassandra 9042." title="Table of common database ports: MySQL 3306, PostgreSQL 5432, MS SQL 1433, MongoD"/>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常见数据库端口 — 牢记于心</a:t>
            </a:r>
            <a:endParaRPr lang="en-US" sz="4200" b="0" u="none" strike="noStrike">
              <a:solidFill>
                <a:srgbClr val="FFFFFF"/>
              </a:solidFill>
              <a:effectLst/>
              <a:uFillTx/>
              <a:latin typeface="Arial"/>
            </a:endParaRPr>
          </a:p>
        </p:txBody>
      </p:sp>
      <p:sp>
        <p:nvSpPr>
          <p:cNvPr id="42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23" name="TextBox 3"/>
          <p:cNvSpPr/>
          <p:nvPr/>
        </p:nvSpPr>
        <p:spPr>
          <a:xfrm>
            <a:off x="1371600" y="1645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3306</a:t>
            </a:r>
            <a:endParaRPr lang="en-US" sz="3600" b="0" u="none" strike="noStrike">
              <a:solidFill>
                <a:srgbClr val="FFFFFF"/>
              </a:solidFill>
              <a:effectLst/>
              <a:uFillTx/>
              <a:latin typeface="Arial"/>
            </a:endParaRPr>
          </a:p>
        </p:txBody>
      </p:sp>
      <p:sp>
        <p:nvSpPr>
          <p:cNvPr id="424" name="TextBox 4"/>
          <p:cNvSpPr/>
          <p:nvPr/>
        </p:nvSpPr>
        <p:spPr>
          <a:xfrm>
            <a:off x="3840480" y="1645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5" name="TextBox 5"/>
          <p:cNvSpPr/>
          <p:nvPr/>
        </p:nvSpPr>
        <p:spPr>
          <a:xfrm>
            <a:off x="4480560" y="1645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MySQL / MariaDB</a:t>
            </a:r>
            <a:endParaRPr lang="en-US" sz="3200" b="0" u="none" strike="noStrike">
              <a:solidFill>
                <a:srgbClr val="FFFFFF"/>
              </a:solidFill>
              <a:effectLst/>
              <a:uFillTx/>
              <a:latin typeface="Arial"/>
            </a:endParaRPr>
          </a:p>
        </p:txBody>
      </p:sp>
      <p:sp>
        <p:nvSpPr>
          <p:cNvPr id="426" name="TextBox 6"/>
          <p:cNvSpPr/>
          <p:nvPr/>
        </p:nvSpPr>
        <p:spPr>
          <a:xfrm>
            <a:off x="1371600" y="2212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5432</a:t>
            </a:r>
            <a:endParaRPr lang="en-US" sz="3600" b="0" u="none" strike="noStrike">
              <a:solidFill>
                <a:srgbClr val="FFFFFF"/>
              </a:solidFill>
              <a:effectLst/>
              <a:uFillTx/>
              <a:latin typeface="Arial"/>
            </a:endParaRPr>
          </a:p>
        </p:txBody>
      </p:sp>
      <p:sp>
        <p:nvSpPr>
          <p:cNvPr id="427" name="TextBox 7"/>
          <p:cNvSpPr/>
          <p:nvPr/>
        </p:nvSpPr>
        <p:spPr>
          <a:xfrm>
            <a:off x="3840480" y="2212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8" name="TextBox 8"/>
          <p:cNvSpPr/>
          <p:nvPr/>
        </p:nvSpPr>
        <p:spPr>
          <a:xfrm>
            <a:off x="4480560" y="2212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PostgreSQL</a:t>
            </a:r>
            <a:endParaRPr lang="en-US" sz="3200" b="0" u="none" strike="noStrike">
              <a:solidFill>
                <a:srgbClr val="FFFFFF"/>
              </a:solidFill>
              <a:effectLst/>
              <a:uFillTx/>
              <a:latin typeface="Arial"/>
            </a:endParaRPr>
          </a:p>
        </p:txBody>
      </p:sp>
      <p:sp>
        <p:nvSpPr>
          <p:cNvPr id="429" name="TextBox 9"/>
          <p:cNvSpPr/>
          <p:nvPr/>
        </p:nvSpPr>
        <p:spPr>
          <a:xfrm>
            <a:off x="1371600" y="2779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1433</a:t>
            </a:r>
            <a:endParaRPr lang="en-US" sz="3600" b="0" u="none" strike="noStrike">
              <a:solidFill>
                <a:srgbClr val="FFFFFF"/>
              </a:solidFill>
              <a:effectLst/>
              <a:uFillTx/>
              <a:latin typeface="Arial"/>
            </a:endParaRPr>
          </a:p>
        </p:txBody>
      </p:sp>
      <p:sp>
        <p:nvSpPr>
          <p:cNvPr id="430" name="TextBox 10"/>
          <p:cNvSpPr/>
          <p:nvPr/>
        </p:nvSpPr>
        <p:spPr>
          <a:xfrm>
            <a:off x="3840480" y="2779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1" name="TextBox 11"/>
          <p:cNvSpPr/>
          <p:nvPr/>
        </p:nvSpPr>
        <p:spPr>
          <a:xfrm>
            <a:off x="4480560" y="2779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Microsoft SQL Server</a:t>
            </a:r>
            <a:endParaRPr lang="en-US" sz="3200" b="0" u="none" strike="noStrike">
              <a:solidFill>
                <a:srgbClr val="FFFFFF"/>
              </a:solidFill>
              <a:effectLst/>
              <a:uFillTx/>
              <a:latin typeface="Arial"/>
            </a:endParaRPr>
          </a:p>
        </p:txBody>
      </p:sp>
      <p:sp>
        <p:nvSpPr>
          <p:cNvPr id="432" name="TextBox 12"/>
          <p:cNvSpPr/>
          <p:nvPr/>
        </p:nvSpPr>
        <p:spPr>
          <a:xfrm>
            <a:off x="1371600" y="3346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27017</a:t>
            </a:r>
            <a:endParaRPr lang="en-US" sz="3600" b="0" u="none" strike="noStrike">
              <a:solidFill>
                <a:srgbClr val="FFFFFF"/>
              </a:solidFill>
              <a:effectLst/>
              <a:uFillTx/>
              <a:latin typeface="Arial"/>
            </a:endParaRPr>
          </a:p>
        </p:txBody>
      </p:sp>
      <p:sp>
        <p:nvSpPr>
          <p:cNvPr id="433" name="TextBox 13"/>
          <p:cNvSpPr/>
          <p:nvPr/>
        </p:nvSpPr>
        <p:spPr>
          <a:xfrm>
            <a:off x="3840480" y="3346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4" name="TextBox 14"/>
          <p:cNvSpPr/>
          <p:nvPr/>
        </p:nvSpPr>
        <p:spPr>
          <a:xfrm>
            <a:off x="4480560" y="3346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MongoDB</a:t>
            </a:r>
            <a:endParaRPr lang="en-US" sz="3200" b="0" u="none" strike="noStrike">
              <a:solidFill>
                <a:srgbClr val="FFFFFF"/>
              </a:solidFill>
              <a:effectLst/>
              <a:uFillTx/>
              <a:latin typeface="Arial"/>
            </a:endParaRPr>
          </a:p>
        </p:txBody>
      </p:sp>
      <p:sp>
        <p:nvSpPr>
          <p:cNvPr id="435" name="TextBox 15"/>
          <p:cNvSpPr/>
          <p:nvPr/>
        </p:nvSpPr>
        <p:spPr>
          <a:xfrm>
            <a:off x="1371600" y="3913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6379</a:t>
            </a:r>
            <a:endParaRPr lang="en-US" sz="3600" b="0" u="none" strike="noStrike">
              <a:solidFill>
                <a:srgbClr val="FFFFFF"/>
              </a:solidFill>
              <a:effectLst/>
              <a:uFillTx/>
              <a:latin typeface="Arial"/>
            </a:endParaRPr>
          </a:p>
        </p:txBody>
      </p:sp>
      <p:sp>
        <p:nvSpPr>
          <p:cNvPr id="436" name="TextBox 16"/>
          <p:cNvSpPr/>
          <p:nvPr/>
        </p:nvSpPr>
        <p:spPr>
          <a:xfrm>
            <a:off x="3840480" y="3913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7" name="TextBox 17"/>
          <p:cNvSpPr/>
          <p:nvPr/>
        </p:nvSpPr>
        <p:spPr>
          <a:xfrm>
            <a:off x="4480560" y="3913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Redis</a:t>
            </a:r>
            <a:endParaRPr lang="en-US" sz="3200" b="0" u="none" strike="noStrike">
              <a:solidFill>
                <a:srgbClr val="FFFFFF"/>
              </a:solidFill>
              <a:effectLst/>
              <a:uFillTx/>
              <a:latin typeface="Arial"/>
            </a:endParaRPr>
          </a:p>
        </p:txBody>
      </p:sp>
      <p:sp>
        <p:nvSpPr>
          <p:cNvPr id="438" name="TextBox 18"/>
          <p:cNvSpPr/>
          <p:nvPr/>
        </p:nvSpPr>
        <p:spPr>
          <a:xfrm>
            <a:off x="1371600" y="4480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9200</a:t>
            </a:r>
            <a:endParaRPr lang="en-US" sz="3600" b="0" u="none" strike="noStrike">
              <a:solidFill>
                <a:srgbClr val="FFFFFF"/>
              </a:solidFill>
              <a:effectLst/>
              <a:uFillTx/>
              <a:latin typeface="Arial"/>
            </a:endParaRPr>
          </a:p>
        </p:txBody>
      </p:sp>
      <p:sp>
        <p:nvSpPr>
          <p:cNvPr id="439" name="TextBox 19"/>
          <p:cNvSpPr/>
          <p:nvPr/>
        </p:nvSpPr>
        <p:spPr>
          <a:xfrm>
            <a:off x="3840480" y="4480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0" name="TextBox 20"/>
          <p:cNvSpPr/>
          <p:nvPr/>
        </p:nvSpPr>
        <p:spPr>
          <a:xfrm>
            <a:off x="4480560" y="4480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Elasticsearch</a:t>
            </a:r>
            <a:endParaRPr lang="en-US" sz="3200" b="0" u="none" strike="noStrike">
              <a:solidFill>
                <a:srgbClr val="FFFFFF"/>
              </a:solidFill>
              <a:effectLst/>
              <a:uFillTx/>
              <a:latin typeface="Arial"/>
            </a:endParaRPr>
          </a:p>
        </p:txBody>
      </p:sp>
      <p:sp>
        <p:nvSpPr>
          <p:cNvPr id="441" name="TextBox 21"/>
          <p:cNvSpPr/>
          <p:nvPr/>
        </p:nvSpPr>
        <p:spPr>
          <a:xfrm>
            <a:off x="1371600" y="5047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9042</a:t>
            </a:r>
            <a:endParaRPr lang="en-US" sz="3600" b="0" u="none" strike="noStrike">
              <a:solidFill>
                <a:srgbClr val="FFFFFF"/>
              </a:solidFill>
              <a:effectLst/>
              <a:uFillTx/>
              <a:latin typeface="Arial"/>
            </a:endParaRPr>
          </a:p>
        </p:txBody>
      </p:sp>
      <p:sp>
        <p:nvSpPr>
          <p:cNvPr id="442" name="TextBox 22"/>
          <p:cNvSpPr/>
          <p:nvPr/>
        </p:nvSpPr>
        <p:spPr>
          <a:xfrm>
            <a:off x="3840480" y="5047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3" name="TextBox 23"/>
          <p:cNvSpPr/>
          <p:nvPr/>
        </p:nvSpPr>
        <p:spPr>
          <a:xfrm>
            <a:off x="4480560" y="5047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Cassandra</a:t>
            </a:r>
            <a:endParaRPr lang="en-US" sz="3200" b="0" u="none" strike="noStrike">
              <a:solidFill>
                <a:srgbClr val="FFFFFF"/>
              </a:solidFill>
              <a:effectLst/>
              <a:uFillTx/>
              <a:latin typeface="Arial"/>
            </a:endParaRPr>
          </a:p>
        </p:txBody>
      </p:sp>
      <p:sp>
        <p:nvSpPr>
          <p:cNvPr id="444" name="TextBox 24"/>
          <p:cNvSpPr/>
          <p:nvPr/>
        </p:nvSpPr>
        <p:spPr>
          <a:xfrm>
            <a:off x="457200" y="5989320"/>
            <a:ext cx="1124676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6B35"/>
                </a:solidFill>
                <a:effectLst/>
                <a:uFillTx/>
                <a:latin typeface="Calibri"/>
              </a:rPr>
              <a:t>其中任何一个暴露在互联网上 = 一个安全发现。每一次都是*</a:t>
            </a:r>
            <a:endParaRPr lang="en-US" sz="2200" b="0" u="none" strike="noStrike">
              <a:solidFill>
                <a:srgbClr val="FFFFFF"/>
              </a:solidFill>
              <a:effectLst/>
              <a:uFillTx/>
              <a:latin typeface="Arial"/>
            </a:endParaRPr>
          </a:p>
        </p:txBody>
      </p:sp>
      <p:sp>
        <p:nvSpPr>
          <p:cNvPr id="445" name="TextBox 25"/>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446" name="TextBox 2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47" name="TextBox 1" descr="Statement slide: Markdown files are now a database — the kind an LLM reads from via embeddings and RAG." title="Statement slide: Markdown files are now a database — the kind an LLM reads from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你的笔记现在也是数据库了</a:t>
            </a:r>
            <a:endParaRPr lang="en-US" sz="4200" b="0" u="none" strike="noStrike">
              <a:solidFill>
                <a:srgbClr val="FFFFFF"/>
              </a:solidFill>
              <a:effectLst/>
              <a:uFillTx/>
              <a:latin typeface="Arial"/>
            </a:endParaRPr>
          </a:p>
        </p:txBody>
      </p:sp>
      <p:sp>
        <p:nvSpPr>
          <p:cNvPr id="44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49"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0" u="none" strike="noStrike">
                <a:solidFill>
                  <a:srgbClr val="FFFFFF"/>
                </a:solidFill>
                <a:effectLst/>
                <a:uFillTx/>
                <a:latin typeface="Calibri"/>
              </a:rPr>
              <a:t>Markdown 文件如今成了</a:t>
            </a:r>
            <a:endParaRPr lang="en-US" sz="4400" b="0" u="none" strike="noStrike">
              <a:solidFill>
                <a:srgbClr val="FFFFFF"/>
              </a:solidFill>
              <a:effectLst/>
              <a:uFillTx/>
              <a:latin typeface="Arial"/>
            </a:endParaRPr>
          </a:p>
        </p:txBody>
      </p:sp>
      <p:sp>
        <p:nvSpPr>
          <p:cNvPr id="450" name="TextBox 4"/>
          <p:cNvSpPr/>
          <p:nvPr/>
        </p:nvSpPr>
        <p:spPr>
          <a:xfrm>
            <a:off x="457200" y="283464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00FF41"/>
                </a:solidFill>
                <a:effectLst/>
                <a:uFillTx/>
                <a:latin typeface="Calibri"/>
              </a:rPr>
              <a:t>LLM 读取数据的数据库。</a:t>
            </a:r>
            <a:endParaRPr lang="en-US" sz="4400" b="0" u="none" strike="noStrike">
              <a:solidFill>
                <a:srgbClr val="FFFFFF"/>
              </a:solidFill>
              <a:effectLst/>
              <a:uFillTx/>
              <a:latin typeface="Arial"/>
            </a:endParaRPr>
          </a:p>
        </p:txBody>
      </p:sp>
      <p:sp>
        <p:nvSpPr>
          <p:cNvPr id="451" name="TextBox 5"/>
          <p:cNvSpPr/>
          <p:nvPr/>
        </p:nvSpPr>
        <p:spPr>
          <a:xfrm>
            <a:off x="457200" y="420624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00D4FF"/>
                </a:solidFill>
                <a:effectLst/>
                <a:uFillTx/>
                <a:latin typeface="Calibri"/>
              </a:rPr>
              <a:t>Obsidian 知识库  •  Wiki 导出  •  会议笔记  •  GitHub 文档</a:t>
            </a:r>
            <a:endParaRPr lang="en-US" sz="2400" b="0" u="none" strike="noStrike">
              <a:solidFill>
                <a:srgbClr val="FFFFFF"/>
              </a:solidFill>
              <a:effectLst/>
              <a:uFillTx/>
              <a:latin typeface="Arial"/>
            </a:endParaRPr>
          </a:p>
        </p:txBody>
      </p:sp>
      <p:sp>
        <p:nvSpPr>
          <p:cNvPr id="452" name="TextBox 6"/>
          <p:cNvSpPr/>
          <p:nvPr/>
        </p:nvSpPr>
        <p:spPr>
          <a:xfrm>
            <a:off x="457200" y="493776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CCCCD6"/>
                </a:solidFill>
                <a:effectLst/>
                <a:uFillTx/>
                <a:latin typeface="Calibri"/>
              </a:rPr>
              <a:t>嵌入 → 向量数据库 → LLM 上下文 → 给用户的回答</a:t>
            </a:r>
            <a:endParaRPr lang="en-US" sz="2600" b="0" u="none" strike="noStrike">
              <a:solidFill>
                <a:srgbClr val="FFFFFF"/>
              </a:solidFill>
              <a:effectLst/>
              <a:uFillTx/>
              <a:latin typeface="Arial"/>
            </a:endParaRPr>
          </a:p>
        </p:txBody>
      </p:sp>
      <p:sp>
        <p:nvSpPr>
          <p:cNvPr id="45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45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55" name="TextBox 1" descr="Pipeline diagram: markdown files → embedder → vector DB → LLM prompt → answer. The trust boundary sits between authors and the embedder." title="Pipeline diagram: markdown files → embedder → vector DB → LLM prompt → answer. T"/>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RAG 流水线 — 信任边界在哪里？</a:t>
            </a:r>
            <a:endParaRPr lang="en-US" sz="3600" b="0" u="none" strike="noStrike">
              <a:solidFill>
                <a:srgbClr val="FFFFFF"/>
              </a:solidFill>
              <a:effectLst/>
              <a:uFillTx/>
              <a:latin typeface="Arial"/>
            </a:endParaRPr>
          </a:p>
        </p:txBody>
      </p:sp>
      <p:sp>
        <p:nvSpPr>
          <p:cNvPr id="45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57" name="Rounded Rectangle 3"/>
          <p:cNvSpPr/>
          <p:nvPr/>
        </p:nvSpPr>
        <p:spPr>
          <a:xfrm>
            <a:off x="457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8" name="TextBox 4"/>
          <p:cNvSpPr/>
          <p:nvPr/>
        </p:nvSpPr>
        <p:spPr>
          <a:xfrm>
            <a:off x="457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.md 文件</a:t>
            </a:r>
            <a:endParaRPr lang="en-US" sz="2200" b="0" u="none" strike="noStrike">
              <a:solidFill>
                <a:srgbClr val="FFFFFF"/>
              </a:solidFill>
              <a:effectLst/>
              <a:uFillTx/>
              <a:latin typeface="Arial"/>
            </a:endParaRPr>
          </a:p>
        </p:txBody>
      </p:sp>
      <p:sp>
        <p:nvSpPr>
          <p:cNvPr id="459" name="TextBox 5"/>
          <p:cNvSpPr/>
          <p:nvPr/>
        </p:nvSpPr>
        <p:spPr>
          <a:xfrm>
            <a:off x="2395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0" name="Rounded Rectangle 6"/>
          <p:cNvSpPr/>
          <p:nvPr/>
        </p:nvSpPr>
        <p:spPr>
          <a:xfrm>
            <a:off x="2743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1" name="TextBox 7"/>
          <p:cNvSpPr/>
          <p:nvPr/>
        </p:nvSpPr>
        <p:spPr>
          <a:xfrm>
            <a:off x="2743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嵌入器</a:t>
            </a:r>
            <a:endParaRPr lang="en-US" sz="2200" b="0" u="none" strike="noStrike">
              <a:solidFill>
                <a:srgbClr val="FFFFFF"/>
              </a:solidFill>
              <a:effectLst/>
              <a:uFillTx/>
              <a:latin typeface="Arial"/>
            </a:endParaRPr>
          </a:p>
        </p:txBody>
      </p:sp>
      <p:sp>
        <p:nvSpPr>
          <p:cNvPr id="462" name="TextBox 8"/>
          <p:cNvSpPr/>
          <p:nvPr/>
        </p:nvSpPr>
        <p:spPr>
          <a:xfrm>
            <a:off x="4681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3" name="Rounded Rectangle 9"/>
          <p:cNvSpPr/>
          <p:nvPr/>
        </p:nvSpPr>
        <p:spPr>
          <a:xfrm>
            <a:off x="5029200" y="2377440"/>
            <a:ext cx="1919880" cy="1096920"/>
          </a:xfrm>
          <a:prstGeom prst="roundRect">
            <a:avLst>
              <a:gd name="adj" fmla="val 16667"/>
            </a:avLst>
          </a:prstGeom>
          <a:solidFill>
            <a:srgbClr val="24243E"/>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TextBox 10"/>
          <p:cNvSpPr/>
          <p:nvPr/>
        </p:nvSpPr>
        <p:spPr>
          <a:xfrm>
            <a:off x="5029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FF41"/>
                </a:solidFill>
                <a:effectLst/>
                <a:uFillTx/>
                <a:latin typeface="Calibri"/>
              </a:rPr>
              <a:t>向量数据库</a:t>
            </a:r>
            <a:endParaRPr lang="en-US" sz="2200" b="0" u="none" strike="noStrike">
              <a:solidFill>
                <a:srgbClr val="FFFFFF"/>
              </a:solidFill>
              <a:effectLst/>
              <a:uFillTx/>
              <a:latin typeface="Arial"/>
            </a:endParaRPr>
          </a:p>
        </p:txBody>
      </p:sp>
      <p:sp>
        <p:nvSpPr>
          <p:cNvPr id="465" name="TextBox 11"/>
          <p:cNvSpPr/>
          <p:nvPr/>
        </p:nvSpPr>
        <p:spPr>
          <a:xfrm>
            <a:off x="6967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6" name="Rounded Rectangle 12"/>
          <p:cNvSpPr/>
          <p:nvPr/>
        </p:nvSpPr>
        <p:spPr>
          <a:xfrm>
            <a:off x="7315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13"/>
          <p:cNvSpPr/>
          <p:nvPr/>
        </p:nvSpPr>
        <p:spPr>
          <a:xfrm>
            <a:off x="7315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LLM 提示</a:t>
            </a:r>
            <a:endParaRPr lang="en-US" sz="2200" b="0" u="none" strike="noStrike">
              <a:solidFill>
                <a:srgbClr val="FFFFFF"/>
              </a:solidFill>
              <a:effectLst/>
              <a:uFillTx/>
              <a:latin typeface="Arial"/>
            </a:endParaRPr>
          </a:p>
        </p:txBody>
      </p:sp>
      <p:sp>
        <p:nvSpPr>
          <p:cNvPr id="468" name="TextBox 14"/>
          <p:cNvSpPr/>
          <p:nvPr/>
        </p:nvSpPr>
        <p:spPr>
          <a:xfrm>
            <a:off x="9253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9" name="Rounded Rectangle 15"/>
          <p:cNvSpPr/>
          <p:nvPr/>
        </p:nvSpPr>
        <p:spPr>
          <a:xfrm>
            <a:off x="9601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16"/>
          <p:cNvSpPr/>
          <p:nvPr/>
        </p:nvSpPr>
        <p:spPr>
          <a:xfrm>
            <a:off x="9601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回答</a:t>
            </a:r>
            <a:endParaRPr lang="en-US" sz="2200" b="0" u="none" strike="noStrike">
              <a:solidFill>
                <a:srgbClr val="FFFFFF"/>
              </a:solidFill>
              <a:effectLst/>
              <a:uFillTx/>
              <a:latin typeface="Arial"/>
            </a:endParaRPr>
          </a:p>
        </p:txBody>
      </p:sp>
      <p:sp>
        <p:nvSpPr>
          <p:cNvPr id="471" name="Rectangle 17"/>
          <p:cNvSpPr/>
          <p:nvPr/>
        </p:nvSpPr>
        <p:spPr>
          <a:xfrm>
            <a:off x="2286000" y="2103120"/>
            <a:ext cx="54360" cy="16455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TextBox 18"/>
          <p:cNvSpPr/>
          <p:nvPr/>
        </p:nvSpPr>
        <p:spPr>
          <a:xfrm>
            <a:off x="731520" y="3840480"/>
            <a:ext cx="27428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 b="1" u="none" strike="noStrike">
                <a:solidFill>
                  <a:srgbClr val="FF6B35"/>
                </a:solidFill>
                <a:effectLst/>
                <a:uFillTx/>
                <a:latin typeface="Calibri"/>
              </a:rPr>
              <a:t>⚠ 信任边界</a:t>
            </a:r>
            <a:endParaRPr lang="en-US" sz="1800" b="0" u="none" strike="noStrike">
              <a:solidFill>
                <a:srgbClr val="FFFFFF"/>
              </a:solidFill>
              <a:effectLst/>
              <a:uFillTx/>
              <a:latin typeface="Arial"/>
            </a:endParaRPr>
          </a:p>
        </p:txBody>
      </p:sp>
      <p:sp>
        <p:nvSpPr>
          <p:cNvPr id="473" name="TextBox 19"/>
          <p:cNvSpPr/>
          <p:nvPr/>
        </p:nvSpPr>
        <p:spPr>
          <a:xfrm>
            <a:off x="457200" y="48463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FFFF"/>
                </a:solidFill>
                <a:effectLst/>
                <a:uFillTx/>
                <a:latin typeface="Calibri"/>
              </a:rPr>
              <a:t>如果任何人都能编辑这些 .md 文件，那么任何人都能植入</a:t>
            </a:r>
            <a:endParaRPr lang="en-US" sz="2600" b="0" u="none" strike="noStrike">
              <a:solidFill>
                <a:srgbClr val="FFFFFF"/>
              </a:solidFill>
              <a:effectLst/>
              <a:uFillTx/>
              <a:latin typeface="Arial"/>
            </a:endParaRPr>
          </a:p>
          <a:p>
            <a:pPr algn="ctr" defTabSz="457200">
              <a:lnSpc>
                <a:spcPct val="100000"/>
              </a:lnSpc>
            </a:pPr>
            <a:r>
              <a:rPr lang="en-US" sz="2600" b="1" u="none" strike="noStrike">
                <a:solidFill>
                  <a:srgbClr val="FFFFFF"/>
                </a:solidFill>
                <a:effectLst/>
                <a:uFillTx/>
                <a:latin typeface="Calibri"/>
              </a:rPr>
              <a:t>被 AI 当作权威引用的内容。</a:t>
            </a:r>
            <a:endParaRPr lang="en-US" sz="2600" b="0" u="none" strike="noStrike">
              <a:solidFill>
                <a:srgbClr val="FFFFFF"/>
              </a:solidFill>
              <a:effectLst/>
              <a:uFillTx/>
              <a:latin typeface="Arial"/>
            </a:endParaRPr>
          </a:p>
        </p:txBody>
      </p:sp>
      <p:sp>
        <p:nvSpPr>
          <p:cNvPr id="474" name="TextBox 2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475" name="TextBox 2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76" name="TextBox 1" descr="Takeaway slide: Treat markdown like a database — because to the LLM, it is. Apply access control, code review, and diff tracking." title="Takeaway slide: Treat markdown like a database — because to the LLM, it is. Appl"/>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核心要点</a:t>
            </a:r>
            <a:endParaRPr lang="en-US" sz="4200" b="0" u="none" strike="noStrike">
              <a:solidFill>
                <a:srgbClr val="FFFFFF"/>
              </a:solidFill>
              <a:effectLst/>
              <a:uFillTx/>
              <a:latin typeface="Arial"/>
            </a:endParaRPr>
          </a:p>
        </p:txBody>
      </p:sp>
      <p:sp>
        <p:nvSpPr>
          <p:cNvPr id="47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78" name="TextBox 3"/>
          <p:cNvSpPr/>
          <p:nvPr/>
        </p:nvSpPr>
        <p:spPr>
          <a:xfrm>
            <a:off x="457200" y="219456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050" b="1" u="none" strike="noStrike">
                <a:solidFill>
                  <a:srgbClr val="00FF41"/>
                </a:solidFill>
                <a:effectLst/>
                <a:uFillTx/>
                <a:latin typeface="Calibri"/>
              </a:rPr>
              <a:t>把 markdown 当作数据库来对待。</a:t>
            </a:r>
            <a:endParaRPr lang="en-US" sz="5400" b="0" u="none" strike="noStrike">
              <a:solidFill>
                <a:srgbClr val="FFFFFF"/>
              </a:solidFill>
              <a:effectLst/>
              <a:uFillTx/>
              <a:latin typeface="Arial"/>
            </a:endParaRPr>
          </a:p>
        </p:txBody>
      </p:sp>
      <p:sp>
        <p:nvSpPr>
          <p:cNvPr id="479" name="TextBox 4"/>
          <p:cNvSpPr/>
          <p:nvPr/>
        </p:nvSpPr>
        <p:spPr>
          <a:xfrm>
            <a:off x="457200" y="33832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FFFFFF"/>
                </a:solidFill>
                <a:effectLst/>
                <a:uFillTx/>
                <a:latin typeface="Calibri"/>
              </a:rPr>
              <a:t>因为对 LLM 来说，它就是数据库。</a:t>
            </a:r>
            <a:endParaRPr lang="en-US" sz="4200" b="0" u="none" strike="noStrike">
              <a:solidFill>
                <a:srgbClr val="FFFFFF"/>
              </a:solidFill>
              <a:effectLst/>
              <a:uFillTx/>
              <a:latin typeface="Arial"/>
            </a:endParaRPr>
          </a:p>
        </p:txBody>
      </p:sp>
      <p:sp>
        <p:nvSpPr>
          <p:cNvPr id="480" name="TextBox 5"/>
          <p:cNvSpPr/>
          <p:nvPr/>
        </p:nvSpPr>
        <p:spPr>
          <a:xfrm>
            <a:off x="1828800" y="4572000"/>
            <a:ext cx="8503560" cy="182844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对文档文件夹实施访问控制。</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对 .md 的变更进行代码评审。</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对 wiki 进行差异跟踪。</a:t>
            </a:r>
            <a:endParaRPr lang="en-US" sz="2400" b="0" u="none" strike="noStrike">
              <a:solidFill>
                <a:srgbClr val="FFFFFF"/>
              </a:solidFill>
              <a:effectLst/>
              <a:uFillTx/>
              <a:latin typeface="Arial"/>
            </a:endParaRPr>
          </a:p>
        </p:txBody>
      </p:sp>
      <p:sp>
        <p:nvSpPr>
          <p:cNvPr id="48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48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3" name="TextBox 1" descr="Section divider: SECURITY. What's actually getting hit in 2026" title="Section divider: SECURITY. What's actually getting hit in 2026"/>
          <p:cNvSpPr/>
          <p:nvPr/>
        </p:nvSpPr>
        <p:spPr>
          <a:xfrm>
            <a:off x="457200" y="2560320"/>
            <a:ext cx="11246760" cy="164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600" b="1" u="none" strike="noStrike">
                <a:solidFill>
                  <a:srgbClr val="00FF41"/>
                </a:solidFill>
                <a:effectLst/>
                <a:uFillTx/>
                <a:latin typeface="Calibri"/>
              </a:rPr>
              <a:t>安全</a:t>
            </a:r>
            <a:endParaRPr lang="en-US" sz="9600" b="0" u="none" strike="noStrike">
              <a:solidFill>
                <a:srgbClr val="FFFFFF"/>
              </a:solidFill>
              <a:effectLst/>
              <a:uFillTx/>
              <a:latin typeface="Arial"/>
            </a:endParaRPr>
          </a:p>
        </p:txBody>
      </p:sp>
      <p:sp>
        <p:nvSpPr>
          <p:cNvPr id="484" name="Rectangle 2"/>
          <p:cNvSpPr/>
          <p:nvPr/>
        </p:nvSpPr>
        <p:spPr>
          <a:xfrm>
            <a:off x="4724640" y="4297680"/>
            <a:ext cx="2742840" cy="9108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5" name="TextBox 3"/>
          <p:cNvSpPr/>
          <p:nvPr/>
        </p:nvSpPr>
        <p:spPr>
          <a:xfrm>
            <a:off x="457200" y="4572000"/>
            <a:ext cx="11246760" cy="578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FFFFFF"/>
                </a:solidFill>
                <a:effectLst/>
                <a:uFillTx/>
                <a:latin typeface="Calibri"/>
              </a:rPr>
              <a:t>2026 年真正遭受攻击的是什么*</a:t>
            </a:r>
            <a:endParaRPr lang="en-US" sz="3200" b="0" u="none" strike="noStrike">
              <a:solidFill>
                <a:srgbClr val="FFFFFF"/>
              </a:solidFill>
              <a:effectLst/>
              <a:uFillTx/>
              <a:latin typeface="Arial"/>
            </a:endParaRPr>
          </a:p>
        </p:txBody>
      </p:sp>
      <p:sp>
        <p:nvSpPr>
          <p:cNvPr id="486"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487"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8" name="TextBox 1" descr="Reference to xkcd #327 'Exploits of a Mom' (Bobby Tables): a mother names her son Robert'); DROP TABLE Students;-- and the school's student table is dropped. URL: https://xkcd.com/327/" title="Reference to xkcd #327 'Exploits of a Mom' (Bobby Tables): a mother names her s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xkcd #327 — Bobby Tables</a:t>
            </a:r>
            <a:endParaRPr lang="en-US" sz="3800" b="0" u="none" strike="noStrike">
              <a:solidFill>
                <a:srgbClr val="FFFFFF"/>
              </a:solidFill>
              <a:effectLst/>
              <a:uFillTx/>
              <a:latin typeface="Arial"/>
            </a:endParaRPr>
          </a:p>
        </p:txBody>
      </p:sp>
      <p:sp>
        <p:nvSpPr>
          <p:cNvPr id="489"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90" name="Rectangle 3"/>
          <p:cNvSpPr/>
          <p:nvPr/>
        </p:nvSpPr>
        <p:spPr>
          <a:xfrm>
            <a:off x="457200" y="1737360"/>
            <a:ext cx="11246760" cy="3200040"/>
          </a:xfrm>
          <a:prstGeom prst="rect">
            <a:avLst/>
          </a:prstGeom>
          <a:solidFill>
            <a:srgbClr val="24243E"/>
          </a:solidFill>
          <a:ln w="254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1" name="TextBox 4"/>
          <p:cNvSpPr/>
          <p:nvPr/>
        </p:nvSpPr>
        <p:spPr>
          <a:xfrm>
            <a:off x="731520" y="192024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学校：  “您好，这里是您儿子的学校。我们的</a:t>
            </a:r>
            <a:endParaRPr lang="en-US" sz="2400" b="0" u="none" strike="noStrike">
              <a:solidFill>
                <a:srgbClr val="FFFFFF"/>
              </a:solidFill>
              <a:effectLst/>
              <a:uFillTx/>
              <a:latin typeface="Arial"/>
            </a:endParaRPr>
          </a:p>
        </p:txBody>
      </p:sp>
      <p:sp>
        <p:nvSpPr>
          <p:cNvPr id="492" name="TextBox 5"/>
          <p:cNvSpPr/>
          <p:nvPr/>
        </p:nvSpPr>
        <p:spPr>
          <a:xfrm>
            <a:off x="731520" y="251460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         电脑出了点问题。”</a:t>
            </a:r>
            <a:endParaRPr lang="en-US" sz="2400" b="0" u="none" strike="noStrike">
              <a:solidFill>
                <a:srgbClr val="FFFFFF"/>
              </a:solidFill>
              <a:effectLst/>
              <a:uFillTx/>
              <a:latin typeface="Arial"/>
            </a:endParaRPr>
          </a:p>
        </p:txBody>
      </p:sp>
      <p:sp>
        <p:nvSpPr>
          <p:cNvPr id="493" name="TextBox 6"/>
          <p:cNvSpPr/>
          <p:nvPr/>
        </p:nvSpPr>
        <p:spPr>
          <a:xfrm>
            <a:off x="731520" y="3154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妈妈：     “哎呀 — 他是不是弄坏了什么？”</a:t>
            </a:r>
            <a:endParaRPr lang="en-US" sz="2400" b="0" u="none" strike="noStrike">
              <a:solidFill>
                <a:srgbClr val="FFFFFF"/>
              </a:solidFill>
              <a:effectLst/>
              <a:uFillTx/>
              <a:latin typeface="Arial"/>
            </a:endParaRPr>
          </a:p>
        </p:txBody>
      </p:sp>
      <p:sp>
        <p:nvSpPr>
          <p:cNvPr id="494" name="TextBox 7"/>
          <p:cNvSpPr/>
          <p:nvPr/>
        </p:nvSpPr>
        <p:spPr>
          <a:xfrm>
            <a:off x="731520" y="379476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FF41"/>
                </a:solidFill>
                <a:effectLst/>
                <a:uFillTx/>
                <a:latin typeface="Calibri"/>
              </a:rPr>
              <a:t>学校：  “您真的给儿子起名叫  Robert');</a:t>
            </a:r>
            <a:endParaRPr lang="en-US" sz="2400" b="0" u="none" strike="noStrike">
              <a:solidFill>
                <a:srgbClr val="FFFFFF"/>
              </a:solidFill>
              <a:effectLst/>
              <a:uFillTx/>
              <a:latin typeface="Arial"/>
            </a:endParaRPr>
          </a:p>
        </p:txBody>
      </p:sp>
      <p:sp>
        <p:nvSpPr>
          <p:cNvPr id="495" name="TextBox 8"/>
          <p:cNvSpPr/>
          <p:nvPr/>
        </p:nvSpPr>
        <p:spPr>
          <a:xfrm>
            <a:off x="731520" y="4297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DROP TABLE Students;--  吗？”</a:t>
            </a:r>
            <a:endParaRPr lang="en-US" sz="2400" b="0" u="none" strike="noStrike">
              <a:solidFill>
                <a:srgbClr val="FFFFFF"/>
              </a:solidFill>
              <a:effectLst/>
              <a:uFillTx/>
              <a:latin typeface="Arial"/>
            </a:endParaRPr>
          </a:p>
        </p:txBody>
      </p:sp>
      <p:sp>
        <p:nvSpPr>
          <p:cNvPr id="496" name="TextBox 9"/>
          <p:cNvSpPr/>
          <p:nvPr/>
        </p:nvSpPr>
        <p:spPr>
          <a:xfrm>
            <a:off x="457200" y="5212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00D4FF"/>
                </a:solidFill>
                <a:effectLst/>
                <a:uFillTx/>
                <a:latin typeface="Calibri"/>
              </a:rPr>
              <a:t>https://xkcd.com/327/</a:t>
            </a:r>
            <a:endParaRPr lang="en-US" sz="2800" b="0" u="none" strike="noStrike">
              <a:solidFill>
                <a:srgbClr val="FFFFFF"/>
              </a:solidFill>
              <a:effectLst/>
              <a:uFillTx/>
              <a:latin typeface="Arial"/>
            </a:endParaRPr>
          </a:p>
        </p:txBody>
      </p:sp>
      <p:sp>
        <p:nvSpPr>
          <p:cNvPr id="497" name="TextBox 10"/>
          <p:cNvSpPr/>
          <p:nvPr/>
        </p:nvSpPr>
        <p:spPr>
          <a:xfrm>
            <a:off x="457200" y="57607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CCCCD6"/>
                </a:solidFill>
                <a:effectLst/>
                <a:uFillTx/>
                <a:latin typeface="Calibri"/>
              </a:rPr>
              <a:t>其机理：在查询中进行字符串拼接。</a:t>
            </a:r>
            <a:endParaRPr lang="en-US" sz="2200" b="0" u="none" strike="noStrike">
              <a:solidFill>
                <a:srgbClr val="FFFFFF"/>
              </a:solidFill>
              <a:effectLst/>
              <a:uFillTx/>
              <a:latin typeface="Arial"/>
            </a:endParaRPr>
          </a:p>
        </p:txBody>
      </p:sp>
      <p:sp>
        <p:nvSpPr>
          <p:cNvPr id="498" name="TextBox 11"/>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499" name="TextBox 12"/>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0" name="TextBox 1" descr="Statement slide: The database attack surface has expanded, not shrunk. SQL injection is largely fixed; eleven newer categories now dominate." title="Statement slide: The database attack surface has expanded, not shrunk. SQL injec"/>
          <p:cNvSpPr/>
          <p:nvPr/>
        </p:nvSpPr>
        <p:spPr>
          <a:xfrm>
            <a:off x="457200" y="22860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0" u="none" strike="noStrike">
                <a:solidFill>
                  <a:srgbClr val="FFFFFF"/>
                </a:solidFill>
                <a:effectLst/>
                <a:uFillTx/>
                <a:latin typeface="Calibri"/>
              </a:rPr>
              <a:t>攻击面已经</a:t>
            </a:r>
            <a:endParaRPr lang="en-US" sz="5400" b="0" u="none" strike="noStrike">
              <a:solidFill>
                <a:srgbClr val="FFFFFF"/>
              </a:solidFill>
              <a:effectLst/>
              <a:uFillTx/>
              <a:latin typeface="Arial"/>
            </a:endParaRPr>
          </a:p>
        </p:txBody>
      </p:sp>
      <p:sp>
        <p:nvSpPr>
          <p:cNvPr id="501" name="TextBox 2"/>
          <p:cNvSpPr/>
          <p:nvPr/>
        </p:nvSpPr>
        <p:spPr>
          <a:xfrm>
            <a:off x="457200" y="32004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7200" b="1" u="none" strike="noStrike">
                <a:solidFill>
                  <a:srgbClr val="FF6B35"/>
                </a:solidFill>
                <a:effectLst/>
                <a:uFillTx/>
                <a:latin typeface="Calibri"/>
              </a:rPr>
              <a:t>扩大了，而非缩小。</a:t>
            </a:r>
            <a:endParaRPr lang="en-US" sz="7200" b="0" u="none" strike="noStrike">
              <a:solidFill>
                <a:srgbClr val="FFFFFF"/>
              </a:solidFill>
              <a:effectLst/>
              <a:uFillTx/>
              <a:latin typeface="Arial"/>
            </a:endParaRPr>
          </a:p>
        </p:txBody>
      </p:sp>
      <p:sp>
        <p:nvSpPr>
          <p:cNvPr id="502" name="TextBox 3"/>
          <p:cNvSpPr/>
          <p:nvPr/>
        </p:nvSpPr>
        <p:spPr>
          <a:xfrm>
            <a:off x="457200" y="484632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SQL 注入已被修复。十一个新的类别取而代之。</a:t>
            </a:r>
            <a:endParaRPr lang="en-US" sz="2600" b="0" u="none" strike="noStrike">
              <a:solidFill>
                <a:srgbClr val="FFFFFF"/>
              </a:solidFill>
              <a:effectLst/>
              <a:uFillTx/>
              <a:latin typeface="Arial"/>
            </a:endParaRPr>
          </a:p>
        </p:txBody>
      </p:sp>
      <p:sp>
        <p:nvSpPr>
          <p:cNvPr id="503"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04"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5"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0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NoSQL 注入</a:t>
            </a:r>
            <a:endParaRPr lang="en-US" sz="4200" b="0" u="none" strike="noStrike">
              <a:solidFill>
                <a:srgbClr val="FFFFFF"/>
              </a:solidFill>
              <a:effectLst/>
              <a:uFillTx/>
              <a:latin typeface="Arial"/>
            </a:endParaRPr>
          </a:p>
        </p:txBody>
      </p:sp>
      <p:sp>
        <p:nvSpPr>
          <p:cNvPr id="50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MongoDB JSON 查询 + 未经处理的用户输入 = SQL 注入重生。</a:t>
            </a:r>
            <a:endParaRPr lang="en-US" sz="2400" b="0" u="none" strike="noStrike">
              <a:solidFill>
                <a:srgbClr val="FFFFFF"/>
              </a:solidFill>
              <a:effectLst/>
              <a:uFillTx/>
              <a:latin typeface="Arial"/>
            </a:endParaRPr>
          </a:p>
        </p:txBody>
      </p:sp>
      <p:sp>
        <p:nvSpPr>
          <p:cNvPr id="50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登录绕过： { username: 'alice', password: { $ne: 'x' }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$where 让你能够直接将 JavaScript 注入数据库。</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Couchbase N1QL 带有 SQL 风格 — 经典的 SQL 注入模式同样适用。</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原则：任何解释器都可能被注入，不仅仅是 SQL。</a:t>
            </a:r>
            <a:endParaRPr lang="en-US" sz="2300" b="0" u="none" strike="noStrike">
              <a:solidFill>
                <a:srgbClr val="FFFFFF"/>
              </a:solidFill>
              <a:effectLst/>
              <a:uFillTx/>
              <a:latin typeface="Arial"/>
            </a:endParaRPr>
          </a:p>
        </p:txBody>
      </p:sp>
      <p:sp>
        <p:nvSpPr>
          <p:cNvPr id="51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Top 10 2025：“动态查询……被直接用于解释器中。”</a:t>
            </a:r>
            <a:endParaRPr lang="en-US" sz="1600" b="0" u="none" strike="noStrike">
              <a:solidFill>
                <a:srgbClr val="FFFFFF"/>
              </a:solidFill>
              <a:effectLst/>
              <a:uFillTx/>
              <a:latin typeface="Arial"/>
            </a:endParaRPr>
          </a:p>
        </p:txBody>
      </p:sp>
      <p:sp>
        <p:nvSpPr>
          <p:cNvPr id="51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1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13"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1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暴露与配置错误的数据库</a:t>
            </a:r>
            <a:endParaRPr lang="en-US" sz="4200" b="0" u="none" strike="noStrike">
              <a:solidFill>
                <a:srgbClr val="FFFFFF"/>
              </a:solidFill>
              <a:effectLst/>
              <a:uFillTx/>
              <a:latin typeface="Arial"/>
            </a:endParaRPr>
          </a:p>
        </p:txBody>
      </p:sp>
      <p:sp>
        <p:nvSpPr>
          <p:cNvPr id="51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1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Shodan 和 Censys 上充斥着本不该出现在那里的数据库。</a:t>
            </a:r>
            <a:endParaRPr lang="en-US" sz="2400" b="0" u="none" strike="noStrike">
              <a:solidFill>
                <a:srgbClr val="FFFFFF"/>
              </a:solidFill>
              <a:effectLst/>
              <a:uFillTx/>
              <a:latin typeface="Arial"/>
            </a:endParaRPr>
          </a:p>
        </p:txBody>
      </p:sp>
      <p:sp>
        <p:nvSpPr>
          <p:cNvPr id="51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MongoDB 绑定到 0.0.0.0 且无认证。</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Elasticsearch 集群完全敞开。Redis 没有密码。</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 的 pg_hba.conf 被设置为 'host all all 0.0.0.0/0 trust'。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Meow 攻击（2020）：机器人出于消遣抹除了数千个开放的数据库。</a:t>
            </a:r>
            <a:endParaRPr lang="en-US" sz="2300" b="0" u="none" strike="noStrike">
              <a:solidFill>
                <a:srgbClr val="FFFFFF"/>
              </a:solidFill>
              <a:effectLst/>
              <a:uFillTx/>
              <a:latin typeface="Arial"/>
            </a:endParaRPr>
          </a:p>
        </p:txBody>
      </p:sp>
      <p:sp>
        <p:nvSpPr>
          <p:cNvPr id="51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行动项：查清你的组织有哪些东西绑定到了公网接口。就在今天。</a:t>
            </a:r>
            <a:endParaRPr lang="en-US" sz="1600" b="0" u="none" strike="noStrike">
              <a:solidFill>
                <a:srgbClr val="FFFFFF"/>
              </a:solidFill>
              <a:effectLst/>
              <a:uFillTx/>
              <a:latin typeface="Arial"/>
            </a:endParaRPr>
          </a:p>
        </p:txBody>
      </p:sp>
      <p:sp>
        <p:nvSpPr>
          <p:cNvPr id="51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2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1"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2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云配置错误</a:t>
            </a:r>
            <a:endParaRPr lang="en-US" sz="4200" b="0" u="none" strike="noStrike">
              <a:solidFill>
                <a:srgbClr val="FFFFFF"/>
              </a:solidFill>
              <a:effectLst/>
              <a:uFillTx/>
              <a:latin typeface="Arial"/>
            </a:endParaRPr>
          </a:p>
        </p:txBody>
      </p:sp>
      <p:sp>
        <p:nvSpPr>
          <p:cNvPr id="52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在云上，问题很少出在引擎本身，而在于围绕它的策略。</a:t>
            </a:r>
            <a:endParaRPr lang="en-US" sz="2400" b="0" u="none" strike="noStrike">
              <a:solidFill>
                <a:srgbClr val="FFFFFF"/>
              </a:solidFill>
              <a:effectLst/>
              <a:uFillTx/>
              <a:latin typeface="Arial"/>
            </a:endParaRPr>
          </a:p>
        </p:txBody>
      </p:sp>
      <p:sp>
        <p:nvSpPr>
          <p:cNvPr id="52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塞满数据库转储文件的公开 S3 存储桶（Accenture、Verizon 等）。</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Capital One 2019：SSRF 诱使 WAF 泄露了其 IAM 凭证 → S3。</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对 * 授予 s3:* 权限的 Lambda，只因为它“第一次就跑通了”。</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安全组：在 5432 端口上开放 0.0.0.0/0。</a:t>
            </a:r>
            <a:endParaRPr lang="en-US" sz="2300" b="0" u="none" strike="noStrike">
              <a:solidFill>
                <a:srgbClr val="FFFFFF"/>
              </a:solidFill>
              <a:effectLst/>
              <a:uFillTx/>
              <a:latin typeface="Arial"/>
            </a:endParaRPr>
          </a:p>
        </p:txBody>
      </p:sp>
      <p:sp>
        <p:nvSpPr>
          <p:cNvPr id="52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AWS 管理：“弃用 Root 账户，在一切必要之处改用 IAM。”</a:t>
            </a:r>
            <a:endParaRPr lang="en-US" sz="1600" b="0" u="none" strike="noStrike">
              <a:solidFill>
                <a:srgbClr val="FFFFFF"/>
              </a:solidFill>
              <a:effectLst/>
              <a:uFillTx/>
              <a:latin typeface="Arial"/>
            </a:endParaRPr>
          </a:p>
        </p:txBody>
      </p:sp>
      <p:sp>
        <p:nvSpPr>
          <p:cNvPr id="52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2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9"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权限提升：数据库 → 操作系统</a:t>
            </a:r>
            <a:endParaRPr lang="en-US" sz="4200" b="0" u="none" strike="noStrike">
              <a:solidFill>
                <a:srgbClr val="FFFFFF"/>
              </a:solidFill>
              <a:effectLst/>
              <a:uFillTx/>
              <a:latin typeface="Arial"/>
            </a:endParaRPr>
          </a:p>
        </p:txBody>
      </p:sp>
      <p:sp>
        <p:nvSpPr>
          <p:cNvPr id="53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数据库账户可以变成 shell 访问权限。三个经典手法。</a:t>
            </a:r>
            <a:endParaRPr lang="en-US" sz="2400" b="0" u="none" strike="noStrike">
              <a:solidFill>
                <a:srgbClr val="FFFFFF"/>
              </a:solidFill>
              <a:effectLst/>
              <a:uFillTx/>
              <a:latin typeface="Arial"/>
            </a:endParaRPr>
          </a:p>
        </p:txBody>
      </p:sp>
      <p:sp>
        <p:nvSpPr>
          <p:cNvPr id="53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MS SQL：xp_cmdshell — 以数据库进程的身份运行 shell 命令。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PostgreSQL：COPY ... TO PROGRAM — 将输出通过管道送入 shell。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MySQL：加载一个 UDF .so 文件 → 在操作系统上执行 sys_exec。</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规律：每一项有特权的数据库功能都是攻击面的一部分。</a:t>
            </a:r>
            <a:endParaRPr lang="en-US" sz="2300" b="0" u="none" strike="noStrike">
              <a:solidFill>
                <a:srgbClr val="FFFFFF"/>
              </a:solidFill>
              <a:effectLst/>
              <a:uFillTx/>
              <a:latin typeface="Arial"/>
            </a:endParaRPr>
          </a:p>
        </p:txBody>
      </p:sp>
      <p:sp>
        <p:nvSpPr>
          <p:cNvPr id="534"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35"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36"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7"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数据湖安全缺口</a:t>
            </a:r>
            <a:endParaRPr lang="en-US" sz="4200" b="0" u="none" strike="noStrike">
              <a:solidFill>
                <a:srgbClr val="FFFFFF"/>
              </a:solidFill>
              <a:effectLst/>
              <a:uFillTx/>
              <a:latin typeface="Arial"/>
            </a:endParaRPr>
          </a:p>
        </p:txBody>
      </p:sp>
      <p:sp>
        <p:nvSpPr>
          <p:cNvPr id="538"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9"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一切最终都进了 S3 — 包括你本不打算放进去的东西。</a:t>
            </a:r>
            <a:endParaRPr lang="en-US" sz="2400" b="0" u="none" strike="noStrike">
              <a:solidFill>
                <a:srgbClr val="FFFFFF"/>
              </a:solidFill>
              <a:effectLst/>
              <a:uFillTx/>
              <a:latin typeface="Arial"/>
            </a:endParaRPr>
          </a:p>
        </p:txBody>
      </p:sp>
      <p:sp>
        <p:nvSpPr>
          <p:cNvPr id="540"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宽松的 IAM 让权限从计算角色泄漏到人。</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对存储桶对象不强制静态加密。</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写入端没有校验 — 任何人都能投放被投毒的数据。</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首要问题：谁能写入数据湖？谁能读取？</a:t>
            </a:r>
            <a:endParaRPr lang="en-US" sz="2300" b="0" u="none" strike="noStrike">
              <a:solidFill>
                <a:srgbClr val="FFFFFF"/>
              </a:solidFill>
              <a:effectLst/>
              <a:uFillTx/>
              <a:latin typeface="Arial"/>
            </a:endParaRPr>
          </a:p>
        </p:txBody>
      </p:sp>
      <p:sp>
        <p:nvSpPr>
          <p:cNvPr id="54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4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43"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4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勒索软件钟爱数据库</a:t>
            </a:r>
            <a:endParaRPr lang="en-US" sz="4200" b="0" u="none" strike="noStrike">
              <a:solidFill>
                <a:srgbClr val="FFFFFF"/>
              </a:solidFill>
              <a:effectLst/>
              <a:uFillTx/>
              <a:latin typeface="Arial"/>
            </a:endParaRPr>
          </a:p>
        </p:txBody>
      </p:sp>
      <p:sp>
        <p:nvSpPr>
          <p:cNvPr id="54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4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数据库正是业务亟需恢复的东西 — 提供最大的筹码。</a:t>
            </a:r>
            <a:endParaRPr lang="en-US" sz="2400" b="0" u="none" strike="noStrike">
              <a:solidFill>
                <a:srgbClr val="FFFFFF"/>
              </a:solidFill>
              <a:effectLst/>
              <a:uFillTx/>
              <a:latin typeface="Arial"/>
            </a:endParaRPr>
          </a:p>
        </p:txBody>
      </p:sp>
      <p:sp>
        <p:nvSpPr>
          <p:cNvPr id="54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加密正在运行的数据库。</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加密备份（否则客户直接恢复就行了）。</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先窃取一份副本 — 即使他们恢复了，也能以公开披露相要挟。</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防御：离线、不可变的备份 + 经过测试的恢复。</a:t>
            </a:r>
            <a:endParaRPr lang="en-US" sz="2300" b="0" u="none" strike="noStrike">
              <a:solidFill>
                <a:srgbClr val="FFFFFF"/>
              </a:solidFill>
              <a:effectLst/>
              <a:uFillTx/>
              <a:latin typeface="Arial"/>
            </a:endParaRPr>
          </a:p>
        </p:txBody>
      </p:sp>
      <p:sp>
        <p:nvSpPr>
          <p:cNvPr id="54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网络安全攻防：WannaCry — 补丁在 59 天前就已发布。</a:t>
            </a:r>
            <a:endParaRPr lang="en-US" sz="1600" b="0" u="none" strike="noStrike">
              <a:solidFill>
                <a:srgbClr val="FFFFFF"/>
              </a:solidFill>
              <a:effectLst/>
              <a:uFillTx/>
              <a:latin typeface="Arial"/>
            </a:endParaRPr>
          </a:p>
        </p:txBody>
      </p:sp>
      <p:sp>
        <p:nvSpPr>
          <p:cNvPr id="54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5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1"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5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凭证攻击</a:t>
            </a:r>
            <a:endParaRPr lang="en-US" sz="4200" b="0" u="none" strike="noStrike">
              <a:solidFill>
                <a:srgbClr val="FFFFFF"/>
              </a:solidFill>
              <a:effectLst/>
              <a:uFillTx/>
              <a:latin typeface="Arial"/>
            </a:endParaRPr>
          </a:p>
        </p:txBody>
      </p:sp>
      <p:sp>
        <p:nvSpPr>
          <p:cNvPr id="55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5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默认凭证与泄露的连接字符串 — 两个古老而长存的漏洞。</a:t>
            </a:r>
            <a:endParaRPr lang="en-US" sz="2400" b="0" u="none" strike="noStrike">
              <a:solidFill>
                <a:srgbClr val="FFFFFF"/>
              </a:solidFill>
              <a:effectLst/>
              <a:uFillTx/>
              <a:latin typeface="Arial"/>
            </a:endParaRPr>
          </a:p>
        </p:txBody>
      </p:sp>
      <p:sp>
        <p:nvSpPr>
          <p:cNvPr id="55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Redis：多年来默认没有密码。</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Elastic：免费版没有认证 — 同样持续了多年。</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Connection strings (postgres://user:pass@host) committed to Git.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提交前的密钥扫描 — 本周就修复。</a:t>
            </a:r>
            <a:endParaRPr lang="en-US" sz="2300" b="0" u="none" strike="noStrike">
              <a:solidFill>
                <a:srgbClr val="FFFFFF"/>
              </a:solidFill>
              <a:effectLst/>
              <a:uFillTx/>
              <a:latin typeface="Arial"/>
            </a:endParaRPr>
          </a:p>
        </p:txBody>
      </p:sp>
      <p:sp>
        <p:nvSpPr>
          <p:cNvPr id="55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网络安全攻防：被盗凭证 = 有组织犯罪的首选攻击途径。</a:t>
            </a:r>
            <a:endParaRPr lang="en-US" sz="1600" b="0" u="none" strike="noStrike">
              <a:solidFill>
                <a:srgbClr val="FFFFFF"/>
              </a:solidFill>
              <a:effectLst/>
              <a:uFillTx/>
              <a:latin typeface="Arial"/>
            </a:endParaRPr>
          </a:p>
        </p:txBody>
      </p:sp>
      <p:sp>
        <p:nvSpPr>
          <p:cNvPr id="55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5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9"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供应链 — 你所信任的数据库库</a:t>
            </a:r>
            <a:endParaRPr lang="en-US" sz="4200" b="0" u="none" strike="noStrike">
              <a:solidFill>
                <a:srgbClr val="FFFFFF"/>
              </a:solidFill>
              <a:effectLst/>
              <a:uFillTx/>
              <a:latin typeface="Arial"/>
            </a:endParaRPr>
          </a:p>
        </p:txBody>
      </p:sp>
      <p:sp>
        <p:nvSpPr>
          <p:cNvPr id="56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6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你的数据库驱动来自 npm/PyPI/Maven。其他所有人的也一样。</a:t>
            </a:r>
            <a:endParaRPr lang="en-US" sz="2400" b="0" u="none" strike="noStrike">
              <a:solidFill>
                <a:srgbClr val="FFFFFF"/>
              </a:solidFill>
              <a:effectLst/>
              <a:uFillTx/>
              <a:latin typeface="Arial"/>
            </a:endParaRPr>
          </a:p>
        </p:txBody>
      </p:sp>
      <p:sp>
        <p:nvSpPr>
          <p:cNvPr id="56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伪装成 ORM / 驱动的恶意 npm 包。</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被植入木马的热门数据库 Docker Hub 镜像。</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被攻陷的 PostgreSQL 扩展 / MySQL 插件。</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扩展以数据库权限运行 — 通常权限很大。</a:t>
            </a:r>
            <a:endParaRPr lang="en-US" sz="2300" b="0" u="none" strike="noStrike">
              <a:solidFill>
                <a:srgbClr val="FFFFFF"/>
              </a:solidFill>
              <a:effectLst/>
              <a:uFillTx/>
              <a:latin typeface="Arial"/>
            </a:endParaRPr>
          </a:p>
        </p:txBody>
      </p:sp>
      <p:sp>
        <p:nvSpPr>
          <p:cNvPr id="564"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Shostack：“威胁往往聚集在信任边界周围。”</a:t>
            </a:r>
            <a:endParaRPr lang="en-US" sz="1600" b="0" u="none" strike="noStrike">
              <a:solidFill>
                <a:srgbClr val="FFFFFF"/>
              </a:solidFill>
              <a:effectLst/>
              <a:uFillTx/>
              <a:latin typeface="Arial"/>
            </a:endParaRPr>
          </a:p>
        </p:txBody>
      </p:sp>
      <p:sp>
        <p:nvSpPr>
          <p:cNvPr id="565"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66"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67"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8"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RAG / LLM 数据投毒</a:t>
            </a:r>
            <a:endParaRPr lang="en-US" sz="4200" b="0" u="none" strike="noStrike">
              <a:solidFill>
                <a:srgbClr val="FFFFFF"/>
              </a:solidFill>
              <a:effectLst/>
              <a:uFillTx/>
              <a:latin typeface="Arial"/>
            </a:endParaRPr>
          </a:p>
        </p:txBody>
      </p:sp>
      <p:sp>
        <p:nvSpPr>
          <p:cNvPr id="569"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0"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AI 时代的存储型 XSS。写入知识库 → LLM 引用它。</a:t>
            </a:r>
            <a:endParaRPr lang="en-US" sz="2400" b="0" u="none" strike="noStrike">
              <a:solidFill>
                <a:srgbClr val="FFFFFF"/>
              </a:solidFill>
              <a:effectLst/>
              <a:uFillTx/>
              <a:latin typeface="Arial"/>
            </a:endParaRPr>
          </a:p>
        </p:txBody>
      </p:sp>
      <p:sp>
        <p:nvSpPr>
          <p:cNvPr id="571"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被投毒的支持文章：“要重置，请将你的密码发送到……”</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被投毒的内部文档：“公司政策是将款项电汇至……”</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嵌入在检索文档中的提示注入。</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防御：严格的写入 ACL、来源标签、人在回路。</a:t>
            </a:r>
            <a:endParaRPr lang="en-US" sz="2300" b="0" u="none" strike="noStrike">
              <a:solidFill>
                <a:srgbClr val="FFFFFF"/>
              </a:solidFill>
              <a:effectLst/>
              <a:uFillTx/>
              <a:latin typeface="Arial"/>
            </a:endParaRPr>
          </a:p>
        </p:txBody>
      </p:sp>
      <p:sp>
        <p:nvSpPr>
          <p:cNvPr id="572"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2025 存储型 XSS 原则 — 把“管理员”换成“LLM”。</a:t>
            </a:r>
            <a:endParaRPr lang="en-US" sz="1600" b="0" u="none" strike="noStrike">
              <a:solidFill>
                <a:srgbClr val="FFFFFF"/>
              </a:solidFill>
              <a:effectLst/>
              <a:uFillTx/>
              <a:latin typeface="Arial"/>
            </a:endParaRPr>
          </a:p>
        </p:txBody>
      </p:sp>
      <p:sp>
        <p:nvSpPr>
          <p:cNvPr id="57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7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75"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7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内部威胁与数据库间横向移动</a:t>
            </a:r>
            <a:endParaRPr lang="en-US" sz="4200" b="0" u="none" strike="noStrike">
              <a:solidFill>
                <a:srgbClr val="FFFFFF"/>
              </a:solidFill>
              <a:effectLst/>
              <a:uFillTx/>
              <a:latin typeface="Arial"/>
            </a:endParaRPr>
          </a:p>
        </p:txBody>
      </p:sp>
      <p:sp>
        <p:nvSpPr>
          <p:cNvPr id="57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数据库不是终点。它们是图中的节点。</a:t>
            </a:r>
            <a:endParaRPr lang="en-US" sz="2400" b="0" u="none" strike="noStrike">
              <a:solidFill>
                <a:srgbClr val="FFFFFF"/>
              </a:solidFill>
              <a:effectLst/>
              <a:uFillTx/>
              <a:latin typeface="Arial"/>
            </a:endParaRPr>
          </a:p>
        </p:txBody>
      </p:sp>
      <p:sp>
        <p:nvSpPr>
          <p:cNvPr id="57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权限过大的服务账户。拥有生产环境读取权的工程师。</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没有审计记录的数据库管理员。</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Oracle DB_LINK、SQL Server 链接服务器、Postgres FDW。</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存储的凭证 → 攻陷 A，跳到 B，再跳到 C。</a:t>
            </a:r>
            <a:endParaRPr lang="en-US" sz="2300" b="0" u="none" strike="noStrike">
              <a:solidFill>
                <a:srgbClr val="FFFFFF"/>
              </a:solidFill>
              <a:effectLst/>
              <a:uFillTx/>
              <a:latin typeface="Arial"/>
            </a:endParaRPr>
          </a:p>
        </p:txBody>
      </p:sp>
      <p:sp>
        <p:nvSpPr>
          <p:cNvPr id="58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《Web 应用黑客手册》：保护不力的审计日志 = 一座金矿。</a:t>
            </a:r>
            <a:endParaRPr lang="en-US" sz="1600" b="0" u="none" strike="noStrike">
              <a:solidFill>
                <a:srgbClr val="FFFFFF"/>
              </a:solidFill>
              <a:effectLst/>
              <a:uFillTx/>
              <a:latin typeface="Arial"/>
            </a:endParaRPr>
          </a:p>
        </p:txBody>
      </p:sp>
      <p:sp>
        <p:nvSpPr>
          <p:cNvPr id="58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8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83"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8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备份与快照暴露</a:t>
            </a:r>
            <a:endParaRPr lang="en-US" sz="4200" b="0" u="none" strike="noStrike">
              <a:solidFill>
                <a:srgbClr val="FFFFFF"/>
              </a:solidFill>
              <a:effectLst/>
              <a:uFillTx/>
              <a:latin typeface="Arial"/>
            </a:endParaRPr>
          </a:p>
        </p:txBody>
      </p:sp>
      <p:sp>
        <p:nvSpPr>
          <p:cNvPr id="58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8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与生产环境同样的数据，却只得到一半的呵护。</a:t>
            </a:r>
            <a:endParaRPr lang="en-US" sz="2400" b="0" u="none" strike="noStrike">
              <a:solidFill>
                <a:srgbClr val="FFFFFF"/>
              </a:solidFill>
              <a:effectLst/>
              <a:uFillTx/>
              <a:latin typeface="Arial"/>
            </a:endParaRPr>
          </a:p>
        </p:txBody>
      </p:sp>
      <p:sp>
        <p:nvSpPr>
          <p:cNvPr id="58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存放在 Domain Users 可读共享目录中的未加密数据库备份。</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跨账户共享的云快照，从未被取消共享。</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发往从未核查过其安全状况的供应商的异地备份。</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备份是最后的防线。施加识别-认证-授权-审计。</a:t>
            </a:r>
            <a:endParaRPr lang="en-US" sz="2300" b="0" u="none" strike="noStrike">
              <a:solidFill>
                <a:srgbClr val="FFFFFF"/>
              </a:solidFill>
              <a:effectLst/>
              <a:uFillTx/>
              <a:latin typeface="Arial"/>
            </a:endParaRPr>
          </a:p>
        </p:txBody>
      </p:sp>
      <p:sp>
        <p:nvSpPr>
          <p:cNvPr id="58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Schneier：识别、认证、授权、审计 — 同一套模型。</a:t>
            </a:r>
            <a:endParaRPr lang="en-US" sz="1600" b="0" u="none" strike="noStrike">
              <a:solidFill>
                <a:srgbClr val="FFFFFF"/>
              </a:solidFill>
              <a:effectLst/>
              <a:uFillTx/>
              <a:latin typeface="Arial"/>
            </a:endParaRPr>
          </a:p>
        </p:txBody>
      </p:sp>
      <p:sp>
        <p:nvSpPr>
          <p:cNvPr id="58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9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1" name="TextBox 1" descr="Recap of the mental map: definition, ten families, cloud shared responsibility, markdown as a database, and the expanded attack surface." title="Recap of the mental map: definition, ten families, cloud shared responsibility,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你的思维导图</a:t>
            </a:r>
            <a:endParaRPr lang="en-US" sz="4200" b="0" u="none" strike="noStrike">
              <a:solidFill>
                <a:srgbClr val="FFFFFF"/>
              </a:solidFill>
              <a:effectLst/>
              <a:uFillTx/>
              <a:latin typeface="Arial"/>
            </a:endParaRPr>
          </a:p>
        </p:txBody>
      </p:sp>
      <p:sp>
        <p:nvSpPr>
          <p:cNvPr id="59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3" name="TextBox 3"/>
          <p:cNvSpPr/>
          <p:nvPr/>
        </p:nvSpPr>
        <p:spPr>
          <a:xfrm>
            <a:off x="640080" y="1828800"/>
            <a:ext cx="10972440" cy="4114440"/>
          </a:xfrm>
          <a:prstGeom prst="rect">
            <a:avLst/>
          </a:prstGeom>
          <a:noFill/>
          <a:ln w="0">
            <a:noFill/>
          </a:ln>
        </p:spPr>
        <p:style>
          <a:lnRef idx="0"/>
          <a:fillRef idx="0"/>
          <a:effectRef idx="0"/>
          <a:fontRef idx="minor"/>
        </p:style>
        <p:txBody>
          <a:bodyPr lIns="90000" tIns="45000" rIns="90000" bIns="45000" anchor="t">
            <a:spAutoFit/>
          </a:bodyPr>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数据库 = 有组织的存储 + 一种提问的方式。</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十大家族，每个都有自己的陷阱。</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云 = 责任共担。配置与数据由你负责。</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Markdown 是 LLM 的数据库。RAG 投毒真实存在。</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SQL 注入被修复了。攻击面却扩大了。</a:t>
            </a:r>
            <a:endParaRPr lang="en-US" sz="2800" b="0" u="none" strike="noStrike">
              <a:solidFill>
                <a:srgbClr val="FFFFFF"/>
              </a:solidFill>
              <a:effectLst/>
              <a:uFillTx/>
              <a:latin typeface="Arial"/>
            </a:endParaRPr>
          </a:p>
        </p:txBody>
      </p:sp>
      <p:sp>
        <p:nvSpPr>
          <p:cNvPr id="594"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595"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6" name="TextBox 1" descr="Five concrete next steps: install PostgreSQL, do PortSwigger SQLi labs, browse Shodan/Censys legally, read breach reports, list your org's databases." title="Five concrete next steps: install PostgreSQL, do PortSwigger SQLi labs, browse S"/>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下周该做什么</a:t>
            </a:r>
            <a:endParaRPr lang="en-US" sz="4200" b="0" u="none" strike="noStrike">
              <a:solidFill>
                <a:srgbClr val="FFFFFF"/>
              </a:solidFill>
              <a:effectLst/>
              <a:uFillTx/>
              <a:latin typeface="Arial"/>
            </a:endParaRPr>
          </a:p>
        </p:txBody>
      </p:sp>
      <p:sp>
        <p:nvSpPr>
          <p:cNvPr id="59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8" name="TextBox 3"/>
          <p:cNvSpPr/>
          <p:nvPr/>
        </p:nvSpPr>
        <p:spPr>
          <a:xfrm>
            <a:off x="548640" y="178308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1.</a:t>
            </a:r>
            <a:endParaRPr lang="en-US" sz="3600" b="0" u="none" strike="noStrike">
              <a:solidFill>
                <a:srgbClr val="FFFFFF"/>
              </a:solidFill>
              <a:effectLst/>
              <a:uFillTx/>
              <a:latin typeface="Arial"/>
            </a:endParaRPr>
          </a:p>
        </p:txBody>
      </p:sp>
      <p:sp>
        <p:nvSpPr>
          <p:cNvPr id="599" name="TextBox 4"/>
          <p:cNvSpPr/>
          <p:nvPr/>
        </p:nvSpPr>
        <p:spPr>
          <a:xfrm>
            <a:off x="1554480" y="182880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在本地安装 PostgreSQL。写一条 SELECT。</a:t>
            </a:r>
            <a:endParaRPr lang="en-US" sz="2600" b="0" u="none" strike="noStrike">
              <a:solidFill>
                <a:srgbClr val="FFFFFF"/>
              </a:solidFill>
              <a:effectLst/>
              <a:uFillTx/>
              <a:latin typeface="Arial"/>
            </a:endParaRPr>
          </a:p>
        </p:txBody>
      </p:sp>
      <p:sp>
        <p:nvSpPr>
          <p:cNvPr id="600" name="TextBox 5"/>
          <p:cNvSpPr/>
          <p:nvPr/>
        </p:nvSpPr>
        <p:spPr>
          <a:xfrm>
            <a:off x="548640" y="260604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2.</a:t>
            </a:r>
            <a:endParaRPr lang="en-US" sz="3600" b="0" u="none" strike="noStrike">
              <a:solidFill>
                <a:srgbClr val="FFFFFF"/>
              </a:solidFill>
              <a:effectLst/>
              <a:uFillTx/>
              <a:latin typeface="Arial"/>
            </a:endParaRPr>
          </a:p>
        </p:txBody>
      </p:sp>
      <p:sp>
        <p:nvSpPr>
          <p:cNvPr id="601" name="TextBox 6"/>
          <p:cNvSpPr/>
          <p:nvPr/>
        </p:nvSpPr>
        <p:spPr>
          <a:xfrm>
            <a:off x="1554480" y="265176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做一做 PortSwigger 的 SQL 注入实验（免费）。</a:t>
            </a:r>
            <a:endParaRPr lang="en-US" sz="2600" b="0" u="none" strike="noStrike">
              <a:solidFill>
                <a:srgbClr val="FFFFFF"/>
              </a:solidFill>
              <a:effectLst/>
              <a:uFillTx/>
              <a:latin typeface="Arial"/>
            </a:endParaRPr>
          </a:p>
        </p:txBody>
      </p:sp>
      <p:sp>
        <p:nvSpPr>
          <p:cNvPr id="602" name="TextBox 7"/>
          <p:cNvSpPr/>
          <p:nvPr/>
        </p:nvSpPr>
        <p:spPr>
          <a:xfrm>
            <a:off x="548640" y="342900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3.</a:t>
            </a:r>
            <a:endParaRPr lang="en-US" sz="3600" b="0" u="none" strike="noStrike">
              <a:solidFill>
                <a:srgbClr val="FFFFFF"/>
              </a:solidFill>
              <a:effectLst/>
              <a:uFillTx/>
              <a:latin typeface="Arial"/>
            </a:endParaRPr>
          </a:p>
        </p:txBody>
      </p:sp>
      <p:sp>
        <p:nvSpPr>
          <p:cNvPr id="603" name="TextBox 8"/>
          <p:cNvSpPr/>
          <p:nvPr/>
        </p:nvSpPr>
        <p:spPr>
          <a:xfrm>
            <a:off x="1554480" y="347472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浏览 Shodan / Censys — 只看你拥有的系统。</a:t>
            </a:r>
            <a:endParaRPr lang="en-US" sz="2600" b="0" u="none" strike="noStrike">
              <a:solidFill>
                <a:srgbClr val="FFFFFF"/>
              </a:solidFill>
              <a:effectLst/>
              <a:uFillTx/>
              <a:latin typeface="Arial"/>
            </a:endParaRPr>
          </a:p>
        </p:txBody>
      </p:sp>
      <p:sp>
        <p:nvSpPr>
          <p:cNvPr id="604" name="TextBox 9"/>
          <p:cNvSpPr/>
          <p:nvPr/>
        </p:nvSpPr>
        <p:spPr>
          <a:xfrm>
            <a:off x="548640" y="425196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4.</a:t>
            </a:r>
            <a:endParaRPr lang="en-US" sz="3600" b="0" u="none" strike="noStrike">
              <a:solidFill>
                <a:srgbClr val="FFFFFF"/>
              </a:solidFill>
              <a:effectLst/>
              <a:uFillTx/>
              <a:latin typeface="Arial"/>
            </a:endParaRPr>
          </a:p>
        </p:txBody>
      </p:sp>
      <p:sp>
        <p:nvSpPr>
          <p:cNvPr id="605" name="TextBox 10"/>
          <p:cNvSpPr/>
          <p:nvPr/>
        </p:nvSpPr>
        <p:spPr>
          <a:xfrm>
            <a:off x="1554480" y="429768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读一份入侵报告 — Capital One、Equifax、MOVEit。</a:t>
            </a:r>
            <a:endParaRPr lang="en-US" sz="2600" b="0" u="none" strike="noStrike">
              <a:solidFill>
                <a:srgbClr val="FFFFFF"/>
              </a:solidFill>
              <a:effectLst/>
              <a:uFillTx/>
              <a:latin typeface="Arial"/>
            </a:endParaRPr>
          </a:p>
        </p:txBody>
      </p:sp>
      <p:sp>
        <p:nvSpPr>
          <p:cNvPr id="606" name="TextBox 11"/>
          <p:cNvSpPr/>
          <p:nvPr/>
        </p:nvSpPr>
        <p:spPr>
          <a:xfrm>
            <a:off x="548640" y="507492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5.</a:t>
            </a:r>
            <a:endParaRPr lang="en-US" sz="3600" b="0" u="none" strike="noStrike">
              <a:solidFill>
                <a:srgbClr val="FFFFFF"/>
              </a:solidFill>
              <a:effectLst/>
              <a:uFillTx/>
              <a:latin typeface="Arial"/>
            </a:endParaRPr>
          </a:p>
        </p:txBody>
      </p:sp>
      <p:sp>
        <p:nvSpPr>
          <p:cNvPr id="607" name="TextBox 12"/>
          <p:cNvSpPr/>
          <p:nvPr/>
        </p:nvSpPr>
        <p:spPr>
          <a:xfrm>
            <a:off x="1554480" y="512064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查清你的组织实际运行着哪些数据库。</a:t>
            </a:r>
            <a:endParaRPr lang="en-US" sz="2600" b="0" u="none" strike="noStrike">
              <a:solidFill>
                <a:srgbClr val="FFFFFF"/>
              </a:solidFill>
              <a:effectLst/>
              <a:uFillTx/>
              <a:latin typeface="Arial"/>
            </a:endParaRPr>
          </a:p>
        </p:txBody>
      </p:sp>
      <p:sp>
        <p:nvSpPr>
          <p:cNvPr id="608" name="TextBox 1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609" name="TextBox 1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10" name="TextBox 1" descr="Resource list: PortSwigger Web Security Academy, SQLBolt, Use The Index Luke, DB-Engines, and the OWASP Top 10." title="Resource list: PortSwigger Web Security Academy, SQLBolt, Use The Index Luke, DB"/>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值得收藏的资源</a:t>
            </a:r>
            <a:endParaRPr lang="en-US" sz="4200" b="0" u="none" strike="noStrike">
              <a:solidFill>
                <a:srgbClr val="FFFFFF"/>
              </a:solidFill>
              <a:effectLst/>
              <a:uFillTx/>
              <a:latin typeface="Arial"/>
            </a:endParaRPr>
          </a:p>
        </p:txBody>
      </p:sp>
      <p:sp>
        <p:nvSpPr>
          <p:cNvPr id="6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12" name="TextBox 3"/>
          <p:cNvSpPr/>
          <p:nvPr/>
        </p:nvSpPr>
        <p:spPr>
          <a:xfrm>
            <a:off x="548640" y="182880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3" name="TextBox 4"/>
          <p:cNvSpPr/>
          <p:nvPr/>
        </p:nvSpPr>
        <p:spPr>
          <a:xfrm>
            <a:off x="1097280" y="182880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550" b="1" u="none" strike="noStrike">
                <a:solidFill>
                  <a:srgbClr val="FFFFFF"/>
                </a:solidFill>
                <a:effectLst/>
                <a:uFillTx/>
                <a:latin typeface="Calibri"/>
              </a:rPr>
              <a:t>PortSwigger Web Security Academy</a:t>
            </a:r>
            <a:endParaRPr lang="en-US" sz="2600" b="0" u="none" strike="noStrike">
              <a:solidFill>
                <a:srgbClr val="FFFFFF"/>
              </a:solidFill>
              <a:effectLst/>
              <a:uFillTx/>
              <a:latin typeface="Arial"/>
            </a:endParaRPr>
          </a:p>
        </p:txBody>
      </p:sp>
      <p:sp>
        <p:nvSpPr>
          <p:cNvPr id="614" name="TextBox 5"/>
          <p:cNvSpPr/>
          <p:nvPr/>
        </p:nvSpPr>
        <p:spPr>
          <a:xfrm>
            <a:off x="7040880" y="182880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portswigger.net/web-security</a:t>
            </a:r>
            <a:endParaRPr lang="en-US" sz="2200" b="0" u="none" strike="noStrike">
              <a:solidFill>
                <a:srgbClr val="FFFFFF"/>
              </a:solidFill>
              <a:effectLst/>
              <a:uFillTx/>
              <a:latin typeface="Arial"/>
            </a:endParaRPr>
          </a:p>
        </p:txBody>
      </p:sp>
      <p:sp>
        <p:nvSpPr>
          <p:cNvPr id="615" name="TextBox 6"/>
          <p:cNvSpPr/>
          <p:nvPr/>
        </p:nvSpPr>
        <p:spPr>
          <a:xfrm>
            <a:off x="548640" y="260604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6" name="TextBox 7"/>
          <p:cNvSpPr/>
          <p:nvPr/>
        </p:nvSpPr>
        <p:spPr>
          <a:xfrm>
            <a:off x="1097280" y="260604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SQLBolt</a:t>
            </a:r>
            <a:endParaRPr lang="en-US" sz="2600" b="0" u="none" strike="noStrike">
              <a:solidFill>
                <a:srgbClr val="FFFFFF"/>
              </a:solidFill>
              <a:effectLst/>
              <a:uFillTx/>
              <a:latin typeface="Arial"/>
            </a:endParaRPr>
          </a:p>
        </p:txBody>
      </p:sp>
      <p:sp>
        <p:nvSpPr>
          <p:cNvPr id="617" name="TextBox 8"/>
          <p:cNvSpPr/>
          <p:nvPr/>
        </p:nvSpPr>
        <p:spPr>
          <a:xfrm>
            <a:off x="7040880" y="260604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sqlbolt.com</a:t>
            </a:r>
            <a:endParaRPr lang="en-US" sz="2200" b="0" u="none" strike="noStrike">
              <a:solidFill>
                <a:srgbClr val="FFFFFF"/>
              </a:solidFill>
              <a:effectLst/>
              <a:uFillTx/>
              <a:latin typeface="Arial"/>
            </a:endParaRPr>
          </a:p>
        </p:txBody>
      </p:sp>
      <p:sp>
        <p:nvSpPr>
          <p:cNvPr id="618" name="TextBox 9"/>
          <p:cNvSpPr/>
          <p:nvPr/>
        </p:nvSpPr>
        <p:spPr>
          <a:xfrm>
            <a:off x="548640" y="338328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9" name="TextBox 10"/>
          <p:cNvSpPr/>
          <p:nvPr/>
        </p:nvSpPr>
        <p:spPr>
          <a:xfrm>
            <a:off x="1097280" y="338328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Use The Index, Luke</a:t>
            </a:r>
            <a:endParaRPr lang="en-US" sz="2600" b="0" u="none" strike="noStrike">
              <a:solidFill>
                <a:srgbClr val="FFFFFF"/>
              </a:solidFill>
              <a:effectLst/>
              <a:uFillTx/>
              <a:latin typeface="Arial"/>
            </a:endParaRPr>
          </a:p>
        </p:txBody>
      </p:sp>
      <p:sp>
        <p:nvSpPr>
          <p:cNvPr id="620" name="TextBox 11"/>
          <p:cNvSpPr/>
          <p:nvPr/>
        </p:nvSpPr>
        <p:spPr>
          <a:xfrm>
            <a:off x="7040880" y="338328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use-the-index-luke.com</a:t>
            </a:r>
            <a:endParaRPr lang="en-US" sz="2200" b="0" u="none" strike="noStrike">
              <a:solidFill>
                <a:srgbClr val="FFFFFF"/>
              </a:solidFill>
              <a:effectLst/>
              <a:uFillTx/>
              <a:latin typeface="Arial"/>
            </a:endParaRPr>
          </a:p>
        </p:txBody>
      </p:sp>
      <p:sp>
        <p:nvSpPr>
          <p:cNvPr id="621" name="TextBox 12"/>
          <p:cNvSpPr/>
          <p:nvPr/>
        </p:nvSpPr>
        <p:spPr>
          <a:xfrm>
            <a:off x="548640" y="416052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2" name="TextBox 13"/>
          <p:cNvSpPr/>
          <p:nvPr/>
        </p:nvSpPr>
        <p:spPr>
          <a:xfrm>
            <a:off x="1097280" y="416052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DB-Engines Ranking</a:t>
            </a:r>
            <a:endParaRPr lang="en-US" sz="2600" b="0" u="none" strike="noStrike">
              <a:solidFill>
                <a:srgbClr val="FFFFFF"/>
              </a:solidFill>
              <a:effectLst/>
              <a:uFillTx/>
              <a:latin typeface="Arial"/>
            </a:endParaRPr>
          </a:p>
        </p:txBody>
      </p:sp>
      <p:sp>
        <p:nvSpPr>
          <p:cNvPr id="623" name="TextBox 14"/>
          <p:cNvSpPr/>
          <p:nvPr/>
        </p:nvSpPr>
        <p:spPr>
          <a:xfrm>
            <a:off x="7040880" y="416052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db-engines.com</a:t>
            </a:r>
            <a:endParaRPr lang="en-US" sz="2200" b="0" u="none" strike="noStrike">
              <a:solidFill>
                <a:srgbClr val="FFFFFF"/>
              </a:solidFill>
              <a:effectLst/>
              <a:uFillTx/>
              <a:latin typeface="Arial"/>
            </a:endParaRPr>
          </a:p>
        </p:txBody>
      </p:sp>
      <p:sp>
        <p:nvSpPr>
          <p:cNvPr id="624" name="TextBox 15"/>
          <p:cNvSpPr/>
          <p:nvPr/>
        </p:nvSpPr>
        <p:spPr>
          <a:xfrm>
            <a:off x="548640" y="493776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5" name="TextBox 16"/>
          <p:cNvSpPr/>
          <p:nvPr/>
        </p:nvSpPr>
        <p:spPr>
          <a:xfrm>
            <a:off x="1097280" y="493776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OWASP Top 10</a:t>
            </a:r>
            <a:endParaRPr lang="en-US" sz="2600" b="0" u="none" strike="noStrike">
              <a:solidFill>
                <a:srgbClr val="FFFFFF"/>
              </a:solidFill>
              <a:effectLst/>
              <a:uFillTx/>
              <a:latin typeface="Arial"/>
            </a:endParaRPr>
          </a:p>
        </p:txBody>
      </p:sp>
      <p:sp>
        <p:nvSpPr>
          <p:cNvPr id="626" name="TextBox 17"/>
          <p:cNvSpPr/>
          <p:nvPr/>
        </p:nvSpPr>
        <p:spPr>
          <a:xfrm>
            <a:off x="7040880" y="493776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owasp.org/Top10/</a:t>
            </a:r>
            <a:endParaRPr lang="en-US" sz="2200" b="0" u="none" strike="noStrike">
              <a:solidFill>
                <a:srgbClr val="FFFFFF"/>
              </a:solidFill>
              <a:effectLst/>
              <a:uFillTx/>
              <a:latin typeface="Arial"/>
            </a:endParaRPr>
          </a:p>
        </p:txBody>
      </p:sp>
      <p:sp>
        <p:nvSpPr>
          <p:cNvPr id="627" name="TextBox 18"/>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628" name="TextBox 19"/>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29" name="TextBox 1" descr="Closing slide: Databases are where the money is. Literally. Now you know where to look. Ronin 48." title="Closing slide: Databases are where the money is. Literally. Now you know where t"/>
          <p:cNvSpPr/>
          <p:nvPr/>
        </p:nvSpPr>
        <p:spPr>
          <a:xfrm>
            <a:off x="457200" y="137160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FFFFFF"/>
                </a:solidFill>
                <a:effectLst/>
                <a:uFillTx/>
                <a:latin typeface="Calibri"/>
              </a:rPr>
              <a:t>“数据库正是</a:t>
            </a:r>
            <a:endParaRPr lang="en-US" sz="5800" b="0" u="none" strike="noStrike">
              <a:solidFill>
                <a:srgbClr val="FFFFFF"/>
              </a:solidFill>
              <a:effectLst/>
              <a:uFillTx/>
              <a:latin typeface="Arial"/>
            </a:endParaRPr>
          </a:p>
        </p:txBody>
      </p:sp>
      <p:sp>
        <p:nvSpPr>
          <p:cNvPr id="630" name="TextBox 2"/>
          <p:cNvSpPr/>
          <p:nvPr/>
        </p:nvSpPr>
        <p:spPr>
          <a:xfrm>
            <a:off x="457200" y="237744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00FF41"/>
                </a:solidFill>
                <a:effectLst/>
                <a:uFillTx/>
                <a:latin typeface="Calibri"/>
              </a:rPr>
              <a:t>钱所在的地方。字面意义上的。”</a:t>
            </a:r>
            <a:endParaRPr lang="en-US" sz="5800" b="0" u="none" strike="noStrike">
              <a:solidFill>
                <a:srgbClr val="FFFFFF"/>
              </a:solidFill>
              <a:effectLst/>
              <a:uFillTx/>
              <a:latin typeface="Arial"/>
            </a:endParaRPr>
          </a:p>
        </p:txBody>
      </p:sp>
      <p:sp>
        <p:nvSpPr>
          <p:cNvPr id="631" name="Rectangle 3"/>
          <p:cNvSpPr/>
          <p:nvPr/>
        </p:nvSpPr>
        <p:spPr>
          <a:xfrm>
            <a:off x="7772760" y="4114800"/>
            <a:ext cx="27428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632" name="TextBox 4"/>
          <p:cNvSpPr/>
          <p:nvPr/>
        </p:nvSpPr>
        <p:spPr>
          <a:xfrm>
            <a:off x="-45360" y="571500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00D4FF"/>
                </a:solidFill>
                <a:effectLst/>
                <a:uFillTx/>
                <a:latin typeface="Calibri"/>
              </a:rPr>
              <a:t>现在你知道该往哪里看了。</a:t>
            </a:r>
            <a:endParaRPr lang="en-US" sz="4200" b="0" u="none" strike="noStrike">
              <a:solidFill>
                <a:srgbClr val="FFFFFF"/>
              </a:solidFill>
              <a:effectLst/>
              <a:uFillTx/>
              <a:latin typeface="Arial"/>
            </a:endParaRPr>
          </a:p>
        </p:txBody>
      </p:sp>
      <p:sp>
        <p:nvSpPr>
          <p:cNvPr id="633" name="TextBox 5"/>
          <p:cNvSpPr/>
          <p:nvPr/>
        </p:nvSpPr>
        <p:spPr>
          <a:xfrm>
            <a:off x="7315200" y="3429000"/>
            <a:ext cx="3886200" cy="517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300" b="1" u="none" strike="noStrike">
                <a:solidFill>
                  <a:srgbClr val="CCCCD6"/>
                </a:solidFill>
                <a:effectLst/>
                <a:uFillTx/>
                <a:latin typeface="Calibri"/>
              </a:rPr>
              <a:t>~Larry Ellison（大概吧）</a:t>
            </a:r>
            <a:endParaRPr lang="en-US" sz="2800" b="0" u="none" strike="noStrike">
              <a:solidFill>
                <a:srgbClr val="FFFFFF"/>
              </a:solidFill>
              <a:effectLst/>
              <a:uFillTx/>
              <a:latin typeface="Arial"/>
            </a:endParaRPr>
          </a:p>
        </p:txBody>
      </p:sp>
      <p:sp>
        <p:nvSpPr>
          <p:cNvPr id="634" name="TextBox 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35"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p:nvPr/>
        </p:nvSpPr>
        <p:spPr>
          <a:xfrm>
            <a:off x="457200" y="320040"/>
            <a:ext cx="11246760" cy="669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参考文献 — 引用作品</a:t>
            </a:r>
            <a:endParaRPr lang="en-US" sz="3800" b="0" u="none" strike="noStrike">
              <a:solidFill>
                <a:srgbClr val="FFFFFF"/>
              </a:solidFill>
              <a:effectLst/>
              <a:uFillTx/>
              <a:latin typeface="Arial"/>
            </a:endParaRPr>
          </a:p>
        </p:txBody>
      </p:sp>
      <p:sp>
        <p:nvSpPr>
          <p:cNvPr id="63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37" name="TextBox 3"/>
          <p:cNvSpPr/>
          <p:nvPr/>
        </p:nvSpPr>
        <p:spPr>
          <a:xfrm>
            <a:off x="457200" y="169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38" name="TextBox 4"/>
          <p:cNvSpPr/>
          <p:nvPr/>
        </p:nvSpPr>
        <p:spPr>
          <a:xfrm>
            <a:off x="777240" y="16642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Beaulieu, A. — Learning SQL, 2nd Edition (O'Reilly)</a:t>
            </a:r>
            <a:endParaRPr lang="en-US" sz="1600" b="0" u="none" strike="noStrike">
              <a:solidFill>
                <a:srgbClr val="FFFFFF"/>
              </a:solidFill>
              <a:effectLst/>
              <a:uFillTx/>
              <a:latin typeface="Arial"/>
            </a:endParaRPr>
          </a:p>
        </p:txBody>
      </p:sp>
      <p:sp>
        <p:nvSpPr>
          <p:cNvPr id="639" name="TextBox 5"/>
          <p:cNvSpPr/>
          <p:nvPr/>
        </p:nvSpPr>
        <p:spPr>
          <a:xfrm>
            <a:off x="457200" y="20026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0" name="TextBox 6"/>
          <p:cNvSpPr/>
          <p:nvPr/>
        </p:nvSpPr>
        <p:spPr>
          <a:xfrm>
            <a:off x="777240" y="197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Clarke, J. et al. — SQL Injection Attacks and Defense (Syngress)</a:t>
            </a:r>
            <a:endParaRPr lang="en-US" sz="1600" b="0" u="none" strike="noStrike">
              <a:solidFill>
                <a:srgbClr val="FFFFFF"/>
              </a:solidFill>
              <a:effectLst/>
              <a:uFillTx/>
              <a:latin typeface="Arial"/>
            </a:endParaRPr>
          </a:p>
        </p:txBody>
      </p:sp>
      <p:sp>
        <p:nvSpPr>
          <p:cNvPr id="641" name="TextBox 7"/>
          <p:cNvSpPr/>
          <p:nvPr/>
        </p:nvSpPr>
        <p:spPr>
          <a:xfrm>
            <a:off x="457200" y="231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2" name="TextBox 8"/>
          <p:cNvSpPr/>
          <p:nvPr/>
        </p:nvSpPr>
        <p:spPr>
          <a:xfrm>
            <a:off x="777240" y="228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Crowther, P. — Concise Guide to Databases (Springer, 2013)</a:t>
            </a:r>
            <a:endParaRPr lang="en-US" sz="1600" b="0" u="none" strike="noStrike">
              <a:solidFill>
                <a:srgbClr val="FFFFFF"/>
              </a:solidFill>
              <a:effectLst/>
              <a:uFillTx/>
              <a:latin typeface="Arial"/>
            </a:endParaRPr>
          </a:p>
        </p:txBody>
      </p:sp>
      <p:sp>
        <p:nvSpPr>
          <p:cNvPr id="643" name="TextBox 9"/>
          <p:cNvSpPr/>
          <p:nvPr/>
        </p:nvSpPr>
        <p:spPr>
          <a:xfrm>
            <a:off x="457200" y="26244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4" name="TextBox 10"/>
          <p:cNvSpPr/>
          <p:nvPr/>
        </p:nvSpPr>
        <p:spPr>
          <a:xfrm>
            <a:off x="777240" y="25970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DeBarros, A. — Practical SQL (No Starch Press)</a:t>
            </a:r>
            <a:endParaRPr lang="en-US" sz="1600" b="0" u="none" strike="noStrike">
              <a:solidFill>
                <a:srgbClr val="FFFFFF"/>
              </a:solidFill>
              <a:effectLst/>
              <a:uFillTx/>
              <a:latin typeface="Arial"/>
            </a:endParaRPr>
          </a:p>
        </p:txBody>
      </p:sp>
      <p:sp>
        <p:nvSpPr>
          <p:cNvPr id="645" name="TextBox 11"/>
          <p:cNvSpPr/>
          <p:nvPr/>
        </p:nvSpPr>
        <p:spPr>
          <a:xfrm>
            <a:off x="457200" y="29350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6" name="TextBox 12"/>
          <p:cNvSpPr/>
          <p:nvPr/>
        </p:nvSpPr>
        <p:spPr>
          <a:xfrm>
            <a:off x="777240" y="29077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Diogenes &amp; Ozkaya — Cybersecurity Attack and Defense Strategies (Packt)</a:t>
            </a:r>
            <a:endParaRPr lang="en-US" sz="1600" b="0" u="none" strike="noStrike">
              <a:solidFill>
                <a:srgbClr val="FFFFFF"/>
              </a:solidFill>
              <a:effectLst/>
              <a:uFillTx/>
              <a:latin typeface="Arial"/>
            </a:endParaRPr>
          </a:p>
        </p:txBody>
      </p:sp>
      <p:sp>
        <p:nvSpPr>
          <p:cNvPr id="647" name="TextBox 13"/>
          <p:cNvSpPr/>
          <p:nvPr/>
        </p:nvSpPr>
        <p:spPr>
          <a:xfrm>
            <a:off x="457200" y="32461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8" name="TextBox 14"/>
          <p:cNvSpPr/>
          <p:nvPr/>
        </p:nvSpPr>
        <p:spPr>
          <a:xfrm>
            <a:off x="777240" y="32187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Janca, T. — Alice and Bob Learn Application Security (Wiley)</a:t>
            </a:r>
            <a:endParaRPr lang="en-US" sz="1600" b="0" u="none" strike="noStrike">
              <a:solidFill>
                <a:srgbClr val="FFFFFF"/>
              </a:solidFill>
              <a:effectLst/>
              <a:uFillTx/>
              <a:latin typeface="Arial"/>
            </a:endParaRPr>
          </a:p>
        </p:txBody>
      </p:sp>
      <p:sp>
        <p:nvSpPr>
          <p:cNvPr id="649" name="TextBox 15"/>
          <p:cNvSpPr/>
          <p:nvPr/>
        </p:nvSpPr>
        <p:spPr>
          <a:xfrm>
            <a:off x="457200" y="35571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0" name="TextBox 16"/>
          <p:cNvSpPr/>
          <p:nvPr/>
        </p:nvSpPr>
        <p:spPr>
          <a:xfrm>
            <a:off x="777240" y="35294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Mishra &amp; Singh — PostgreSQL Development Essentials (Packt)</a:t>
            </a:r>
            <a:endParaRPr lang="en-US" sz="1600" b="0" u="none" strike="noStrike">
              <a:solidFill>
                <a:srgbClr val="FFFFFF"/>
              </a:solidFill>
              <a:effectLst/>
              <a:uFillTx/>
              <a:latin typeface="Arial"/>
            </a:endParaRPr>
          </a:p>
        </p:txBody>
      </p:sp>
      <p:sp>
        <p:nvSpPr>
          <p:cNvPr id="651" name="TextBox 17"/>
          <p:cNvSpPr/>
          <p:nvPr/>
        </p:nvSpPr>
        <p:spPr>
          <a:xfrm>
            <a:off x="457200" y="38678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2" name="TextBox 18"/>
          <p:cNvSpPr/>
          <p:nvPr/>
        </p:nvSpPr>
        <p:spPr>
          <a:xfrm>
            <a:off x="777240" y="38404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MongoDB Cookbook (Packt)  •  10gen — Top 5 NoSQL Considerations</a:t>
            </a:r>
            <a:endParaRPr lang="en-US" sz="1600" b="0" u="none" strike="noStrike">
              <a:solidFill>
                <a:srgbClr val="FFFFFF"/>
              </a:solidFill>
              <a:effectLst/>
              <a:uFillTx/>
              <a:latin typeface="Arial"/>
            </a:endParaRPr>
          </a:p>
        </p:txBody>
      </p:sp>
      <p:sp>
        <p:nvSpPr>
          <p:cNvPr id="653" name="TextBox 19"/>
          <p:cNvSpPr/>
          <p:nvPr/>
        </p:nvSpPr>
        <p:spPr>
          <a:xfrm>
            <a:off x="457200" y="41788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4" name="TextBox 20"/>
          <p:cNvSpPr/>
          <p:nvPr/>
        </p:nvSpPr>
        <p:spPr>
          <a:xfrm>
            <a:off x="777240" y="41515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OWASP Top 10 — 2025 版</a:t>
            </a:r>
            <a:endParaRPr lang="en-US" sz="1600" b="0" u="none" strike="noStrike">
              <a:solidFill>
                <a:srgbClr val="FFFFFF"/>
              </a:solidFill>
              <a:effectLst/>
              <a:uFillTx/>
              <a:latin typeface="Arial"/>
            </a:endParaRPr>
          </a:p>
        </p:txBody>
      </p:sp>
      <p:sp>
        <p:nvSpPr>
          <p:cNvPr id="655" name="TextBox 21"/>
          <p:cNvSpPr/>
          <p:nvPr/>
        </p:nvSpPr>
        <p:spPr>
          <a:xfrm>
            <a:off x="457200" y="44895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6" name="TextBox 22"/>
          <p:cNvSpPr/>
          <p:nvPr/>
        </p:nvSpPr>
        <p:spPr>
          <a:xfrm>
            <a:off x="777240" y="44622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Sharma, M. — Cosmos DB for MongoDB Developers (Apress, 2018)</a:t>
            </a:r>
            <a:endParaRPr lang="en-US" sz="1600" b="0" u="none" strike="noStrike">
              <a:solidFill>
                <a:srgbClr val="FFFFFF"/>
              </a:solidFill>
              <a:effectLst/>
              <a:uFillTx/>
              <a:latin typeface="Arial"/>
            </a:endParaRPr>
          </a:p>
        </p:txBody>
      </p:sp>
      <p:sp>
        <p:nvSpPr>
          <p:cNvPr id="657" name="TextBox 23"/>
          <p:cNvSpPr/>
          <p:nvPr/>
        </p:nvSpPr>
        <p:spPr>
          <a:xfrm>
            <a:off x="457200" y="48006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8" name="TextBox 24"/>
          <p:cNvSpPr/>
          <p:nvPr/>
        </p:nvSpPr>
        <p:spPr>
          <a:xfrm>
            <a:off x="777240" y="47732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Schneier, B. — Secrets and Lies (Wiley)</a:t>
            </a:r>
            <a:endParaRPr lang="en-US" sz="1600" b="0" u="none" strike="noStrike">
              <a:solidFill>
                <a:srgbClr val="FFFFFF"/>
              </a:solidFill>
              <a:effectLst/>
              <a:uFillTx/>
              <a:latin typeface="Arial"/>
            </a:endParaRPr>
          </a:p>
        </p:txBody>
      </p:sp>
      <p:sp>
        <p:nvSpPr>
          <p:cNvPr id="659" name="TextBox 25"/>
          <p:cNvSpPr/>
          <p:nvPr/>
        </p:nvSpPr>
        <p:spPr>
          <a:xfrm>
            <a:off x="457200" y="511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0" name="TextBox 26"/>
          <p:cNvSpPr/>
          <p:nvPr/>
        </p:nvSpPr>
        <p:spPr>
          <a:xfrm>
            <a:off x="777240" y="50839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Stuttard &amp; Pinto — Web Application Hacker's Handbook, 2nd Ed.</a:t>
            </a:r>
            <a:endParaRPr lang="en-US" sz="1600" b="0" u="none" strike="noStrike">
              <a:solidFill>
                <a:srgbClr val="FFFFFF"/>
              </a:solidFill>
              <a:effectLst/>
              <a:uFillTx/>
              <a:latin typeface="Arial"/>
            </a:endParaRPr>
          </a:p>
        </p:txBody>
      </p:sp>
      <p:sp>
        <p:nvSpPr>
          <p:cNvPr id="661" name="TextBox 27"/>
          <p:cNvSpPr/>
          <p:nvPr/>
        </p:nvSpPr>
        <p:spPr>
          <a:xfrm>
            <a:off x="457200" y="54223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2" name="TextBox 28"/>
          <p:cNvSpPr/>
          <p:nvPr/>
        </p:nvSpPr>
        <p:spPr>
          <a:xfrm>
            <a:off x="777240" y="539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Shostack, A. — Threat Modeling: Designing for Security (Wiley)</a:t>
            </a:r>
            <a:endParaRPr lang="en-US" sz="1600" b="0" u="none" strike="noStrike">
              <a:solidFill>
                <a:srgbClr val="FFFFFF"/>
              </a:solidFill>
              <a:effectLst/>
              <a:uFillTx/>
              <a:latin typeface="Arial"/>
            </a:endParaRPr>
          </a:p>
        </p:txBody>
      </p:sp>
      <p:sp>
        <p:nvSpPr>
          <p:cNvPr id="663" name="TextBox 29"/>
          <p:cNvSpPr/>
          <p:nvPr/>
        </p:nvSpPr>
        <p:spPr>
          <a:xfrm>
            <a:off x="457200" y="573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4" name="TextBox 30"/>
          <p:cNvSpPr/>
          <p:nvPr/>
        </p:nvSpPr>
        <p:spPr>
          <a:xfrm>
            <a:off x="777240" y="570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《AWS Administration: The Definitive Guide》（Packt）</a:t>
            </a:r>
            <a:endParaRPr lang="en-US" sz="1600" b="0" u="none" strike="noStrike">
              <a:solidFill>
                <a:srgbClr val="FFFFFF"/>
              </a:solidFill>
              <a:effectLst/>
              <a:uFillTx/>
              <a:latin typeface="Arial"/>
            </a:endParaRPr>
          </a:p>
        </p:txBody>
      </p:sp>
      <p:sp>
        <p:nvSpPr>
          <p:cNvPr id="665" name="TextBox 31"/>
          <p:cNvSpPr/>
          <p:nvPr/>
        </p:nvSpPr>
        <p:spPr>
          <a:xfrm>
            <a:off x="457200" y="60440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6" name="TextBox 32"/>
          <p:cNvSpPr/>
          <p:nvPr/>
        </p:nvSpPr>
        <p:spPr>
          <a:xfrm>
            <a:off x="777240" y="60166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《Fundamentals of Azure, 2nd Edition》（Microsoft Press）</a:t>
            </a:r>
            <a:endParaRPr lang="en-US" sz="1600" b="0" u="none" strike="noStrike">
              <a:solidFill>
                <a:srgbClr val="FFFFFF"/>
              </a:solidFill>
              <a:effectLst/>
              <a:uFillTx/>
              <a:latin typeface="Arial"/>
            </a:endParaRPr>
          </a:p>
        </p:txBody>
      </p:sp>
      <p:sp>
        <p:nvSpPr>
          <p:cNvPr id="667" name="TextBox 3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
        <p:nvSpPr>
          <p:cNvPr id="668" name="TextBox 34"/>
          <p:cNvSpPr/>
          <p:nvPr/>
        </p:nvSpPr>
        <p:spPr>
          <a:xfrm>
            <a:off x="10972800" y="6446520"/>
            <a:ext cx="1096920" cy="3038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69" name="TextBox 1" descr="Questions and answers slide." title="Questions and answers slide."/>
          <p:cNvSpPr/>
          <p:nvPr/>
        </p:nvSpPr>
        <p:spPr>
          <a:xfrm>
            <a:off x="411840" y="1371600"/>
            <a:ext cx="11246760" cy="2832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0" b="1" u="none" strike="noStrike">
                <a:solidFill>
                  <a:srgbClr val="00FF41"/>
                </a:solidFill>
                <a:effectLst/>
                <a:uFillTx/>
                <a:latin typeface="Calibri"/>
              </a:rPr>
              <a:t>问答*</a:t>
            </a:r>
            <a:endParaRPr lang="en-US" sz="18000" b="0" u="none" strike="noStrike">
              <a:solidFill>
                <a:srgbClr val="FFFFFF"/>
              </a:solidFill>
              <a:effectLst/>
              <a:uFillTx/>
              <a:latin typeface="Arial"/>
            </a:endParaRPr>
          </a:p>
        </p:txBody>
      </p:sp>
      <p:sp>
        <p:nvSpPr>
          <p:cNvPr id="670" name="TextBox 2"/>
          <p:cNvSpPr/>
          <p:nvPr/>
        </p:nvSpPr>
        <p:spPr>
          <a:xfrm>
            <a:off x="457200" y="4754880"/>
            <a:ext cx="11246760" cy="63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答 == 茫然的目光</a:t>
            </a:r>
            <a:endParaRPr lang="en-US" sz="3600" b="0" u="none" strike="noStrike">
              <a:solidFill>
                <a:srgbClr val="FFFFFF"/>
              </a:solidFill>
              <a:effectLst/>
              <a:uFillTx/>
              <a:latin typeface="Arial"/>
            </a:endParaRPr>
          </a:p>
        </p:txBody>
      </p:sp>
      <p:sp>
        <p:nvSpPr>
          <p:cNvPr id="671" name="TextBox 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黑客数据库入门</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LibreOffice/26.2.3.2$MacOSX_AARCH64 LibreOffice_project/70e089b17412e4cb7773e41413306b17a2328c34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2026-06-04T07:38:35Z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