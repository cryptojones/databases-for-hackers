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7D68741-070C-4AE3-AD19-11384171AC7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1143000" y="685800"/>
            <a:ext cx="4571640" cy="3428640"/>
          </a:xfrm>
          <a:prstGeom prst="rect">
            <a:avLst/>
          </a:prstGeom>
          <a:ln w="0">
            <a:noFill/>
          </a:ln>
        </p:spPr>
      </p:sp>
      <p:sp>
        <p:nvSpPr>
          <p:cNvPr id="6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This is a 45-minute talk for new security analysts. No computer-science background required. There's a script, slides, and a recording — nothing to memorize.</a:t>
            </a:r>
            <a:endParaRPr lang="en-US" sz="2000" b="0" u="none" strike="noStrike">
              <a:solidFill>
                <a:srgbClr val="000000"/>
              </a:solidFill>
              <a:effectLst/>
              <a:uFillTx/>
              <a:latin typeface="Arial"/>
            </a:endParaRPr>
          </a:p>
        </p:txBody>
      </p:sp>
      <p:sp>
        <p:nvSpPr>
          <p:cNvPr id="674"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BE1352F-AE15-4FB6-9A2D-D4F624A0138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1143000" y="685800"/>
            <a:ext cx="4571640" cy="3428640"/>
          </a:xfrm>
          <a:prstGeom prst="rect">
            <a:avLst/>
          </a:prstGeom>
          <a:ln w="0">
            <a:noFill/>
          </a:ln>
        </p:spPr>
      </p:sp>
      <p:sp>
        <p:nvSpPr>
          <p:cNvPr id="6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Introduce yourself. Aaron K. Clark, Ronin 48. Brief pause, let the audience settle.</a:t>
            </a:r>
            <a:endParaRPr lang="en-US" sz="2000" b="0" u="none" strike="noStrike">
              <a:solidFill>
                <a:srgbClr val="000000"/>
              </a:solidFill>
              <a:effectLst/>
              <a:uFillTx/>
              <a:latin typeface="Arial"/>
            </a:endParaRPr>
          </a:p>
        </p:txBody>
      </p:sp>
      <p:sp>
        <p:nvSpPr>
          <p:cNvPr id="677"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EEF7A2-6551-4F71-83DA-1861A6CB79E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1143000" y="685800"/>
            <a:ext cx="4571640" cy="3428640"/>
          </a:xfrm>
          <a:prstGeom prst="rect">
            <a:avLst/>
          </a:prstGeom>
          <a:ln w="0">
            <a:noFill/>
          </a:ln>
        </p:spPr>
      </p:sp>
      <p:sp>
        <p:nvSpPr>
          <p:cNvPr id="6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Equifax, Capital One, MOVEit, SolarWinds, T-Mobile, LinkedIn, OPM, Marriott — every one of those breaches ended at a database. Attackers care about data, not architecture diagrams. </a:t>
            </a:r>
            <a:br>
              <a:rPr sz="2000"/>
            </a:br>
            <a:br>
              <a:rPr sz="2000"/>
            </a:br>
            <a:r>
              <a:rPr lang="en-US" sz="2000" b="0" u="none" strike="noStrike">
                <a:solidFill>
                  <a:srgbClr val="000000"/>
                </a:solidFill>
                <a:effectLst/>
                <a:uFillTx/>
                <a:latin typeface="Arial"/>
              </a:rPr>
              <a:t>* Except where it didn’t</a:t>
            </a:r>
            <a:endParaRPr lang="en-US" sz="2000" b="0" u="none" strike="noStrike">
              <a:solidFill>
                <a:srgbClr val="000000"/>
              </a:solidFill>
              <a:effectLst/>
              <a:uFillTx/>
              <a:latin typeface="Arial"/>
            </a:endParaRPr>
          </a:p>
        </p:txBody>
      </p:sp>
      <p:sp>
        <p:nvSpPr>
          <p:cNvPr id="680"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63972C-0984-4E8A-A148-C8688852C7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1143000" y="685800"/>
            <a:ext cx="4571640" cy="3428640"/>
          </a:xfrm>
          <a:prstGeom prst="rect">
            <a:avLst/>
          </a:prstGeom>
          <a:ln w="0">
            <a:noFill/>
          </a:ln>
        </p:spPr>
      </p:sp>
      <p:sp>
        <p:nvSpPr>
          <p:cNvPr id="6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Attackers don't care about your beautiful SPA or your microservices diagram. They care about the data — the crown jewels — because that's what converts into money, leverage, or headlines.</a:t>
            </a:r>
            <a:endParaRPr lang="en-US" sz="2000" b="0" u="none" strike="noStrike">
              <a:solidFill>
                <a:srgbClr val="000000"/>
              </a:solidFill>
              <a:effectLst/>
              <a:uFillTx/>
              <a:latin typeface="Arial"/>
            </a:endParaRPr>
          </a:p>
        </p:txBody>
      </p:sp>
      <p:sp>
        <p:nvSpPr>
          <p:cNvPr id="683"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CA42F3E-B692-43D2-8F9A-E2F0F74411C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1143000" y="685800"/>
            <a:ext cx="4571640" cy="3428640"/>
          </a:xfrm>
          <a:prstGeom prst="rect">
            <a:avLst/>
          </a:prstGeom>
          <a:ln w="0">
            <a:noFill/>
          </a:ln>
        </p:spPr>
      </p:sp>
      <p:sp>
        <p:nvSpPr>
          <p:cNvPr id="6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Strip the jargon: organized storage plus a query language. If you've used Ctrl-F in Excel, you've used a database. Real databases add scale, speed, concurrency, and a formal query language.</a:t>
            </a:r>
            <a:endParaRPr lang="en-US" sz="2000" b="0" u="none" strike="noStrike">
              <a:solidFill>
                <a:srgbClr val="000000"/>
              </a:solidFill>
              <a:effectLst/>
              <a:uFillTx/>
              <a:latin typeface="Arial"/>
            </a:endParaRPr>
          </a:p>
        </p:txBody>
      </p:sp>
      <p:sp>
        <p:nvSpPr>
          <p:cNvPr id="686"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3085B2-6AD0-4680-B019-05D1B1CA1C7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1143000" y="685800"/>
            <a:ext cx="4571640" cy="3428640"/>
          </a:xfrm>
          <a:prstGeom prst="rect">
            <a:avLst/>
          </a:prstGeom>
          <a:ln w="0">
            <a:noFill/>
          </a:ln>
        </p:spPr>
      </p:sp>
      <p:sp>
        <p:nvSpPr>
          <p:cNvPr id="6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Memorize these six words and you can hold a real conversation with a DBA. Table is a tab, row is a record, column is an attribute, query is a question, schema is the shape, index is the bookmark. CRUD covers every action: create, read, update, delete.</a:t>
            </a:r>
            <a:endParaRPr lang="en-US" sz="2000" b="0" u="none" strike="noStrike">
              <a:solidFill>
                <a:srgbClr val="000000"/>
              </a:solidFill>
              <a:effectLst/>
              <a:uFillTx/>
              <a:latin typeface="Arial"/>
            </a:endParaRPr>
          </a:p>
        </p:txBody>
      </p:sp>
      <p:sp>
        <p:nvSpPr>
          <p:cNvPr id="689"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9D71965-AC47-4220-99FB-2E0429DD71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1143000" y="685800"/>
            <a:ext cx="4571640" cy="3428640"/>
          </a:xfrm>
          <a:prstGeom prst="rect">
            <a:avLst/>
          </a:prstGeom>
          <a:ln w="0">
            <a:noFill/>
          </a:ln>
        </p:spPr>
      </p:sp>
      <p:sp>
        <p:nvSpPr>
          <p:cNvPr id="6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weird thing you'll see in a real environment is a fossil from one of these eras. Knowing which era something comes from is a real superpower in incident response and pentesting.</a:t>
            </a:r>
            <a:endParaRPr lang="en-US" sz="2000" b="0" u="none" strike="noStrike">
              <a:solidFill>
                <a:srgbClr val="000000"/>
              </a:solidFill>
              <a:effectLst/>
              <a:uFillTx/>
              <a:latin typeface="Arial"/>
            </a:endParaRPr>
          </a:p>
        </p:txBody>
      </p:sp>
      <p:sp>
        <p:nvSpPr>
          <p:cNvPr id="692"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6F4F706-402B-4506-8469-0C9D97D42C1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1143000" y="685800"/>
            <a:ext cx="4571640" cy="3428640"/>
          </a:xfrm>
          <a:prstGeom prst="rect">
            <a:avLst/>
          </a:prstGeom>
          <a:ln w="0">
            <a:noFill/>
          </a:ln>
        </p:spPr>
      </p:sp>
      <p:sp>
        <p:nvSpPr>
          <p:cNvPr id="6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Ten families you'll meet in the wild. For each: what it stores, what it's for, key products, and the security gotcha.</a:t>
            </a:r>
            <a:endParaRPr lang="en-US" sz="2000" b="0" u="none" strike="noStrike">
              <a:solidFill>
                <a:srgbClr val="000000"/>
              </a:solidFill>
              <a:effectLst/>
              <a:uFillTx/>
              <a:latin typeface="Arial"/>
            </a:endParaRPr>
          </a:p>
        </p:txBody>
      </p:sp>
      <p:sp>
        <p:nvSpPr>
          <p:cNvPr id="695"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B219C9-ED69-4663-B568-C458999B688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1143000" y="685800"/>
            <a:ext cx="4571640" cy="3428640"/>
          </a:xfrm>
          <a:prstGeom prst="rect">
            <a:avLst/>
          </a:prstGeom>
          <a:ln w="0">
            <a:noFill/>
          </a:ln>
        </p:spPr>
      </p:sp>
      <p:sp>
        <p:nvSpPr>
          <p:cNvPr id="6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 Relational / SQL. Products include PostgreSQL  •  MySQL/MariaDB  •  SQL Server  •  Oracle. Clear relationships, consistency required — finance, regulated data. Security gotcha: SQL injection when developers concatenate user input into queries.</a:t>
            </a:r>
            <a:endParaRPr lang="en-US" sz="2000" b="0" u="none" strike="noStrike">
              <a:solidFill>
                <a:srgbClr val="000000"/>
              </a:solidFill>
              <a:effectLst/>
              <a:uFillTx/>
              <a:latin typeface="Arial"/>
            </a:endParaRPr>
          </a:p>
        </p:txBody>
      </p:sp>
      <p:sp>
        <p:nvSpPr>
          <p:cNvPr id="698"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47FC2-2234-49D1-B8B2-6A98C648062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1143000" y="685800"/>
            <a:ext cx="4571640" cy="3428640"/>
          </a:xfrm>
          <a:prstGeom prst="rect">
            <a:avLst/>
          </a:prstGeom>
          <a:ln w="0">
            <a:noFill/>
          </a:ln>
        </p:spPr>
      </p:sp>
      <p:sp>
        <p:nvSpPr>
          <p:cNvPr id="7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2: Document Stores. Products include MongoDB  •  Couchbase  •  Firestore. Naturally nested data; the shape changes over time. Security gotcha: NoSQL injection via query operators ($ne, $gt, $where). Default no-auth.</a:t>
            </a:r>
            <a:endParaRPr lang="en-US" sz="2000" b="0" u="none" strike="noStrike">
              <a:solidFill>
                <a:srgbClr val="000000"/>
              </a:solidFill>
              <a:effectLst/>
              <a:uFillTx/>
              <a:latin typeface="Arial"/>
            </a:endParaRPr>
          </a:p>
        </p:txBody>
      </p:sp>
      <p:sp>
        <p:nvSpPr>
          <p:cNvPr id="701"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722488-A93E-41A1-8FBC-E82B81520A8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1143000" y="685800"/>
            <a:ext cx="4571640" cy="3428640"/>
          </a:xfrm>
          <a:prstGeom prst="rect">
            <a:avLst/>
          </a:prstGeom>
          <a:ln w="0">
            <a:noFill/>
          </a:ln>
        </p:spPr>
      </p:sp>
      <p:sp>
        <p:nvSpPr>
          <p:cNvPr id="7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3: Key-Value Stores. Products include Redis  •  Memcached  •  DynamoDB. Caches, session stores, rate limiters, leaderboards. Security gotcha: Default no-auth Redis + CONFIG SET → writing SSH keys to disk.</a:t>
            </a:r>
            <a:endParaRPr lang="en-US" sz="2000" b="0" u="none" strike="noStrike">
              <a:solidFill>
                <a:srgbClr val="000000"/>
              </a:solidFill>
              <a:effectLst/>
              <a:uFillTx/>
              <a:latin typeface="Arial"/>
            </a:endParaRPr>
          </a:p>
        </p:txBody>
      </p:sp>
      <p:sp>
        <p:nvSpPr>
          <p:cNvPr id="704"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A296E8-F0D1-499F-9EDD-8D848FA8A7C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1143000" y="685800"/>
            <a:ext cx="4571640" cy="3428640"/>
          </a:xfrm>
          <a:prstGeom prst="rect">
            <a:avLst/>
          </a:prstGeom>
          <a:ln w="0">
            <a:noFill/>
          </a:ln>
        </p:spPr>
      </p:sp>
      <p:sp>
        <p:nvSpPr>
          <p:cNvPr id="7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4: Column-Family. Products include Apache Cassandra  •  HBase  •  ScyllaDB. Massive scale across many machines; no complex joins needed. Security gotcha: Clusters trust each other on gossip ports — mgmt network = root.</a:t>
            </a:r>
            <a:endParaRPr lang="en-US" sz="2000" b="0" u="none" strike="noStrike">
              <a:solidFill>
                <a:srgbClr val="000000"/>
              </a:solidFill>
              <a:effectLst/>
              <a:uFillTx/>
              <a:latin typeface="Arial"/>
            </a:endParaRPr>
          </a:p>
        </p:txBody>
      </p:sp>
      <p:sp>
        <p:nvSpPr>
          <p:cNvPr id="707"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7A863D0-B30E-4FEC-9A1D-B82090AD8A4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1143000" y="685800"/>
            <a:ext cx="4571640" cy="3428640"/>
          </a:xfrm>
          <a:prstGeom prst="rect">
            <a:avLst/>
          </a:prstGeom>
          <a:ln w="0">
            <a:noFill/>
          </a:ln>
        </p:spPr>
      </p:sp>
      <p:sp>
        <p:nvSpPr>
          <p:cNvPr id="7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5: Graph Databases. Products include Neo4j  •  Amazon Neptune  •  ArangoDB. Social networks, fraud detection, IAM analysis (e.g. BloodHound). Security gotcha: Query languages like Cypher are injectable too. NoSQLi isn't just Mongo.</a:t>
            </a:r>
            <a:endParaRPr lang="en-US" sz="2000" b="0" u="none" strike="noStrike">
              <a:solidFill>
                <a:srgbClr val="000000"/>
              </a:solidFill>
              <a:effectLst/>
              <a:uFillTx/>
              <a:latin typeface="Arial"/>
            </a:endParaRPr>
          </a:p>
        </p:txBody>
      </p:sp>
      <p:sp>
        <p:nvSpPr>
          <p:cNvPr id="710"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AECD6E-E4FB-4F3A-B4B8-D918A888D73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1143000" y="685800"/>
            <a:ext cx="4571640" cy="3428640"/>
          </a:xfrm>
          <a:prstGeom prst="rect">
            <a:avLst/>
          </a:prstGeom>
          <a:ln w="0">
            <a:noFill/>
          </a:ln>
        </p:spPr>
      </p:sp>
      <p:sp>
        <p:nvSpPr>
          <p:cNvPr id="71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6: Search Engines. Products include Elasticsearch  •  OpenSearch  •  Solr. Log search, SIEM backbones, e-commerce site search. Security gotcha: No built-in auth historically — billions of records exposed on Shodan.</a:t>
            </a:r>
            <a:endParaRPr lang="en-US" sz="2000" b="0" u="none" strike="noStrike">
              <a:solidFill>
                <a:srgbClr val="000000"/>
              </a:solidFill>
              <a:effectLst/>
              <a:uFillTx/>
              <a:latin typeface="Arial"/>
            </a:endParaRPr>
          </a:p>
        </p:txBody>
      </p:sp>
      <p:sp>
        <p:nvSpPr>
          <p:cNvPr id="713"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65A6C1-FC86-46A8-B12C-80D3769A1EA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1143000" y="685800"/>
            <a:ext cx="4571640" cy="3428640"/>
          </a:xfrm>
          <a:prstGeom prst="rect">
            <a:avLst/>
          </a:prstGeom>
          <a:ln w="0">
            <a:noFill/>
          </a:ln>
        </p:spPr>
      </p:sp>
      <p:sp>
        <p:nvSpPr>
          <p:cNvPr id="71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7: Time-Series. Products include InfluxDB  •  TimescaleDB  •  Prometheus. Metrics, observability, IoT telemetry. Security gotcha: Usually inside the perimeter, often unauthenticated.</a:t>
            </a:r>
            <a:endParaRPr lang="en-US" sz="2000" b="0" u="none" strike="noStrike">
              <a:solidFill>
                <a:srgbClr val="000000"/>
              </a:solidFill>
              <a:effectLst/>
              <a:uFillTx/>
              <a:latin typeface="Arial"/>
            </a:endParaRPr>
          </a:p>
        </p:txBody>
      </p:sp>
      <p:sp>
        <p:nvSpPr>
          <p:cNvPr id="716"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4500C33-800C-43BF-A9C0-CDCEEC11A37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1143000" y="685800"/>
            <a:ext cx="4571640" cy="3428640"/>
          </a:xfrm>
          <a:prstGeom prst="rect">
            <a:avLst/>
          </a:prstGeom>
          <a:ln w="0">
            <a:noFill/>
          </a:ln>
        </p:spPr>
      </p:sp>
      <p:sp>
        <p:nvSpPr>
          <p:cNvPr id="71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8: Vector Databases. Products include Pinecone  •  Milvus  •  Weaviate  •  pgvector. RAG, recommendation engines, semantic search. Security gotcha: Data poisoning — sneak in a doc, the LLM quotes it as truth.</a:t>
            </a:r>
            <a:endParaRPr lang="en-US" sz="2000" b="0" u="none" strike="noStrike">
              <a:solidFill>
                <a:srgbClr val="000000"/>
              </a:solidFill>
              <a:effectLst/>
              <a:uFillTx/>
              <a:latin typeface="Arial"/>
            </a:endParaRPr>
          </a:p>
        </p:txBody>
      </p:sp>
      <p:sp>
        <p:nvSpPr>
          <p:cNvPr id="719"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7CBBC2-49BC-4CE4-9F20-2C89647A441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1143000" y="685800"/>
            <a:ext cx="4571640" cy="3428640"/>
          </a:xfrm>
          <a:prstGeom prst="rect">
            <a:avLst/>
          </a:prstGeom>
          <a:ln w="0">
            <a:noFill/>
          </a:ln>
        </p:spPr>
      </p:sp>
      <p:sp>
        <p:nvSpPr>
          <p:cNvPr id="72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9: Embedded / Edge. Products include SQLite  •  DuckDB  •  LevelDB. In-app storage — browsers, phones, every modern airplane. Security gotcha: DB is a file — attack is 'steal the file'. Mobile pentest world.</a:t>
            </a:r>
            <a:endParaRPr lang="en-US" sz="2000" b="0" u="none" strike="noStrike">
              <a:solidFill>
                <a:srgbClr val="000000"/>
              </a:solidFill>
              <a:effectLst/>
              <a:uFillTx/>
              <a:latin typeface="Arial"/>
            </a:endParaRPr>
          </a:p>
        </p:txBody>
      </p:sp>
      <p:sp>
        <p:nvSpPr>
          <p:cNvPr id="722"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C818390-E5FA-4DE9-8805-1540285BAD5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1143000" y="685800"/>
            <a:ext cx="4571640" cy="3428640"/>
          </a:xfrm>
          <a:prstGeom prst="rect">
            <a:avLst/>
          </a:prstGeom>
          <a:ln w="0">
            <a:noFill/>
          </a:ln>
        </p:spPr>
      </p:sp>
      <p:sp>
        <p:nvSpPr>
          <p:cNvPr id="72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10: Data Lakes / Lakehouses. Products include S3 + Athena  •  Delta Lake  •  Iceberg  •  Snowflake. Schema-on-read instead of schema-on-write. Dump now, query later. Security gotcha: Giant S3 pools + permissive IAM, no encryption-at-rest enforcement.</a:t>
            </a:r>
            <a:endParaRPr lang="en-US" sz="2000" b="0" u="none" strike="noStrike">
              <a:solidFill>
                <a:srgbClr val="000000"/>
              </a:solidFill>
              <a:effectLst/>
              <a:uFillTx/>
              <a:latin typeface="Arial"/>
            </a:endParaRPr>
          </a:p>
        </p:txBody>
      </p:sp>
      <p:sp>
        <p:nvSpPr>
          <p:cNvPr id="725"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2482BD9-25C3-445B-A76A-5B58C179018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1143000" y="685800"/>
            <a:ext cx="4571640" cy="3428640"/>
          </a:xfrm>
          <a:prstGeom prst="rect">
            <a:avLst/>
          </a:prstGeom>
          <a:ln w="0">
            <a:noFill/>
          </a:ln>
        </p:spPr>
      </p:sp>
      <p:sp>
        <p:nvSpPr>
          <p:cNvPr id="72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Know the cloud vendor names — that's how databases appear in alerts, IAM policies, and incident response. AWS RDS/Aurora, GCP Cloud SQL, Azure SQL. Document side: DynamoDB, Firestore, Cosmos DB.</a:t>
            </a:r>
            <a:endParaRPr lang="en-US" sz="2000" b="0" u="none" strike="noStrike">
              <a:solidFill>
                <a:srgbClr val="000000"/>
              </a:solidFill>
              <a:effectLst/>
              <a:uFillTx/>
              <a:latin typeface="Arial"/>
            </a:endParaRPr>
          </a:p>
        </p:txBody>
      </p:sp>
      <p:sp>
        <p:nvSpPr>
          <p:cNvPr id="728"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51E937-AB40-4E5E-BC61-E8434BCF803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1143000" y="685800"/>
            <a:ext cx="4571640" cy="3428640"/>
          </a:xfrm>
          <a:prstGeom prst="rect">
            <a:avLst/>
          </a:prstGeom>
          <a:ln w="0">
            <a:noFill/>
          </a:ln>
        </p:spPr>
      </p:sp>
      <p:sp>
        <p:nvSpPr>
          <p:cNvPr id="73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Side-by-side table. Memorize the row labels — those are the categories. The vendor columns rotate with the market.</a:t>
            </a:r>
            <a:endParaRPr lang="en-US" sz="2000" b="0" u="none" strike="noStrike">
              <a:solidFill>
                <a:srgbClr val="000000"/>
              </a:solidFill>
              <a:effectLst/>
              <a:uFillTx/>
              <a:latin typeface="Arial"/>
            </a:endParaRPr>
          </a:p>
        </p:txBody>
      </p:sp>
      <p:sp>
        <p:nvSpPr>
          <p:cNvPr id="731"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14DDBB-53E0-469E-B433-5D45616EC05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1143000" y="685800"/>
            <a:ext cx="4571640" cy="3428640"/>
          </a:xfrm>
          <a:prstGeom prst="rect">
            <a:avLst/>
          </a:prstGeom>
          <a:ln w="0">
            <a:noFill/>
          </a:ln>
        </p:spPr>
      </p:sp>
      <p:sp>
        <p:nvSpPr>
          <p:cNvPr id="73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vendor patches hypervisor and engine. You own config, IAM, and the data. Almost every cloud DB breach is a customer-side misconfiguration — public S3, wide security group, snapshot shared to wrong account.</a:t>
            </a:r>
            <a:endParaRPr lang="en-US" sz="2000" b="0" u="none" strike="noStrike">
              <a:solidFill>
                <a:srgbClr val="000000"/>
              </a:solidFill>
              <a:effectLst/>
              <a:uFillTx/>
              <a:latin typeface="Arial"/>
            </a:endParaRPr>
          </a:p>
        </p:txBody>
      </p:sp>
      <p:sp>
        <p:nvSpPr>
          <p:cNvPr id="734"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78ED2F-D546-4142-950D-3EC2423A67D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1143000" y="685800"/>
            <a:ext cx="4571640" cy="3428640"/>
          </a:xfrm>
          <a:prstGeom prst="rect">
            <a:avLst/>
          </a:prstGeom>
          <a:ln w="0">
            <a:noFill/>
          </a:ln>
        </p:spPr>
      </p:sp>
      <p:sp>
        <p:nvSpPr>
          <p:cNvPr id="73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SOC analysts use these every day. Pentesters scan for them every day. If you see any of these exposed to the internet in a real environment, that's a finding.</a:t>
            </a:r>
            <a:endParaRPr lang="en-US" sz="2000" b="0" u="none" strike="noStrike">
              <a:solidFill>
                <a:srgbClr val="000000"/>
              </a:solidFill>
              <a:effectLst/>
              <a:uFillTx/>
              <a:latin typeface="Arial"/>
            </a:endParaRPr>
          </a:p>
        </p:txBody>
      </p:sp>
      <p:sp>
        <p:nvSpPr>
          <p:cNvPr id="737"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5702B6-EEA3-480B-92CD-409423D7B15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1143000" y="685800"/>
            <a:ext cx="4571640" cy="3428640"/>
          </a:xfrm>
          <a:prstGeom prst="rect">
            <a:avLst/>
          </a:prstGeom>
          <a:ln w="0">
            <a:noFill/>
          </a:ln>
        </p:spPr>
      </p:sp>
      <p:sp>
        <p:nvSpPr>
          <p:cNvPr id="7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Markdown files are a database now — literally. Folder of .md files → embedder → vector DB → LLM prompt. This pattern is called RAG.</a:t>
            </a:r>
            <a:endParaRPr lang="en-US" sz="2000" b="0" u="none" strike="noStrike">
              <a:solidFill>
                <a:srgbClr val="000000"/>
              </a:solidFill>
              <a:effectLst/>
              <a:uFillTx/>
              <a:latin typeface="Arial"/>
            </a:endParaRPr>
          </a:p>
        </p:txBody>
      </p:sp>
      <p:sp>
        <p:nvSpPr>
          <p:cNvPr id="740"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09F91F-7AF8-429D-8850-C5E25E78AF2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1143000" y="685800"/>
            <a:ext cx="4571640" cy="3428640"/>
          </a:xfrm>
          <a:prstGeom prst="rect">
            <a:avLst/>
          </a:prstGeom>
          <a:ln w="0">
            <a:noFill/>
          </a:ln>
        </p:spPr>
      </p:sp>
      <p:sp>
        <p:nvSpPr>
          <p:cNvPr id="74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Trust boundary is between whoever writes markdown and the embedder. Anyone who can edit those files can plant content the LLM will quote.</a:t>
            </a:r>
            <a:endParaRPr lang="en-US" sz="2000" b="0" u="none" strike="noStrike">
              <a:solidFill>
                <a:srgbClr val="000000"/>
              </a:solidFill>
              <a:effectLst/>
              <a:uFillTx/>
              <a:latin typeface="Arial"/>
            </a:endParaRPr>
          </a:p>
        </p:txBody>
      </p:sp>
      <p:sp>
        <p:nvSpPr>
          <p:cNvPr id="743"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BBC146-01C7-4455-8D7A-6D9B6423C13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1143000" y="685800"/>
            <a:ext cx="4571640" cy="3428640"/>
          </a:xfrm>
          <a:prstGeom prst="rect">
            <a:avLst/>
          </a:prstGeom>
          <a:ln w="0">
            <a:noFill/>
          </a:ln>
        </p:spPr>
      </p:sp>
      <p:sp>
        <p:nvSpPr>
          <p:cNvPr id="74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If your org is doing any kind of internal AI assistant, the markdown files feeding it are infrastructure. Treat them like infrastructure.</a:t>
            </a:r>
            <a:endParaRPr lang="en-US" sz="2000" b="0" u="none" strike="noStrike">
              <a:solidFill>
                <a:srgbClr val="000000"/>
              </a:solidFill>
              <a:effectLst/>
              <a:uFillTx/>
              <a:latin typeface="Arial"/>
            </a:endParaRPr>
          </a:p>
        </p:txBody>
      </p:sp>
      <p:sp>
        <p:nvSpPr>
          <p:cNvPr id="746"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99AB81-F463-4ECE-BADF-3EC60FDF437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1143000" y="685800"/>
            <a:ext cx="4571640" cy="3428640"/>
          </a:xfrm>
          <a:prstGeom prst="rect">
            <a:avLst/>
          </a:prstGeom>
          <a:ln w="0">
            <a:noFill/>
          </a:ln>
        </p:spPr>
      </p:sp>
      <p:sp>
        <p:nvSpPr>
          <p:cNvPr id="74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Section divider: SECURITY — What's actually getting hit in 2026</a:t>
            </a:r>
            <a:endParaRPr lang="en-US" sz="2000" b="0" u="none" strike="noStrike">
              <a:solidFill>
                <a:srgbClr val="000000"/>
              </a:solidFill>
              <a:effectLst/>
              <a:uFillTx/>
              <a:latin typeface="Arial"/>
            </a:endParaRPr>
          </a:p>
        </p:txBody>
      </p:sp>
      <p:sp>
        <p:nvSpPr>
          <p:cNvPr id="749"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BCBBF95-5D12-476F-9F77-4EC9F8DC0B4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1143000" y="685800"/>
            <a:ext cx="4571640" cy="3428640"/>
          </a:xfrm>
          <a:prstGeom prst="rect">
            <a:avLst/>
          </a:prstGeom>
          <a:ln w="0">
            <a:noFill/>
          </a:ln>
        </p:spPr>
      </p:sp>
      <p:sp>
        <p:nvSpPr>
          <p:cNvPr id="75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most famous database attack of all time. xkcd #327. Mom names her kid Robert'); DROP TABLE Students;-- and the school's database disappears because someone built a query by gluing strings. Fix is parameterized queries.</a:t>
            </a:r>
            <a:endParaRPr lang="en-US" sz="2000" b="0" u="none" strike="noStrike">
              <a:solidFill>
                <a:srgbClr val="000000"/>
              </a:solidFill>
              <a:effectLst/>
              <a:uFillTx/>
              <a:latin typeface="Arial"/>
            </a:endParaRPr>
          </a:p>
        </p:txBody>
      </p:sp>
      <p:sp>
        <p:nvSpPr>
          <p:cNvPr id="752"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F060F0-AA9B-4352-A15A-0DD56FCDB42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1143000" y="685800"/>
            <a:ext cx="4571640" cy="3428640"/>
          </a:xfrm>
          <a:prstGeom prst="rect">
            <a:avLst/>
          </a:prstGeom>
          <a:ln w="0">
            <a:noFill/>
          </a:ln>
        </p:spPr>
      </p:sp>
      <p:sp>
        <p:nvSpPr>
          <p:cNvPr id="75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SQL injection is a success story — parameterized queries fixed it. But the attack surface didn't shrink, it expanded into new shapes.</a:t>
            </a:r>
            <a:endParaRPr lang="en-US" sz="2000" b="0" u="none" strike="noStrike">
              <a:solidFill>
                <a:srgbClr val="000000"/>
              </a:solidFill>
              <a:effectLst/>
              <a:uFillTx/>
              <a:latin typeface="Arial"/>
            </a:endParaRPr>
          </a:p>
        </p:txBody>
      </p:sp>
      <p:sp>
        <p:nvSpPr>
          <p:cNvPr id="755"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F2106A-BDF7-46A1-8E10-09CAA59042B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1143000" y="685800"/>
            <a:ext cx="4571640" cy="3428640"/>
          </a:xfrm>
          <a:prstGeom prst="rect">
            <a:avLst/>
          </a:prstGeom>
          <a:ln w="0">
            <a:noFill/>
          </a:ln>
        </p:spPr>
      </p:sp>
      <p:sp>
        <p:nvSpPr>
          <p:cNvPr id="75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NoSQL Injection. MongoDB JSON queries + raw user input = SQLi reborn.  Login bypass: { username: 'alice', password: { $ne: 'x' } }  $where lets you inject JavaScript straight into the DB.  Couchbase N1QL is SQL-flavored — classic SQLi patterns apply.  Principle: ANY interpreter can be injected, not just SQL.</a:t>
            </a:r>
            <a:endParaRPr lang="en-US" sz="2000" b="0" u="none" strike="noStrike">
              <a:solidFill>
                <a:srgbClr val="000000"/>
              </a:solidFill>
              <a:effectLst/>
              <a:uFillTx/>
              <a:latin typeface="Arial"/>
            </a:endParaRPr>
          </a:p>
        </p:txBody>
      </p:sp>
      <p:sp>
        <p:nvSpPr>
          <p:cNvPr id="758"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413CF6D-E3CC-4C91-BB61-857F039D5C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1143000" y="685800"/>
            <a:ext cx="4571640" cy="3428640"/>
          </a:xfrm>
          <a:prstGeom prst="rect">
            <a:avLst/>
          </a:prstGeom>
          <a:ln w="0">
            <a:noFill/>
          </a:ln>
        </p:spPr>
      </p:sp>
      <p:sp>
        <p:nvSpPr>
          <p:cNvPr id="76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Exposed &amp; Misconfigured Databases. Shodan and Censys are full of databases that should not be there.  MongoDB bound to 0.0.0.0 with no auth.  Elasticsearch clusters wide open. Redis with no password.  Postgres pg_hba.conf set to 'host all all 0.0.0.0/0 trust'.  Meow attacks (2020): bots wiped thousands of open DBs for fun.</a:t>
            </a:r>
            <a:endParaRPr lang="en-US" sz="2000" b="0" u="none" strike="noStrike">
              <a:solidFill>
                <a:srgbClr val="000000"/>
              </a:solidFill>
              <a:effectLst/>
              <a:uFillTx/>
              <a:latin typeface="Arial"/>
            </a:endParaRPr>
          </a:p>
        </p:txBody>
      </p:sp>
      <p:sp>
        <p:nvSpPr>
          <p:cNvPr id="761"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14A9EA-BC2F-44A5-A1B7-D0C477DE50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1143000" y="685800"/>
            <a:ext cx="4571640" cy="3428640"/>
          </a:xfrm>
          <a:prstGeom prst="rect">
            <a:avLst/>
          </a:prstGeom>
          <a:ln w="0">
            <a:noFill/>
          </a:ln>
        </p:spPr>
      </p:sp>
      <p:sp>
        <p:nvSpPr>
          <p:cNvPr id="76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Misconfigurations. In cloud, the bug is rarely the engine. It's the policy around it.  Public S3 buckets full of DB dumps (Accenture, Verizon, etc.).  Capital One 2019: SSRF tricked a WAF into leaking its IAM creds → S3.  Lambda with s3:* on * because it 'worked the first time'.  Security groups: 0.0.0.0/0 on port 5432.</a:t>
            </a:r>
            <a:endParaRPr lang="en-US" sz="2000" b="0" u="none" strike="noStrike">
              <a:solidFill>
                <a:srgbClr val="000000"/>
              </a:solidFill>
              <a:effectLst/>
              <a:uFillTx/>
              <a:latin typeface="Arial"/>
            </a:endParaRPr>
          </a:p>
        </p:txBody>
      </p:sp>
      <p:sp>
        <p:nvSpPr>
          <p:cNvPr id="764" name="PlaceHolder 3"/>
          <p:cNvSpPr>
            <a:spLocks noGrp="1"/>
          </p:cNvSpPr>
          <p:nvPr>
            <p:ph type="sldNum" idx="6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CBB130-6887-4D3E-91E0-9561BD97F97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1143000" y="685800"/>
            <a:ext cx="4571640" cy="3428640"/>
          </a:xfrm>
          <a:prstGeom prst="rect">
            <a:avLst/>
          </a:prstGeom>
          <a:ln w="0">
            <a:noFill/>
          </a:ln>
        </p:spPr>
      </p:sp>
      <p:sp>
        <p:nvSpPr>
          <p:cNvPr id="76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Privilege Escalation: DB → OS. Database accounts can become shell access. Three classic moves.  MS SQL: xp_cmdshell — runs shell commands as the DB process.  PostgreSQL: COPY ... TO PROGRAM — pipes output to a shell.  MySQL: load a UDF .so file → sys_exec on the OS.  Pattern: every privileged DB feature is part of the attack surface.</a:t>
            </a:r>
            <a:endParaRPr lang="en-US" sz="2000" b="0" u="none" strike="noStrike">
              <a:solidFill>
                <a:srgbClr val="000000"/>
              </a:solidFill>
              <a:effectLst/>
              <a:uFillTx/>
              <a:latin typeface="Arial"/>
            </a:endParaRPr>
          </a:p>
        </p:txBody>
      </p:sp>
      <p:sp>
        <p:nvSpPr>
          <p:cNvPr id="767" name="PlaceHolder 3"/>
          <p:cNvSpPr>
            <a:spLocks noGrp="1"/>
          </p:cNvSpPr>
          <p:nvPr>
            <p:ph type="sldNum" idx="6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D053435-AB42-4381-A58A-2176026FB65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1143000" y="685800"/>
            <a:ext cx="4571640" cy="3428640"/>
          </a:xfrm>
          <a:prstGeom prst="rect">
            <a:avLst/>
          </a:prstGeom>
          <a:ln w="0">
            <a:noFill/>
          </a:ln>
        </p:spPr>
      </p:sp>
      <p:sp>
        <p:nvSpPr>
          <p:cNvPr id="76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Data Lake Security Gaps. Everything ends up in S3 — including things you didn't mean to put there.  Permissive IAM leaks from compute roles to humans.  No encryption-at-rest enforcement on bucket keys.  No write-side validation — anyone can drop poisoned data.  First question: WHO can write to the lake? WHO can read?</a:t>
            </a:r>
            <a:endParaRPr lang="en-US" sz="2000" b="0" u="none" strike="noStrike">
              <a:solidFill>
                <a:srgbClr val="000000"/>
              </a:solidFill>
              <a:effectLst/>
              <a:uFillTx/>
              <a:latin typeface="Arial"/>
            </a:endParaRPr>
          </a:p>
        </p:txBody>
      </p:sp>
      <p:sp>
        <p:nvSpPr>
          <p:cNvPr id="770" name="PlaceHolder 3"/>
          <p:cNvSpPr>
            <a:spLocks noGrp="1"/>
          </p:cNvSpPr>
          <p:nvPr>
            <p:ph type="sldNum" idx="6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C1B3C1-4D54-435F-911C-D4ABC6AE5B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1143000" y="685800"/>
            <a:ext cx="4571640" cy="3428640"/>
          </a:xfrm>
          <a:prstGeom prst="rect">
            <a:avLst/>
          </a:prstGeom>
          <a:ln w="0">
            <a:noFill/>
          </a:ln>
        </p:spPr>
      </p:sp>
      <p:sp>
        <p:nvSpPr>
          <p:cNvPr id="77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Ransomware Loves Databases. The DB is the thing the business needs back — maximum leverage.  Encrypt the live database.  Encrypt the BACKUPS (otherwise customer just restores).  Exfil a copy first — extort with disclosure even if they restore.  Defense: offline, immutable backups + tested restores.</a:t>
            </a:r>
            <a:endParaRPr lang="en-US" sz="2000" b="0" u="none" strike="noStrike">
              <a:solidFill>
                <a:srgbClr val="000000"/>
              </a:solidFill>
              <a:effectLst/>
              <a:uFillTx/>
              <a:latin typeface="Arial"/>
            </a:endParaRPr>
          </a:p>
        </p:txBody>
      </p:sp>
      <p:sp>
        <p:nvSpPr>
          <p:cNvPr id="773" name="PlaceHolder 3"/>
          <p:cNvSpPr>
            <a:spLocks noGrp="1"/>
          </p:cNvSpPr>
          <p:nvPr>
            <p:ph type="sldNum" idx="7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FE2354-ED73-459D-BC3D-9F3FC30FDD8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1143000" y="685800"/>
            <a:ext cx="4571640" cy="3428640"/>
          </a:xfrm>
          <a:prstGeom prst="rect">
            <a:avLst/>
          </a:prstGeom>
          <a:ln w="0">
            <a:noFill/>
          </a:ln>
        </p:spPr>
      </p:sp>
      <p:sp>
        <p:nvSpPr>
          <p:cNvPr id="77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Credential Attacks. Default creds and leaked connection strings — two old, durable bugs.  Redis: no password by default for years.  Elastic: no auth in the free tier — also for years.  Connection strings (postgres://user:pass@host) committed to Git.  Pre-commit secret scanning — fix this week.</a:t>
            </a:r>
            <a:endParaRPr lang="en-US" sz="2000" b="0" u="none" strike="noStrike">
              <a:solidFill>
                <a:srgbClr val="000000"/>
              </a:solidFill>
              <a:effectLst/>
              <a:uFillTx/>
              <a:latin typeface="Arial"/>
            </a:endParaRPr>
          </a:p>
        </p:txBody>
      </p:sp>
      <p:sp>
        <p:nvSpPr>
          <p:cNvPr id="776" name="PlaceHolder 3"/>
          <p:cNvSpPr>
            <a:spLocks noGrp="1"/>
          </p:cNvSpPr>
          <p:nvPr>
            <p:ph type="sldNum" idx="7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B317AD9-5830-4F78-839E-A4E2738C77F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1143000" y="685800"/>
            <a:ext cx="4571640" cy="3428640"/>
          </a:xfrm>
          <a:prstGeom prst="rect">
            <a:avLst/>
          </a:prstGeom>
          <a:ln w="0">
            <a:noFill/>
          </a:ln>
        </p:spPr>
      </p:sp>
      <p:sp>
        <p:nvSpPr>
          <p:cNvPr id="7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Supply Chain — The DB Libraries You Trust. Your DB driver came from npm/PyPI/Maven. So did everyone else's.  Malicious npm packages posing as ORMs / drivers.  Trojanized Docker Hub images for popular databases.  Compromised PostgreSQL extensions / MySQL plugins.  Extensions run with DB privileges — usually a lot.</a:t>
            </a:r>
            <a:endParaRPr lang="en-US" sz="2000" b="0" u="none" strike="noStrike">
              <a:solidFill>
                <a:srgbClr val="000000"/>
              </a:solidFill>
              <a:effectLst/>
              <a:uFillTx/>
              <a:latin typeface="Arial"/>
            </a:endParaRPr>
          </a:p>
        </p:txBody>
      </p:sp>
      <p:sp>
        <p:nvSpPr>
          <p:cNvPr id="779" name="PlaceHolder 3"/>
          <p:cNvSpPr>
            <a:spLocks noGrp="1"/>
          </p:cNvSpPr>
          <p:nvPr>
            <p:ph type="sldNum" idx="7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FD9980-AF43-4E65-B484-98B1E2AD727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1143000" y="685800"/>
            <a:ext cx="4571640" cy="3428640"/>
          </a:xfrm>
          <a:prstGeom prst="rect">
            <a:avLst/>
          </a:prstGeom>
          <a:ln w="0">
            <a:noFill/>
          </a:ln>
        </p:spPr>
      </p:sp>
      <p:sp>
        <p:nvSpPr>
          <p:cNvPr id="7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RAG / LLM Data Poisoning. Stored XSS for the AI era. Write into the knowledge base → LLM quotes it.  Poisoned support article: 'To reset, send your password to...'  Poisoned internal doc: 'Company policy is to wire transfer to...'  Prompt injection embedded in retrieved documents.  Defense: strict write ACLs, provenance tags, human-in-the-loop.</a:t>
            </a:r>
            <a:endParaRPr lang="en-US" sz="2000" b="0" u="none" strike="noStrike">
              <a:solidFill>
                <a:srgbClr val="000000"/>
              </a:solidFill>
              <a:effectLst/>
              <a:uFillTx/>
              <a:latin typeface="Arial"/>
            </a:endParaRPr>
          </a:p>
        </p:txBody>
      </p:sp>
      <p:sp>
        <p:nvSpPr>
          <p:cNvPr id="782" name="PlaceHolder 3"/>
          <p:cNvSpPr>
            <a:spLocks noGrp="1"/>
          </p:cNvSpPr>
          <p:nvPr>
            <p:ph type="sldNum" idx="7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13E76A-4F00-4D84-A61A-5BDDF63D751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1143000" y="685800"/>
            <a:ext cx="4571640" cy="3428640"/>
          </a:xfrm>
          <a:prstGeom prst="rect">
            <a:avLst/>
          </a:prstGeom>
          <a:ln w="0">
            <a:noFill/>
          </a:ln>
        </p:spPr>
      </p:sp>
      <p:sp>
        <p:nvSpPr>
          <p:cNvPr id="7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Insider Threats &amp; DB-to-DB Lateral Movement. Databases aren't endpoints. They're nodes in a graph.  Over-permissioned service accounts. Engineers with prod read.  DBAs with no audit trail.  Oracle DB_LINK, SQL Server linked servers, Postgres FDW.  Stored credentials → compromise A, hop to B, hop to C.</a:t>
            </a:r>
            <a:endParaRPr lang="en-US" sz="2000" b="0" u="none" strike="noStrike">
              <a:solidFill>
                <a:srgbClr val="000000"/>
              </a:solidFill>
              <a:effectLst/>
              <a:uFillTx/>
              <a:latin typeface="Arial"/>
            </a:endParaRPr>
          </a:p>
        </p:txBody>
      </p:sp>
      <p:sp>
        <p:nvSpPr>
          <p:cNvPr id="785" name="PlaceHolder 3"/>
          <p:cNvSpPr>
            <a:spLocks noGrp="1"/>
          </p:cNvSpPr>
          <p:nvPr>
            <p:ph type="sldNum" idx="7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D5ACF6D-C176-4605-9956-196272BAC8D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1143000" y="685800"/>
            <a:ext cx="4571640" cy="3428640"/>
          </a:xfrm>
          <a:prstGeom prst="rect">
            <a:avLst/>
          </a:prstGeom>
          <a:ln w="0">
            <a:noFill/>
          </a:ln>
        </p:spPr>
      </p:sp>
      <p:sp>
        <p:nvSpPr>
          <p:cNvPr id="7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&amp; Snapshot Exposure. Same data as prod, half the love.  Unencrypted DB backups on shares readable by Domain Users.  Cloud snapshots shared cross-account, never un-shared.  Off-site backups to vendors whose posture you never checked.  Backups are last resort. Apply identify-authN-authZ-audit.</a:t>
            </a:r>
            <a:endParaRPr lang="en-US" sz="2000" b="0" u="none" strike="noStrike">
              <a:solidFill>
                <a:srgbClr val="000000"/>
              </a:solidFill>
              <a:effectLst/>
              <a:uFillTx/>
              <a:latin typeface="Arial"/>
            </a:endParaRPr>
          </a:p>
        </p:txBody>
      </p:sp>
      <p:sp>
        <p:nvSpPr>
          <p:cNvPr id="788" name="PlaceHolder 3"/>
          <p:cNvSpPr>
            <a:spLocks noGrp="1"/>
          </p:cNvSpPr>
          <p:nvPr>
            <p:ph type="sldNum" idx="7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D936D3-ADB3-4A6A-AB7C-E4D68629B4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1143000" y="685800"/>
            <a:ext cx="4571640" cy="3428640"/>
          </a:xfrm>
          <a:prstGeom prst="rect">
            <a:avLst/>
          </a:prstGeom>
          <a:ln w="0">
            <a:noFill/>
          </a:ln>
        </p:spPr>
      </p:sp>
      <p:sp>
        <p:nvSpPr>
          <p:cNvPr id="7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Recap. Database is storage + questions. Ten families. Cloud is shared responsibility. Markdown is a database for LLMs. SQLi got fixed but the surface expanded.</a:t>
            </a:r>
            <a:endParaRPr lang="en-US" sz="2000" b="0" u="none" strike="noStrike">
              <a:solidFill>
                <a:srgbClr val="000000"/>
              </a:solidFill>
              <a:effectLst/>
              <a:uFillTx/>
              <a:latin typeface="Arial"/>
            </a:endParaRPr>
          </a:p>
        </p:txBody>
      </p:sp>
      <p:sp>
        <p:nvSpPr>
          <p:cNvPr id="791" name="PlaceHolder 3"/>
          <p:cNvSpPr>
            <a:spLocks noGrp="1"/>
          </p:cNvSpPr>
          <p:nvPr>
            <p:ph type="sldNum" idx="7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B4DE6A-D90B-4591-B0D1-ADF241B22F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1143000" y="685800"/>
            <a:ext cx="4571640" cy="3428640"/>
          </a:xfrm>
          <a:prstGeom prst="rect">
            <a:avLst/>
          </a:prstGeom>
          <a:ln w="0">
            <a:noFill/>
          </a:ln>
        </p:spPr>
      </p:sp>
      <p:sp>
        <p:nvSpPr>
          <p:cNvPr id="7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Five concrete next-week actions. Install Postgres. PortSwigger labs. Browse Shodan legally. Read a breach report. List your org's DBs.</a:t>
            </a:r>
            <a:endParaRPr lang="en-US" sz="2000" b="0" u="none" strike="noStrike">
              <a:solidFill>
                <a:srgbClr val="000000"/>
              </a:solidFill>
              <a:effectLst/>
              <a:uFillTx/>
              <a:latin typeface="Arial"/>
            </a:endParaRPr>
          </a:p>
        </p:txBody>
      </p:sp>
      <p:sp>
        <p:nvSpPr>
          <p:cNvPr id="794" name="PlaceHolder 3"/>
          <p:cNvSpPr>
            <a:spLocks noGrp="1"/>
          </p:cNvSpPr>
          <p:nvPr>
            <p:ph type="sldNum" idx="7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A7A93D3-EDA2-4325-92C2-C804C842FBB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1143000" y="685800"/>
            <a:ext cx="4571640" cy="3428640"/>
          </a:xfrm>
          <a:prstGeom prst="rect">
            <a:avLst/>
          </a:prstGeom>
          <a:ln w="0">
            <a:noFill/>
          </a:ln>
        </p:spPr>
      </p:sp>
      <p:sp>
        <p:nvSpPr>
          <p:cNvPr id="7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PortSwigger for SQLi labs. SQLBolt for learning SQL. Use The Index, Luke for deep DB internals. DB-Engines for popularity rankings. OWASP Top 10 for the canonical web vuln list.</a:t>
            </a:r>
            <a:endParaRPr lang="en-US" sz="2000" b="0" u="none" strike="noStrike">
              <a:solidFill>
                <a:srgbClr val="000000"/>
              </a:solidFill>
              <a:effectLst/>
              <a:uFillTx/>
              <a:latin typeface="Arial"/>
            </a:endParaRPr>
          </a:p>
        </p:txBody>
      </p:sp>
      <p:sp>
        <p:nvSpPr>
          <p:cNvPr id="797" name="PlaceHolder 3"/>
          <p:cNvSpPr>
            <a:spLocks noGrp="1"/>
          </p:cNvSpPr>
          <p:nvPr>
            <p:ph type="sldNum" idx="7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0B38DE-DF95-42F1-98E6-6B22CD48F3F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1143000" y="685800"/>
            <a:ext cx="4571640" cy="3428640"/>
          </a:xfrm>
          <a:prstGeom prst="rect">
            <a:avLst/>
          </a:prstGeom>
          <a:ln w="0">
            <a:noFill/>
          </a:ln>
        </p:spPr>
      </p:sp>
      <p:sp>
        <p:nvSpPr>
          <p:cNvPr id="7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Closing. Willie Sutton said he robbed banks because that's where the money was. In 2026, the money is in databases.</a:t>
            </a:r>
            <a:endParaRPr lang="en-US" sz="2000" b="0" u="none" strike="noStrike">
              <a:solidFill>
                <a:srgbClr val="000000"/>
              </a:solidFill>
              <a:effectLst/>
              <a:uFillTx/>
              <a:latin typeface="Arial"/>
            </a:endParaRPr>
          </a:p>
        </p:txBody>
      </p:sp>
      <p:sp>
        <p:nvSpPr>
          <p:cNvPr id="800" name="PlaceHolder 3"/>
          <p:cNvSpPr>
            <a:spLocks noGrp="1"/>
          </p:cNvSpPr>
          <p:nvPr>
            <p:ph type="sldNum" idx="7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537C0A-B6AD-43BC-9712-4F7C5B98A24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1143000" y="685800"/>
            <a:ext cx="4571640" cy="3428640"/>
          </a:xfrm>
          <a:prstGeom prst="rect">
            <a:avLst/>
          </a:prstGeom>
          <a:ln w="0">
            <a:noFill/>
          </a:ln>
        </p:spPr>
      </p:sp>
      <p:sp>
        <p:nvSpPr>
          <p:cNvPr id="80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All books cited throughout the talk. Worth picking any of these up — they're the durable references.</a:t>
            </a:r>
            <a:endParaRPr lang="en-US" sz="2000" b="0" u="none" strike="noStrike">
              <a:solidFill>
                <a:srgbClr val="000000"/>
              </a:solidFill>
              <a:effectLst/>
              <a:uFillTx/>
              <a:latin typeface="Arial"/>
            </a:endParaRPr>
          </a:p>
        </p:txBody>
      </p:sp>
      <p:sp>
        <p:nvSpPr>
          <p:cNvPr id="803" name="PlaceHolder 3"/>
          <p:cNvSpPr>
            <a:spLocks noGrp="1"/>
          </p:cNvSpPr>
          <p:nvPr>
            <p:ph type="sldNum" idx="8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F3B69F-F765-4B16-A63E-7C87CA6FB7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1143000" y="685800"/>
            <a:ext cx="4571640" cy="3428640"/>
          </a:xfrm>
          <a:prstGeom prst="rect">
            <a:avLst/>
          </a:prstGeom>
          <a:ln w="0">
            <a:noFill/>
          </a:ln>
        </p:spPr>
      </p:sp>
      <p:sp>
        <p:nvSpPr>
          <p:cNvPr id="80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the floor for five minutes of questions.</a:t>
            </a:r>
            <a:endParaRPr lang="en-US" sz="2000" b="0" u="none" strike="noStrike">
              <a:solidFill>
                <a:srgbClr val="000000"/>
              </a:solidFill>
              <a:effectLst/>
              <a:uFillTx/>
              <a:latin typeface="Arial"/>
            </a:endParaRPr>
          </a:p>
        </p:txBody>
      </p:sp>
      <p:sp>
        <p:nvSpPr>
          <p:cNvPr id="806" name="PlaceHolder 3"/>
          <p:cNvSpPr>
            <a:spLocks noGrp="1"/>
          </p:cNvSpPr>
          <p:nvPr>
            <p:ph type="sldNum" idx="8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9EFEC3-B900-46E9-BB49-EC29641DEE9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457F1F4-BBD6-452C-8ADB-1AA8D707A4E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3152F58-772C-4B56-A91A-FF0DF293E66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1D5D44B-8F25-4232-A3AB-6DD794CB798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EA8692A-667E-4307-A8C8-4CB3F9B3B8D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037269C-A5F5-4C3C-96D3-E136C7AF3F1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84BFB3-9243-47D8-80C6-1ABFDC64E4A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3C5852-CA9B-46D5-8837-AFC5D07FDE1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48851FB-3E8F-4394-B220-DA477E3E93D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DB7C714-D336-47DC-880C-4337074E09A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F94C652-D21B-4E2A-8F57-28FEC59E44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E337B5A-8161-474B-983B-CB7F5964406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9.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7" name="TextBox 1" descr="Title slide: Databases for Hackers — A Ronin 48 stand-up talk." title="Title slide: Databases for Hackers — A Ronin 48 stand-up talk."/>
          <p:cNvSpPr/>
          <p:nvPr/>
        </p:nvSpPr>
        <p:spPr>
          <a:xfrm>
            <a:off x="457200" y="21031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데이터베이스</a:t>
            </a:r>
            <a:endParaRPr lang="en-US" sz="8400" b="0" u="none" strike="noStrike">
              <a:solidFill>
                <a:srgbClr val="FFFFFF"/>
              </a:solidFill>
              <a:effectLst/>
              <a:uFillTx/>
              <a:latin typeface="Arial"/>
            </a:endParaRPr>
          </a:p>
        </p:txBody>
      </p:sp>
      <p:sp>
        <p:nvSpPr>
          <p:cNvPr id="68" name="TextBox 2"/>
          <p:cNvSpPr/>
          <p:nvPr/>
        </p:nvSpPr>
        <p:spPr>
          <a:xfrm>
            <a:off x="457200" y="3108960"/>
            <a:ext cx="11246760" cy="10047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6000" b="1" u="none" strike="noStrike">
                <a:solidFill>
                  <a:srgbClr val="FFFFFF"/>
                </a:solidFill>
                <a:effectLst/>
                <a:uFillTx/>
                <a:latin typeface="Calibri"/>
              </a:rPr>
              <a:t>해커를 위한</a:t>
            </a:r>
            <a:endParaRPr lang="en-US" sz="6000" b="0" u="none" strike="noStrike">
              <a:solidFill>
                <a:srgbClr val="FFFFFF"/>
              </a:solidFill>
              <a:effectLst/>
              <a:uFillTx/>
              <a:latin typeface="Arial"/>
            </a:endParaRPr>
          </a:p>
        </p:txBody>
      </p:sp>
      <p:sp>
        <p:nvSpPr>
          <p:cNvPr id="69" name="Rectangle 3"/>
          <p:cNvSpPr/>
          <p:nvPr/>
        </p:nvSpPr>
        <p:spPr>
          <a:xfrm>
            <a:off x="5181840" y="4297680"/>
            <a:ext cx="18284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70" name="TextBox 4"/>
          <p:cNvSpPr/>
          <p:nvPr/>
        </p:nvSpPr>
        <p:spPr>
          <a:xfrm>
            <a:off x="457200" y="4480560"/>
            <a:ext cx="1124676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00D4FF"/>
                </a:solidFill>
                <a:effectLst/>
                <a:uFillTx/>
                <a:latin typeface="Calibri"/>
              </a:rPr>
              <a:t>CryptoJones의 독립 발표</a:t>
            </a:r>
            <a:endParaRPr lang="en-US" sz="3200" b="0" u="none" strike="noStrike">
              <a:solidFill>
                <a:srgbClr val="FFFFFF"/>
              </a:solidFill>
              <a:effectLst/>
              <a:uFillTx/>
              <a:latin typeface="Arial"/>
            </a:endParaRPr>
          </a:p>
        </p:txBody>
      </p:sp>
      <p:sp>
        <p:nvSpPr>
          <p:cNvPr id="71" name="TextBox 5"/>
          <p:cNvSpPr/>
          <p:nvPr/>
        </p:nvSpPr>
        <p:spPr>
          <a:xfrm>
            <a:off x="457200" y="5120640"/>
            <a:ext cx="11246760" cy="516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CCCCD6"/>
                </a:solidFill>
                <a:effectLst/>
                <a:uFillTx/>
                <a:latin typeface="Calibri"/>
                <a:ea typeface="Arial Unicode MS"/>
              </a:rPr>
              <a:t>45분</a:t>
            </a:r>
            <a:r>
              <a:rPr lang="en-US" sz="2800" b="1" u="none" strike="noStrike">
                <a:solidFill>
                  <a:srgbClr val="00FF41"/>
                </a:solidFill>
                <a:effectLst/>
                <a:uFillTx/>
                <a:latin typeface="Calibri"/>
                <a:ea typeface="Arial Unicode MS"/>
              </a:rPr>
              <a:t>*</a:t>
            </a:r>
            <a:r>
              <a:rPr lang="en-US" sz="2400" b="0" u="none" strike="noStrike">
                <a:solidFill>
                  <a:srgbClr val="CCCCD6"/>
                </a:solidFill>
                <a:effectLst/>
                <a:uFillTx/>
                <a:latin typeface="Calibri"/>
              </a:rPr>
              <a:t>  •  학위 필요 없음</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2" name="TextBox 1"/>
          <p:cNvSpPr/>
          <p:nvPr/>
        </p:nvSpPr>
        <p:spPr>
          <a:xfrm>
            <a:off x="-1143000" y="2057400"/>
            <a:ext cx="944532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Aaron K. Clark</a:t>
            </a:r>
            <a:endParaRPr lang="en-US" sz="5400" b="0" u="none" strike="noStrike">
              <a:solidFill>
                <a:srgbClr val="FFFFFF"/>
              </a:solidFill>
              <a:effectLst/>
              <a:uFillTx/>
              <a:latin typeface="Arial"/>
            </a:endParaRPr>
          </a:p>
        </p:txBody>
      </p:sp>
      <p:sp>
        <p:nvSpPr>
          <p:cNvPr id="73" name="TextBox 2"/>
          <p:cNvSpPr/>
          <p:nvPr/>
        </p:nvSpPr>
        <p:spPr>
          <a:xfrm>
            <a:off x="-758520" y="3018600"/>
            <a:ext cx="944532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대학원생, Eastern University*</a:t>
            </a:r>
            <a:endParaRPr lang="en-US" sz="3600" b="0" u="none" strike="noStrike">
              <a:solidFill>
                <a:srgbClr val="FFFFFF"/>
              </a:solidFill>
              <a:effectLst/>
              <a:uFillTx/>
              <a:latin typeface="Arial"/>
            </a:endParaRPr>
          </a:p>
        </p:txBody>
      </p:sp>
      <p:pic>
        <p:nvPicPr>
          <p:cNvPr id="74" name=""/>
          <p:cNvPicPr/>
          <p:nvPr/>
        </p:nvPicPr>
        <p:blipFill>
          <a:blip r:embed="rId1"/>
          <a:stretch/>
        </p:blipFill>
        <p:spPr>
          <a:xfrm>
            <a:off x="228600" y="6172200"/>
            <a:ext cx="457200" cy="457200"/>
          </a:xfrm>
          <a:prstGeom prst="rect">
            <a:avLst/>
          </a:prstGeom>
          <a:noFill/>
          <a:ln w="0">
            <a:noFill/>
          </a:ln>
        </p:spPr>
      </p:pic>
      <p:pic>
        <p:nvPicPr>
          <p:cNvPr id="75" name=""/>
          <p:cNvPicPr/>
          <p:nvPr/>
        </p:nvPicPr>
        <p:blipFill>
          <a:blip r:embed="rId2"/>
          <a:stretch/>
        </p:blipFill>
        <p:spPr>
          <a:xfrm>
            <a:off x="228600" y="228600"/>
            <a:ext cx="1371600" cy="1371600"/>
          </a:xfrm>
          <a:prstGeom prst="rect">
            <a:avLst/>
          </a:prstGeom>
          <a:noFill/>
          <a:ln w="0">
            <a:noFill/>
          </a:ln>
        </p:spPr>
      </p:pic>
      <p:pic>
        <p:nvPicPr>
          <p:cNvPr id="76" name=""/>
          <p:cNvPicPr/>
          <p:nvPr/>
        </p:nvPicPr>
        <p:blipFill>
          <a:blip r:embed="rId3"/>
          <a:stretch/>
        </p:blipFill>
        <p:spPr>
          <a:xfrm>
            <a:off x="9372600" y="228600"/>
            <a:ext cx="2514600" cy="914400"/>
          </a:xfrm>
          <a:prstGeom prst="rect">
            <a:avLst/>
          </a:prstGeom>
          <a:noFill/>
          <a:ln w="0">
            <a:noFill/>
          </a:ln>
        </p:spPr>
      </p:pic>
      <p:sp>
        <p:nvSpPr>
          <p:cNvPr id="77" name=""/>
          <p:cNvSpPr txBox="1"/>
          <p:nvPr/>
        </p:nvSpPr>
        <p:spPr>
          <a:xfrm>
            <a:off x="768240" y="6208200"/>
            <a:ext cx="3346560" cy="411120"/>
          </a:xfrm>
          <a:prstGeom prst="rect">
            <a:avLst/>
          </a:prstGeom>
          <a:noFill/>
          <a:ln w="0">
            <a:noFill/>
          </a:ln>
        </p:spPr>
        <p:txBody>
          <a:bodyPr lIns="90000" tIns="45000" rIns="90000" bIns="45000" anchor="t">
            <a:spAutoFit/>
          </a:bodyPr>
          <a:p>
            <a:r>
              <a:rPr lang="en-US" sz="2150" b="0" u="none" strike="noStrike">
                <a:solidFill>
                  <a:srgbClr val="FFFFFF"/>
                </a:solidFill>
                <a:effectLst/>
                <a:uFillTx/>
                <a:latin typeface="Calibri"/>
              </a:rPr>
              <a:t>github.com/CryptoJones</a:t>
            </a:r>
            <a:endParaRPr lang="en-US" sz="2400" b="0" u="none" strike="noStrike">
              <a:solidFill>
                <a:srgbClr val="FFFFFF"/>
              </a:solidFill>
              <a:effectLst/>
              <a:uFillTx/>
              <a:latin typeface="Arial"/>
            </a:endParaRPr>
          </a:p>
        </p:txBody>
      </p:sp>
      <p:pic>
        <p:nvPicPr>
          <p:cNvPr id="78" name=""/>
          <p:cNvPicPr/>
          <p:nvPr/>
        </p:nvPicPr>
        <p:blipFill>
          <a:blip r:embed="rId4"/>
          <a:stretch/>
        </p:blipFill>
        <p:spPr>
          <a:xfrm>
            <a:off x="7086600" y="6172200"/>
            <a:ext cx="399960" cy="457200"/>
          </a:xfrm>
          <a:prstGeom prst="rect">
            <a:avLst/>
          </a:prstGeom>
          <a:noFill/>
          <a:ln w="0">
            <a:noFill/>
          </a:ln>
        </p:spPr>
      </p:pic>
      <p:sp>
        <p:nvSpPr>
          <p:cNvPr id="79" name=""/>
          <p:cNvSpPr txBox="1"/>
          <p:nvPr/>
        </p:nvSpPr>
        <p:spPr>
          <a:xfrm>
            <a:off x="7590240" y="6208200"/>
            <a:ext cx="4224960" cy="395280"/>
          </a:xfrm>
          <a:prstGeom prst="rect">
            <a:avLst/>
          </a:prstGeom>
          <a:noFill/>
          <a:ln w="0">
            <a:noFill/>
          </a:ln>
        </p:spPr>
        <p:txBody>
          <a:bodyPr lIns="90000" tIns="45000" rIns="90000" bIns="45000" anchor="t">
            <a:spAutoFit/>
          </a:bodyPr>
          <a:p>
            <a:r>
              <a:rPr lang="en-US" sz="2150" b="0" u="none" strike="noStrike">
                <a:solidFill>
                  <a:srgbClr val="FFFFFF"/>
                </a:solidFill>
                <a:effectLst/>
                <a:uFillTx/>
                <a:latin typeface="Calibri"/>
              </a:rPr>
              <a:t>CryptoJones@infosec.exchange</a:t>
            </a:r>
            <a:endParaRPr lang="en-US" sz="2400" b="0" u="none" strike="noStrike">
              <a:solidFill>
                <a:srgbClr val="FFFFFF"/>
              </a:solidFill>
              <a:effectLst/>
              <a:uFillTx/>
              <a:latin typeface="Arial"/>
            </a:endParaRPr>
          </a:p>
        </p:txBody>
      </p:sp>
      <p:sp>
        <p:nvSpPr>
          <p:cNvPr id="80" name="TextBox 45"/>
          <p:cNvSpPr/>
          <p:nvPr/>
        </p:nvSpPr>
        <p:spPr>
          <a:xfrm>
            <a:off x="-457200" y="3704400"/>
            <a:ext cx="845820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1" u="none" strike="noStrike">
                <a:solidFill>
                  <a:srgbClr val="00FF41"/>
                </a:solidFill>
                <a:effectLst/>
                <a:uFillTx/>
                <a:latin typeface="Calibri"/>
              </a:rPr>
              <a:t>cryptojones@owasp.org</a:t>
            </a:r>
            <a:endParaRPr lang="en-US" sz="3600" b="0" u="none" strike="noStrike">
              <a:solidFill>
                <a:srgbClr val="FFFFFF"/>
              </a:solidFill>
              <a:effectLst/>
              <a:uFillTx/>
              <a:latin typeface="Arial"/>
            </a:endParaRPr>
          </a:p>
        </p:txBody>
      </p:sp>
      <p:pic>
        <p:nvPicPr>
          <p:cNvPr id="81" name=""/>
          <p:cNvPicPr/>
          <p:nvPr/>
        </p:nvPicPr>
        <p:blipFill>
          <a:blip r:embed="rId5"/>
          <a:stretch/>
        </p:blipFill>
        <p:spPr>
          <a:xfrm>
            <a:off x="8458200" y="2057400"/>
            <a:ext cx="3200400" cy="29718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2" name="TextBox 1" descr="Headline slide: Every breach you have ever read about ends at a database." title="Headline slide: Every breach you have ever read about ends at a database."/>
          <p:cNvSpPr/>
          <p:nvPr/>
        </p:nvSpPr>
        <p:spPr>
          <a:xfrm>
            <a:off x="457200" y="182880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700" b="1" u="none" strike="noStrike">
                <a:solidFill>
                  <a:srgbClr val="FFFFFF"/>
                </a:solidFill>
                <a:effectLst/>
                <a:uFillTx/>
                <a:latin typeface="Calibri"/>
              </a:rPr>
              <a:t>여러분이 지금까지 접한 모든 침해 사고는</a:t>
            </a:r>
            <a:endParaRPr lang="en-US" sz="5600" b="0" u="none" strike="noStrike">
              <a:solidFill>
                <a:srgbClr val="FFFFFF"/>
              </a:solidFill>
              <a:effectLst/>
              <a:uFillTx/>
              <a:latin typeface="Arial"/>
            </a:endParaRPr>
          </a:p>
        </p:txBody>
      </p:sp>
      <p:sp>
        <p:nvSpPr>
          <p:cNvPr id="83" name="TextBox 2"/>
          <p:cNvSpPr/>
          <p:nvPr/>
        </p:nvSpPr>
        <p:spPr>
          <a:xfrm>
            <a:off x="457200" y="283464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700" b="1" u="none" strike="noStrike">
                <a:solidFill>
                  <a:srgbClr val="FFFFFF"/>
                </a:solidFill>
                <a:effectLst/>
                <a:uFillTx/>
                <a:latin typeface="Calibri"/>
              </a:rPr>
              <a:t>결국 다음에서 끝납니다</a:t>
            </a:r>
            <a:endParaRPr lang="en-US" sz="5600" b="0" u="none" strike="noStrike">
              <a:solidFill>
                <a:srgbClr val="FFFFFF"/>
              </a:solidFill>
              <a:effectLst/>
              <a:uFillTx/>
              <a:latin typeface="Arial"/>
            </a:endParaRPr>
          </a:p>
        </p:txBody>
      </p:sp>
      <p:sp>
        <p:nvSpPr>
          <p:cNvPr id="84" name="TextBox 3"/>
          <p:cNvSpPr/>
          <p:nvPr/>
        </p:nvSpPr>
        <p:spPr>
          <a:xfrm>
            <a:off x="457200" y="3840480"/>
            <a:ext cx="11246760" cy="13705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데이터베이스*</a:t>
            </a:r>
            <a:endParaRPr lang="en-US" sz="8400" b="0" u="none" strike="noStrike">
              <a:solidFill>
                <a:srgbClr val="FFFFFF"/>
              </a:solidFill>
              <a:effectLst/>
              <a:uFillTx/>
              <a:latin typeface="Arial"/>
            </a:endParaRPr>
          </a:p>
        </p:txBody>
      </p:sp>
      <p:sp>
        <p:nvSpPr>
          <p:cNvPr id="85"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86"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7" name="TextBox 1" descr="A stylized vault icon next to four bullets explaining that attackers target the data, not the surrounding application or infrastructure." title="A stylized vault icon next to four bullets explaining that attackers target the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왕관의 보석</a:t>
            </a:r>
            <a:endParaRPr lang="en-US" sz="4200" b="0" u="none" strike="noStrike">
              <a:solidFill>
                <a:srgbClr val="FFFFFF"/>
              </a:solidFill>
              <a:effectLst/>
              <a:uFillTx/>
              <a:latin typeface="Arial"/>
            </a:endParaRPr>
          </a:p>
        </p:txBody>
      </p:sp>
      <p:sp>
        <p:nvSpPr>
          <p:cNvPr id="8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9" name="Rounded Rectangle 3"/>
          <p:cNvSpPr/>
          <p:nvPr/>
        </p:nvSpPr>
        <p:spPr>
          <a:xfrm>
            <a:off x="1371600" y="1828800"/>
            <a:ext cx="4114440" cy="3840120"/>
          </a:xfrm>
          <a:prstGeom prst="roundRect">
            <a:avLst>
              <a:gd name="adj" fmla="val 16667"/>
            </a:avLst>
          </a:prstGeom>
          <a:solidFill>
            <a:srgbClr val="2A2A44"/>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0" name="Oval 4"/>
          <p:cNvSpPr/>
          <p:nvPr/>
        </p:nvSpPr>
        <p:spPr>
          <a:xfrm>
            <a:off x="2971800" y="3291840"/>
            <a:ext cx="914040" cy="914040"/>
          </a:xfrm>
          <a:prstGeom prst="ellipse">
            <a:avLst/>
          </a:prstGeom>
          <a:solidFill>
            <a:srgbClr val="00FF41"/>
          </a:solidFill>
          <a:ln>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5"/>
          <p:cNvSpPr/>
          <p:nvPr/>
        </p:nvSpPr>
        <p:spPr>
          <a:xfrm>
            <a:off x="1371600" y="5577840"/>
            <a:ext cx="41144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1" u="none" strike="noStrike">
                <a:solidFill>
                  <a:srgbClr val="00FF41"/>
                </a:solidFill>
                <a:effectLst/>
                <a:uFillTx/>
                <a:latin typeface="Calibri"/>
              </a:rPr>
              <a:t>데이터  금고</a:t>
            </a:r>
            <a:endParaRPr lang="en-US" sz="2400" b="0" u="none" strike="noStrike">
              <a:solidFill>
                <a:srgbClr val="FFFFFF"/>
              </a:solidFill>
              <a:effectLst/>
              <a:uFillTx/>
              <a:latin typeface="Arial"/>
            </a:endParaRPr>
          </a:p>
        </p:txBody>
      </p:sp>
      <p:sp>
        <p:nvSpPr>
          <p:cNvPr id="92" name="TextBox 6"/>
          <p:cNvSpPr/>
          <p:nvPr/>
        </p:nvSpPr>
        <p:spPr>
          <a:xfrm>
            <a:off x="5943600" y="2011680"/>
            <a:ext cx="5943240" cy="384012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750" b="1" u="none" strike="noStrike">
                <a:solidFill>
                  <a:srgbClr val="00D4FF"/>
                </a:solidFill>
                <a:effectLst/>
                <a:uFillTx/>
                <a:latin typeface="Calibri"/>
              </a:rPr>
              <a:t>▶ </a:t>
            </a:r>
            <a:r>
              <a:rPr lang="en-US" sz="2750" b="0" u="none" strike="noStrike">
                <a:solidFill>
                  <a:srgbClr val="FFFFFF"/>
                </a:solidFill>
                <a:effectLst/>
                <a:uFillTx/>
                <a:latin typeface="Calibri"/>
              </a:rPr>
              <a:t>여러분의 싱글 페이지 앱이 아닙니다.</a:t>
            </a:r>
            <a:endParaRPr lang="en-US" sz="3000" b="0" u="none" strike="noStrike">
              <a:solidFill>
                <a:srgbClr val="FFFFFF"/>
              </a:solidFill>
              <a:effectLst/>
              <a:uFillTx/>
              <a:latin typeface="Arial"/>
            </a:endParaRPr>
          </a:p>
          <a:p>
            <a:pPr defTabSz="457200">
              <a:lnSpc>
                <a:spcPct val="140000"/>
              </a:lnSpc>
            </a:pPr>
            <a:r>
              <a:rPr lang="en-US" sz="2750" b="1" u="none" strike="noStrike">
                <a:solidFill>
                  <a:srgbClr val="00D4FF"/>
                </a:solidFill>
                <a:effectLst/>
                <a:uFillTx/>
                <a:latin typeface="Calibri"/>
              </a:rPr>
              <a:t>▶ </a:t>
            </a:r>
            <a:r>
              <a:rPr lang="en-US" sz="2750" b="0" u="none" strike="noStrike">
                <a:solidFill>
                  <a:srgbClr val="FFFFFF"/>
                </a:solidFill>
                <a:effectLst/>
                <a:uFillTx/>
                <a:latin typeface="Calibri"/>
              </a:rPr>
              <a:t>여러분의 방화벽이 아닙니다.</a:t>
            </a:r>
            <a:endParaRPr lang="en-US" sz="3000" b="0" u="none" strike="noStrike">
              <a:solidFill>
                <a:srgbClr val="FFFFFF"/>
              </a:solidFill>
              <a:effectLst/>
              <a:uFillTx/>
              <a:latin typeface="Arial"/>
            </a:endParaRPr>
          </a:p>
          <a:p>
            <a:pPr defTabSz="457200">
              <a:lnSpc>
                <a:spcPct val="140000"/>
              </a:lnSpc>
            </a:pPr>
            <a:r>
              <a:rPr lang="en-US" sz="2750" b="1" u="none" strike="noStrike">
                <a:solidFill>
                  <a:srgbClr val="00D4FF"/>
                </a:solidFill>
                <a:effectLst/>
                <a:uFillTx/>
                <a:latin typeface="Calibri"/>
              </a:rPr>
              <a:t>▶ </a:t>
            </a:r>
            <a:r>
              <a:rPr lang="en-US" sz="2750" b="0" u="none" strike="noStrike">
                <a:solidFill>
                  <a:srgbClr val="FFFFFF"/>
                </a:solidFill>
                <a:effectLst/>
                <a:uFillTx/>
                <a:latin typeface="Calibri"/>
              </a:rPr>
              <a:t>여러분의 마이크로서비스가 아닙니다.</a:t>
            </a:r>
            <a:endParaRPr lang="en-US" sz="3000" b="0" u="none" strike="noStrike">
              <a:solidFill>
                <a:srgbClr val="FFFFFF"/>
              </a:solidFill>
              <a:effectLst/>
              <a:uFillTx/>
              <a:latin typeface="Arial"/>
            </a:endParaRPr>
          </a:p>
          <a:p>
            <a:pPr defTabSz="457200">
              <a:lnSpc>
                <a:spcPct val="140000"/>
              </a:lnSpc>
            </a:pPr>
            <a:r>
              <a:rPr lang="en-US" sz="2750" b="1" u="none" strike="noStrike">
                <a:solidFill>
                  <a:srgbClr val="00D4FF"/>
                </a:solidFill>
                <a:effectLst/>
                <a:uFillTx/>
                <a:latin typeface="Calibri"/>
              </a:rPr>
              <a:t>▶ </a:t>
            </a:r>
            <a:r>
              <a:rPr lang="en-US" sz="2750" b="0" u="none" strike="noStrike">
                <a:solidFill>
                  <a:srgbClr val="FFFFFF"/>
                </a:solidFill>
                <a:effectLst/>
                <a:uFillTx/>
                <a:latin typeface="Calibri"/>
              </a:rPr>
              <a:t>바로 데이터. 언제나 데이터입니다.</a:t>
            </a:r>
            <a:endParaRPr lang="en-US" sz="3000" b="0" u="none" strike="noStrike">
              <a:solidFill>
                <a:srgbClr val="FFFFFF"/>
              </a:solidFill>
              <a:effectLst/>
              <a:uFillTx/>
              <a:latin typeface="Arial"/>
            </a:endParaRPr>
          </a:p>
        </p:txBody>
      </p:sp>
      <p:sp>
        <p:nvSpPr>
          <p:cNvPr id="9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9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5" name="TextBox 1" descr="Definition slide: A database is organized storage plus a way to ask questions, illustrated with filing-cabinet and Excel analogies." title="Definition slide: A database is organized storage plus a way to ask questions, i"/>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데이터베이스란 무엇인가?</a:t>
            </a:r>
            <a:endParaRPr lang="en-US" sz="4200" b="0" u="none" strike="noStrike">
              <a:solidFill>
                <a:srgbClr val="FFFFFF"/>
              </a:solidFill>
              <a:effectLst/>
              <a:uFillTx/>
              <a:latin typeface="Arial"/>
            </a:endParaRPr>
          </a:p>
        </p:txBody>
      </p:sp>
      <p:sp>
        <p:nvSpPr>
          <p:cNvPr id="9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7"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000" b="1" u="none" strike="noStrike">
                <a:solidFill>
                  <a:srgbClr val="FFFFFF"/>
                </a:solidFill>
                <a:effectLst/>
                <a:uFillTx/>
                <a:latin typeface="Calibri"/>
              </a:rPr>
              <a:t>정리된 저장소  +  질문하는 방법.</a:t>
            </a:r>
            <a:endParaRPr lang="en-US" sz="4000" b="0" u="none" strike="noStrike">
              <a:solidFill>
                <a:srgbClr val="FFFFFF"/>
              </a:solidFill>
              <a:effectLst/>
              <a:uFillTx/>
              <a:latin typeface="Arial"/>
            </a:endParaRPr>
          </a:p>
        </p:txBody>
      </p:sp>
      <p:sp>
        <p:nvSpPr>
          <p:cNvPr id="98" name="TextBox 4"/>
          <p:cNvSpPr/>
          <p:nvPr/>
        </p:nvSpPr>
        <p:spPr>
          <a:xfrm>
            <a:off x="457200" y="2926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그게 전부입니다. 나머지는 모두 세부 사항입니다.</a:t>
            </a:r>
            <a:endParaRPr lang="en-US" sz="2600" b="0" u="none" strike="noStrike">
              <a:solidFill>
                <a:srgbClr val="FFFFFF"/>
              </a:solidFill>
              <a:effectLst/>
              <a:uFillTx/>
              <a:latin typeface="Arial"/>
            </a:endParaRPr>
          </a:p>
        </p:txBody>
      </p:sp>
      <p:sp>
        <p:nvSpPr>
          <p:cNvPr id="99" name="TextBox 5"/>
          <p:cNvSpPr/>
          <p:nvPr/>
        </p:nvSpPr>
        <p:spPr>
          <a:xfrm>
            <a:off x="914400" y="3931920"/>
            <a:ext cx="10332360" cy="22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서류 캐비닛  =  저장소  +  쿼리 역할을 하는 여러분의 눈.</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Excel + Ctrl-F  =  저장소  +  쿼리 역할을 하는 찾기·바꾸기.</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실제 DB는 여기에 더합니다:  규모, 속도, 동시성, 정형화된 언어.</a:t>
            </a:r>
            <a:endParaRPr lang="en-US" sz="2600" b="0" u="none" strike="noStrike">
              <a:solidFill>
                <a:srgbClr val="FFFFFF"/>
              </a:solidFill>
              <a:effectLst/>
              <a:uFillTx/>
              <a:latin typeface="Arial"/>
            </a:endParaRPr>
          </a:p>
        </p:txBody>
      </p:sp>
      <p:sp>
        <p:nvSpPr>
          <p:cNvPr id="100"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101"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2" name="TextBox 1" descr="Vocabulary slide listing six core database terms: table, row, column, query, schema, index — plus the CRUD verbs." title="Vocabulary slide listing six core database terms: table, row, column, query, sc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꼭 알아야 할 여섯 단어</a:t>
            </a:r>
            <a:endParaRPr lang="en-US" sz="4200" b="0" u="none" strike="noStrike">
              <a:solidFill>
                <a:srgbClr val="FFFFFF"/>
              </a:solidFill>
              <a:effectLst/>
              <a:uFillTx/>
              <a:latin typeface="Arial"/>
            </a:endParaRPr>
          </a:p>
        </p:txBody>
      </p:sp>
      <p:sp>
        <p:nvSpPr>
          <p:cNvPr id="103"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4" name="TextBox 3"/>
          <p:cNvSpPr/>
          <p:nvPr/>
        </p:nvSpPr>
        <p:spPr>
          <a:xfrm>
            <a:off x="731520" y="1691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테이블</a:t>
            </a:r>
            <a:endParaRPr lang="en-US" sz="3200" b="0" u="none" strike="noStrike">
              <a:solidFill>
                <a:srgbClr val="FFFFFF"/>
              </a:solidFill>
              <a:effectLst/>
              <a:uFillTx/>
              <a:latin typeface="Arial"/>
            </a:endParaRPr>
          </a:p>
        </p:txBody>
      </p:sp>
      <p:sp>
        <p:nvSpPr>
          <p:cNvPr id="105" name="TextBox 4"/>
          <p:cNvSpPr/>
          <p:nvPr/>
        </p:nvSpPr>
        <p:spPr>
          <a:xfrm>
            <a:off x="3931920" y="1691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6" name="TextBox 5"/>
          <p:cNvSpPr/>
          <p:nvPr/>
        </p:nvSpPr>
        <p:spPr>
          <a:xfrm>
            <a:off x="4480560" y="1691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스프레드시트 탭 하나</a:t>
            </a:r>
            <a:endParaRPr lang="en-US" sz="2800" b="0" u="none" strike="noStrike">
              <a:solidFill>
                <a:srgbClr val="FFFFFF"/>
              </a:solidFill>
              <a:effectLst/>
              <a:uFillTx/>
              <a:latin typeface="Arial"/>
            </a:endParaRPr>
          </a:p>
        </p:txBody>
      </p:sp>
      <p:sp>
        <p:nvSpPr>
          <p:cNvPr id="107" name="TextBox 6"/>
          <p:cNvSpPr/>
          <p:nvPr/>
        </p:nvSpPr>
        <p:spPr>
          <a:xfrm>
            <a:off x="731520" y="2404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행</a:t>
            </a:r>
            <a:endParaRPr lang="en-US" sz="3200" b="0" u="none" strike="noStrike">
              <a:solidFill>
                <a:srgbClr val="FFFFFF"/>
              </a:solidFill>
              <a:effectLst/>
              <a:uFillTx/>
              <a:latin typeface="Arial"/>
            </a:endParaRPr>
          </a:p>
        </p:txBody>
      </p:sp>
      <p:sp>
        <p:nvSpPr>
          <p:cNvPr id="108" name="TextBox 7"/>
          <p:cNvSpPr/>
          <p:nvPr/>
        </p:nvSpPr>
        <p:spPr>
          <a:xfrm>
            <a:off x="3931920" y="2404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9" name="TextBox 8"/>
          <p:cNvSpPr/>
          <p:nvPr/>
        </p:nvSpPr>
        <p:spPr>
          <a:xfrm>
            <a:off x="4480560" y="2404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하나의 레코드(고객 한 명, 경보 하나)</a:t>
            </a:r>
            <a:endParaRPr lang="en-US" sz="2800" b="0" u="none" strike="noStrike">
              <a:solidFill>
                <a:srgbClr val="FFFFFF"/>
              </a:solidFill>
              <a:effectLst/>
              <a:uFillTx/>
              <a:latin typeface="Arial"/>
            </a:endParaRPr>
          </a:p>
        </p:txBody>
      </p:sp>
      <p:sp>
        <p:nvSpPr>
          <p:cNvPr id="110" name="TextBox 9"/>
          <p:cNvSpPr/>
          <p:nvPr/>
        </p:nvSpPr>
        <p:spPr>
          <a:xfrm>
            <a:off x="731520" y="311796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열</a:t>
            </a:r>
            <a:endParaRPr lang="en-US" sz="3200" b="0" u="none" strike="noStrike">
              <a:solidFill>
                <a:srgbClr val="FFFFFF"/>
              </a:solidFill>
              <a:effectLst/>
              <a:uFillTx/>
              <a:latin typeface="Arial"/>
            </a:endParaRPr>
          </a:p>
        </p:txBody>
      </p:sp>
      <p:sp>
        <p:nvSpPr>
          <p:cNvPr id="111" name="TextBox 10"/>
          <p:cNvSpPr/>
          <p:nvPr/>
        </p:nvSpPr>
        <p:spPr>
          <a:xfrm>
            <a:off x="3931920" y="311796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2" name="TextBox 11"/>
          <p:cNvSpPr/>
          <p:nvPr/>
        </p:nvSpPr>
        <p:spPr>
          <a:xfrm>
            <a:off x="4480560" y="311796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하나의 속성(이메일, IP, 합계)</a:t>
            </a:r>
            <a:endParaRPr lang="en-US" sz="2800" b="0" u="none" strike="noStrike">
              <a:solidFill>
                <a:srgbClr val="FFFFFF"/>
              </a:solidFill>
              <a:effectLst/>
              <a:uFillTx/>
              <a:latin typeface="Arial"/>
            </a:endParaRPr>
          </a:p>
        </p:txBody>
      </p:sp>
      <p:sp>
        <p:nvSpPr>
          <p:cNvPr id="113" name="TextBox 12"/>
          <p:cNvSpPr/>
          <p:nvPr/>
        </p:nvSpPr>
        <p:spPr>
          <a:xfrm>
            <a:off x="731520" y="383148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쿼리</a:t>
            </a:r>
            <a:endParaRPr lang="en-US" sz="3200" b="0" u="none" strike="noStrike">
              <a:solidFill>
                <a:srgbClr val="FFFFFF"/>
              </a:solidFill>
              <a:effectLst/>
              <a:uFillTx/>
              <a:latin typeface="Arial"/>
            </a:endParaRPr>
          </a:p>
        </p:txBody>
      </p:sp>
      <p:sp>
        <p:nvSpPr>
          <p:cNvPr id="114" name="TextBox 13"/>
          <p:cNvSpPr/>
          <p:nvPr/>
        </p:nvSpPr>
        <p:spPr>
          <a:xfrm>
            <a:off x="3931920" y="383148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5" name="TextBox 14"/>
          <p:cNvSpPr/>
          <p:nvPr/>
        </p:nvSpPr>
        <p:spPr>
          <a:xfrm>
            <a:off x="4480560" y="383148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여러분이 던지는 질문</a:t>
            </a:r>
            <a:endParaRPr lang="en-US" sz="2800" b="0" u="none" strike="noStrike">
              <a:solidFill>
                <a:srgbClr val="FFFFFF"/>
              </a:solidFill>
              <a:effectLst/>
              <a:uFillTx/>
              <a:latin typeface="Arial"/>
            </a:endParaRPr>
          </a:p>
        </p:txBody>
      </p:sp>
      <p:sp>
        <p:nvSpPr>
          <p:cNvPr id="116" name="TextBox 15"/>
          <p:cNvSpPr/>
          <p:nvPr/>
        </p:nvSpPr>
        <p:spPr>
          <a:xfrm>
            <a:off x="731520" y="4544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스키마</a:t>
            </a:r>
            <a:endParaRPr lang="en-US" sz="3200" b="0" u="none" strike="noStrike">
              <a:solidFill>
                <a:srgbClr val="FFFFFF"/>
              </a:solidFill>
              <a:effectLst/>
              <a:uFillTx/>
              <a:latin typeface="Arial"/>
            </a:endParaRPr>
          </a:p>
        </p:txBody>
      </p:sp>
      <p:sp>
        <p:nvSpPr>
          <p:cNvPr id="117" name="TextBox 16"/>
          <p:cNvSpPr/>
          <p:nvPr/>
        </p:nvSpPr>
        <p:spPr>
          <a:xfrm>
            <a:off x="3931920" y="4544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8" name="TextBox 17"/>
          <p:cNvSpPr/>
          <p:nvPr/>
        </p:nvSpPr>
        <p:spPr>
          <a:xfrm>
            <a:off x="4480560" y="4544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데이터의 형태</a:t>
            </a:r>
            <a:endParaRPr lang="en-US" sz="2800" b="0" u="none" strike="noStrike">
              <a:solidFill>
                <a:srgbClr val="FFFFFF"/>
              </a:solidFill>
              <a:effectLst/>
              <a:uFillTx/>
              <a:latin typeface="Arial"/>
            </a:endParaRPr>
          </a:p>
        </p:txBody>
      </p:sp>
      <p:sp>
        <p:nvSpPr>
          <p:cNvPr id="119" name="TextBox 18"/>
          <p:cNvSpPr/>
          <p:nvPr/>
        </p:nvSpPr>
        <p:spPr>
          <a:xfrm>
            <a:off x="731520" y="5257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인덱스</a:t>
            </a:r>
            <a:endParaRPr lang="en-US" sz="3200" b="0" u="none" strike="noStrike">
              <a:solidFill>
                <a:srgbClr val="FFFFFF"/>
              </a:solidFill>
              <a:effectLst/>
              <a:uFillTx/>
              <a:latin typeface="Arial"/>
            </a:endParaRPr>
          </a:p>
        </p:txBody>
      </p:sp>
      <p:sp>
        <p:nvSpPr>
          <p:cNvPr id="120" name="TextBox 19"/>
          <p:cNvSpPr/>
          <p:nvPr/>
        </p:nvSpPr>
        <p:spPr>
          <a:xfrm>
            <a:off x="3931920" y="5257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21" name="TextBox 20"/>
          <p:cNvSpPr/>
          <p:nvPr/>
        </p:nvSpPr>
        <p:spPr>
          <a:xfrm>
            <a:off x="4480560" y="5257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조회를 빠르게 해 주는 책갈피</a:t>
            </a:r>
            <a:endParaRPr lang="en-US" sz="2800" b="0" u="none" strike="noStrike">
              <a:solidFill>
                <a:srgbClr val="FFFFFF"/>
              </a:solidFill>
              <a:effectLst/>
              <a:uFillTx/>
              <a:latin typeface="Arial"/>
            </a:endParaRPr>
          </a:p>
        </p:txBody>
      </p:sp>
      <p:sp>
        <p:nvSpPr>
          <p:cNvPr id="122" name="TextBox 21"/>
          <p:cNvSpPr/>
          <p:nvPr/>
        </p:nvSpPr>
        <p:spPr>
          <a:xfrm>
            <a:off x="457200" y="59893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6B35"/>
                </a:solidFill>
                <a:effectLst/>
                <a:uFillTx/>
                <a:latin typeface="Calibri"/>
              </a:rPr>
              <a:t>+  CRUD  =  생성  •  조회  •  수정  •  삭제</a:t>
            </a:r>
            <a:endParaRPr lang="en-US" sz="2600" b="0" u="none" strike="noStrike">
              <a:solidFill>
                <a:srgbClr val="FFFFFF"/>
              </a:solidFill>
              <a:effectLst/>
              <a:uFillTx/>
              <a:latin typeface="Arial"/>
            </a:endParaRPr>
          </a:p>
        </p:txBody>
      </p:sp>
      <p:sp>
        <p:nvSpPr>
          <p:cNvPr id="123" name="TextBox 2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124" name="TextBox 2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25" name="TextBox 1" descr="Timeline of database eras from 1960s flat files to 2020s vector databases, each annotated with its security implication." title="Timeline of database eras from 1960s flat files to 2020s vector databases, each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900" b="1" u="none" strike="noStrike">
                <a:solidFill>
                  <a:srgbClr val="00FF41"/>
                </a:solidFill>
                <a:effectLst/>
                <a:uFillTx/>
                <a:latin typeface="Calibri"/>
              </a:rPr>
              <a:t>역사 둘러보기 — 운영 환경에서 마주칠 화석들</a:t>
            </a:r>
            <a:endParaRPr lang="en-US" sz="4200" b="0" u="none" strike="noStrike">
              <a:solidFill>
                <a:srgbClr val="FFFFFF"/>
              </a:solidFill>
              <a:effectLst/>
              <a:uFillTx/>
              <a:latin typeface="Arial"/>
            </a:endParaRPr>
          </a:p>
        </p:txBody>
      </p:sp>
      <p:sp>
        <p:nvSpPr>
          <p:cNvPr id="12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7" name="TextBox 3"/>
          <p:cNvSpPr/>
          <p:nvPr/>
        </p:nvSpPr>
        <p:spPr>
          <a:xfrm>
            <a:off x="457200" y="16002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1960s</a:t>
            </a:r>
            <a:endParaRPr lang="en-US" sz="2200" b="0" u="none" strike="noStrike">
              <a:solidFill>
                <a:srgbClr val="FFFFFF"/>
              </a:solidFill>
              <a:effectLst/>
              <a:uFillTx/>
              <a:latin typeface="Arial"/>
            </a:endParaRPr>
          </a:p>
        </p:txBody>
      </p:sp>
      <p:sp>
        <p:nvSpPr>
          <p:cNvPr id="128" name="TextBox 4"/>
          <p:cNvSpPr/>
          <p:nvPr/>
        </p:nvSpPr>
        <p:spPr>
          <a:xfrm>
            <a:off x="2286000" y="16002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플랫 파일</a:t>
            </a:r>
            <a:endParaRPr lang="en-US" sz="2200" b="0" u="none" strike="noStrike">
              <a:solidFill>
                <a:srgbClr val="FFFFFF"/>
              </a:solidFill>
              <a:effectLst/>
              <a:uFillTx/>
              <a:latin typeface="Arial"/>
            </a:endParaRPr>
          </a:p>
        </p:txBody>
      </p:sp>
      <p:sp>
        <p:nvSpPr>
          <p:cNvPr id="129" name="TextBox 5"/>
          <p:cNvSpPr/>
          <p:nvPr/>
        </p:nvSpPr>
        <p:spPr>
          <a:xfrm>
            <a:off x="5943600" y="16002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0" name="TextBox 6"/>
          <p:cNvSpPr/>
          <p:nvPr/>
        </p:nvSpPr>
        <p:spPr>
          <a:xfrm>
            <a:off x="6309360" y="16002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파일시스템 권한 = 유일한 접근 제어</a:t>
            </a:r>
            <a:endParaRPr lang="en-US" sz="2000" b="0" u="none" strike="noStrike">
              <a:solidFill>
                <a:srgbClr val="FFFFFF"/>
              </a:solidFill>
              <a:effectLst/>
              <a:uFillTx/>
              <a:latin typeface="Arial"/>
            </a:endParaRPr>
          </a:p>
        </p:txBody>
      </p:sp>
      <p:sp>
        <p:nvSpPr>
          <p:cNvPr id="131" name="TextBox 7"/>
          <p:cNvSpPr/>
          <p:nvPr/>
        </p:nvSpPr>
        <p:spPr>
          <a:xfrm>
            <a:off x="457200" y="21121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950" b="1" u="none" strike="noStrike">
                <a:solidFill>
                  <a:srgbClr val="00D4FF"/>
                </a:solidFill>
                <a:effectLst/>
                <a:uFillTx/>
                <a:latin typeface="Calibri"/>
              </a:rPr>
              <a:t>1960년대 후반</a:t>
            </a:r>
            <a:endParaRPr lang="en-US" sz="2200" b="0" u="none" strike="noStrike">
              <a:solidFill>
                <a:srgbClr val="FFFFFF"/>
              </a:solidFill>
              <a:effectLst/>
              <a:uFillTx/>
              <a:latin typeface="Arial"/>
            </a:endParaRPr>
          </a:p>
        </p:txBody>
      </p:sp>
      <p:sp>
        <p:nvSpPr>
          <p:cNvPr id="132" name="TextBox 8"/>
          <p:cNvSpPr/>
          <p:nvPr/>
        </p:nvSpPr>
        <p:spPr>
          <a:xfrm>
            <a:off x="2286000" y="21121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계층형(IMS)</a:t>
            </a:r>
            <a:endParaRPr lang="en-US" sz="2200" b="0" u="none" strike="noStrike">
              <a:solidFill>
                <a:srgbClr val="FFFFFF"/>
              </a:solidFill>
              <a:effectLst/>
              <a:uFillTx/>
              <a:latin typeface="Arial"/>
            </a:endParaRPr>
          </a:p>
        </p:txBody>
      </p:sp>
      <p:sp>
        <p:nvSpPr>
          <p:cNvPr id="133" name="TextBox 9"/>
          <p:cNvSpPr/>
          <p:nvPr/>
        </p:nvSpPr>
        <p:spPr>
          <a:xfrm>
            <a:off x="5943600" y="21121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4" name="TextBox 10"/>
          <p:cNvSpPr/>
          <p:nvPr/>
        </p:nvSpPr>
        <p:spPr>
          <a:xfrm>
            <a:off x="6309360" y="21121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메인프레임 시대, 물리적 위협 모델</a:t>
            </a:r>
            <a:endParaRPr lang="en-US" sz="2000" b="0" u="none" strike="noStrike">
              <a:solidFill>
                <a:srgbClr val="FFFFFF"/>
              </a:solidFill>
              <a:effectLst/>
              <a:uFillTx/>
              <a:latin typeface="Arial"/>
            </a:endParaRPr>
          </a:p>
        </p:txBody>
      </p:sp>
      <p:sp>
        <p:nvSpPr>
          <p:cNvPr id="135" name="TextBox 11"/>
          <p:cNvSpPr/>
          <p:nvPr/>
        </p:nvSpPr>
        <p:spPr>
          <a:xfrm>
            <a:off x="457200" y="26244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1970s</a:t>
            </a:r>
            <a:endParaRPr lang="en-US" sz="2200" b="0" u="none" strike="noStrike">
              <a:solidFill>
                <a:srgbClr val="FFFFFF"/>
              </a:solidFill>
              <a:effectLst/>
              <a:uFillTx/>
              <a:latin typeface="Arial"/>
            </a:endParaRPr>
          </a:p>
        </p:txBody>
      </p:sp>
      <p:sp>
        <p:nvSpPr>
          <p:cNvPr id="136" name="TextBox 12"/>
          <p:cNvSpPr/>
          <p:nvPr/>
        </p:nvSpPr>
        <p:spPr>
          <a:xfrm>
            <a:off x="2286000" y="26244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네트워크형 / CODASYL</a:t>
            </a:r>
            <a:endParaRPr lang="en-US" sz="2200" b="0" u="none" strike="noStrike">
              <a:solidFill>
                <a:srgbClr val="FFFFFF"/>
              </a:solidFill>
              <a:effectLst/>
              <a:uFillTx/>
              <a:latin typeface="Arial"/>
            </a:endParaRPr>
          </a:p>
        </p:txBody>
      </p:sp>
      <p:sp>
        <p:nvSpPr>
          <p:cNvPr id="137" name="TextBox 13"/>
          <p:cNvSpPr/>
          <p:nvPr/>
        </p:nvSpPr>
        <p:spPr>
          <a:xfrm>
            <a:off x="5943600" y="26244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8" name="TextBox 14"/>
          <p:cNvSpPr/>
          <p:nvPr/>
        </p:nvSpPr>
        <p:spPr>
          <a:xfrm>
            <a:off x="6309360" y="26244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은행 백오피스에서 여전히 돌아가는 중</a:t>
            </a:r>
            <a:endParaRPr lang="en-US" sz="2000" b="0" u="none" strike="noStrike">
              <a:solidFill>
                <a:srgbClr val="FFFFFF"/>
              </a:solidFill>
              <a:effectLst/>
              <a:uFillTx/>
              <a:latin typeface="Arial"/>
            </a:endParaRPr>
          </a:p>
        </p:txBody>
      </p:sp>
      <p:sp>
        <p:nvSpPr>
          <p:cNvPr id="139" name="TextBox 15"/>
          <p:cNvSpPr/>
          <p:nvPr/>
        </p:nvSpPr>
        <p:spPr>
          <a:xfrm>
            <a:off x="457200" y="31363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a:t>
            </a:r>
            <a:endParaRPr lang="en-US" sz="2200" b="0" u="none" strike="noStrike">
              <a:solidFill>
                <a:srgbClr val="FFFFFF"/>
              </a:solidFill>
              <a:effectLst/>
              <a:uFillTx/>
              <a:latin typeface="Arial"/>
            </a:endParaRPr>
          </a:p>
        </p:txBody>
      </p:sp>
      <p:sp>
        <p:nvSpPr>
          <p:cNvPr id="140" name="TextBox 16"/>
          <p:cNvSpPr/>
          <p:nvPr/>
        </p:nvSpPr>
        <p:spPr>
          <a:xfrm>
            <a:off x="2286000" y="31363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Codd의 관계형 모델</a:t>
            </a:r>
            <a:endParaRPr lang="en-US" sz="2200" b="0" u="none" strike="noStrike">
              <a:solidFill>
                <a:srgbClr val="FFFFFF"/>
              </a:solidFill>
              <a:effectLst/>
              <a:uFillTx/>
              <a:latin typeface="Arial"/>
            </a:endParaRPr>
          </a:p>
        </p:txBody>
      </p:sp>
      <p:sp>
        <p:nvSpPr>
          <p:cNvPr id="141" name="TextBox 17"/>
          <p:cNvSpPr/>
          <p:nvPr/>
        </p:nvSpPr>
        <p:spPr>
          <a:xfrm>
            <a:off x="5943600" y="31363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2" name="TextBox 18"/>
          <p:cNvSpPr/>
          <p:nvPr/>
        </p:nvSpPr>
        <p:spPr>
          <a:xfrm>
            <a:off x="6309360" y="31363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GRANT, 역할 — DB 내부의 접근 제어</a:t>
            </a:r>
            <a:endParaRPr lang="en-US" sz="2000" b="0" u="none" strike="noStrike">
              <a:solidFill>
                <a:srgbClr val="FFFFFF"/>
              </a:solidFill>
              <a:effectLst/>
              <a:uFillTx/>
              <a:latin typeface="Arial"/>
            </a:endParaRPr>
          </a:p>
        </p:txBody>
      </p:sp>
      <p:sp>
        <p:nvSpPr>
          <p:cNvPr id="143" name="TextBox 19"/>
          <p:cNvSpPr/>
          <p:nvPr/>
        </p:nvSpPr>
        <p:spPr>
          <a:xfrm>
            <a:off x="457200" y="36486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1980s</a:t>
            </a:r>
            <a:endParaRPr lang="en-US" sz="2200" b="0" u="none" strike="noStrike">
              <a:solidFill>
                <a:srgbClr val="FFFFFF"/>
              </a:solidFill>
              <a:effectLst/>
              <a:uFillTx/>
              <a:latin typeface="Arial"/>
            </a:endParaRPr>
          </a:p>
        </p:txBody>
      </p:sp>
      <p:sp>
        <p:nvSpPr>
          <p:cNvPr id="144" name="TextBox 20"/>
          <p:cNvSpPr/>
          <p:nvPr/>
        </p:nvSpPr>
        <p:spPr>
          <a:xfrm>
            <a:off x="2286000" y="36486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Oracle, DB2, SQL Svr</a:t>
            </a:r>
            <a:endParaRPr lang="en-US" sz="2200" b="0" u="none" strike="noStrike">
              <a:solidFill>
                <a:srgbClr val="FFFFFF"/>
              </a:solidFill>
              <a:effectLst/>
              <a:uFillTx/>
              <a:latin typeface="Arial"/>
            </a:endParaRPr>
          </a:p>
        </p:txBody>
      </p:sp>
      <p:sp>
        <p:nvSpPr>
          <p:cNvPr id="145" name="TextBox 21"/>
          <p:cNvSpPr/>
          <p:nvPr/>
        </p:nvSpPr>
        <p:spPr>
          <a:xfrm>
            <a:off x="5943600" y="36486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6" name="TextBox 22"/>
          <p:cNvSpPr/>
          <p:nvPr/>
        </p:nvSpPr>
        <p:spPr>
          <a:xfrm>
            <a:off x="6309360" y="36486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데이터베이스가 네트워크화됨 → 인증 문제</a:t>
            </a:r>
            <a:endParaRPr lang="en-US" sz="2000" b="0" u="none" strike="noStrike">
              <a:solidFill>
                <a:srgbClr val="FFFFFF"/>
              </a:solidFill>
              <a:effectLst/>
              <a:uFillTx/>
              <a:latin typeface="Arial"/>
            </a:endParaRPr>
          </a:p>
        </p:txBody>
      </p:sp>
      <p:sp>
        <p:nvSpPr>
          <p:cNvPr id="147" name="TextBox 23"/>
          <p:cNvSpPr/>
          <p:nvPr/>
        </p:nvSpPr>
        <p:spPr>
          <a:xfrm>
            <a:off x="457200" y="41605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1990s</a:t>
            </a:r>
            <a:endParaRPr lang="en-US" sz="2200" b="0" u="none" strike="noStrike">
              <a:solidFill>
                <a:srgbClr val="FFFFFF"/>
              </a:solidFill>
              <a:effectLst/>
              <a:uFillTx/>
              <a:latin typeface="Arial"/>
            </a:endParaRPr>
          </a:p>
        </p:txBody>
      </p:sp>
      <p:sp>
        <p:nvSpPr>
          <p:cNvPr id="148" name="TextBox 24"/>
          <p:cNvSpPr/>
          <p:nvPr/>
        </p:nvSpPr>
        <p:spPr>
          <a:xfrm>
            <a:off x="2286000" y="41605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클라이언트-서버, OSS</a:t>
            </a:r>
            <a:endParaRPr lang="en-US" sz="2200" b="0" u="none" strike="noStrike">
              <a:solidFill>
                <a:srgbClr val="FFFFFF"/>
              </a:solidFill>
              <a:effectLst/>
              <a:uFillTx/>
              <a:latin typeface="Arial"/>
            </a:endParaRPr>
          </a:p>
        </p:txBody>
      </p:sp>
      <p:sp>
        <p:nvSpPr>
          <p:cNvPr id="149" name="TextBox 25"/>
          <p:cNvSpPr/>
          <p:nvPr/>
        </p:nvSpPr>
        <p:spPr>
          <a:xfrm>
            <a:off x="5943600" y="41605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0" name="TextBox 26"/>
          <p:cNvSpPr/>
          <p:nvPr/>
        </p:nvSpPr>
        <p:spPr>
          <a:xfrm>
            <a:off x="6309360" y="41605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SQL 인젝션이 등장</a:t>
            </a:r>
            <a:endParaRPr lang="en-US" sz="2000" b="0" u="none" strike="noStrike">
              <a:solidFill>
                <a:srgbClr val="FFFFFF"/>
              </a:solidFill>
              <a:effectLst/>
              <a:uFillTx/>
              <a:latin typeface="Arial"/>
            </a:endParaRPr>
          </a:p>
        </p:txBody>
      </p:sp>
      <p:sp>
        <p:nvSpPr>
          <p:cNvPr id="151" name="TextBox 27"/>
          <p:cNvSpPr/>
          <p:nvPr/>
        </p:nvSpPr>
        <p:spPr>
          <a:xfrm>
            <a:off x="457200" y="46724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2000s</a:t>
            </a:r>
            <a:endParaRPr lang="en-US" sz="2200" b="0" u="none" strike="noStrike">
              <a:solidFill>
                <a:srgbClr val="FFFFFF"/>
              </a:solidFill>
              <a:effectLst/>
              <a:uFillTx/>
              <a:latin typeface="Arial"/>
            </a:endParaRPr>
          </a:p>
        </p:txBody>
      </p:sp>
      <p:sp>
        <p:nvSpPr>
          <p:cNvPr id="152" name="TextBox 28"/>
          <p:cNvSpPr/>
          <p:nvPr/>
        </p:nvSpPr>
        <p:spPr>
          <a:xfrm>
            <a:off x="2286000" y="46724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NoSQL 붐</a:t>
            </a:r>
            <a:endParaRPr lang="en-US" sz="2200" b="0" u="none" strike="noStrike">
              <a:solidFill>
                <a:srgbClr val="FFFFFF"/>
              </a:solidFill>
              <a:effectLst/>
              <a:uFillTx/>
              <a:latin typeface="Arial"/>
            </a:endParaRPr>
          </a:p>
        </p:txBody>
      </p:sp>
      <p:sp>
        <p:nvSpPr>
          <p:cNvPr id="153" name="TextBox 29"/>
          <p:cNvSpPr/>
          <p:nvPr/>
        </p:nvSpPr>
        <p:spPr>
          <a:xfrm>
            <a:off x="5943600" y="46724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4" name="TextBox 30"/>
          <p:cNvSpPr/>
          <p:nvPr/>
        </p:nvSpPr>
        <p:spPr>
          <a:xfrm>
            <a:off x="6309360" y="46724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"기반을 버렸다" — 보안 포함</a:t>
            </a:r>
            <a:endParaRPr lang="en-US" sz="2000" b="0" u="none" strike="noStrike">
              <a:solidFill>
                <a:srgbClr val="FFFFFF"/>
              </a:solidFill>
              <a:effectLst/>
              <a:uFillTx/>
              <a:latin typeface="Arial"/>
            </a:endParaRPr>
          </a:p>
        </p:txBody>
      </p:sp>
      <p:sp>
        <p:nvSpPr>
          <p:cNvPr id="155" name="TextBox 31"/>
          <p:cNvSpPr/>
          <p:nvPr/>
        </p:nvSpPr>
        <p:spPr>
          <a:xfrm>
            <a:off x="457200" y="51847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2010s</a:t>
            </a:r>
            <a:endParaRPr lang="en-US" sz="2200" b="0" u="none" strike="noStrike">
              <a:solidFill>
                <a:srgbClr val="FFFFFF"/>
              </a:solidFill>
              <a:effectLst/>
              <a:uFillTx/>
              <a:latin typeface="Arial"/>
            </a:endParaRPr>
          </a:p>
        </p:txBody>
      </p:sp>
      <p:sp>
        <p:nvSpPr>
          <p:cNvPr id="156" name="TextBox 32"/>
          <p:cNvSpPr/>
          <p:nvPr/>
        </p:nvSpPr>
        <p:spPr>
          <a:xfrm>
            <a:off x="2286000" y="51847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클라우드 / NewSQL</a:t>
            </a:r>
            <a:endParaRPr lang="en-US" sz="2200" b="0" u="none" strike="noStrike">
              <a:solidFill>
                <a:srgbClr val="FFFFFF"/>
              </a:solidFill>
              <a:effectLst/>
              <a:uFillTx/>
              <a:latin typeface="Arial"/>
            </a:endParaRPr>
          </a:p>
        </p:txBody>
      </p:sp>
      <p:sp>
        <p:nvSpPr>
          <p:cNvPr id="157" name="TextBox 33"/>
          <p:cNvSpPr/>
          <p:nvPr/>
        </p:nvSpPr>
        <p:spPr>
          <a:xfrm>
            <a:off x="5943600" y="51847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8" name="TextBox 34"/>
          <p:cNvSpPr/>
          <p:nvPr/>
        </p:nvSpPr>
        <p:spPr>
          <a:xfrm>
            <a:off x="6309360" y="51847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공동 책임, 고객의 설정 오류</a:t>
            </a:r>
            <a:endParaRPr lang="en-US" sz="2000" b="0" u="none" strike="noStrike">
              <a:solidFill>
                <a:srgbClr val="FFFFFF"/>
              </a:solidFill>
              <a:effectLst/>
              <a:uFillTx/>
              <a:latin typeface="Arial"/>
            </a:endParaRPr>
          </a:p>
        </p:txBody>
      </p:sp>
      <p:sp>
        <p:nvSpPr>
          <p:cNvPr id="159" name="TextBox 35"/>
          <p:cNvSpPr/>
          <p:nvPr/>
        </p:nvSpPr>
        <p:spPr>
          <a:xfrm>
            <a:off x="457200" y="56966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2020s</a:t>
            </a:r>
            <a:endParaRPr lang="en-US" sz="2200" b="0" u="none" strike="noStrike">
              <a:solidFill>
                <a:srgbClr val="FFFFFF"/>
              </a:solidFill>
              <a:effectLst/>
              <a:uFillTx/>
              <a:latin typeface="Arial"/>
            </a:endParaRPr>
          </a:p>
        </p:txBody>
      </p:sp>
      <p:sp>
        <p:nvSpPr>
          <p:cNvPr id="160" name="TextBox 36"/>
          <p:cNvSpPr/>
          <p:nvPr/>
        </p:nvSpPr>
        <p:spPr>
          <a:xfrm>
            <a:off x="2286000" y="56966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벡터 / 서버리스</a:t>
            </a:r>
            <a:endParaRPr lang="en-US" sz="2200" b="0" u="none" strike="noStrike">
              <a:solidFill>
                <a:srgbClr val="FFFFFF"/>
              </a:solidFill>
              <a:effectLst/>
              <a:uFillTx/>
              <a:latin typeface="Arial"/>
            </a:endParaRPr>
          </a:p>
        </p:txBody>
      </p:sp>
      <p:sp>
        <p:nvSpPr>
          <p:cNvPr id="161" name="TextBox 37"/>
          <p:cNvSpPr/>
          <p:nvPr/>
        </p:nvSpPr>
        <p:spPr>
          <a:xfrm>
            <a:off x="5943600" y="56966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62" name="TextBox 38"/>
          <p:cNvSpPr/>
          <p:nvPr/>
        </p:nvSpPr>
        <p:spPr>
          <a:xfrm>
            <a:off x="6309360" y="56966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데이터 포이즈닝, 프롬프트 인젝션</a:t>
            </a:r>
            <a:endParaRPr lang="en-US" sz="2000" b="0" u="none" strike="noStrike">
              <a:solidFill>
                <a:srgbClr val="FFFFFF"/>
              </a:solidFill>
              <a:effectLst/>
              <a:uFillTx/>
              <a:latin typeface="Arial"/>
            </a:endParaRPr>
          </a:p>
        </p:txBody>
      </p:sp>
      <p:sp>
        <p:nvSpPr>
          <p:cNvPr id="163"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164"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65" name="TextBox 1" descr="Grid of the ten database families with example products: relational, document, key-value, column-family, graph, search, time-series, vector, embedded, and data lake." title="Grid of the ten database families with example products: relational, document, k"/>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데이터베이스의 열 가지 계열</a:t>
            </a:r>
            <a:endParaRPr lang="en-US" sz="4200" b="0" u="none" strike="noStrike">
              <a:solidFill>
                <a:srgbClr val="FFFFFF"/>
              </a:solidFill>
              <a:effectLst/>
              <a:uFillTx/>
              <a:latin typeface="Arial"/>
            </a:endParaRPr>
          </a:p>
        </p:txBody>
      </p:sp>
      <p:sp>
        <p:nvSpPr>
          <p:cNvPr id="16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7" name="Rounded Rectangle 3"/>
          <p:cNvSpPr/>
          <p:nvPr/>
        </p:nvSpPr>
        <p:spPr>
          <a:xfrm>
            <a:off x="54864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 name="TextBox 4"/>
          <p:cNvSpPr/>
          <p:nvPr/>
        </p:nvSpPr>
        <p:spPr>
          <a:xfrm>
            <a:off x="68580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a:t>
            </a:r>
            <a:endParaRPr lang="en-US" sz="2200" b="0" u="none" strike="noStrike">
              <a:solidFill>
                <a:srgbClr val="FFFFFF"/>
              </a:solidFill>
              <a:effectLst/>
              <a:uFillTx/>
              <a:latin typeface="Arial"/>
            </a:endParaRPr>
          </a:p>
        </p:txBody>
      </p:sp>
      <p:sp>
        <p:nvSpPr>
          <p:cNvPr id="169" name="TextBox 5"/>
          <p:cNvSpPr/>
          <p:nvPr/>
        </p:nvSpPr>
        <p:spPr>
          <a:xfrm>
            <a:off x="173736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관계형</a:t>
            </a:r>
            <a:endParaRPr lang="en-US" sz="2200" b="0" u="none" strike="noStrike">
              <a:solidFill>
                <a:srgbClr val="FFFFFF"/>
              </a:solidFill>
              <a:effectLst/>
              <a:uFillTx/>
              <a:latin typeface="Arial"/>
            </a:endParaRPr>
          </a:p>
        </p:txBody>
      </p:sp>
      <p:sp>
        <p:nvSpPr>
          <p:cNvPr id="170" name="TextBox 6"/>
          <p:cNvSpPr/>
          <p:nvPr/>
        </p:nvSpPr>
        <p:spPr>
          <a:xfrm>
            <a:off x="173736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SQL  •  PostgreSQL, MySQL</a:t>
            </a:r>
            <a:endParaRPr lang="en-US" sz="1800" b="0" u="none" strike="noStrike">
              <a:solidFill>
                <a:srgbClr val="FFFFFF"/>
              </a:solidFill>
              <a:effectLst/>
              <a:uFillTx/>
              <a:latin typeface="Arial"/>
            </a:endParaRPr>
          </a:p>
        </p:txBody>
      </p:sp>
      <p:sp>
        <p:nvSpPr>
          <p:cNvPr id="171" name="Rounded Rectangle 7"/>
          <p:cNvSpPr/>
          <p:nvPr/>
        </p:nvSpPr>
        <p:spPr>
          <a:xfrm>
            <a:off x="621792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2" name="TextBox 8"/>
          <p:cNvSpPr/>
          <p:nvPr/>
        </p:nvSpPr>
        <p:spPr>
          <a:xfrm>
            <a:off x="635508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2.</a:t>
            </a:r>
            <a:endParaRPr lang="en-US" sz="2200" b="0" u="none" strike="noStrike">
              <a:solidFill>
                <a:srgbClr val="FFFFFF"/>
              </a:solidFill>
              <a:effectLst/>
              <a:uFillTx/>
              <a:latin typeface="Arial"/>
            </a:endParaRPr>
          </a:p>
        </p:txBody>
      </p:sp>
      <p:sp>
        <p:nvSpPr>
          <p:cNvPr id="173" name="TextBox 9"/>
          <p:cNvSpPr/>
          <p:nvPr/>
        </p:nvSpPr>
        <p:spPr>
          <a:xfrm>
            <a:off x="740664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문서형</a:t>
            </a:r>
            <a:endParaRPr lang="en-US" sz="2200" b="0" u="none" strike="noStrike">
              <a:solidFill>
                <a:srgbClr val="FFFFFF"/>
              </a:solidFill>
              <a:effectLst/>
              <a:uFillTx/>
              <a:latin typeface="Arial"/>
            </a:endParaRPr>
          </a:p>
        </p:txBody>
      </p:sp>
      <p:sp>
        <p:nvSpPr>
          <p:cNvPr id="174" name="TextBox 10"/>
          <p:cNvSpPr/>
          <p:nvPr/>
        </p:nvSpPr>
        <p:spPr>
          <a:xfrm>
            <a:off x="740664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JSON  •  MongoDB, Firestore</a:t>
            </a:r>
            <a:endParaRPr lang="en-US" sz="1800" b="0" u="none" strike="noStrike">
              <a:solidFill>
                <a:srgbClr val="FFFFFF"/>
              </a:solidFill>
              <a:effectLst/>
              <a:uFillTx/>
              <a:latin typeface="Arial"/>
            </a:endParaRPr>
          </a:p>
        </p:txBody>
      </p:sp>
      <p:sp>
        <p:nvSpPr>
          <p:cNvPr id="175" name="Rounded Rectangle 11"/>
          <p:cNvSpPr/>
          <p:nvPr/>
        </p:nvSpPr>
        <p:spPr>
          <a:xfrm>
            <a:off x="54864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6" name="TextBox 12"/>
          <p:cNvSpPr/>
          <p:nvPr/>
        </p:nvSpPr>
        <p:spPr>
          <a:xfrm>
            <a:off x="68580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3.</a:t>
            </a:r>
            <a:endParaRPr lang="en-US" sz="2200" b="0" u="none" strike="noStrike">
              <a:solidFill>
                <a:srgbClr val="FFFFFF"/>
              </a:solidFill>
              <a:effectLst/>
              <a:uFillTx/>
              <a:latin typeface="Arial"/>
            </a:endParaRPr>
          </a:p>
        </p:txBody>
      </p:sp>
      <p:sp>
        <p:nvSpPr>
          <p:cNvPr id="177" name="TextBox 13"/>
          <p:cNvSpPr/>
          <p:nvPr/>
        </p:nvSpPr>
        <p:spPr>
          <a:xfrm>
            <a:off x="173736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키-값</a:t>
            </a:r>
            <a:endParaRPr lang="en-US" sz="2200" b="0" u="none" strike="noStrike">
              <a:solidFill>
                <a:srgbClr val="FFFFFF"/>
              </a:solidFill>
              <a:effectLst/>
              <a:uFillTx/>
              <a:latin typeface="Arial"/>
            </a:endParaRPr>
          </a:p>
        </p:txBody>
      </p:sp>
      <p:sp>
        <p:nvSpPr>
          <p:cNvPr id="178" name="TextBox 14"/>
          <p:cNvSpPr/>
          <p:nvPr/>
        </p:nvSpPr>
        <p:spPr>
          <a:xfrm>
            <a:off x="173736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딕셔너리  •  Redis, DynamoDB</a:t>
            </a:r>
            <a:endParaRPr lang="en-US" sz="1800" b="0" u="none" strike="noStrike">
              <a:solidFill>
                <a:srgbClr val="FFFFFF"/>
              </a:solidFill>
              <a:effectLst/>
              <a:uFillTx/>
              <a:latin typeface="Arial"/>
            </a:endParaRPr>
          </a:p>
        </p:txBody>
      </p:sp>
      <p:sp>
        <p:nvSpPr>
          <p:cNvPr id="179" name="Rounded Rectangle 15"/>
          <p:cNvSpPr/>
          <p:nvPr/>
        </p:nvSpPr>
        <p:spPr>
          <a:xfrm>
            <a:off x="621792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 name="TextBox 16"/>
          <p:cNvSpPr/>
          <p:nvPr/>
        </p:nvSpPr>
        <p:spPr>
          <a:xfrm>
            <a:off x="635508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4.</a:t>
            </a:r>
            <a:endParaRPr lang="en-US" sz="2200" b="0" u="none" strike="noStrike">
              <a:solidFill>
                <a:srgbClr val="FFFFFF"/>
              </a:solidFill>
              <a:effectLst/>
              <a:uFillTx/>
              <a:latin typeface="Arial"/>
            </a:endParaRPr>
          </a:p>
        </p:txBody>
      </p:sp>
      <p:sp>
        <p:nvSpPr>
          <p:cNvPr id="181" name="TextBox 17"/>
          <p:cNvSpPr/>
          <p:nvPr/>
        </p:nvSpPr>
        <p:spPr>
          <a:xfrm>
            <a:off x="740664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컬럼 패밀리</a:t>
            </a:r>
            <a:endParaRPr lang="en-US" sz="2200" b="0" u="none" strike="noStrike">
              <a:solidFill>
                <a:srgbClr val="FFFFFF"/>
              </a:solidFill>
              <a:effectLst/>
              <a:uFillTx/>
              <a:latin typeface="Arial"/>
            </a:endParaRPr>
          </a:p>
        </p:txBody>
      </p:sp>
      <p:sp>
        <p:nvSpPr>
          <p:cNvPr id="182" name="TextBox 18"/>
          <p:cNvSpPr/>
          <p:nvPr/>
        </p:nvSpPr>
        <p:spPr>
          <a:xfrm>
            <a:off x="740664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와이드 컬럼  •  Cassandra, HBase</a:t>
            </a:r>
            <a:endParaRPr lang="en-US" sz="1800" b="0" u="none" strike="noStrike">
              <a:solidFill>
                <a:srgbClr val="FFFFFF"/>
              </a:solidFill>
              <a:effectLst/>
              <a:uFillTx/>
              <a:latin typeface="Arial"/>
            </a:endParaRPr>
          </a:p>
        </p:txBody>
      </p:sp>
      <p:sp>
        <p:nvSpPr>
          <p:cNvPr id="183" name="Rounded Rectangle 19"/>
          <p:cNvSpPr/>
          <p:nvPr/>
        </p:nvSpPr>
        <p:spPr>
          <a:xfrm>
            <a:off x="54864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TextBox 20"/>
          <p:cNvSpPr/>
          <p:nvPr/>
        </p:nvSpPr>
        <p:spPr>
          <a:xfrm>
            <a:off x="68580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5.</a:t>
            </a:r>
            <a:endParaRPr lang="en-US" sz="2200" b="0" u="none" strike="noStrike">
              <a:solidFill>
                <a:srgbClr val="FFFFFF"/>
              </a:solidFill>
              <a:effectLst/>
              <a:uFillTx/>
              <a:latin typeface="Arial"/>
            </a:endParaRPr>
          </a:p>
        </p:txBody>
      </p:sp>
      <p:sp>
        <p:nvSpPr>
          <p:cNvPr id="185" name="TextBox 21"/>
          <p:cNvSpPr/>
          <p:nvPr/>
        </p:nvSpPr>
        <p:spPr>
          <a:xfrm>
            <a:off x="173736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그래프</a:t>
            </a:r>
            <a:endParaRPr lang="en-US" sz="2200" b="0" u="none" strike="noStrike">
              <a:solidFill>
                <a:srgbClr val="FFFFFF"/>
              </a:solidFill>
              <a:effectLst/>
              <a:uFillTx/>
              <a:latin typeface="Arial"/>
            </a:endParaRPr>
          </a:p>
        </p:txBody>
      </p:sp>
      <p:sp>
        <p:nvSpPr>
          <p:cNvPr id="186" name="TextBox 22"/>
          <p:cNvSpPr/>
          <p:nvPr/>
        </p:nvSpPr>
        <p:spPr>
          <a:xfrm>
            <a:off x="173736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노드+엣지  •  Neo4j, Neptune</a:t>
            </a:r>
            <a:endParaRPr lang="en-US" sz="1800" b="0" u="none" strike="noStrike">
              <a:solidFill>
                <a:srgbClr val="FFFFFF"/>
              </a:solidFill>
              <a:effectLst/>
              <a:uFillTx/>
              <a:latin typeface="Arial"/>
            </a:endParaRPr>
          </a:p>
        </p:txBody>
      </p:sp>
      <p:sp>
        <p:nvSpPr>
          <p:cNvPr id="187" name="Rounded Rectangle 23"/>
          <p:cNvSpPr/>
          <p:nvPr/>
        </p:nvSpPr>
        <p:spPr>
          <a:xfrm>
            <a:off x="621792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8" name="TextBox 24"/>
          <p:cNvSpPr/>
          <p:nvPr/>
        </p:nvSpPr>
        <p:spPr>
          <a:xfrm>
            <a:off x="635508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6.</a:t>
            </a:r>
            <a:endParaRPr lang="en-US" sz="2200" b="0" u="none" strike="noStrike">
              <a:solidFill>
                <a:srgbClr val="FFFFFF"/>
              </a:solidFill>
              <a:effectLst/>
              <a:uFillTx/>
              <a:latin typeface="Arial"/>
            </a:endParaRPr>
          </a:p>
        </p:txBody>
      </p:sp>
      <p:sp>
        <p:nvSpPr>
          <p:cNvPr id="189" name="TextBox 25"/>
          <p:cNvSpPr/>
          <p:nvPr/>
        </p:nvSpPr>
        <p:spPr>
          <a:xfrm>
            <a:off x="740664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검색</a:t>
            </a:r>
            <a:endParaRPr lang="en-US" sz="2200" b="0" u="none" strike="noStrike">
              <a:solidFill>
                <a:srgbClr val="FFFFFF"/>
              </a:solidFill>
              <a:effectLst/>
              <a:uFillTx/>
              <a:latin typeface="Arial"/>
            </a:endParaRPr>
          </a:p>
        </p:txBody>
      </p:sp>
      <p:sp>
        <p:nvSpPr>
          <p:cNvPr id="190" name="TextBox 26"/>
          <p:cNvSpPr/>
          <p:nvPr/>
        </p:nvSpPr>
        <p:spPr>
          <a:xfrm>
            <a:off x="740664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전문 검색  •  Elastic, OpenSearch</a:t>
            </a:r>
            <a:endParaRPr lang="en-US" sz="1800" b="0" u="none" strike="noStrike">
              <a:solidFill>
                <a:srgbClr val="FFFFFF"/>
              </a:solidFill>
              <a:effectLst/>
              <a:uFillTx/>
              <a:latin typeface="Arial"/>
            </a:endParaRPr>
          </a:p>
        </p:txBody>
      </p:sp>
      <p:sp>
        <p:nvSpPr>
          <p:cNvPr id="191" name="Rounded Rectangle 27"/>
          <p:cNvSpPr/>
          <p:nvPr/>
        </p:nvSpPr>
        <p:spPr>
          <a:xfrm>
            <a:off x="54864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 name="TextBox 28"/>
          <p:cNvSpPr/>
          <p:nvPr/>
        </p:nvSpPr>
        <p:spPr>
          <a:xfrm>
            <a:off x="68580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7.</a:t>
            </a:r>
            <a:endParaRPr lang="en-US" sz="2200" b="0" u="none" strike="noStrike">
              <a:solidFill>
                <a:srgbClr val="FFFFFF"/>
              </a:solidFill>
              <a:effectLst/>
              <a:uFillTx/>
              <a:latin typeface="Arial"/>
            </a:endParaRPr>
          </a:p>
        </p:txBody>
      </p:sp>
      <p:sp>
        <p:nvSpPr>
          <p:cNvPr id="193" name="TextBox 29"/>
          <p:cNvSpPr/>
          <p:nvPr/>
        </p:nvSpPr>
        <p:spPr>
          <a:xfrm>
            <a:off x="173736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시계열</a:t>
            </a:r>
            <a:endParaRPr lang="en-US" sz="2200" b="0" u="none" strike="noStrike">
              <a:solidFill>
                <a:srgbClr val="FFFFFF"/>
              </a:solidFill>
              <a:effectLst/>
              <a:uFillTx/>
              <a:latin typeface="Arial"/>
            </a:endParaRPr>
          </a:p>
        </p:txBody>
      </p:sp>
      <p:sp>
        <p:nvSpPr>
          <p:cNvPr id="194" name="TextBox 30"/>
          <p:cNvSpPr/>
          <p:nvPr/>
        </p:nvSpPr>
        <p:spPr>
          <a:xfrm>
            <a:off x="173736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메트릭  •  Influx, Prometheus</a:t>
            </a:r>
            <a:endParaRPr lang="en-US" sz="1800" b="0" u="none" strike="noStrike">
              <a:solidFill>
                <a:srgbClr val="FFFFFF"/>
              </a:solidFill>
              <a:effectLst/>
              <a:uFillTx/>
              <a:latin typeface="Arial"/>
            </a:endParaRPr>
          </a:p>
        </p:txBody>
      </p:sp>
      <p:sp>
        <p:nvSpPr>
          <p:cNvPr id="195" name="Rounded Rectangle 31"/>
          <p:cNvSpPr/>
          <p:nvPr/>
        </p:nvSpPr>
        <p:spPr>
          <a:xfrm>
            <a:off x="621792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TextBox 32"/>
          <p:cNvSpPr/>
          <p:nvPr/>
        </p:nvSpPr>
        <p:spPr>
          <a:xfrm>
            <a:off x="635508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8.</a:t>
            </a:r>
            <a:endParaRPr lang="en-US" sz="2200" b="0" u="none" strike="noStrike">
              <a:solidFill>
                <a:srgbClr val="FFFFFF"/>
              </a:solidFill>
              <a:effectLst/>
              <a:uFillTx/>
              <a:latin typeface="Arial"/>
            </a:endParaRPr>
          </a:p>
        </p:txBody>
      </p:sp>
      <p:sp>
        <p:nvSpPr>
          <p:cNvPr id="197" name="TextBox 33"/>
          <p:cNvSpPr/>
          <p:nvPr/>
        </p:nvSpPr>
        <p:spPr>
          <a:xfrm>
            <a:off x="740664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벡터</a:t>
            </a:r>
            <a:endParaRPr lang="en-US" sz="2200" b="0" u="none" strike="noStrike">
              <a:solidFill>
                <a:srgbClr val="FFFFFF"/>
              </a:solidFill>
              <a:effectLst/>
              <a:uFillTx/>
              <a:latin typeface="Arial"/>
            </a:endParaRPr>
          </a:p>
        </p:txBody>
      </p:sp>
      <p:sp>
        <p:nvSpPr>
          <p:cNvPr id="198" name="TextBox 34"/>
          <p:cNvSpPr/>
          <p:nvPr/>
        </p:nvSpPr>
        <p:spPr>
          <a:xfrm>
            <a:off x="740664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임베딩  •  Pinecone, pgvector</a:t>
            </a:r>
            <a:endParaRPr lang="en-US" sz="1800" b="0" u="none" strike="noStrike">
              <a:solidFill>
                <a:srgbClr val="FFFFFF"/>
              </a:solidFill>
              <a:effectLst/>
              <a:uFillTx/>
              <a:latin typeface="Arial"/>
            </a:endParaRPr>
          </a:p>
        </p:txBody>
      </p:sp>
      <p:sp>
        <p:nvSpPr>
          <p:cNvPr id="199" name="Rounded Rectangle 35"/>
          <p:cNvSpPr/>
          <p:nvPr/>
        </p:nvSpPr>
        <p:spPr>
          <a:xfrm>
            <a:off x="54864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0" name="TextBox 36"/>
          <p:cNvSpPr/>
          <p:nvPr/>
        </p:nvSpPr>
        <p:spPr>
          <a:xfrm>
            <a:off x="68580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9.</a:t>
            </a:r>
            <a:endParaRPr lang="en-US" sz="2200" b="0" u="none" strike="noStrike">
              <a:solidFill>
                <a:srgbClr val="FFFFFF"/>
              </a:solidFill>
              <a:effectLst/>
              <a:uFillTx/>
              <a:latin typeface="Arial"/>
            </a:endParaRPr>
          </a:p>
        </p:txBody>
      </p:sp>
      <p:sp>
        <p:nvSpPr>
          <p:cNvPr id="201" name="TextBox 37"/>
          <p:cNvSpPr/>
          <p:nvPr/>
        </p:nvSpPr>
        <p:spPr>
          <a:xfrm>
            <a:off x="173736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임베디드/엣지</a:t>
            </a:r>
            <a:endParaRPr lang="en-US" sz="2200" b="0" u="none" strike="noStrike">
              <a:solidFill>
                <a:srgbClr val="FFFFFF"/>
              </a:solidFill>
              <a:effectLst/>
              <a:uFillTx/>
              <a:latin typeface="Arial"/>
            </a:endParaRPr>
          </a:p>
        </p:txBody>
      </p:sp>
      <p:sp>
        <p:nvSpPr>
          <p:cNvPr id="202" name="TextBox 38"/>
          <p:cNvSpPr/>
          <p:nvPr/>
        </p:nvSpPr>
        <p:spPr>
          <a:xfrm>
            <a:off x="173736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앱 내장  •  SQLite, DuckDB</a:t>
            </a:r>
            <a:endParaRPr lang="en-US" sz="1800" b="0" u="none" strike="noStrike">
              <a:solidFill>
                <a:srgbClr val="FFFFFF"/>
              </a:solidFill>
              <a:effectLst/>
              <a:uFillTx/>
              <a:latin typeface="Arial"/>
            </a:endParaRPr>
          </a:p>
        </p:txBody>
      </p:sp>
      <p:sp>
        <p:nvSpPr>
          <p:cNvPr id="203" name="Rounded Rectangle 39"/>
          <p:cNvSpPr/>
          <p:nvPr/>
        </p:nvSpPr>
        <p:spPr>
          <a:xfrm>
            <a:off x="621792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4" name="TextBox 40"/>
          <p:cNvSpPr/>
          <p:nvPr/>
        </p:nvSpPr>
        <p:spPr>
          <a:xfrm>
            <a:off x="635508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10.</a:t>
            </a:r>
            <a:endParaRPr lang="en-US" sz="2200" b="0" u="none" strike="noStrike">
              <a:solidFill>
                <a:srgbClr val="FFFFFF"/>
              </a:solidFill>
              <a:effectLst/>
              <a:uFillTx/>
              <a:latin typeface="Arial"/>
            </a:endParaRPr>
          </a:p>
        </p:txBody>
      </p:sp>
      <p:sp>
        <p:nvSpPr>
          <p:cNvPr id="205" name="TextBox 41"/>
          <p:cNvSpPr/>
          <p:nvPr/>
        </p:nvSpPr>
        <p:spPr>
          <a:xfrm>
            <a:off x="740664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데이터 레이크</a:t>
            </a:r>
            <a:endParaRPr lang="en-US" sz="2200" b="0" u="none" strike="noStrike">
              <a:solidFill>
                <a:srgbClr val="FFFFFF"/>
              </a:solidFill>
              <a:effectLst/>
              <a:uFillTx/>
              <a:latin typeface="Arial"/>
            </a:endParaRPr>
          </a:p>
        </p:txBody>
      </p:sp>
      <p:sp>
        <p:nvSpPr>
          <p:cNvPr id="206" name="TextBox 42"/>
          <p:cNvSpPr/>
          <p:nvPr/>
        </p:nvSpPr>
        <p:spPr>
          <a:xfrm>
            <a:off x="740664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스키마 온 리드  •  S3+Athena, Iceberg</a:t>
            </a:r>
            <a:endParaRPr lang="en-US" sz="1800" b="0" u="none" strike="noStrike">
              <a:solidFill>
                <a:srgbClr val="FFFFFF"/>
              </a:solidFill>
              <a:effectLst/>
              <a:uFillTx/>
              <a:latin typeface="Arial"/>
            </a:endParaRPr>
          </a:p>
        </p:txBody>
      </p:sp>
      <p:sp>
        <p:nvSpPr>
          <p:cNvPr id="207" name="TextBox 4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208" name="TextBox 4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09" name="Oval 1" descr="Family card #1: Relational / SQL. Products: PostgreSQL  •  MySQL/MariaDB  •  SQL Server  •  Oracle. Use case: Clear relationships, consistency required — finance, regulated data.. Security gotcha: SQL injection when developers concatenate user input into queries.." title="Family card #1: Relational / SQL. Products: PostgreSQL  •  MySQL/MariaDB  •  SQL"/>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0"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a:t>
            </a:r>
            <a:endParaRPr lang="en-US" sz="4400" b="0" u="none" strike="noStrike">
              <a:solidFill>
                <a:srgbClr val="FFFFFF"/>
              </a:solidFill>
              <a:effectLst/>
              <a:uFillTx/>
              <a:latin typeface="Arial"/>
            </a:endParaRPr>
          </a:p>
        </p:txBody>
      </p:sp>
      <p:sp>
        <p:nvSpPr>
          <p:cNvPr id="211"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관계형 / SQL</a:t>
            </a:r>
            <a:endParaRPr lang="en-US" sz="4600" b="0" u="none" strike="noStrike">
              <a:solidFill>
                <a:srgbClr val="FFFFFF"/>
              </a:solidFill>
              <a:effectLst/>
              <a:uFillTx/>
              <a:latin typeface="Arial"/>
            </a:endParaRPr>
          </a:p>
        </p:txBody>
      </p:sp>
      <p:sp>
        <p:nvSpPr>
          <p:cNvPr id="212"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3"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214"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PostgreSQL  •  MySQL/MariaDB  •  SQL Server  •  Oracle</a:t>
            </a:r>
            <a:endParaRPr lang="en-US" sz="2800" b="0" u="none" strike="noStrike">
              <a:solidFill>
                <a:srgbClr val="FFFFFF"/>
              </a:solidFill>
              <a:effectLst/>
              <a:uFillTx/>
              <a:latin typeface="Arial"/>
            </a:endParaRPr>
          </a:p>
        </p:txBody>
      </p:sp>
      <p:sp>
        <p:nvSpPr>
          <p:cNvPr id="215"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216"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명확한 관계와 일관성이 필요할 때 — 금융, 규제 대상 데이터.</a:t>
            </a:r>
            <a:endParaRPr lang="en-US" sz="2400" b="0" u="none" strike="noStrike">
              <a:solidFill>
                <a:srgbClr val="FFFFFF"/>
              </a:solidFill>
              <a:effectLst/>
              <a:uFillTx/>
              <a:latin typeface="Arial"/>
            </a:endParaRPr>
          </a:p>
        </p:txBody>
      </p:sp>
      <p:sp>
        <p:nvSpPr>
          <p:cNvPr id="217"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219"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개발자가 사용자 입력을 쿼리에 문자열로 이어붙일 때 발생하는 SQL 인젝션.</a:t>
            </a:r>
            <a:endParaRPr lang="en-US" sz="2400" b="0" u="none" strike="noStrike">
              <a:solidFill>
                <a:srgbClr val="FFFFFF"/>
              </a:solidFill>
              <a:effectLst/>
              <a:uFillTx/>
              <a:latin typeface="Arial"/>
            </a:endParaRPr>
          </a:p>
        </p:txBody>
      </p:sp>
      <p:sp>
        <p:nvSpPr>
          <p:cNvPr id="220"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221"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22" name="Oval 1" descr="Family card #2: Document Stores. Products: MongoDB  •  Couchbase  •  Firestore. Use case: Naturally nested data; the shape changes over time.. Security gotcha: NoSQL injection via query operators ($ne, $gt, $where). Default no-auth.." title="Family card #2: Document Stores. Products: MongoDB  •  Couchbase  •  Firestor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2</a:t>
            </a:r>
            <a:endParaRPr lang="en-US" sz="4400" b="0" u="none" strike="noStrike">
              <a:solidFill>
                <a:srgbClr val="FFFFFF"/>
              </a:solidFill>
              <a:effectLst/>
              <a:uFillTx/>
              <a:latin typeface="Arial"/>
            </a:endParaRPr>
          </a:p>
        </p:txBody>
      </p:sp>
      <p:sp>
        <p:nvSpPr>
          <p:cNvPr id="224"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문서 저장소</a:t>
            </a:r>
            <a:endParaRPr lang="en-US" sz="4600" b="0" u="none" strike="noStrike">
              <a:solidFill>
                <a:srgbClr val="FFFFFF"/>
              </a:solidFill>
              <a:effectLst/>
              <a:uFillTx/>
              <a:latin typeface="Arial"/>
            </a:endParaRPr>
          </a:p>
        </p:txBody>
      </p:sp>
      <p:sp>
        <p:nvSpPr>
          <p:cNvPr id="225"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26"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227"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MongoDB  •  Couchbase  •  Firestore</a:t>
            </a:r>
            <a:endParaRPr lang="en-US" sz="2800" b="0" u="none" strike="noStrike">
              <a:solidFill>
                <a:srgbClr val="FFFFFF"/>
              </a:solidFill>
              <a:effectLst/>
              <a:uFillTx/>
              <a:latin typeface="Arial"/>
            </a:endParaRPr>
          </a:p>
        </p:txBody>
      </p:sp>
      <p:sp>
        <p:nvSpPr>
          <p:cNvPr id="228"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229"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자연스럽게 중첩되는 데이터로, 시간이 지나면 형태가 바뀝니다.</a:t>
            </a:r>
            <a:endParaRPr lang="en-US" sz="2400" b="0" u="none" strike="noStrike">
              <a:solidFill>
                <a:srgbClr val="FFFFFF"/>
              </a:solidFill>
              <a:effectLst/>
              <a:uFillTx/>
              <a:latin typeface="Arial"/>
            </a:endParaRPr>
          </a:p>
        </p:txBody>
      </p:sp>
      <p:sp>
        <p:nvSpPr>
          <p:cNvPr id="230"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1"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232"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쿼리 연산자($ne, $gt, $where)를 통한 NoSQL 인젝션. 기본적으로 인증 없음.</a:t>
            </a:r>
            <a:endParaRPr lang="en-US" sz="2400" b="0" u="none" strike="noStrike">
              <a:solidFill>
                <a:srgbClr val="FFFFFF"/>
              </a:solidFill>
              <a:effectLst/>
              <a:uFillTx/>
              <a:latin typeface="Arial"/>
            </a:endParaRPr>
          </a:p>
        </p:txBody>
      </p:sp>
      <p:sp>
        <p:nvSpPr>
          <p:cNvPr id="233"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234"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35" name="Oval 1" descr="Family card #3: Key-Value Stores. Products: Redis  •  Memcached  •  DynamoDB. Use case: Caches, session stores, rate limiters, leaderboards.. Security gotcha: Default no-auth Redis + CONFIG SET → writing SSH keys to disk.." title="Family card #3: Key-Value Stores. Products: Redis  •  Memcached  •  DynamoDB. Us"/>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6"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3</a:t>
            </a:r>
            <a:endParaRPr lang="en-US" sz="4400" b="0" u="none" strike="noStrike">
              <a:solidFill>
                <a:srgbClr val="FFFFFF"/>
              </a:solidFill>
              <a:effectLst/>
              <a:uFillTx/>
              <a:latin typeface="Arial"/>
            </a:endParaRPr>
          </a:p>
        </p:txBody>
      </p:sp>
      <p:sp>
        <p:nvSpPr>
          <p:cNvPr id="237"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키-값 저장소</a:t>
            </a:r>
            <a:endParaRPr lang="en-US" sz="4600" b="0" u="none" strike="noStrike">
              <a:solidFill>
                <a:srgbClr val="FFFFFF"/>
              </a:solidFill>
              <a:effectLst/>
              <a:uFillTx/>
              <a:latin typeface="Arial"/>
            </a:endParaRPr>
          </a:p>
        </p:txBody>
      </p:sp>
      <p:sp>
        <p:nvSpPr>
          <p:cNvPr id="238"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9"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240"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Redis  •  Memcached  •  DynamoDB</a:t>
            </a:r>
            <a:endParaRPr lang="en-US" sz="2800" b="0" u="none" strike="noStrike">
              <a:solidFill>
                <a:srgbClr val="FFFFFF"/>
              </a:solidFill>
              <a:effectLst/>
              <a:uFillTx/>
              <a:latin typeface="Arial"/>
            </a:endParaRPr>
          </a:p>
        </p:txBody>
      </p:sp>
      <p:sp>
        <p:nvSpPr>
          <p:cNvPr id="241"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242"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캐시, 세션 저장소, 속도 제한기, 리더보드.</a:t>
            </a:r>
            <a:endParaRPr lang="en-US" sz="2400" b="0" u="none" strike="noStrike">
              <a:solidFill>
                <a:srgbClr val="FFFFFF"/>
              </a:solidFill>
              <a:effectLst/>
              <a:uFillTx/>
              <a:latin typeface="Arial"/>
            </a:endParaRPr>
          </a:p>
        </p:txBody>
      </p:sp>
      <p:sp>
        <p:nvSpPr>
          <p:cNvPr id="243"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4"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245"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기본적으로 인증 없는 Redis + CONFIG SET → 디스크에 SSH 키 기록.</a:t>
            </a:r>
            <a:endParaRPr lang="en-US" sz="2400" b="0" u="none" strike="noStrike">
              <a:solidFill>
                <a:srgbClr val="FFFFFF"/>
              </a:solidFill>
              <a:effectLst/>
              <a:uFillTx/>
              <a:latin typeface="Arial"/>
            </a:endParaRPr>
          </a:p>
        </p:txBody>
      </p:sp>
      <p:sp>
        <p:nvSpPr>
          <p:cNvPr id="246"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247"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48" name="Oval 1" descr="Family card #4: Column-Family. Products: Apache Cassandra  •  HBase  •  ScyllaDB. Use case: Massive scale across many machines; no complex joins needed.. Security gotcha: Clusters trust each other on gossip ports — mgmt network = root.." title="Family card #4: Column-Family. Products: Apache Cassandra  •  HBase  •  Scylla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9"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4</a:t>
            </a:r>
            <a:endParaRPr lang="en-US" sz="4400" b="0" u="none" strike="noStrike">
              <a:solidFill>
                <a:srgbClr val="FFFFFF"/>
              </a:solidFill>
              <a:effectLst/>
              <a:uFillTx/>
              <a:latin typeface="Arial"/>
            </a:endParaRPr>
          </a:p>
        </p:txBody>
      </p:sp>
      <p:sp>
        <p:nvSpPr>
          <p:cNvPr id="250"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컬럼 패밀리</a:t>
            </a:r>
            <a:endParaRPr lang="en-US" sz="4600" b="0" u="none" strike="noStrike">
              <a:solidFill>
                <a:srgbClr val="FFFFFF"/>
              </a:solidFill>
              <a:effectLst/>
              <a:uFillTx/>
              <a:latin typeface="Arial"/>
            </a:endParaRPr>
          </a:p>
        </p:txBody>
      </p:sp>
      <p:sp>
        <p:nvSpPr>
          <p:cNvPr id="251"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2"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253"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Apache Cassandra  •  HBase  •  ScyllaDB</a:t>
            </a:r>
            <a:endParaRPr lang="en-US" sz="2800" b="0" u="none" strike="noStrike">
              <a:solidFill>
                <a:srgbClr val="FFFFFF"/>
              </a:solidFill>
              <a:effectLst/>
              <a:uFillTx/>
              <a:latin typeface="Arial"/>
            </a:endParaRPr>
          </a:p>
        </p:txBody>
      </p:sp>
      <p:sp>
        <p:nvSpPr>
          <p:cNvPr id="254"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255"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여러 머신에 걸친 대규모 확장; 복잡한 조인이 필요 없습니다.</a:t>
            </a:r>
            <a:endParaRPr lang="en-US" sz="2400" b="0" u="none" strike="noStrike">
              <a:solidFill>
                <a:srgbClr val="FFFFFF"/>
              </a:solidFill>
              <a:effectLst/>
              <a:uFillTx/>
              <a:latin typeface="Arial"/>
            </a:endParaRPr>
          </a:p>
        </p:txBody>
      </p:sp>
      <p:sp>
        <p:nvSpPr>
          <p:cNvPr id="256"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7"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258"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클러스터는 gossip 포트로 서로를 신뢰합니다 — 관리 네트워크 = 루트.</a:t>
            </a:r>
            <a:endParaRPr lang="en-US" sz="2400" b="0" u="none" strike="noStrike">
              <a:solidFill>
                <a:srgbClr val="FFFFFF"/>
              </a:solidFill>
              <a:effectLst/>
              <a:uFillTx/>
              <a:latin typeface="Arial"/>
            </a:endParaRPr>
          </a:p>
        </p:txBody>
      </p:sp>
      <p:sp>
        <p:nvSpPr>
          <p:cNvPr id="259"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260"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61" name="Oval 1" descr="Family card #5: Graph Databases. Products: Neo4j  •  Amazon Neptune  •  ArangoDB. Use case: Social networks, fraud detection, IAM analysis (e.g. BloodHound).. Security gotcha: Query languages like Cypher are injectable too. NoSQLi isn't just Mongo.." title="Family card #5: Graph Databases. Products: Neo4j  •  Amazon Neptune  •  Arango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2"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5</a:t>
            </a:r>
            <a:endParaRPr lang="en-US" sz="4400" b="0" u="none" strike="noStrike">
              <a:solidFill>
                <a:srgbClr val="FFFFFF"/>
              </a:solidFill>
              <a:effectLst/>
              <a:uFillTx/>
              <a:latin typeface="Arial"/>
            </a:endParaRPr>
          </a:p>
        </p:txBody>
      </p:sp>
      <p:sp>
        <p:nvSpPr>
          <p:cNvPr id="263"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그래프 데이터베이스</a:t>
            </a:r>
            <a:endParaRPr lang="en-US" sz="4600" b="0" u="none" strike="noStrike">
              <a:solidFill>
                <a:srgbClr val="FFFFFF"/>
              </a:solidFill>
              <a:effectLst/>
              <a:uFillTx/>
              <a:latin typeface="Arial"/>
            </a:endParaRPr>
          </a:p>
        </p:txBody>
      </p:sp>
      <p:sp>
        <p:nvSpPr>
          <p:cNvPr id="264"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5"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266"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Neo4j  •  Amazon Neptune  •  ArangoDB</a:t>
            </a:r>
            <a:endParaRPr lang="en-US" sz="2800" b="0" u="none" strike="noStrike">
              <a:solidFill>
                <a:srgbClr val="FFFFFF"/>
              </a:solidFill>
              <a:effectLst/>
              <a:uFillTx/>
              <a:latin typeface="Arial"/>
            </a:endParaRPr>
          </a:p>
        </p:txBody>
      </p:sp>
      <p:sp>
        <p:nvSpPr>
          <p:cNvPr id="267"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268"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소셜 네트워크, 사기 탐지, IAM 분석(예: BloodHound).</a:t>
            </a:r>
            <a:endParaRPr lang="en-US" sz="2400" b="0" u="none" strike="noStrike">
              <a:solidFill>
                <a:srgbClr val="FFFFFF"/>
              </a:solidFill>
              <a:effectLst/>
              <a:uFillTx/>
              <a:latin typeface="Arial"/>
            </a:endParaRPr>
          </a:p>
        </p:txBody>
      </p:sp>
      <p:sp>
        <p:nvSpPr>
          <p:cNvPr id="269"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271"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Cypher 같은 쿼리 언어도 인젝션이 가능합니다. NoSQLi는 Mongo만의 문제가 아닙니다.</a:t>
            </a:r>
            <a:endParaRPr lang="en-US" sz="2400" b="0" u="none" strike="noStrike">
              <a:solidFill>
                <a:srgbClr val="FFFFFF"/>
              </a:solidFill>
              <a:effectLst/>
              <a:uFillTx/>
              <a:latin typeface="Arial"/>
            </a:endParaRPr>
          </a:p>
        </p:txBody>
      </p:sp>
      <p:sp>
        <p:nvSpPr>
          <p:cNvPr id="272"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273"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74" name="Oval 1" descr="Family card #6: Search Engines. Products: Elasticsearch  •  OpenSearch  •  Solr. Use case: Log search, SIEM backbones, e-commerce site search.. Security gotcha: No built-in auth historically — billions of records exposed on Shodan.." title="Family card #6: Search Engines. Products: Elasticsearch  •  OpenSearch  •  Solr."/>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5"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6</a:t>
            </a:r>
            <a:endParaRPr lang="en-US" sz="4400" b="0" u="none" strike="noStrike">
              <a:solidFill>
                <a:srgbClr val="FFFFFF"/>
              </a:solidFill>
              <a:effectLst/>
              <a:uFillTx/>
              <a:latin typeface="Arial"/>
            </a:endParaRPr>
          </a:p>
        </p:txBody>
      </p:sp>
      <p:sp>
        <p:nvSpPr>
          <p:cNvPr id="276"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검색 엔진</a:t>
            </a:r>
            <a:endParaRPr lang="en-US" sz="4600" b="0" u="none" strike="noStrike">
              <a:solidFill>
                <a:srgbClr val="FFFFFF"/>
              </a:solidFill>
              <a:effectLst/>
              <a:uFillTx/>
              <a:latin typeface="Arial"/>
            </a:endParaRPr>
          </a:p>
        </p:txBody>
      </p:sp>
      <p:sp>
        <p:nvSpPr>
          <p:cNvPr id="277"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78"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279" name="TextBox 6"/>
          <p:cNvSpPr/>
          <p:nvPr/>
        </p:nvSpPr>
        <p:spPr>
          <a:xfrm>
            <a:off x="457200" y="2103120"/>
            <a:ext cx="11246760" cy="51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ea typeface="Arial Unicode MS"/>
              </a:rPr>
              <a:t>Elasticsearch  •  OpenSearch  •  Solr </a:t>
            </a:r>
            <a:endParaRPr lang="en-US" sz="2800" b="0" u="none" strike="noStrike">
              <a:solidFill>
                <a:srgbClr val="FFFFFF"/>
              </a:solidFill>
              <a:effectLst/>
              <a:uFillTx/>
              <a:latin typeface="Arial"/>
            </a:endParaRPr>
          </a:p>
        </p:txBody>
      </p:sp>
      <p:sp>
        <p:nvSpPr>
          <p:cNvPr id="280"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281"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로그 검색, SIEM 백본, 전자상거래 사이트 검색.</a:t>
            </a:r>
            <a:endParaRPr lang="en-US" sz="2400" b="0" u="none" strike="noStrike">
              <a:solidFill>
                <a:srgbClr val="FFFFFF"/>
              </a:solidFill>
              <a:effectLst/>
              <a:uFillTx/>
              <a:latin typeface="Arial"/>
            </a:endParaRPr>
          </a:p>
        </p:txBody>
      </p:sp>
      <p:sp>
        <p:nvSpPr>
          <p:cNvPr id="282"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284"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역사적으로 내장 인증이 없었음 — Shodan에 수십억 건의 레코드가 노출됨.</a:t>
            </a:r>
            <a:endParaRPr lang="en-US" sz="2400" b="0" u="none" strike="noStrike">
              <a:solidFill>
                <a:srgbClr val="FFFFFF"/>
              </a:solidFill>
              <a:effectLst/>
              <a:uFillTx/>
              <a:latin typeface="Arial"/>
            </a:endParaRPr>
          </a:p>
        </p:txBody>
      </p:sp>
      <p:sp>
        <p:nvSpPr>
          <p:cNvPr id="285"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286"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87" name="Oval 1" descr="Family card #7: Time-Series. Products: InfluxDB  •  TimescaleDB  •  Prometheus. Use case: Metrics, observability, IoT telemetry.. Security gotcha: Usually inside the perimeter, often unauthenticated.." title="Family card #7: Time-Series. Products: InfluxDB  •  TimescaleDB  •  Prometheus.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8"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7</a:t>
            </a:r>
            <a:endParaRPr lang="en-US" sz="4400" b="0" u="none" strike="noStrike">
              <a:solidFill>
                <a:srgbClr val="FFFFFF"/>
              </a:solidFill>
              <a:effectLst/>
              <a:uFillTx/>
              <a:latin typeface="Arial"/>
            </a:endParaRPr>
          </a:p>
        </p:txBody>
      </p:sp>
      <p:sp>
        <p:nvSpPr>
          <p:cNvPr id="289"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시계열</a:t>
            </a:r>
            <a:endParaRPr lang="en-US" sz="4600" b="0" u="none" strike="noStrike">
              <a:solidFill>
                <a:srgbClr val="FFFFFF"/>
              </a:solidFill>
              <a:effectLst/>
              <a:uFillTx/>
              <a:latin typeface="Arial"/>
            </a:endParaRPr>
          </a:p>
        </p:txBody>
      </p:sp>
      <p:sp>
        <p:nvSpPr>
          <p:cNvPr id="290"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91"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292"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InfluxDB  •  TimescaleDB  •  Prometheus</a:t>
            </a:r>
            <a:endParaRPr lang="en-US" sz="2800" b="0" u="none" strike="noStrike">
              <a:solidFill>
                <a:srgbClr val="FFFFFF"/>
              </a:solidFill>
              <a:effectLst/>
              <a:uFillTx/>
              <a:latin typeface="Arial"/>
            </a:endParaRPr>
          </a:p>
        </p:txBody>
      </p:sp>
      <p:sp>
        <p:nvSpPr>
          <p:cNvPr id="293"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294"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메트릭, 관측 가능성, IoT 텔레메트리.</a:t>
            </a:r>
            <a:endParaRPr lang="en-US" sz="2400" b="0" u="none" strike="noStrike">
              <a:solidFill>
                <a:srgbClr val="FFFFFF"/>
              </a:solidFill>
              <a:effectLst/>
              <a:uFillTx/>
              <a:latin typeface="Arial"/>
            </a:endParaRPr>
          </a:p>
        </p:txBody>
      </p:sp>
      <p:sp>
        <p:nvSpPr>
          <p:cNvPr id="295"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297"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보통 경계 안쪽에 있고, 인증이 없는 경우가 많습니다.</a:t>
            </a:r>
            <a:endParaRPr lang="en-US" sz="2400" b="0" u="none" strike="noStrike">
              <a:solidFill>
                <a:srgbClr val="FFFFFF"/>
              </a:solidFill>
              <a:effectLst/>
              <a:uFillTx/>
              <a:latin typeface="Arial"/>
            </a:endParaRPr>
          </a:p>
        </p:txBody>
      </p:sp>
      <p:sp>
        <p:nvSpPr>
          <p:cNvPr id="298"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299"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00" name="Oval 1" descr="Family card #8: Vector Databases. Products: Pinecone  •  Milvus  •  Weaviate  •  pgvector. Use case: RAG, recommendation engines, semantic search.. Security gotcha: Data poisoning — sneak in a doc, the LLM quotes it as truth.." title="Family card #8: Vector Databases. Products: Pinecone  •  Milvus  •  Weaviate  •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1"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8</a:t>
            </a:r>
            <a:endParaRPr lang="en-US" sz="4400" b="0" u="none" strike="noStrike">
              <a:solidFill>
                <a:srgbClr val="FFFFFF"/>
              </a:solidFill>
              <a:effectLst/>
              <a:uFillTx/>
              <a:latin typeface="Arial"/>
            </a:endParaRPr>
          </a:p>
        </p:txBody>
      </p:sp>
      <p:sp>
        <p:nvSpPr>
          <p:cNvPr id="302"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벡터 데이터베이스</a:t>
            </a:r>
            <a:endParaRPr lang="en-US" sz="4600" b="0" u="none" strike="noStrike">
              <a:solidFill>
                <a:srgbClr val="FFFFFF"/>
              </a:solidFill>
              <a:effectLst/>
              <a:uFillTx/>
              <a:latin typeface="Arial"/>
            </a:endParaRPr>
          </a:p>
        </p:txBody>
      </p:sp>
      <p:sp>
        <p:nvSpPr>
          <p:cNvPr id="303"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04"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305"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Pinecone  •  Milvus  •  Weaviate  •  pgvector</a:t>
            </a:r>
            <a:endParaRPr lang="en-US" sz="2800" b="0" u="none" strike="noStrike">
              <a:solidFill>
                <a:srgbClr val="FFFFFF"/>
              </a:solidFill>
              <a:effectLst/>
              <a:uFillTx/>
              <a:latin typeface="Arial"/>
            </a:endParaRPr>
          </a:p>
        </p:txBody>
      </p:sp>
      <p:sp>
        <p:nvSpPr>
          <p:cNvPr id="306"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307"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RAG, 추천 엔진, 시맨틱 검색.</a:t>
            </a:r>
            <a:endParaRPr lang="en-US" sz="2400" b="0" u="none" strike="noStrike">
              <a:solidFill>
                <a:srgbClr val="FFFFFF"/>
              </a:solidFill>
              <a:effectLst/>
              <a:uFillTx/>
              <a:latin typeface="Arial"/>
            </a:endParaRPr>
          </a:p>
        </p:txBody>
      </p:sp>
      <p:sp>
        <p:nvSpPr>
          <p:cNvPr id="308"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310"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데이터 포이즈닝 — 문서를 몰래 끼워 넣으면 LLM이 그것을 사실인 양 인용합니다.</a:t>
            </a:r>
            <a:endParaRPr lang="en-US" sz="2400" b="0" u="none" strike="noStrike">
              <a:solidFill>
                <a:srgbClr val="FFFFFF"/>
              </a:solidFill>
              <a:effectLst/>
              <a:uFillTx/>
              <a:latin typeface="Arial"/>
            </a:endParaRPr>
          </a:p>
        </p:txBody>
      </p:sp>
      <p:sp>
        <p:nvSpPr>
          <p:cNvPr id="311"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312"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13" name="Oval 1" descr="Family card #9: Embedded / Edge. Products: SQLite  •  DuckDB  •  LevelDB. Use case: In-app storage — browsers, phones, every modern airplane.. Security gotcha: DB is a file — attack is 'steal the file'. Mobile pentest world.." title="Family card #9: Embedded / Edge. Products: SQLite  •  DuckDB  •  LevelDB. Use ca"/>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4"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9</a:t>
            </a:r>
            <a:endParaRPr lang="en-US" sz="4400" b="0" u="none" strike="noStrike">
              <a:solidFill>
                <a:srgbClr val="FFFFFF"/>
              </a:solidFill>
              <a:effectLst/>
              <a:uFillTx/>
              <a:latin typeface="Arial"/>
            </a:endParaRPr>
          </a:p>
        </p:txBody>
      </p:sp>
      <p:sp>
        <p:nvSpPr>
          <p:cNvPr id="315"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임베디드 / 엣지</a:t>
            </a:r>
            <a:endParaRPr lang="en-US" sz="4600" b="0" u="none" strike="noStrike">
              <a:solidFill>
                <a:srgbClr val="FFFFFF"/>
              </a:solidFill>
              <a:effectLst/>
              <a:uFillTx/>
              <a:latin typeface="Arial"/>
            </a:endParaRPr>
          </a:p>
        </p:txBody>
      </p:sp>
      <p:sp>
        <p:nvSpPr>
          <p:cNvPr id="316"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17"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318"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SQLite  •  DuckDB  •  LevelDB</a:t>
            </a:r>
            <a:endParaRPr lang="en-US" sz="2800" b="0" u="none" strike="noStrike">
              <a:solidFill>
                <a:srgbClr val="FFFFFF"/>
              </a:solidFill>
              <a:effectLst/>
              <a:uFillTx/>
              <a:latin typeface="Arial"/>
            </a:endParaRPr>
          </a:p>
        </p:txBody>
      </p:sp>
      <p:sp>
        <p:nvSpPr>
          <p:cNvPr id="319"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320"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앱 내장 저장소 — 브라우저, 휴대폰, 모든 현대 항공기.</a:t>
            </a:r>
            <a:endParaRPr lang="en-US" sz="2400" b="0" u="none" strike="noStrike">
              <a:solidFill>
                <a:srgbClr val="FFFFFF"/>
              </a:solidFill>
              <a:effectLst/>
              <a:uFillTx/>
              <a:latin typeface="Arial"/>
            </a:endParaRPr>
          </a:p>
        </p:txBody>
      </p:sp>
      <p:sp>
        <p:nvSpPr>
          <p:cNvPr id="321"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2"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323"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DB가 곧 파일입니다 — 공격은 '파일을 훔치는 것'. 모바일 모의 침투의 세계.</a:t>
            </a:r>
            <a:endParaRPr lang="en-US" sz="2400" b="0" u="none" strike="noStrike">
              <a:solidFill>
                <a:srgbClr val="FFFFFF"/>
              </a:solidFill>
              <a:effectLst/>
              <a:uFillTx/>
              <a:latin typeface="Arial"/>
            </a:endParaRPr>
          </a:p>
        </p:txBody>
      </p:sp>
      <p:sp>
        <p:nvSpPr>
          <p:cNvPr id="324"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325"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26" name="Oval 1" descr="Family card #10: Data Lakes / Lakehouses. Products: S3 + Athena  •  Delta Lake  •  Iceberg  •  Snowflake. Use case: Schema-on-read instead of schema-on-write. Dump now, query later.. Security gotcha: Giant S3 pools + permissive IAM, no encryption-at-rest enforcement.." title="Family card #10: Data Lakes / Lakehouses. Products: S3 + Athena  •  Delta Lak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7"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10</a:t>
            </a:r>
            <a:endParaRPr lang="en-US" sz="4400" b="0" u="none" strike="noStrike">
              <a:solidFill>
                <a:srgbClr val="FFFFFF"/>
              </a:solidFill>
              <a:effectLst/>
              <a:uFillTx/>
              <a:latin typeface="Arial"/>
            </a:endParaRPr>
          </a:p>
        </p:txBody>
      </p:sp>
      <p:sp>
        <p:nvSpPr>
          <p:cNvPr id="328"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데이터 레이크 / 레이크하우스</a:t>
            </a:r>
            <a:endParaRPr lang="en-US" sz="4600" b="0" u="none" strike="noStrike">
              <a:solidFill>
                <a:srgbClr val="FFFFFF"/>
              </a:solidFill>
              <a:effectLst/>
              <a:uFillTx/>
              <a:latin typeface="Arial"/>
            </a:endParaRPr>
          </a:p>
        </p:txBody>
      </p:sp>
      <p:sp>
        <p:nvSpPr>
          <p:cNvPr id="329"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30"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제품</a:t>
            </a:r>
            <a:endParaRPr lang="en-US" sz="2000" b="0" u="none" strike="noStrike">
              <a:solidFill>
                <a:srgbClr val="FFFFFF"/>
              </a:solidFill>
              <a:effectLst/>
              <a:uFillTx/>
              <a:latin typeface="Arial"/>
            </a:endParaRPr>
          </a:p>
        </p:txBody>
      </p:sp>
      <p:sp>
        <p:nvSpPr>
          <p:cNvPr id="331"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S3 + Athena  •  Delta Lake  •  Iceberg  •  Snowflake</a:t>
            </a:r>
            <a:endParaRPr lang="en-US" sz="2800" b="0" u="none" strike="noStrike">
              <a:solidFill>
                <a:srgbClr val="FFFFFF"/>
              </a:solidFill>
              <a:effectLst/>
              <a:uFillTx/>
              <a:latin typeface="Arial"/>
            </a:endParaRPr>
          </a:p>
        </p:txBody>
      </p:sp>
      <p:sp>
        <p:nvSpPr>
          <p:cNvPr id="332"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사용 시점</a:t>
            </a:r>
            <a:endParaRPr lang="en-US" sz="2000" b="0" u="none" strike="noStrike">
              <a:solidFill>
                <a:srgbClr val="FFFFFF"/>
              </a:solidFill>
              <a:effectLst/>
              <a:uFillTx/>
              <a:latin typeface="Arial"/>
            </a:endParaRPr>
          </a:p>
        </p:txBody>
      </p:sp>
      <p:sp>
        <p:nvSpPr>
          <p:cNvPr id="333"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스키마 온 라이트가 아니라 스키마 온 리드. 먼저 쌓고, 나중에 쿼리합니다.</a:t>
            </a:r>
            <a:endParaRPr lang="en-US" sz="2400" b="0" u="none" strike="noStrike">
              <a:solidFill>
                <a:srgbClr val="FFFFFF"/>
              </a:solidFill>
              <a:effectLst/>
              <a:uFillTx/>
              <a:latin typeface="Arial"/>
            </a:endParaRPr>
          </a:p>
        </p:txBody>
      </p:sp>
      <p:sp>
        <p:nvSpPr>
          <p:cNvPr id="334"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보안 함정</a:t>
            </a:r>
            <a:endParaRPr lang="en-US" sz="2000" b="0" u="none" strike="noStrike">
              <a:solidFill>
                <a:srgbClr val="FFFFFF"/>
              </a:solidFill>
              <a:effectLst/>
              <a:uFillTx/>
              <a:latin typeface="Arial"/>
            </a:endParaRPr>
          </a:p>
        </p:txBody>
      </p:sp>
      <p:sp>
        <p:nvSpPr>
          <p:cNvPr id="336"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거대한 S3 풀 + 느슨한 IAM, 저장 데이터 암호화 미강제.</a:t>
            </a:r>
            <a:endParaRPr lang="en-US" sz="2400" b="0" u="none" strike="noStrike">
              <a:solidFill>
                <a:srgbClr val="FFFFFF"/>
              </a:solidFill>
              <a:effectLst/>
              <a:uFillTx/>
              <a:latin typeface="Arial"/>
            </a:endParaRPr>
          </a:p>
        </p:txBody>
      </p:sp>
      <p:sp>
        <p:nvSpPr>
          <p:cNvPr id="337"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338"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39" name="TextBox 1" descr="Three-column comparison of database services across AWS, GCP, and Azure: relational, document, warehouse, cache, graph, time-series, and object storage." title="Three-column comparison of database services across AWS, GCP, and Azure: relati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클라우드 DB 서비스 — 전체 지형 살펴보기</a:t>
            </a:r>
            <a:endParaRPr lang="en-US" sz="4200" b="0" u="none" strike="noStrike">
              <a:solidFill>
                <a:srgbClr val="FFFFFF"/>
              </a:solidFill>
              <a:effectLst/>
              <a:uFillTx/>
              <a:latin typeface="Arial"/>
            </a:endParaRPr>
          </a:p>
        </p:txBody>
      </p:sp>
      <p:sp>
        <p:nvSpPr>
          <p:cNvPr id="340"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41" name="Rectangle 3"/>
          <p:cNvSpPr/>
          <p:nvPr/>
        </p:nvSpPr>
        <p:spPr>
          <a:xfrm>
            <a:off x="457200" y="1554480"/>
            <a:ext cx="3748680" cy="63972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2" name="TextBox 4"/>
          <p:cNvSpPr/>
          <p:nvPr/>
        </p:nvSpPr>
        <p:spPr>
          <a:xfrm>
            <a:off x="45720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AWS</a:t>
            </a:r>
            <a:endParaRPr lang="en-US" sz="3200" b="0" u="none" strike="noStrike">
              <a:solidFill>
                <a:srgbClr val="FFFFFF"/>
              </a:solidFill>
              <a:effectLst/>
              <a:uFillTx/>
              <a:latin typeface="Arial"/>
            </a:endParaRPr>
          </a:p>
        </p:txBody>
      </p:sp>
      <p:sp>
        <p:nvSpPr>
          <p:cNvPr id="343" name="TextBox 5"/>
          <p:cNvSpPr/>
          <p:nvPr/>
        </p:nvSpPr>
        <p:spPr>
          <a:xfrm>
            <a:off x="54864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RDS, Aurora</a:t>
            </a:r>
            <a:endParaRPr lang="en-US" sz="1800" b="0" u="none" strike="noStrike">
              <a:solidFill>
                <a:srgbClr val="FFFFFF"/>
              </a:solidFill>
              <a:effectLst/>
              <a:uFillTx/>
              <a:latin typeface="Arial"/>
            </a:endParaRPr>
          </a:p>
        </p:txBody>
      </p:sp>
      <p:sp>
        <p:nvSpPr>
          <p:cNvPr id="344" name="TextBox 6"/>
          <p:cNvSpPr/>
          <p:nvPr/>
        </p:nvSpPr>
        <p:spPr>
          <a:xfrm>
            <a:off x="54864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DynamoDB, DocumentDB</a:t>
            </a:r>
            <a:endParaRPr lang="en-US" sz="1800" b="0" u="none" strike="noStrike">
              <a:solidFill>
                <a:srgbClr val="FFFFFF"/>
              </a:solidFill>
              <a:effectLst/>
              <a:uFillTx/>
              <a:latin typeface="Arial"/>
            </a:endParaRPr>
          </a:p>
        </p:txBody>
      </p:sp>
      <p:sp>
        <p:nvSpPr>
          <p:cNvPr id="345" name="TextBox 7"/>
          <p:cNvSpPr/>
          <p:nvPr/>
        </p:nvSpPr>
        <p:spPr>
          <a:xfrm>
            <a:off x="54864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Redshift, S3 + Athena</a:t>
            </a:r>
            <a:endParaRPr lang="en-US" sz="1800" b="0" u="none" strike="noStrike">
              <a:solidFill>
                <a:srgbClr val="FFFFFF"/>
              </a:solidFill>
              <a:effectLst/>
              <a:uFillTx/>
              <a:latin typeface="Arial"/>
            </a:endParaRPr>
          </a:p>
        </p:txBody>
      </p:sp>
      <p:sp>
        <p:nvSpPr>
          <p:cNvPr id="346" name="TextBox 8"/>
          <p:cNvSpPr/>
          <p:nvPr/>
        </p:nvSpPr>
        <p:spPr>
          <a:xfrm>
            <a:off x="54864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ElastiCache</a:t>
            </a:r>
            <a:endParaRPr lang="en-US" sz="1800" b="0" u="none" strike="noStrike">
              <a:solidFill>
                <a:srgbClr val="FFFFFF"/>
              </a:solidFill>
              <a:effectLst/>
              <a:uFillTx/>
              <a:latin typeface="Arial"/>
            </a:endParaRPr>
          </a:p>
        </p:txBody>
      </p:sp>
      <p:sp>
        <p:nvSpPr>
          <p:cNvPr id="347" name="TextBox 9"/>
          <p:cNvSpPr/>
          <p:nvPr/>
        </p:nvSpPr>
        <p:spPr>
          <a:xfrm>
            <a:off x="54864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Neptune (그래프)</a:t>
            </a:r>
            <a:endParaRPr lang="en-US" sz="1800" b="0" u="none" strike="noStrike">
              <a:solidFill>
                <a:srgbClr val="FFFFFF"/>
              </a:solidFill>
              <a:effectLst/>
              <a:uFillTx/>
              <a:latin typeface="Arial"/>
            </a:endParaRPr>
          </a:p>
        </p:txBody>
      </p:sp>
      <p:sp>
        <p:nvSpPr>
          <p:cNvPr id="348" name="TextBox 10"/>
          <p:cNvSpPr/>
          <p:nvPr/>
        </p:nvSpPr>
        <p:spPr>
          <a:xfrm>
            <a:off x="54864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Timestream</a:t>
            </a:r>
            <a:endParaRPr lang="en-US" sz="1800" b="0" u="none" strike="noStrike">
              <a:solidFill>
                <a:srgbClr val="FFFFFF"/>
              </a:solidFill>
              <a:effectLst/>
              <a:uFillTx/>
              <a:latin typeface="Arial"/>
            </a:endParaRPr>
          </a:p>
        </p:txBody>
      </p:sp>
      <p:sp>
        <p:nvSpPr>
          <p:cNvPr id="349" name="TextBox 11"/>
          <p:cNvSpPr/>
          <p:nvPr/>
        </p:nvSpPr>
        <p:spPr>
          <a:xfrm>
            <a:off x="54864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S3 (객체 저장소)</a:t>
            </a:r>
            <a:endParaRPr lang="en-US" sz="1800" b="0" u="none" strike="noStrike">
              <a:solidFill>
                <a:srgbClr val="FFFFFF"/>
              </a:solidFill>
              <a:effectLst/>
              <a:uFillTx/>
              <a:latin typeface="Arial"/>
            </a:endParaRPr>
          </a:p>
        </p:txBody>
      </p:sp>
      <p:sp>
        <p:nvSpPr>
          <p:cNvPr id="350" name="Rectangle 12"/>
          <p:cNvSpPr/>
          <p:nvPr/>
        </p:nvSpPr>
        <p:spPr>
          <a:xfrm>
            <a:off x="4297680" y="1554480"/>
            <a:ext cx="3748680" cy="639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1" name="TextBox 13"/>
          <p:cNvSpPr/>
          <p:nvPr/>
        </p:nvSpPr>
        <p:spPr>
          <a:xfrm>
            <a:off x="429768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GCP</a:t>
            </a:r>
            <a:endParaRPr lang="en-US" sz="3200" b="0" u="none" strike="noStrike">
              <a:solidFill>
                <a:srgbClr val="FFFFFF"/>
              </a:solidFill>
              <a:effectLst/>
              <a:uFillTx/>
              <a:latin typeface="Arial"/>
            </a:endParaRPr>
          </a:p>
        </p:txBody>
      </p:sp>
      <p:sp>
        <p:nvSpPr>
          <p:cNvPr id="352" name="TextBox 14"/>
          <p:cNvSpPr/>
          <p:nvPr/>
        </p:nvSpPr>
        <p:spPr>
          <a:xfrm>
            <a:off x="438912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SQL, AlloyDB</a:t>
            </a:r>
            <a:endParaRPr lang="en-US" sz="1800" b="0" u="none" strike="noStrike">
              <a:solidFill>
                <a:srgbClr val="FFFFFF"/>
              </a:solidFill>
              <a:effectLst/>
              <a:uFillTx/>
              <a:latin typeface="Arial"/>
            </a:endParaRPr>
          </a:p>
        </p:txBody>
      </p:sp>
      <p:sp>
        <p:nvSpPr>
          <p:cNvPr id="353" name="TextBox 15"/>
          <p:cNvSpPr/>
          <p:nvPr/>
        </p:nvSpPr>
        <p:spPr>
          <a:xfrm>
            <a:off x="438912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Firestore, Bigtable</a:t>
            </a:r>
            <a:endParaRPr lang="en-US" sz="1800" b="0" u="none" strike="noStrike">
              <a:solidFill>
                <a:srgbClr val="FFFFFF"/>
              </a:solidFill>
              <a:effectLst/>
              <a:uFillTx/>
              <a:latin typeface="Arial"/>
            </a:endParaRPr>
          </a:p>
        </p:txBody>
      </p:sp>
      <p:sp>
        <p:nvSpPr>
          <p:cNvPr id="354" name="TextBox 16"/>
          <p:cNvSpPr/>
          <p:nvPr/>
        </p:nvSpPr>
        <p:spPr>
          <a:xfrm>
            <a:off x="438912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BigQuery</a:t>
            </a:r>
            <a:endParaRPr lang="en-US" sz="1800" b="0" u="none" strike="noStrike">
              <a:solidFill>
                <a:srgbClr val="FFFFFF"/>
              </a:solidFill>
              <a:effectLst/>
              <a:uFillTx/>
              <a:latin typeface="Arial"/>
            </a:endParaRPr>
          </a:p>
        </p:txBody>
      </p:sp>
      <p:sp>
        <p:nvSpPr>
          <p:cNvPr id="355" name="TextBox 17"/>
          <p:cNvSpPr/>
          <p:nvPr/>
        </p:nvSpPr>
        <p:spPr>
          <a:xfrm>
            <a:off x="438912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Memorystore</a:t>
            </a:r>
            <a:endParaRPr lang="en-US" sz="1800" b="0" u="none" strike="noStrike">
              <a:solidFill>
                <a:srgbClr val="FFFFFF"/>
              </a:solidFill>
              <a:effectLst/>
              <a:uFillTx/>
              <a:latin typeface="Arial"/>
            </a:endParaRPr>
          </a:p>
        </p:txBody>
      </p:sp>
      <p:sp>
        <p:nvSpPr>
          <p:cNvPr id="356" name="TextBox 18"/>
          <p:cNvSpPr/>
          <p:nvPr/>
        </p:nvSpPr>
        <p:spPr>
          <a:xfrm>
            <a:off x="438912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(출시 예정)</a:t>
            </a:r>
            <a:endParaRPr lang="en-US" sz="1800" b="0" u="none" strike="noStrike">
              <a:solidFill>
                <a:srgbClr val="FFFFFF"/>
              </a:solidFill>
              <a:effectLst/>
              <a:uFillTx/>
              <a:latin typeface="Arial"/>
            </a:endParaRPr>
          </a:p>
        </p:txBody>
      </p:sp>
      <p:sp>
        <p:nvSpPr>
          <p:cNvPr id="357" name="TextBox 19"/>
          <p:cNvSpPr/>
          <p:nvPr/>
        </p:nvSpPr>
        <p:spPr>
          <a:xfrm>
            <a:off x="438912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(직접 구축)</a:t>
            </a:r>
            <a:endParaRPr lang="en-US" sz="1800" b="0" u="none" strike="noStrike">
              <a:solidFill>
                <a:srgbClr val="FFFFFF"/>
              </a:solidFill>
              <a:effectLst/>
              <a:uFillTx/>
              <a:latin typeface="Arial"/>
            </a:endParaRPr>
          </a:p>
        </p:txBody>
      </p:sp>
      <p:sp>
        <p:nvSpPr>
          <p:cNvPr id="358" name="TextBox 20"/>
          <p:cNvSpPr/>
          <p:nvPr/>
        </p:nvSpPr>
        <p:spPr>
          <a:xfrm>
            <a:off x="438912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Storage</a:t>
            </a:r>
            <a:endParaRPr lang="en-US" sz="1800" b="0" u="none" strike="noStrike">
              <a:solidFill>
                <a:srgbClr val="FFFFFF"/>
              </a:solidFill>
              <a:effectLst/>
              <a:uFillTx/>
              <a:latin typeface="Arial"/>
            </a:endParaRPr>
          </a:p>
        </p:txBody>
      </p:sp>
      <p:sp>
        <p:nvSpPr>
          <p:cNvPr id="359" name="Rectangle 21"/>
          <p:cNvSpPr/>
          <p:nvPr/>
        </p:nvSpPr>
        <p:spPr>
          <a:xfrm>
            <a:off x="8138160" y="1554480"/>
            <a:ext cx="3748680" cy="63972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22"/>
          <p:cNvSpPr/>
          <p:nvPr/>
        </p:nvSpPr>
        <p:spPr>
          <a:xfrm>
            <a:off x="813816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Azure</a:t>
            </a:r>
            <a:endParaRPr lang="en-US" sz="3200" b="0" u="none" strike="noStrike">
              <a:solidFill>
                <a:srgbClr val="FFFFFF"/>
              </a:solidFill>
              <a:effectLst/>
              <a:uFillTx/>
              <a:latin typeface="Arial"/>
            </a:endParaRPr>
          </a:p>
        </p:txBody>
      </p:sp>
      <p:sp>
        <p:nvSpPr>
          <p:cNvPr id="361" name="TextBox 23"/>
          <p:cNvSpPr/>
          <p:nvPr/>
        </p:nvSpPr>
        <p:spPr>
          <a:xfrm>
            <a:off x="822960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SQL DB</a:t>
            </a:r>
            <a:endParaRPr lang="en-US" sz="1800" b="0" u="none" strike="noStrike">
              <a:solidFill>
                <a:srgbClr val="FFFFFF"/>
              </a:solidFill>
              <a:effectLst/>
              <a:uFillTx/>
              <a:latin typeface="Arial"/>
            </a:endParaRPr>
          </a:p>
        </p:txBody>
      </p:sp>
      <p:sp>
        <p:nvSpPr>
          <p:cNvPr id="362" name="TextBox 24"/>
          <p:cNvSpPr/>
          <p:nvPr/>
        </p:nvSpPr>
        <p:spPr>
          <a:xfrm>
            <a:off x="822960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(다형성 변신)</a:t>
            </a:r>
            <a:endParaRPr lang="en-US" sz="1800" b="0" u="none" strike="noStrike">
              <a:solidFill>
                <a:srgbClr val="FFFFFF"/>
              </a:solidFill>
              <a:effectLst/>
              <a:uFillTx/>
              <a:latin typeface="Arial"/>
            </a:endParaRPr>
          </a:p>
        </p:txBody>
      </p:sp>
      <p:sp>
        <p:nvSpPr>
          <p:cNvPr id="363" name="TextBox 25"/>
          <p:cNvSpPr/>
          <p:nvPr/>
        </p:nvSpPr>
        <p:spPr>
          <a:xfrm>
            <a:off x="822960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Synapse Analytics</a:t>
            </a:r>
            <a:endParaRPr lang="en-US" sz="1800" b="0" u="none" strike="noStrike">
              <a:solidFill>
                <a:srgbClr val="FFFFFF"/>
              </a:solidFill>
              <a:effectLst/>
              <a:uFillTx/>
              <a:latin typeface="Arial"/>
            </a:endParaRPr>
          </a:p>
        </p:txBody>
      </p:sp>
      <p:sp>
        <p:nvSpPr>
          <p:cNvPr id="364" name="TextBox 26"/>
          <p:cNvSpPr/>
          <p:nvPr/>
        </p:nvSpPr>
        <p:spPr>
          <a:xfrm>
            <a:off x="822960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Cache for Redis</a:t>
            </a:r>
            <a:endParaRPr lang="en-US" sz="1800" b="0" u="none" strike="noStrike">
              <a:solidFill>
                <a:srgbClr val="FFFFFF"/>
              </a:solidFill>
              <a:effectLst/>
              <a:uFillTx/>
              <a:latin typeface="Arial"/>
            </a:endParaRPr>
          </a:p>
        </p:txBody>
      </p:sp>
      <p:sp>
        <p:nvSpPr>
          <p:cNvPr id="365" name="TextBox 27"/>
          <p:cNvSpPr/>
          <p:nvPr/>
        </p:nvSpPr>
        <p:spPr>
          <a:xfrm>
            <a:off x="822960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그래프 모드</a:t>
            </a:r>
            <a:endParaRPr lang="en-US" sz="1800" b="0" u="none" strike="noStrike">
              <a:solidFill>
                <a:srgbClr val="FFFFFF"/>
              </a:solidFill>
              <a:effectLst/>
              <a:uFillTx/>
              <a:latin typeface="Arial"/>
            </a:endParaRPr>
          </a:p>
        </p:txBody>
      </p:sp>
      <p:sp>
        <p:nvSpPr>
          <p:cNvPr id="366" name="TextBox 28"/>
          <p:cNvSpPr/>
          <p:nvPr/>
        </p:nvSpPr>
        <p:spPr>
          <a:xfrm>
            <a:off x="822960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(직접 구축)</a:t>
            </a:r>
            <a:endParaRPr lang="en-US" sz="1800" b="0" u="none" strike="noStrike">
              <a:solidFill>
                <a:srgbClr val="FFFFFF"/>
              </a:solidFill>
              <a:effectLst/>
              <a:uFillTx/>
              <a:latin typeface="Arial"/>
            </a:endParaRPr>
          </a:p>
        </p:txBody>
      </p:sp>
      <p:sp>
        <p:nvSpPr>
          <p:cNvPr id="367" name="TextBox 29"/>
          <p:cNvSpPr/>
          <p:nvPr/>
        </p:nvSpPr>
        <p:spPr>
          <a:xfrm>
            <a:off x="822960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Blob Storage</a:t>
            </a:r>
            <a:endParaRPr lang="en-US" sz="1800" b="0" u="none" strike="noStrike">
              <a:solidFill>
                <a:srgbClr val="FFFFFF"/>
              </a:solidFill>
              <a:effectLst/>
              <a:uFillTx/>
              <a:latin typeface="Arial"/>
            </a:endParaRPr>
          </a:p>
        </p:txBody>
      </p:sp>
      <p:sp>
        <p:nvSpPr>
          <p:cNvPr id="368" name="TextBox 3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369" name="TextBox 3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70" name="TextBox 1" descr="Cheat-sheet table comparing AWS, GCP, and Azure services across eight database categories." title="Cheat-sheet table comparing AWS, GCP, and Azure services across eight database c"/>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클라우드 DB 치트 시트</a:t>
            </a:r>
            <a:endParaRPr lang="en-US" sz="3800" b="0" u="none" strike="noStrike">
              <a:solidFill>
                <a:srgbClr val="FFFFFF"/>
              </a:solidFill>
              <a:effectLst/>
              <a:uFillTx/>
              <a:latin typeface="Arial"/>
            </a:endParaRPr>
          </a:p>
        </p:txBody>
      </p:sp>
      <p:sp>
        <p:nvSpPr>
          <p:cNvPr id="37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72" name="Rectangle 3"/>
          <p:cNvSpPr/>
          <p:nvPr/>
        </p:nvSpPr>
        <p:spPr>
          <a:xfrm>
            <a:off x="457200" y="1600200"/>
            <a:ext cx="11246760" cy="5025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3" name="TextBox 4"/>
          <p:cNvSpPr/>
          <p:nvPr/>
        </p:nvSpPr>
        <p:spPr>
          <a:xfrm>
            <a:off x="548640" y="16459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분류</a:t>
            </a:r>
            <a:endParaRPr lang="en-US" sz="2000" b="0" u="none" strike="noStrike">
              <a:solidFill>
                <a:srgbClr val="FFFFFF"/>
              </a:solidFill>
              <a:effectLst/>
              <a:uFillTx/>
              <a:latin typeface="Arial"/>
            </a:endParaRPr>
          </a:p>
        </p:txBody>
      </p:sp>
      <p:sp>
        <p:nvSpPr>
          <p:cNvPr id="374" name="TextBox 5"/>
          <p:cNvSpPr/>
          <p:nvPr/>
        </p:nvSpPr>
        <p:spPr>
          <a:xfrm>
            <a:off x="329184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AWS</a:t>
            </a:r>
            <a:endParaRPr lang="en-US" sz="2000" b="0" u="none" strike="noStrike">
              <a:solidFill>
                <a:srgbClr val="FFFFFF"/>
              </a:solidFill>
              <a:effectLst/>
              <a:uFillTx/>
              <a:latin typeface="Arial"/>
            </a:endParaRPr>
          </a:p>
        </p:txBody>
      </p:sp>
      <p:sp>
        <p:nvSpPr>
          <p:cNvPr id="375" name="TextBox 6"/>
          <p:cNvSpPr/>
          <p:nvPr/>
        </p:nvSpPr>
        <p:spPr>
          <a:xfrm>
            <a:off x="594360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GCP</a:t>
            </a:r>
            <a:endParaRPr lang="en-US" sz="2000" b="0" u="none" strike="noStrike">
              <a:solidFill>
                <a:srgbClr val="FFFFFF"/>
              </a:solidFill>
              <a:effectLst/>
              <a:uFillTx/>
              <a:latin typeface="Arial"/>
            </a:endParaRPr>
          </a:p>
        </p:txBody>
      </p:sp>
      <p:sp>
        <p:nvSpPr>
          <p:cNvPr id="376" name="TextBox 7"/>
          <p:cNvSpPr/>
          <p:nvPr/>
        </p:nvSpPr>
        <p:spPr>
          <a:xfrm>
            <a:off x="8595360" y="16459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AZURE</a:t>
            </a:r>
            <a:endParaRPr lang="en-US" sz="2000" b="0" u="none" strike="noStrike">
              <a:solidFill>
                <a:srgbClr val="FFFFFF"/>
              </a:solidFill>
              <a:effectLst/>
              <a:uFillTx/>
              <a:latin typeface="Arial"/>
            </a:endParaRPr>
          </a:p>
        </p:txBody>
      </p:sp>
      <p:sp>
        <p:nvSpPr>
          <p:cNvPr id="377" name="TextBox 8"/>
          <p:cNvSpPr/>
          <p:nvPr/>
        </p:nvSpPr>
        <p:spPr>
          <a:xfrm>
            <a:off x="548640" y="21488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관계형</a:t>
            </a:r>
            <a:endParaRPr lang="en-US" sz="2000" b="0" u="none" strike="noStrike">
              <a:solidFill>
                <a:srgbClr val="FFFFFF"/>
              </a:solidFill>
              <a:effectLst/>
              <a:uFillTx/>
              <a:latin typeface="Arial"/>
            </a:endParaRPr>
          </a:p>
        </p:txBody>
      </p:sp>
      <p:sp>
        <p:nvSpPr>
          <p:cNvPr id="378" name="TextBox 9"/>
          <p:cNvSpPr/>
          <p:nvPr/>
        </p:nvSpPr>
        <p:spPr>
          <a:xfrm>
            <a:off x="329184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RDS / Aurora</a:t>
            </a:r>
            <a:endParaRPr lang="en-US" sz="2000" b="0" u="none" strike="noStrike">
              <a:solidFill>
                <a:srgbClr val="FFFFFF"/>
              </a:solidFill>
              <a:effectLst/>
              <a:uFillTx/>
              <a:latin typeface="Arial"/>
            </a:endParaRPr>
          </a:p>
        </p:txBody>
      </p:sp>
      <p:sp>
        <p:nvSpPr>
          <p:cNvPr id="379" name="TextBox 10"/>
          <p:cNvSpPr/>
          <p:nvPr/>
        </p:nvSpPr>
        <p:spPr>
          <a:xfrm>
            <a:off x="594360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950" b="0" u="none" strike="noStrike">
                <a:solidFill>
                  <a:srgbClr val="FFFFFF"/>
                </a:solidFill>
                <a:effectLst/>
                <a:uFillTx/>
                <a:latin typeface="Calibri"/>
              </a:rPr>
              <a:t>Cloud SQL / AlloyDB</a:t>
            </a:r>
            <a:endParaRPr lang="en-US" sz="2000" b="0" u="none" strike="noStrike">
              <a:solidFill>
                <a:srgbClr val="FFFFFF"/>
              </a:solidFill>
              <a:effectLst/>
              <a:uFillTx/>
              <a:latin typeface="Arial"/>
            </a:endParaRPr>
          </a:p>
        </p:txBody>
      </p:sp>
      <p:sp>
        <p:nvSpPr>
          <p:cNvPr id="380" name="TextBox 11"/>
          <p:cNvSpPr/>
          <p:nvPr/>
        </p:nvSpPr>
        <p:spPr>
          <a:xfrm>
            <a:off x="8595360" y="21488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Azure SQL DB</a:t>
            </a:r>
            <a:endParaRPr lang="en-US" sz="2000" b="0" u="none" strike="noStrike">
              <a:solidFill>
                <a:srgbClr val="FFFFFF"/>
              </a:solidFill>
              <a:effectLst/>
              <a:uFillTx/>
              <a:latin typeface="Arial"/>
            </a:endParaRPr>
          </a:p>
        </p:txBody>
      </p:sp>
      <p:sp>
        <p:nvSpPr>
          <p:cNvPr id="381" name="Rectangle 12"/>
          <p:cNvSpPr/>
          <p:nvPr/>
        </p:nvSpPr>
        <p:spPr>
          <a:xfrm>
            <a:off x="457200" y="260604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2" name="TextBox 13"/>
          <p:cNvSpPr/>
          <p:nvPr/>
        </p:nvSpPr>
        <p:spPr>
          <a:xfrm>
            <a:off x="548640" y="26517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문서형/NoSQL</a:t>
            </a:r>
            <a:endParaRPr lang="en-US" sz="2000" b="0" u="none" strike="noStrike">
              <a:solidFill>
                <a:srgbClr val="FFFFFF"/>
              </a:solidFill>
              <a:effectLst/>
              <a:uFillTx/>
              <a:latin typeface="Arial"/>
            </a:endParaRPr>
          </a:p>
        </p:txBody>
      </p:sp>
      <p:sp>
        <p:nvSpPr>
          <p:cNvPr id="383" name="TextBox 14"/>
          <p:cNvSpPr/>
          <p:nvPr/>
        </p:nvSpPr>
        <p:spPr>
          <a:xfrm>
            <a:off x="329184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950" b="0" u="none" strike="noStrike">
                <a:solidFill>
                  <a:srgbClr val="FFFFFF"/>
                </a:solidFill>
                <a:effectLst/>
                <a:uFillTx/>
                <a:latin typeface="Calibri"/>
              </a:rPr>
              <a:t>DynamoDB / DocDB</a:t>
            </a:r>
            <a:endParaRPr lang="en-US" sz="2000" b="0" u="none" strike="noStrike">
              <a:solidFill>
                <a:srgbClr val="FFFFFF"/>
              </a:solidFill>
              <a:effectLst/>
              <a:uFillTx/>
              <a:latin typeface="Arial"/>
            </a:endParaRPr>
          </a:p>
        </p:txBody>
      </p:sp>
      <p:sp>
        <p:nvSpPr>
          <p:cNvPr id="384" name="TextBox 15"/>
          <p:cNvSpPr/>
          <p:nvPr/>
        </p:nvSpPr>
        <p:spPr>
          <a:xfrm>
            <a:off x="594360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Firestore / Bigtable</a:t>
            </a:r>
            <a:endParaRPr lang="en-US" sz="2000" b="0" u="none" strike="noStrike">
              <a:solidFill>
                <a:srgbClr val="FFFFFF"/>
              </a:solidFill>
              <a:effectLst/>
              <a:uFillTx/>
              <a:latin typeface="Arial"/>
            </a:endParaRPr>
          </a:p>
        </p:txBody>
      </p:sp>
      <p:sp>
        <p:nvSpPr>
          <p:cNvPr id="385" name="TextBox 16"/>
          <p:cNvSpPr/>
          <p:nvPr/>
        </p:nvSpPr>
        <p:spPr>
          <a:xfrm>
            <a:off x="8595360" y="26517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a:t>
            </a:r>
            <a:endParaRPr lang="en-US" sz="2000" b="0" u="none" strike="noStrike">
              <a:solidFill>
                <a:srgbClr val="FFFFFF"/>
              </a:solidFill>
              <a:effectLst/>
              <a:uFillTx/>
              <a:latin typeface="Arial"/>
            </a:endParaRPr>
          </a:p>
        </p:txBody>
      </p:sp>
      <p:sp>
        <p:nvSpPr>
          <p:cNvPr id="386" name="TextBox 17"/>
          <p:cNvSpPr/>
          <p:nvPr/>
        </p:nvSpPr>
        <p:spPr>
          <a:xfrm>
            <a:off x="548640" y="315468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웨어하우스</a:t>
            </a:r>
            <a:endParaRPr lang="en-US" sz="2000" b="0" u="none" strike="noStrike">
              <a:solidFill>
                <a:srgbClr val="FFFFFF"/>
              </a:solidFill>
              <a:effectLst/>
              <a:uFillTx/>
              <a:latin typeface="Arial"/>
            </a:endParaRPr>
          </a:p>
        </p:txBody>
      </p:sp>
      <p:sp>
        <p:nvSpPr>
          <p:cNvPr id="387" name="TextBox 18"/>
          <p:cNvSpPr/>
          <p:nvPr/>
        </p:nvSpPr>
        <p:spPr>
          <a:xfrm>
            <a:off x="329184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Redshift / Athena</a:t>
            </a:r>
            <a:endParaRPr lang="en-US" sz="2000" b="0" u="none" strike="noStrike">
              <a:solidFill>
                <a:srgbClr val="FFFFFF"/>
              </a:solidFill>
              <a:effectLst/>
              <a:uFillTx/>
              <a:latin typeface="Arial"/>
            </a:endParaRPr>
          </a:p>
        </p:txBody>
      </p:sp>
      <p:sp>
        <p:nvSpPr>
          <p:cNvPr id="388" name="TextBox 19"/>
          <p:cNvSpPr/>
          <p:nvPr/>
        </p:nvSpPr>
        <p:spPr>
          <a:xfrm>
            <a:off x="594360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BigQuery</a:t>
            </a:r>
            <a:endParaRPr lang="en-US" sz="2000" b="0" u="none" strike="noStrike">
              <a:solidFill>
                <a:srgbClr val="FFFFFF"/>
              </a:solidFill>
              <a:effectLst/>
              <a:uFillTx/>
              <a:latin typeface="Arial"/>
            </a:endParaRPr>
          </a:p>
        </p:txBody>
      </p:sp>
      <p:sp>
        <p:nvSpPr>
          <p:cNvPr id="389" name="TextBox 20"/>
          <p:cNvSpPr/>
          <p:nvPr/>
        </p:nvSpPr>
        <p:spPr>
          <a:xfrm>
            <a:off x="8595360" y="315468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Synapse</a:t>
            </a:r>
            <a:endParaRPr lang="en-US" sz="2000" b="0" u="none" strike="noStrike">
              <a:solidFill>
                <a:srgbClr val="FFFFFF"/>
              </a:solidFill>
              <a:effectLst/>
              <a:uFillTx/>
              <a:latin typeface="Arial"/>
            </a:endParaRPr>
          </a:p>
        </p:txBody>
      </p:sp>
      <p:sp>
        <p:nvSpPr>
          <p:cNvPr id="390" name="Rectangle 21"/>
          <p:cNvSpPr/>
          <p:nvPr/>
        </p:nvSpPr>
        <p:spPr>
          <a:xfrm>
            <a:off x="457200" y="361188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1" name="TextBox 22"/>
          <p:cNvSpPr/>
          <p:nvPr/>
        </p:nvSpPr>
        <p:spPr>
          <a:xfrm>
            <a:off x="548640" y="365760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캐시</a:t>
            </a:r>
            <a:endParaRPr lang="en-US" sz="2000" b="0" u="none" strike="noStrike">
              <a:solidFill>
                <a:srgbClr val="FFFFFF"/>
              </a:solidFill>
              <a:effectLst/>
              <a:uFillTx/>
              <a:latin typeface="Arial"/>
            </a:endParaRPr>
          </a:p>
        </p:txBody>
      </p:sp>
      <p:sp>
        <p:nvSpPr>
          <p:cNvPr id="392" name="TextBox 23"/>
          <p:cNvSpPr/>
          <p:nvPr/>
        </p:nvSpPr>
        <p:spPr>
          <a:xfrm>
            <a:off x="329184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ElastiCache</a:t>
            </a:r>
            <a:endParaRPr lang="en-US" sz="2000" b="0" u="none" strike="noStrike">
              <a:solidFill>
                <a:srgbClr val="FFFFFF"/>
              </a:solidFill>
              <a:effectLst/>
              <a:uFillTx/>
              <a:latin typeface="Arial"/>
            </a:endParaRPr>
          </a:p>
        </p:txBody>
      </p:sp>
      <p:sp>
        <p:nvSpPr>
          <p:cNvPr id="393" name="TextBox 24"/>
          <p:cNvSpPr/>
          <p:nvPr/>
        </p:nvSpPr>
        <p:spPr>
          <a:xfrm>
            <a:off x="594360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Memorystore</a:t>
            </a:r>
            <a:endParaRPr lang="en-US" sz="2000" b="0" u="none" strike="noStrike">
              <a:solidFill>
                <a:srgbClr val="FFFFFF"/>
              </a:solidFill>
              <a:effectLst/>
              <a:uFillTx/>
              <a:latin typeface="Arial"/>
            </a:endParaRPr>
          </a:p>
        </p:txBody>
      </p:sp>
      <p:sp>
        <p:nvSpPr>
          <p:cNvPr id="394" name="TextBox 25"/>
          <p:cNvSpPr/>
          <p:nvPr/>
        </p:nvSpPr>
        <p:spPr>
          <a:xfrm>
            <a:off x="8595360" y="365760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Cache for Redis</a:t>
            </a:r>
            <a:endParaRPr lang="en-US" sz="2000" b="0" u="none" strike="noStrike">
              <a:solidFill>
                <a:srgbClr val="FFFFFF"/>
              </a:solidFill>
              <a:effectLst/>
              <a:uFillTx/>
              <a:latin typeface="Arial"/>
            </a:endParaRPr>
          </a:p>
        </p:txBody>
      </p:sp>
      <p:sp>
        <p:nvSpPr>
          <p:cNvPr id="395" name="TextBox 26"/>
          <p:cNvSpPr/>
          <p:nvPr/>
        </p:nvSpPr>
        <p:spPr>
          <a:xfrm>
            <a:off x="548640" y="41605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그래프</a:t>
            </a:r>
            <a:endParaRPr lang="en-US" sz="2000" b="0" u="none" strike="noStrike">
              <a:solidFill>
                <a:srgbClr val="FFFFFF"/>
              </a:solidFill>
              <a:effectLst/>
              <a:uFillTx/>
              <a:latin typeface="Arial"/>
            </a:endParaRPr>
          </a:p>
        </p:txBody>
      </p:sp>
      <p:sp>
        <p:nvSpPr>
          <p:cNvPr id="396" name="TextBox 27"/>
          <p:cNvSpPr/>
          <p:nvPr/>
        </p:nvSpPr>
        <p:spPr>
          <a:xfrm>
            <a:off x="329184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Neptune</a:t>
            </a:r>
            <a:endParaRPr lang="en-US" sz="2000" b="0" u="none" strike="noStrike">
              <a:solidFill>
                <a:srgbClr val="FFFFFF"/>
              </a:solidFill>
              <a:effectLst/>
              <a:uFillTx/>
              <a:latin typeface="Arial"/>
            </a:endParaRPr>
          </a:p>
        </p:txBody>
      </p:sp>
      <p:sp>
        <p:nvSpPr>
          <p:cNvPr id="397" name="TextBox 28"/>
          <p:cNvSpPr/>
          <p:nvPr/>
        </p:nvSpPr>
        <p:spPr>
          <a:xfrm>
            <a:off x="594360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398" name="TextBox 29"/>
          <p:cNvSpPr/>
          <p:nvPr/>
        </p:nvSpPr>
        <p:spPr>
          <a:xfrm>
            <a:off x="8595360" y="41605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 그래프</a:t>
            </a:r>
            <a:endParaRPr lang="en-US" sz="2000" b="0" u="none" strike="noStrike">
              <a:solidFill>
                <a:srgbClr val="FFFFFF"/>
              </a:solidFill>
              <a:effectLst/>
              <a:uFillTx/>
              <a:latin typeface="Arial"/>
            </a:endParaRPr>
          </a:p>
        </p:txBody>
      </p:sp>
      <p:sp>
        <p:nvSpPr>
          <p:cNvPr id="399" name="Rectangle 30"/>
          <p:cNvSpPr/>
          <p:nvPr/>
        </p:nvSpPr>
        <p:spPr>
          <a:xfrm>
            <a:off x="457200" y="461772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0" name="TextBox 31"/>
          <p:cNvSpPr/>
          <p:nvPr/>
        </p:nvSpPr>
        <p:spPr>
          <a:xfrm>
            <a:off x="548640" y="46634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시계열</a:t>
            </a:r>
            <a:endParaRPr lang="en-US" sz="2000" b="0" u="none" strike="noStrike">
              <a:solidFill>
                <a:srgbClr val="FFFFFF"/>
              </a:solidFill>
              <a:effectLst/>
              <a:uFillTx/>
              <a:latin typeface="Arial"/>
            </a:endParaRPr>
          </a:p>
        </p:txBody>
      </p:sp>
      <p:sp>
        <p:nvSpPr>
          <p:cNvPr id="401" name="TextBox 32"/>
          <p:cNvSpPr/>
          <p:nvPr/>
        </p:nvSpPr>
        <p:spPr>
          <a:xfrm>
            <a:off x="329184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Timestream</a:t>
            </a:r>
            <a:endParaRPr lang="en-US" sz="2000" b="0" u="none" strike="noStrike">
              <a:solidFill>
                <a:srgbClr val="FFFFFF"/>
              </a:solidFill>
              <a:effectLst/>
              <a:uFillTx/>
              <a:latin typeface="Arial"/>
            </a:endParaRPr>
          </a:p>
        </p:txBody>
      </p:sp>
      <p:sp>
        <p:nvSpPr>
          <p:cNvPr id="402" name="TextBox 33"/>
          <p:cNvSpPr/>
          <p:nvPr/>
        </p:nvSpPr>
        <p:spPr>
          <a:xfrm>
            <a:off x="594360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3" name="TextBox 34"/>
          <p:cNvSpPr/>
          <p:nvPr/>
        </p:nvSpPr>
        <p:spPr>
          <a:xfrm>
            <a:off x="8595360" y="46634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4" name="TextBox 35"/>
          <p:cNvSpPr/>
          <p:nvPr/>
        </p:nvSpPr>
        <p:spPr>
          <a:xfrm>
            <a:off x="548640" y="51663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객체 저장소</a:t>
            </a:r>
            <a:endParaRPr lang="en-US" sz="2000" b="0" u="none" strike="noStrike">
              <a:solidFill>
                <a:srgbClr val="FFFFFF"/>
              </a:solidFill>
              <a:effectLst/>
              <a:uFillTx/>
              <a:latin typeface="Arial"/>
            </a:endParaRPr>
          </a:p>
        </p:txBody>
      </p:sp>
      <p:sp>
        <p:nvSpPr>
          <p:cNvPr id="405" name="TextBox 36"/>
          <p:cNvSpPr/>
          <p:nvPr/>
        </p:nvSpPr>
        <p:spPr>
          <a:xfrm>
            <a:off x="329184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S3</a:t>
            </a:r>
            <a:endParaRPr lang="en-US" sz="2000" b="0" u="none" strike="noStrike">
              <a:solidFill>
                <a:srgbClr val="FFFFFF"/>
              </a:solidFill>
              <a:effectLst/>
              <a:uFillTx/>
              <a:latin typeface="Arial"/>
            </a:endParaRPr>
          </a:p>
        </p:txBody>
      </p:sp>
      <p:sp>
        <p:nvSpPr>
          <p:cNvPr id="406" name="TextBox 37"/>
          <p:cNvSpPr/>
          <p:nvPr/>
        </p:nvSpPr>
        <p:spPr>
          <a:xfrm>
            <a:off x="594360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Storage</a:t>
            </a:r>
            <a:endParaRPr lang="en-US" sz="2000" b="0" u="none" strike="noStrike">
              <a:solidFill>
                <a:srgbClr val="FFFFFF"/>
              </a:solidFill>
              <a:effectLst/>
              <a:uFillTx/>
              <a:latin typeface="Arial"/>
            </a:endParaRPr>
          </a:p>
        </p:txBody>
      </p:sp>
      <p:sp>
        <p:nvSpPr>
          <p:cNvPr id="407" name="TextBox 38"/>
          <p:cNvSpPr/>
          <p:nvPr/>
        </p:nvSpPr>
        <p:spPr>
          <a:xfrm>
            <a:off x="8595360" y="51663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Blob Storage</a:t>
            </a:r>
            <a:endParaRPr lang="en-US" sz="2000" b="0" u="none" strike="noStrike">
              <a:solidFill>
                <a:srgbClr val="FFFFFF"/>
              </a:solidFill>
              <a:effectLst/>
              <a:uFillTx/>
              <a:latin typeface="Arial"/>
            </a:endParaRPr>
          </a:p>
        </p:txBody>
      </p:sp>
      <p:sp>
        <p:nvSpPr>
          <p:cNvPr id="408"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409"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10" name="TextBox 1" descr="Two-column diagram contrasting what the cloud vendor owns (hypervisor, engine, hardware) versus what the customer owns (config, IAM, data, encryption)." title="Two-column diagram contrasting what the cloud vendor owns (hypervisor, engine, 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공동 책임 모델</a:t>
            </a:r>
            <a:endParaRPr lang="en-US" sz="4200" b="0" u="none" strike="noStrike">
              <a:solidFill>
                <a:srgbClr val="FFFFFF"/>
              </a:solidFill>
              <a:effectLst/>
              <a:uFillTx/>
              <a:latin typeface="Arial"/>
            </a:endParaRPr>
          </a:p>
        </p:txBody>
      </p:sp>
      <p:sp>
        <p:nvSpPr>
          <p:cNvPr id="4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12" name="Rounded Rectangle 3"/>
          <p:cNvSpPr/>
          <p:nvPr/>
        </p:nvSpPr>
        <p:spPr>
          <a:xfrm>
            <a:off x="457200" y="1828800"/>
            <a:ext cx="5577480" cy="4114440"/>
          </a:xfrm>
          <a:prstGeom prst="roundRect">
            <a:avLst>
              <a:gd name="adj" fmla="val 16667"/>
            </a:avLst>
          </a:prstGeom>
          <a:solidFill>
            <a:srgbClr val="122A18"/>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4"/>
          <p:cNvSpPr/>
          <p:nvPr/>
        </p:nvSpPr>
        <p:spPr>
          <a:xfrm>
            <a:off x="548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00FF41"/>
                </a:solidFill>
                <a:effectLst/>
                <a:uFillTx/>
                <a:latin typeface="Calibri"/>
              </a:rPr>
              <a:t>✓  클라우드 공급자 담당</a:t>
            </a:r>
            <a:endParaRPr lang="en-US" sz="2400" b="0" u="none" strike="noStrike">
              <a:solidFill>
                <a:srgbClr val="FFFFFF"/>
              </a:solidFill>
              <a:effectLst/>
              <a:uFillTx/>
              <a:latin typeface="Arial"/>
            </a:endParaRPr>
          </a:p>
        </p:txBody>
      </p:sp>
      <p:sp>
        <p:nvSpPr>
          <p:cNvPr id="414" name="TextBox 5"/>
          <p:cNvSpPr/>
          <p:nvPr/>
        </p:nvSpPr>
        <p:spPr>
          <a:xfrm>
            <a:off x="640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하이퍼바이저 및 물리 서버</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DB 엔진 패치</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물리 보안</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기반 네트워크</a:t>
            </a:r>
            <a:endParaRPr lang="en-US" sz="2400" b="0" u="none" strike="noStrike">
              <a:solidFill>
                <a:srgbClr val="FFFFFF"/>
              </a:solidFill>
              <a:effectLst/>
              <a:uFillTx/>
              <a:latin typeface="Arial"/>
            </a:endParaRPr>
          </a:p>
        </p:txBody>
      </p:sp>
      <p:sp>
        <p:nvSpPr>
          <p:cNvPr id="415" name="Rounded Rectangle 6"/>
          <p:cNvSpPr/>
          <p:nvPr/>
        </p:nvSpPr>
        <p:spPr>
          <a:xfrm>
            <a:off x="6172200" y="1828800"/>
            <a:ext cx="5577480" cy="4114440"/>
          </a:xfrm>
          <a:prstGeom prst="roundRect">
            <a:avLst>
              <a:gd name="adj" fmla="val 16667"/>
            </a:avLst>
          </a:prstGeom>
          <a:solidFill>
            <a:srgbClr val="3A1F14"/>
          </a:solidFill>
          <a:ln w="3810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6" name="TextBox 7"/>
          <p:cNvSpPr/>
          <p:nvPr/>
        </p:nvSpPr>
        <p:spPr>
          <a:xfrm>
            <a:off x="6263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여러분 담당</a:t>
            </a:r>
            <a:endParaRPr lang="en-US" sz="2400" b="0" u="none" strike="noStrike">
              <a:solidFill>
                <a:srgbClr val="FFFFFF"/>
              </a:solidFill>
              <a:effectLst/>
              <a:uFillTx/>
              <a:latin typeface="Arial"/>
            </a:endParaRPr>
          </a:p>
        </p:txBody>
      </p:sp>
      <p:sp>
        <p:nvSpPr>
          <p:cNvPr id="417" name="TextBox 8"/>
          <p:cNvSpPr/>
          <p:nvPr/>
        </p:nvSpPr>
        <p:spPr>
          <a:xfrm>
            <a:off x="6355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구성</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접근 정책(IAM)</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데이터 그 자체</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암호화 선택</a:t>
            </a:r>
            <a:endParaRPr lang="en-US" sz="2400" b="0" u="none" strike="noStrike">
              <a:solidFill>
                <a:srgbClr val="FFFFFF"/>
              </a:solidFill>
              <a:effectLst/>
              <a:uFillTx/>
              <a:latin typeface="Arial"/>
            </a:endParaRPr>
          </a:p>
        </p:txBody>
      </p:sp>
      <p:sp>
        <p:nvSpPr>
          <p:cNvPr id="418" name="TextBox 9"/>
          <p:cNvSpPr/>
          <p:nvPr/>
        </p:nvSpPr>
        <p:spPr>
          <a:xfrm>
            <a:off x="457200" y="603504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거의 모든 클라우드 DB 침해 = 고객의 설정 오류.</a:t>
            </a:r>
            <a:endParaRPr lang="en-US" sz="2200" b="0" u="none" strike="noStrike">
              <a:solidFill>
                <a:srgbClr val="FFFFFF"/>
              </a:solidFill>
              <a:effectLst/>
              <a:uFillTx/>
              <a:latin typeface="Arial"/>
            </a:endParaRPr>
          </a:p>
        </p:txBody>
      </p:sp>
      <p:sp>
        <p:nvSpPr>
          <p:cNvPr id="419" name="TextBox 1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420" name="TextBox 1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21" name="TextBox 1" descr="Table of common database ports: MySQL 3306, PostgreSQL 5432, MS SQL 1433, MongoDB 27017, Redis 6379, Elasticsearch 9200, Cassandra 9042." title="Table of common database ports: MySQL 3306, PostgreSQL 5432, MS SQL 1433, MongoD"/>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주요 DB 포트 — 머릿속에 새기세요</a:t>
            </a:r>
            <a:endParaRPr lang="en-US" sz="4200" b="0" u="none" strike="noStrike">
              <a:solidFill>
                <a:srgbClr val="FFFFFF"/>
              </a:solidFill>
              <a:effectLst/>
              <a:uFillTx/>
              <a:latin typeface="Arial"/>
            </a:endParaRPr>
          </a:p>
        </p:txBody>
      </p:sp>
      <p:sp>
        <p:nvSpPr>
          <p:cNvPr id="42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23" name="TextBox 3"/>
          <p:cNvSpPr/>
          <p:nvPr/>
        </p:nvSpPr>
        <p:spPr>
          <a:xfrm>
            <a:off x="1371600" y="1645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3306</a:t>
            </a:r>
            <a:endParaRPr lang="en-US" sz="3600" b="0" u="none" strike="noStrike">
              <a:solidFill>
                <a:srgbClr val="FFFFFF"/>
              </a:solidFill>
              <a:effectLst/>
              <a:uFillTx/>
              <a:latin typeface="Arial"/>
            </a:endParaRPr>
          </a:p>
        </p:txBody>
      </p:sp>
      <p:sp>
        <p:nvSpPr>
          <p:cNvPr id="424" name="TextBox 4"/>
          <p:cNvSpPr/>
          <p:nvPr/>
        </p:nvSpPr>
        <p:spPr>
          <a:xfrm>
            <a:off x="3840480" y="1645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5" name="TextBox 5"/>
          <p:cNvSpPr/>
          <p:nvPr/>
        </p:nvSpPr>
        <p:spPr>
          <a:xfrm>
            <a:off x="4480560" y="1645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MySQL / MariaDB</a:t>
            </a:r>
            <a:endParaRPr lang="en-US" sz="3200" b="0" u="none" strike="noStrike">
              <a:solidFill>
                <a:srgbClr val="FFFFFF"/>
              </a:solidFill>
              <a:effectLst/>
              <a:uFillTx/>
              <a:latin typeface="Arial"/>
            </a:endParaRPr>
          </a:p>
        </p:txBody>
      </p:sp>
      <p:sp>
        <p:nvSpPr>
          <p:cNvPr id="426" name="TextBox 6"/>
          <p:cNvSpPr/>
          <p:nvPr/>
        </p:nvSpPr>
        <p:spPr>
          <a:xfrm>
            <a:off x="1371600" y="2212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5432</a:t>
            </a:r>
            <a:endParaRPr lang="en-US" sz="3600" b="0" u="none" strike="noStrike">
              <a:solidFill>
                <a:srgbClr val="FFFFFF"/>
              </a:solidFill>
              <a:effectLst/>
              <a:uFillTx/>
              <a:latin typeface="Arial"/>
            </a:endParaRPr>
          </a:p>
        </p:txBody>
      </p:sp>
      <p:sp>
        <p:nvSpPr>
          <p:cNvPr id="427" name="TextBox 7"/>
          <p:cNvSpPr/>
          <p:nvPr/>
        </p:nvSpPr>
        <p:spPr>
          <a:xfrm>
            <a:off x="3840480" y="2212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8" name="TextBox 8"/>
          <p:cNvSpPr/>
          <p:nvPr/>
        </p:nvSpPr>
        <p:spPr>
          <a:xfrm>
            <a:off x="4480560" y="2212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PostgreSQL</a:t>
            </a:r>
            <a:endParaRPr lang="en-US" sz="3200" b="0" u="none" strike="noStrike">
              <a:solidFill>
                <a:srgbClr val="FFFFFF"/>
              </a:solidFill>
              <a:effectLst/>
              <a:uFillTx/>
              <a:latin typeface="Arial"/>
            </a:endParaRPr>
          </a:p>
        </p:txBody>
      </p:sp>
      <p:sp>
        <p:nvSpPr>
          <p:cNvPr id="429" name="TextBox 9"/>
          <p:cNvSpPr/>
          <p:nvPr/>
        </p:nvSpPr>
        <p:spPr>
          <a:xfrm>
            <a:off x="1371600" y="2779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1433</a:t>
            </a:r>
            <a:endParaRPr lang="en-US" sz="3600" b="0" u="none" strike="noStrike">
              <a:solidFill>
                <a:srgbClr val="FFFFFF"/>
              </a:solidFill>
              <a:effectLst/>
              <a:uFillTx/>
              <a:latin typeface="Arial"/>
            </a:endParaRPr>
          </a:p>
        </p:txBody>
      </p:sp>
      <p:sp>
        <p:nvSpPr>
          <p:cNvPr id="430" name="TextBox 10"/>
          <p:cNvSpPr/>
          <p:nvPr/>
        </p:nvSpPr>
        <p:spPr>
          <a:xfrm>
            <a:off x="3840480" y="2779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1" name="TextBox 11"/>
          <p:cNvSpPr/>
          <p:nvPr/>
        </p:nvSpPr>
        <p:spPr>
          <a:xfrm>
            <a:off x="4480560" y="2779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Microsoft SQL Server</a:t>
            </a:r>
            <a:endParaRPr lang="en-US" sz="3200" b="0" u="none" strike="noStrike">
              <a:solidFill>
                <a:srgbClr val="FFFFFF"/>
              </a:solidFill>
              <a:effectLst/>
              <a:uFillTx/>
              <a:latin typeface="Arial"/>
            </a:endParaRPr>
          </a:p>
        </p:txBody>
      </p:sp>
      <p:sp>
        <p:nvSpPr>
          <p:cNvPr id="432" name="TextBox 12"/>
          <p:cNvSpPr/>
          <p:nvPr/>
        </p:nvSpPr>
        <p:spPr>
          <a:xfrm>
            <a:off x="1371600" y="3346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27017</a:t>
            </a:r>
            <a:endParaRPr lang="en-US" sz="3600" b="0" u="none" strike="noStrike">
              <a:solidFill>
                <a:srgbClr val="FFFFFF"/>
              </a:solidFill>
              <a:effectLst/>
              <a:uFillTx/>
              <a:latin typeface="Arial"/>
            </a:endParaRPr>
          </a:p>
        </p:txBody>
      </p:sp>
      <p:sp>
        <p:nvSpPr>
          <p:cNvPr id="433" name="TextBox 13"/>
          <p:cNvSpPr/>
          <p:nvPr/>
        </p:nvSpPr>
        <p:spPr>
          <a:xfrm>
            <a:off x="3840480" y="3346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4" name="TextBox 14"/>
          <p:cNvSpPr/>
          <p:nvPr/>
        </p:nvSpPr>
        <p:spPr>
          <a:xfrm>
            <a:off x="4480560" y="3346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MongoDB</a:t>
            </a:r>
            <a:endParaRPr lang="en-US" sz="3200" b="0" u="none" strike="noStrike">
              <a:solidFill>
                <a:srgbClr val="FFFFFF"/>
              </a:solidFill>
              <a:effectLst/>
              <a:uFillTx/>
              <a:latin typeface="Arial"/>
            </a:endParaRPr>
          </a:p>
        </p:txBody>
      </p:sp>
      <p:sp>
        <p:nvSpPr>
          <p:cNvPr id="435" name="TextBox 15"/>
          <p:cNvSpPr/>
          <p:nvPr/>
        </p:nvSpPr>
        <p:spPr>
          <a:xfrm>
            <a:off x="1371600" y="3913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6379</a:t>
            </a:r>
            <a:endParaRPr lang="en-US" sz="3600" b="0" u="none" strike="noStrike">
              <a:solidFill>
                <a:srgbClr val="FFFFFF"/>
              </a:solidFill>
              <a:effectLst/>
              <a:uFillTx/>
              <a:latin typeface="Arial"/>
            </a:endParaRPr>
          </a:p>
        </p:txBody>
      </p:sp>
      <p:sp>
        <p:nvSpPr>
          <p:cNvPr id="436" name="TextBox 16"/>
          <p:cNvSpPr/>
          <p:nvPr/>
        </p:nvSpPr>
        <p:spPr>
          <a:xfrm>
            <a:off x="3840480" y="3913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7" name="TextBox 17"/>
          <p:cNvSpPr/>
          <p:nvPr/>
        </p:nvSpPr>
        <p:spPr>
          <a:xfrm>
            <a:off x="4480560" y="3913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Redis</a:t>
            </a:r>
            <a:endParaRPr lang="en-US" sz="3200" b="0" u="none" strike="noStrike">
              <a:solidFill>
                <a:srgbClr val="FFFFFF"/>
              </a:solidFill>
              <a:effectLst/>
              <a:uFillTx/>
              <a:latin typeface="Arial"/>
            </a:endParaRPr>
          </a:p>
        </p:txBody>
      </p:sp>
      <p:sp>
        <p:nvSpPr>
          <p:cNvPr id="438" name="TextBox 18"/>
          <p:cNvSpPr/>
          <p:nvPr/>
        </p:nvSpPr>
        <p:spPr>
          <a:xfrm>
            <a:off x="1371600" y="4480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9200</a:t>
            </a:r>
            <a:endParaRPr lang="en-US" sz="3600" b="0" u="none" strike="noStrike">
              <a:solidFill>
                <a:srgbClr val="FFFFFF"/>
              </a:solidFill>
              <a:effectLst/>
              <a:uFillTx/>
              <a:latin typeface="Arial"/>
            </a:endParaRPr>
          </a:p>
        </p:txBody>
      </p:sp>
      <p:sp>
        <p:nvSpPr>
          <p:cNvPr id="439" name="TextBox 19"/>
          <p:cNvSpPr/>
          <p:nvPr/>
        </p:nvSpPr>
        <p:spPr>
          <a:xfrm>
            <a:off x="3840480" y="4480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0" name="TextBox 20"/>
          <p:cNvSpPr/>
          <p:nvPr/>
        </p:nvSpPr>
        <p:spPr>
          <a:xfrm>
            <a:off x="4480560" y="4480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Elasticsearch</a:t>
            </a:r>
            <a:endParaRPr lang="en-US" sz="3200" b="0" u="none" strike="noStrike">
              <a:solidFill>
                <a:srgbClr val="FFFFFF"/>
              </a:solidFill>
              <a:effectLst/>
              <a:uFillTx/>
              <a:latin typeface="Arial"/>
            </a:endParaRPr>
          </a:p>
        </p:txBody>
      </p:sp>
      <p:sp>
        <p:nvSpPr>
          <p:cNvPr id="441" name="TextBox 21"/>
          <p:cNvSpPr/>
          <p:nvPr/>
        </p:nvSpPr>
        <p:spPr>
          <a:xfrm>
            <a:off x="1371600" y="5047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9042</a:t>
            </a:r>
            <a:endParaRPr lang="en-US" sz="3600" b="0" u="none" strike="noStrike">
              <a:solidFill>
                <a:srgbClr val="FFFFFF"/>
              </a:solidFill>
              <a:effectLst/>
              <a:uFillTx/>
              <a:latin typeface="Arial"/>
            </a:endParaRPr>
          </a:p>
        </p:txBody>
      </p:sp>
      <p:sp>
        <p:nvSpPr>
          <p:cNvPr id="442" name="TextBox 22"/>
          <p:cNvSpPr/>
          <p:nvPr/>
        </p:nvSpPr>
        <p:spPr>
          <a:xfrm>
            <a:off x="3840480" y="5047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3" name="TextBox 23"/>
          <p:cNvSpPr/>
          <p:nvPr/>
        </p:nvSpPr>
        <p:spPr>
          <a:xfrm>
            <a:off x="4480560" y="5047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Cassandra</a:t>
            </a:r>
            <a:endParaRPr lang="en-US" sz="3200" b="0" u="none" strike="noStrike">
              <a:solidFill>
                <a:srgbClr val="FFFFFF"/>
              </a:solidFill>
              <a:effectLst/>
              <a:uFillTx/>
              <a:latin typeface="Arial"/>
            </a:endParaRPr>
          </a:p>
        </p:txBody>
      </p:sp>
      <p:sp>
        <p:nvSpPr>
          <p:cNvPr id="444" name="TextBox 24"/>
          <p:cNvSpPr/>
          <p:nvPr/>
        </p:nvSpPr>
        <p:spPr>
          <a:xfrm>
            <a:off x="457200" y="5989320"/>
            <a:ext cx="1124676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6B35"/>
                </a:solidFill>
                <a:effectLst/>
                <a:uFillTx/>
                <a:latin typeface="Calibri"/>
              </a:rPr>
              <a:t>이 중 어느 하나라도 인터넷에 노출되면 = 취약점 발견. 예외 없이*</a:t>
            </a:r>
            <a:endParaRPr lang="en-US" sz="2200" b="0" u="none" strike="noStrike">
              <a:solidFill>
                <a:srgbClr val="FFFFFF"/>
              </a:solidFill>
              <a:effectLst/>
              <a:uFillTx/>
              <a:latin typeface="Arial"/>
            </a:endParaRPr>
          </a:p>
        </p:txBody>
      </p:sp>
      <p:sp>
        <p:nvSpPr>
          <p:cNvPr id="445" name="TextBox 25"/>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446" name="TextBox 2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47" name="TextBox 1" descr="Statement slide: Markdown files are now a database — the kind an LLM reads from via embeddings and RAG." title="Statement slide: Markdown files are now a database — the kind an LLM reads from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이제 여러분의 노트도 데이터베이스입니다</a:t>
            </a:r>
            <a:endParaRPr lang="en-US" sz="4200" b="0" u="none" strike="noStrike">
              <a:solidFill>
                <a:srgbClr val="FFFFFF"/>
              </a:solidFill>
              <a:effectLst/>
              <a:uFillTx/>
              <a:latin typeface="Arial"/>
            </a:endParaRPr>
          </a:p>
        </p:txBody>
      </p:sp>
      <p:sp>
        <p:nvSpPr>
          <p:cNvPr id="44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49"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0" u="none" strike="noStrike">
                <a:solidFill>
                  <a:srgbClr val="FFFFFF"/>
                </a:solidFill>
                <a:effectLst/>
                <a:uFillTx/>
                <a:latin typeface="Calibri"/>
              </a:rPr>
              <a:t>마크다운 파일은 이제</a:t>
            </a:r>
            <a:endParaRPr lang="en-US" sz="4400" b="0" u="none" strike="noStrike">
              <a:solidFill>
                <a:srgbClr val="FFFFFF"/>
              </a:solidFill>
              <a:effectLst/>
              <a:uFillTx/>
              <a:latin typeface="Arial"/>
            </a:endParaRPr>
          </a:p>
        </p:txBody>
      </p:sp>
      <p:sp>
        <p:nvSpPr>
          <p:cNvPr id="450" name="TextBox 4"/>
          <p:cNvSpPr/>
          <p:nvPr/>
        </p:nvSpPr>
        <p:spPr>
          <a:xfrm>
            <a:off x="457200" y="283464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00FF41"/>
                </a:solidFill>
                <a:effectLst/>
                <a:uFillTx/>
                <a:latin typeface="Calibri"/>
              </a:rPr>
              <a:t>LLM이 읽어 들이는 데이터베이스입니다.</a:t>
            </a:r>
            <a:endParaRPr lang="en-US" sz="4400" b="0" u="none" strike="noStrike">
              <a:solidFill>
                <a:srgbClr val="FFFFFF"/>
              </a:solidFill>
              <a:effectLst/>
              <a:uFillTx/>
              <a:latin typeface="Arial"/>
            </a:endParaRPr>
          </a:p>
        </p:txBody>
      </p:sp>
      <p:sp>
        <p:nvSpPr>
          <p:cNvPr id="451" name="TextBox 5"/>
          <p:cNvSpPr/>
          <p:nvPr/>
        </p:nvSpPr>
        <p:spPr>
          <a:xfrm>
            <a:off x="457200" y="420624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00D4FF"/>
                </a:solidFill>
                <a:effectLst/>
                <a:uFillTx/>
                <a:latin typeface="Calibri"/>
              </a:rPr>
              <a:t>Obsidian 볼트  •  위키 내보내기  •  회의 노트  •  GitHub 문서</a:t>
            </a:r>
            <a:endParaRPr lang="en-US" sz="2400" b="0" u="none" strike="noStrike">
              <a:solidFill>
                <a:srgbClr val="FFFFFF"/>
              </a:solidFill>
              <a:effectLst/>
              <a:uFillTx/>
              <a:latin typeface="Arial"/>
            </a:endParaRPr>
          </a:p>
        </p:txBody>
      </p:sp>
      <p:sp>
        <p:nvSpPr>
          <p:cNvPr id="452" name="TextBox 6"/>
          <p:cNvSpPr/>
          <p:nvPr/>
        </p:nvSpPr>
        <p:spPr>
          <a:xfrm>
            <a:off x="457200" y="493776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CCCCD6"/>
                </a:solidFill>
                <a:effectLst/>
                <a:uFillTx/>
                <a:latin typeface="Calibri"/>
              </a:rPr>
              <a:t>임베딩 → 벡터 DB → LLM 컨텍스트 → 사용자에게 답변</a:t>
            </a:r>
            <a:endParaRPr lang="en-US" sz="2600" b="0" u="none" strike="noStrike">
              <a:solidFill>
                <a:srgbClr val="FFFFFF"/>
              </a:solidFill>
              <a:effectLst/>
              <a:uFillTx/>
              <a:latin typeface="Arial"/>
            </a:endParaRPr>
          </a:p>
        </p:txBody>
      </p:sp>
      <p:sp>
        <p:nvSpPr>
          <p:cNvPr id="45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45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55" name="TextBox 1" descr="Pipeline diagram: markdown files → embedder → vector DB → LLM prompt → answer. The trust boundary sits between authors and the embedder." title="Pipeline diagram: markdown files → embedder → vector DB → LLM prompt → answer. T"/>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RAG 파이프라인 — 신뢰 경계는 어디에 있는가?</a:t>
            </a:r>
            <a:endParaRPr lang="en-US" sz="3600" b="0" u="none" strike="noStrike">
              <a:solidFill>
                <a:srgbClr val="FFFFFF"/>
              </a:solidFill>
              <a:effectLst/>
              <a:uFillTx/>
              <a:latin typeface="Arial"/>
            </a:endParaRPr>
          </a:p>
        </p:txBody>
      </p:sp>
      <p:sp>
        <p:nvSpPr>
          <p:cNvPr id="45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57" name="Rounded Rectangle 3"/>
          <p:cNvSpPr/>
          <p:nvPr/>
        </p:nvSpPr>
        <p:spPr>
          <a:xfrm>
            <a:off x="457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8" name="TextBox 4"/>
          <p:cNvSpPr/>
          <p:nvPr/>
        </p:nvSpPr>
        <p:spPr>
          <a:xfrm>
            <a:off x="457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.md 파일</a:t>
            </a:r>
            <a:endParaRPr lang="en-US" sz="2200" b="0" u="none" strike="noStrike">
              <a:solidFill>
                <a:srgbClr val="FFFFFF"/>
              </a:solidFill>
              <a:effectLst/>
              <a:uFillTx/>
              <a:latin typeface="Arial"/>
            </a:endParaRPr>
          </a:p>
        </p:txBody>
      </p:sp>
      <p:sp>
        <p:nvSpPr>
          <p:cNvPr id="459" name="TextBox 5"/>
          <p:cNvSpPr/>
          <p:nvPr/>
        </p:nvSpPr>
        <p:spPr>
          <a:xfrm>
            <a:off x="2395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0" name="Rounded Rectangle 6"/>
          <p:cNvSpPr/>
          <p:nvPr/>
        </p:nvSpPr>
        <p:spPr>
          <a:xfrm>
            <a:off x="2743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1" name="TextBox 7"/>
          <p:cNvSpPr/>
          <p:nvPr/>
        </p:nvSpPr>
        <p:spPr>
          <a:xfrm>
            <a:off x="2743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임베더</a:t>
            </a:r>
            <a:endParaRPr lang="en-US" sz="2200" b="0" u="none" strike="noStrike">
              <a:solidFill>
                <a:srgbClr val="FFFFFF"/>
              </a:solidFill>
              <a:effectLst/>
              <a:uFillTx/>
              <a:latin typeface="Arial"/>
            </a:endParaRPr>
          </a:p>
        </p:txBody>
      </p:sp>
      <p:sp>
        <p:nvSpPr>
          <p:cNvPr id="462" name="TextBox 8"/>
          <p:cNvSpPr/>
          <p:nvPr/>
        </p:nvSpPr>
        <p:spPr>
          <a:xfrm>
            <a:off x="4681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3" name="Rounded Rectangle 9"/>
          <p:cNvSpPr/>
          <p:nvPr/>
        </p:nvSpPr>
        <p:spPr>
          <a:xfrm>
            <a:off x="5029200" y="2377440"/>
            <a:ext cx="1919880" cy="1096920"/>
          </a:xfrm>
          <a:prstGeom prst="roundRect">
            <a:avLst>
              <a:gd name="adj" fmla="val 16667"/>
            </a:avLst>
          </a:prstGeom>
          <a:solidFill>
            <a:srgbClr val="24243E"/>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4" name="TextBox 10"/>
          <p:cNvSpPr/>
          <p:nvPr/>
        </p:nvSpPr>
        <p:spPr>
          <a:xfrm>
            <a:off x="5029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FF41"/>
                </a:solidFill>
                <a:effectLst/>
                <a:uFillTx/>
                <a:latin typeface="Calibri"/>
              </a:rPr>
              <a:t>벡터 DB</a:t>
            </a:r>
            <a:endParaRPr lang="en-US" sz="2200" b="0" u="none" strike="noStrike">
              <a:solidFill>
                <a:srgbClr val="FFFFFF"/>
              </a:solidFill>
              <a:effectLst/>
              <a:uFillTx/>
              <a:latin typeface="Arial"/>
            </a:endParaRPr>
          </a:p>
        </p:txBody>
      </p:sp>
      <p:sp>
        <p:nvSpPr>
          <p:cNvPr id="465" name="TextBox 11"/>
          <p:cNvSpPr/>
          <p:nvPr/>
        </p:nvSpPr>
        <p:spPr>
          <a:xfrm>
            <a:off x="6967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6" name="Rounded Rectangle 12"/>
          <p:cNvSpPr/>
          <p:nvPr/>
        </p:nvSpPr>
        <p:spPr>
          <a:xfrm>
            <a:off x="7315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7" name="TextBox 13"/>
          <p:cNvSpPr/>
          <p:nvPr/>
        </p:nvSpPr>
        <p:spPr>
          <a:xfrm>
            <a:off x="7315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LLM 프롬프트</a:t>
            </a:r>
            <a:endParaRPr lang="en-US" sz="2200" b="0" u="none" strike="noStrike">
              <a:solidFill>
                <a:srgbClr val="FFFFFF"/>
              </a:solidFill>
              <a:effectLst/>
              <a:uFillTx/>
              <a:latin typeface="Arial"/>
            </a:endParaRPr>
          </a:p>
        </p:txBody>
      </p:sp>
      <p:sp>
        <p:nvSpPr>
          <p:cNvPr id="468" name="TextBox 14"/>
          <p:cNvSpPr/>
          <p:nvPr/>
        </p:nvSpPr>
        <p:spPr>
          <a:xfrm>
            <a:off x="9253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9" name="Rounded Rectangle 15"/>
          <p:cNvSpPr/>
          <p:nvPr/>
        </p:nvSpPr>
        <p:spPr>
          <a:xfrm>
            <a:off x="9601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0" name="TextBox 16"/>
          <p:cNvSpPr/>
          <p:nvPr/>
        </p:nvSpPr>
        <p:spPr>
          <a:xfrm>
            <a:off x="9601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답변</a:t>
            </a:r>
            <a:endParaRPr lang="en-US" sz="2200" b="0" u="none" strike="noStrike">
              <a:solidFill>
                <a:srgbClr val="FFFFFF"/>
              </a:solidFill>
              <a:effectLst/>
              <a:uFillTx/>
              <a:latin typeface="Arial"/>
            </a:endParaRPr>
          </a:p>
        </p:txBody>
      </p:sp>
      <p:sp>
        <p:nvSpPr>
          <p:cNvPr id="471" name="Rectangle 17"/>
          <p:cNvSpPr/>
          <p:nvPr/>
        </p:nvSpPr>
        <p:spPr>
          <a:xfrm>
            <a:off x="2286000" y="2103120"/>
            <a:ext cx="54360" cy="16455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TextBox 18"/>
          <p:cNvSpPr/>
          <p:nvPr/>
        </p:nvSpPr>
        <p:spPr>
          <a:xfrm>
            <a:off x="731520" y="3840480"/>
            <a:ext cx="27428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1" u="none" strike="noStrike">
                <a:solidFill>
                  <a:srgbClr val="FF6B35"/>
                </a:solidFill>
                <a:effectLst/>
                <a:uFillTx/>
                <a:latin typeface="Calibri"/>
              </a:rPr>
              <a:t>⚠ 신뢰 경계</a:t>
            </a:r>
            <a:endParaRPr lang="en-US" sz="1800" b="0" u="none" strike="noStrike">
              <a:solidFill>
                <a:srgbClr val="FFFFFF"/>
              </a:solidFill>
              <a:effectLst/>
              <a:uFillTx/>
              <a:latin typeface="Arial"/>
            </a:endParaRPr>
          </a:p>
        </p:txBody>
      </p:sp>
      <p:sp>
        <p:nvSpPr>
          <p:cNvPr id="473" name="TextBox 19"/>
          <p:cNvSpPr/>
          <p:nvPr/>
        </p:nvSpPr>
        <p:spPr>
          <a:xfrm>
            <a:off x="457200" y="48463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FFFF"/>
                </a:solidFill>
                <a:effectLst/>
                <a:uFillTx/>
                <a:latin typeface="Calibri"/>
              </a:rPr>
              <a:t>누구나 그 .md 파일을 편집할 수 있다면, 누구나 심을 수 있습니다</a:t>
            </a:r>
            <a:endParaRPr lang="en-US" sz="2600" b="0" u="none" strike="noStrike">
              <a:solidFill>
                <a:srgbClr val="FFFFFF"/>
              </a:solidFill>
              <a:effectLst/>
              <a:uFillTx/>
              <a:latin typeface="Arial"/>
            </a:endParaRPr>
          </a:p>
          <a:p>
            <a:pPr algn="ctr" defTabSz="457200">
              <a:lnSpc>
                <a:spcPct val="100000"/>
              </a:lnSpc>
            </a:pPr>
            <a:r>
              <a:rPr lang="en-US" sz="2600" b="1" u="none" strike="noStrike">
                <a:solidFill>
                  <a:srgbClr val="FFFFFF"/>
                </a:solidFill>
                <a:effectLst/>
                <a:uFillTx/>
                <a:latin typeface="Calibri"/>
              </a:rPr>
              <a:t>AI가 권위 있는 것으로 인용할 콘텐츠를.</a:t>
            </a:r>
            <a:endParaRPr lang="en-US" sz="2600" b="0" u="none" strike="noStrike">
              <a:solidFill>
                <a:srgbClr val="FFFFFF"/>
              </a:solidFill>
              <a:effectLst/>
              <a:uFillTx/>
              <a:latin typeface="Arial"/>
            </a:endParaRPr>
          </a:p>
        </p:txBody>
      </p:sp>
      <p:sp>
        <p:nvSpPr>
          <p:cNvPr id="474" name="TextBox 2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475" name="TextBox 2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76" name="TextBox 1" descr="Takeaway slide: Treat markdown like a database — because to the LLM, it is. Apply access control, code review, and diff tracking." title="Takeaway slide: Treat markdown like a database — because to the LLM, it is. Appl"/>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핵심 정리</a:t>
            </a:r>
            <a:endParaRPr lang="en-US" sz="4200" b="0" u="none" strike="noStrike">
              <a:solidFill>
                <a:srgbClr val="FFFFFF"/>
              </a:solidFill>
              <a:effectLst/>
              <a:uFillTx/>
              <a:latin typeface="Arial"/>
            </a:endParaRPr>
          </a:p>
        </p:txBody>
      </p:sp>
      <p:sp>
        <p:nvSpPr>
          <p:cNvPr id="47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78" name="TextBox 3"/>
          <p:cNvSpPr/>
          <p:nvPr/>
        </p:nvSpPr>
        <p:spPr>
          <a:xfrm>
            <a:off x="457200" y="219456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850" b="1" u="none" strike="noStrike">
                <a:solidFill>
                  <a:srgbClr val="00FF41"/>
                </a:solidFill>
                <a:effectLst/>
                <a:uFillTx/>
                <a:latin typeface="Calibri"/>
              </a:rPr>
              <a:t>마크다운을 데이터베이스처럼 다루세요.</a:t>
            </a:r>
            <a:endParaRPr lang="en-US" sz="5400" b="0" u="none" strike="noStrike">
              <a:solidFill>
                <a:srgbClr val="FFFFFF"/>
              </a:solidFill>
              <a:effectLst/>
              <a:uFillTx/>
              <a:latin typeface="Arial"/>
            </a:endParaRPr>
          </a:p>
        </p:txBody>
      </p:sp>
      <p:sp>
        <p:nvSpPr>
          <p:cNvPr id="479" name="TextBox 4"/>
          <p:cNvSpPr/>
          <p:nvPr/>
        </p:nvSpPr>
        <p:spPr>
          <a:xfrm>
            <a:off x="457200" y="33832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950" b="0" u="none" strike="noStrike">
                <a:solidFill>
                  <a:srgbClr val="FFFFFF"/>
                </a:solidFill>
                <a:effectLst/>
                <a:uFillTx/>
                <a:latin typeface="Calibri"/>
              </a:rPr>
              <a:t>LLM에게는 실제로 데이터베이스이기 때문입니다.</a:t>
            </a:r>
            <a:endParaRPr lang="en-US" sz="4200" b="0" u="none" strike="noStrike">
              <a:solidFill>
                <a:srgbClr val="FFFFFF"/>
              </a:solidFill>
              <a:effectLst/>
              <a:uFillTx/>
              <a:latin typeface="Arial"/>
            </a:endParaRPr>
          </a:p>
        </p:txBody>
      </p:sp>
      <p:sp>
        <p:nvSpPr>
          <p:cNvPr id="480" name="TextBox 5"/>
          <p:cNvSpPr/>
          <p:nvPr/>
        </p:nvSpPr>
        <p:spPr>
          <a:xfrm>
            <a:off x="1828800" y="4572000"/>
            <a:ext cx="850356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문서 폴더에 접근 제어를 적용하세요.</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.md 변경에 코드 리뷰를 적용하세요.</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위키에 변경 이력 추적을 적용하세요.</a:t>
            </a:r>
            <a:endParaRPr lang="en-US" sz="2400" b="0" u="none" strike="noStrike">
              <a:solidFill>
                <a:srgbClr val="FFFFFF"/>
              </a:solidFill>
              <a:effectLst/>
              <a:uFillTx/>
              <a:latin typeface="Arial"/>
            </a:endParaRPr>
          </a:p>
        </p:txBody>
      </p:sp>
      <p:sp>
        <p:nvSpPr>
          <p:cNvPr id="48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48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3" name="TextBox 1" descr="Section divider: SECURITY. What's actually getting hit in 2026" title="Section divider: SECURITY. What's actually getting hit in 2026"/>
          <p:cNvSpPr/>
          <p:nvPr/>
        </p:nvSpPr>
        <p:spPr>
          <a:xfrm>
            <a:off x="457200" y="2560320"/>
            <a:ext cx="11246760" cy="164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600" b="1" u="none" strike="noStrike">
                <a:solidFill>
                  <a:srgbClr val="00FF41"/>
                </a:solidFill>
                <a:effectLst/>
                <a:uFillTx/>
                <a:latin typeface="Calibri"/>
              </a:rPr>
              <a:t>보안</a:t>
            </a:r>
            <a:endParaRPr lang="en-US" sz="9600" b="0" u="none" strike="noStrike">
              <a:solidFill>
                <a:srgbClr val="FFFFFF"/>
              </a:solidFill>
              <a:effectLst/>
              <a:uFillTx/>
              <a:latin typeface="Arial"/>
            </a:endParaRPr>
          </a:p>
        </p:txBody>
      </p:sp>
      <p:sp>
        <p:nvSpPr>
          <p:cNvPr id="484" name="Rectangle 2"/>
          <p:cNvSpPr/>
          <p:nvPr/>
        </p:nvSpPr>
        <p:spPr>
          <a:xfrm>
            <a:off x="4724640" y="4297680"/>
            <a:ext cx="2742840" cy="9108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5" name="TextBox 3"/>
          <p:cNvSpPr/>
          <p:nvPr/>
        </p:nvSpPr>
        <p:spPr>
          <a:xfrm>
            <a:off x="457200" y="4572000"/>
            <a:ext cx="11246760" cy="578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FFFFFF"/>
                </a:solidFill>
                <a:effectLst/>
                <a:uFillTx/>
                <a:latin typeface="Calibri"/>
              </a:rPr>
              <a:t>2026년에 실제로 공격받는 것들*</a:t>
            </a:r>
            <a:endParaRPr lang="en-US" sz="3200" b="0" u="none" strike="noStrike">
              <a:solidFill>
                <a:srgbClr val="FFFFFF"/>
              </a:solidFill>
              <a:effectLst/>
              <a:uFillTx/>
              <a:latin typeface="Arial"/>
            </a:endParaRPr>
          </a:p>
        </p:txBody>
      </p:sp>
      <p:sp>
        <p:nvSpPr>
          <p:cNvPr id="486"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487"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8" name="TextBox 1" descr="Reference to xkcd #327 'Exploits of a Mom' (Bobby Tables): a mother names her son Robert'); DROP TABLE Students;-- and the school's student table is dropped. URL: https://xkcd.com/327/" title="Reference to xkcd #327 'Exploits of a Mom' (Bobby Tables): a mother names her s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xkcd #327 — Bobby Tables</a:t>
            </a:r>
            <a:endParaRPr lang="en-US" sz="3800" b="0" u="none" strike="noStrike">
              <a:solidFill>
                <a:srgbClr val="FFFFFF"/>
              </a:solidFill>
              <a:effectLst/>
              <a:uFillTx/>
              <a:latin typeface="Arial"/>
            </a:endParaRPr>
          </a:p>
        </p:txBody>
      </p:sp>
      <p:sp>
        <p:nvSpPr>
          <p:cNvPr id="489"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90" name="Rectangle 3"/>
          <p:cNvSpPr/>
          <p:nvPr/>
        </p:nvSpPr>
        <p:spPr>
          <a:xfrm>
            <a:off x="457200" y="1737360"/>
            <a:ext cx="11246760" cy="3200040"/>
          </a:xfrm>
          <a:prstGeom prst="rect">
            <a:avLst/>
          </a:prstGeom>
          <a:solidFill>
            <a:srgbClr val="24243E"/>
          </a:solidFill>
          <a:ln w="254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1" name="TextBox 4"/>
          <p:cNvSpPr/>
          <p:nvPr/>
        </p:nvSpPr>
        <p:spPr>
          <a:xfrm>
            <a:off x="731520" y="192024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학교:  "안녕하세요, 자녀분 학교입니다. 저희가 지금</a:t>
            </a:r>
            <a:endParaRPr lang="en-US" sz="2400" b="0" u="none" strike="noStrike">
              <a:solidFill>
                <a:srgbClr val="FFFFFF"/>
              </a:solidFill>
              <a:effectLst/>
              <a:uFillTx/>
              <a:latin typeface="Arial"/>
            </a:endParaRPr>
          </a:p>
        </p:txBody>
      </p:sp>
      <p:sp>
        <p:nvSpPr>
          <p:cNvPr id="492" name="TextBox 5"/>
          <p:cNvSpPr/>
          <p:nvPr/>
        </p:nvSpPr>
        <p:spPr>
          <a:xfrm>
            <a:off x="731520" y="251460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         컴퓨터 문제를 좀 겪고 있어서요."</a:t>
            </a:r>
            <a:endParaRPr lang="en-US" sz="2400" b="0" u="none" strike="noStrike">
              <a:solidFill>
                <a:srgbClr val="FFFFFF"/>
              </a:solidFill>
              <a:effectLst/>
              <a:uFillTx/>
              <a:latin typeface="Arial"/>
            </a:endParaRPr>
          </a:p>
        </p:txBody>
      </p:sp>
      <p:sp>
        <p:nvSpPr>
          <p:cNvPr id="493" name="TextBox 6"/>
          <p:cNvSpPr/>
          <p:nvPr/>
        </p:nvSpPr>
        <p:spPr>
          <a:xfrm>
            <a:off x="731520" y="3154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엄마:     "어머나 — 우리 애가 뭘 망가뜨렸나요?"</a:t>
            </a:r>
            <a:endParaRPr lang="en-US" sz="2400" b="0" u="none" strike="noStrike">
              <a:solidFill>
                <a:srgbClr val="FFFFFF"/>
              </a:solidFill>
              <a:effectLst/>
              <a:uFillTx/>
              <a:latin typeface="Arial"/>
            </a:endParaRPr>
          </a:p>
        </p:txBody>
      </p:sp>
      <p:sp>
        <p:nvSpPr>
          <p:cNvPr id="494" name="TextBox 7"/>
          <p:cNvSpPr/>
          <p:nvPr/>
        </p:nvSpPr>
        <p:spPr>
          <a:xfrm>
            <a:off x="731520" y="379476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FF41"/>
                </a:solidFill>
                <a:effectLst/>
                <a:uFillTx/>
                <a:latin typeface="Calibri"/>
              </a:rPr>
              <a:t>학교:  "정말 자녀분 이름을  Robert');</a:t>
            </a:r>
            <a:endParaRPr lang="en-US" sz="2400" b="0" u="none" strike="noStrike">
              <a:solidFill>
                <a:srgbClr val="FFFFFF"/>
              </a:solidFill>
              <a:effectLst/>
              <a:uFillTx/>
              <a:latin typeface="Arial"/>
            </a:endParaRPr>
          </a:p>
        </p:txBody>
      </p:sp>
      <p:sp>
        <p:nvSpPr>
          <p:cNvPr id="495" name="TextBox 8"/>
          <p:cNvSpPr/>
          <p:nvPr/>
        </p:nvSpPr>
        <p:spPr>
          <a:xfrm>
            <a:off x="731520" y="4297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DROP TABLE Students;--  로 지으신 거 맞나요?"</a:t>
            </a:r>
            <a:endParaRPr lang="en-US" sz="2400" b="0" u="none" strike="noStrike">
              <a:solidFill>
                <a:srgbClr val="FFFFFF"/>
              </a:solidFill>
              <a:effectLst/>
              <a:uFillTx/>
              <a:latin typeface="Arial"/>
            </a:endParaRPr>
          </a:p>
        </p:txBody>
      </p:sp>
      <p:sp>
        <p:nvSpPr>
          <p:cNvPr id="496" name="TextBox 9"/>
          <p:cNvSpPr/>
          <p:nvPr/>
        </p:nvSpPr>
        <p:spPr>
          <a:xfrm>
            <a:off x="457200" y="5212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00D4FF"/>
                </a:solidFill>
                <a:effectLst/>
                <a:uFillTx/>
                <a:latin typeface="Calibri"/>
              </a:rPr>
              <a:t>https://xkcd.com/327/</a:t>
            </a:r>
            <a:endParaRPr lang="en-US" sz="2800" b="0" u="none" strike="noStrike">
              <a:solidFill>
                <a:srgbClr val="FFFFFF"/>
              </a:solidFill>
              <a:effectLst/>
              <a:uFillTx/>
              <a:latin typeface="Arial"/>
            </a:endParaRPr>
          </a:p>
        </p:txBody>
      </p:sp>
      <p:sp>
        <p:nvSpPr>
          <p:cNvPr id="497" name="TextBox 10"/>
          <p:cNvSpPr/>
          <p:nvPr/>
        </p:nvSpPr>
        <p:spPr>
          <a:xfrm>
            <a:off x="457200" y="57607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0" u="none" strike="noStrike">
                <a:solidFill>
                  <a:srgbClr val="CCCCD6"/>
                </a:solidFill>
                <a:effectLst/>
                <a:uFillTx/>
                <a:latin typeface="Calibri"/>
              </a:rPr>
              <a:t>그 메커니즘: 쿼리에서의 문자열 연결.</a:t>
            </a:r>
            <a:endParaRPr lang="en-US" sz="2200" b="0" u="none" strike="noStrike">
              <a:solidFill>
                <a:srgbClr val="FFFFFF"/>
              </a:solidFill>
              <a:effectLst/>
              <a:uFillTx/>
              <a:latin typeface="Arial"/>
            </a:endParaRPr>
          </a:p>
        </p:txBody>
      </p:sp>
      <p:sp>
        <p:nvSpPr>
          <p:cNvPr id="498" name="TextBox 11"/>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499" name="TextBox 12"/>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0" name="TextBox 1" descr="Statement slide: The database attack surface has expanded, not shrunk. SQL injection is largely fixed; eleven newer categories now dominate." title="Statement slide: The database attack surface has expanded, not shrunk. SQL injec"/>
          <p:cNvSpPr/>
          <p:nvPr/>
        </p:nvSpPr>
        <p:spPr>
          <a:xfrm>
            <a:off x="457200" y="22860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0" u="none" strike="noStrike">
                <a:solidFill>
                  <a:srgbClr val="FFFFFF"/>
                </a:solidFill>
                <a:effectLst/>
                <a:uFillTx/>
                <a:latin typeface="Calibri"/>
              </a:rPr>
              <a:t>공격 표면은</a:t>
            </a:r>
            <a:endParaRPr lang="en-US" sz="5400" b="0" u="none" strike="noStrike">
              <a:solidFill>
                <a:srgbClr val="FFFFFF"/>
              </a:solidFill>
              <a:effectLst/>
              <a:uFillTx/>
              <a:latin typeface="Arial"/>
            </a:endParaRPr>
          </a:p>
        </p:txBody>
      </p:sp>
      <p:sp>
        <p:nvSpPr>
          <p:cNvPr id="501" name="TextBox 2"/>
          <p:cNvSpPr/>
          <p:nvPr/>
        </p:nvSpPr>
        <p:spPr>
          <a:xfrm>
            <a:off x="457200" y="32004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6200" b="1" u="none" strike="noStrike">
                <a:solidFill>
                  <a:srgbClr val="FF6B35"/>
                </a:solidFill>
                <a:effectLst/>
                <a:uFillTx/>
                <a:latin typeface="Calibri"/>
              </a:rPr>
              <a:t>줄어든 게 아니라 확장됐습니다.</a:t>
            </a:r>
            <a:endParaRPr lang="en-US" sz="7200" b="0" u="none" strike="noStrike">
              <a:solidFill>
                <a:srgbClr val="FFFFFF"/>
              </a:solidFill>
              <a:effectLst/>
              <a:uFillTx/>
              <a:latin typeface="Arial"/>
            </a:endParaRPr>
          </a:p>
        </p:txBody>
      </p:sp>
      <p:sp>
        <p:nvSpPr>
          <p:cNvPr id="502" name="TextBox 3"/>
          <p:cNvSpPr/>
          <p:nvPr/>
        </p:nvSpPr>
        <p:spPr>
          <a:xfrm>
            <a:off x="457200" y="484632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500" b="0" u="none" strike="noStrike">
                <a:solidFill>
                  <a:srgbClr val="00D4FF"/>
                </a:solidFill>
                <a:effectLst/>
                <a:uFillTx/>
                <a:latin typeface="Calibri"/>
              </a:rPr>
              <a:t>SQL 인젝션은 해결됐습니다. 그 자리를 열한 개의 새로운 범주가 차지했습니다.</a:t>
            </a:r>
            <a:endParaRPr lang="en-US" sz="2600" b="0" u="none" strike="noStrike">
              <a:solidFill>
                <a:srgbClr val="FFFFFF"/>
              </a:solidFill>
              <a:effectLst/>
              <a:uFillTx/>
              <a:latin typeface="Arial"/>
            </a:endParaRPr>
          </a:p>
        </p:txBody>
      </p:sp>
      <p:sp>
        <p:nvSpPr>
          <p:cNvPr id="503"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04"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5" name="TextBox 1" descr="Attack category: NoSQL Injection. MongoDB JSON queries + raw user input = SQLi reborn. Key points: Login bypass: { username: 'alice', password: { $ne: 'x' } } | $where lets you inject JavaScript straight into the DB. | Couchbase N1QL is SQL-flavored — classic SQLi patterns apply. | Principle: ANY interpreter can be injected, not just SQL." title="Attack category: NoSQL Injection. MongoDB JSON queries + raw user input = SQLi r"/>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0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NoSQL 인젝션</a:t>
            </a:r>
            <a:endParaRPr lang="en-US" sz="4200" b="0" u="none" strike="noStrike">
              <a:solidFill>
                <a:srgbClr val="FFFFFF"/>
              </a:solidFill>
              <a:effectLst/>
              <a:uFillTx/>
              <a:latin typeface="Arial"/>
            </a:endParaRPr>
          </a:p>
        </p:txBody>
      </p:sp>
      <p:sp>
        <p:nvSpPr>
          <p:cNvPr id="50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0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MongoDB JSON 쿼리 + 가공되지 않은 사용자 입력 = 부활한 SQLi.</a:t>
            </a:r>
            <a:endParaRPr lang="en-US" sz="2400" b="0" u="none" strike="noStrike">
              <a:solidFill>
                <a:srgbClr val="FFFFFF"/>
              </a:solidFill>
              <a:effectLst/>
              <a:uFillTx/>
              <a:latin typeface="Arial"/>
            </a:endParaRPr>
          </a:p>
        </p:txBody>
      </p:sp>
      <p:sp>
        <p:nvSpPr>
          <p:cNvPr id="50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로그인 우회: { username: 'alice', password: { $ne: 'x' } }</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$where를 쓰면 JavaScript를 DB에 곧바로 주입할 수 있습니다.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Couchbase N1QL은 SQL 계열이라 — 고전적인 SQLi 패턴이 그대로 적용됩니다.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원칙: SQL뿐 아니라 어떤 인터프리터든 인젝션될 수 있습니다.</a:t>
            </a:r>
            <a:endParaRPr lang="en-US" sz="2300" b="0" u="none" strike="noStrike">
              <a:solidFill>
                <a:srgbClr val="FFFFFF"/>
              </a:solidFill>
              <a:effectLst/>
              <a:uFillTx/>
              <a:latin typeface="Arial"/>
            </a:endParaRPr>
          </a:p>
        </p:txBody>
      </p:sp>
      <p:sp>
        <p:nvSpPr>
          <p:cNvPr id="51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OWASP Top 10 2025: '동적 쿼리... 인터프리터에서 직접 사용됨.'</a:t>
            </a:r>
            <a:endParaRPr lang="en-US" sz="1600" b="0" u="none" strike="noStrike">
              <a:solidFill>
                <a:srgbClr val="FFFFFF"/>
              </a:solidFill>
              <a:effectLst/>
              <a:uFillTx/>
              <a:latin typeface="Arial"/>
            </a:endParaRPr>
          </a:p>
        </p:txBody>
      </p:sp>
      <p:sp>
        <p:nvSpPr>
          <p:cNvPr id="51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1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13" name="TextBox 1" descr="Attack category: Exposed &amp; Misconfigured Databases. Shodan and Censys are full of databases that should not be there. Key points: MongoDB bound to 0.0.0.0 with no auth. | Elasticsearch clusters wide open. Redis with no password. | Postgres pg_hba.conf set to 'host all all 0.0.0.0/0 trust'. | Meow attacks (2020): bots wiped thousands of open DBs for fun." title="Attack category: Exposed &amp; Misconfigured Databases. Shodan and Censys are full 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1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노출되고 잘못 구성된 데이터베이스</a:t>
            </a:r>
            <a:endParaRPr lang="en-US" sz="4200" b="0" u="none" strike="noStrike">
              <a:solidFill>
                <a:srgbClr val="FFFFFF"/>
              </a:solidFill>
              <a:effectLst/>
              <a:uFillTx/>
              <a:latin typeface="Arial"/>
            </a:endParaRPr>
          </a:p>
        </p:txBody>
      </p:sp>
      <p:sp>
        <p:nvSpPr>
          <p:cNvPr id="51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1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Shodan과 Censys에는 거기 있어서는 안 될 데이터베이스가 가득합니다.</a:t>
            </a:r>
            <a:endParaRPr lang="en-US" sz="2400" b="0" u="none" strike="noStrike">
              <a:solidFill>
                <a:srgbClr val="FFFFFF"/>
              </a:solidFill>
              <a:effectLst/>
              <a:uFillTx/>
              <a:latin typeface="Arial"/>
            </a:endParaRPr>
          </a:p>
        </p:txBody>
      </p:sp>
      <p:sp>
        <p:nvSpPr>
          <p:cNvPr id="51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인증 없이 0.0.0.0에 바인딩된 MongoDB.</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활짝 열린 Elasticsearch 클러스터. 비밀번호 없는 Redis.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Postgres pg_hba.conf가 'host all all 0.0.0.0/0 trust'로 설정됨.</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Meow 공격(2020): 봇들이 재미로 수천 개의 열린 DB를 지워 버렸습니다.</a:t>
            </a:r>
            <a:endParaRPr lang="en-US" sz="2300" b="0" u="none" strike="noStrike">
              <a:solidFill>
                <a:srgbClr val="FFFFFF"/>
              </a:solidFill>
              <a:effectLst/>
              <a:uFillTx/>
              <a:latin typeface="Arial"/>
            </a:endParaRPr>
          </a:p>
        </p:txBody>
      </p:sp>
      <p:sp>
        <p:nvSpPr>
          <p:cNvPr id="51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실행 항목: 우리 조직이 공개 인터페이스에 무엇을 바인딩했는지 찾으세요. 오늘 당장.</a:t>
            </a:r>
            <a:endParaRPr lang="en-US" sz="1600" b="0" u="none" strike="noStrike">
              <a:solidFill>
                <a:srgbClr val="FFFFFF"/>
              </a:solidFill>
              <a:effectLst/>
              <a:uFillTx/>
              <a:latin typeface="Arial"/>
            </a:endParaRPr>
          </a:p>
        </p:txBody>
      </p:sp>
      <p:sp>
        <p:nvSpPr>
          <p:cNvPr id="51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2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1" name="TextBox 1" descr="Attack category: Cloud Misconfigurations. In cloud, the bug is rarely the engine. It's the policy around it. Key points: Public S3 buckets containing DB dumps (Capital One pattern). | RDS snapshots marked public during a 2 a.m. debug session. | Lambda with s3:* on * because it 'worked the first time'. | Security groups: 0.0.0.0/0 on port 5432." title="Attack category: Cloud Misconfigurations. In cloud, the bug is rarely the engi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2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클라우드 설정 오류</a:t>
            </a:r>
            <a:endParaRPr lang="en-US" sz="4200" b="0" u="none" strike="noStrike">
              <a:solidFill>
                <a:srgbClr val="FFFFFF"/>
              </a:solidFill>
              <a:effectLst/>
              <a:uFillTx/>
              <a:latin typeface="Arial"/>
            </a:endParaRPr>
          </a:p>
        </p:txBody>
      </p:sp>
      <p:sp>
        <p:nvSpPr>
          <p:cNvPr id="52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2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클라우드에서 버그는 엔진 자체인 경우가 드뭅니다. 그것을 둘러싼 정책이 문제입니다.</a:t>
            </a:r>
            <a:endParaRPr lang="en-US" sz="2400" b="0" u="none" strike="noStrike">
              <a:solidFill>
                <a:srgbClr val="FFFFFF"/>
              </a:solidFill>
              <a:effectLst/>
              <a:uFillTx/>
              <a:latin typeface="Arial"/>
            </a:endParaRPr>
          </a:p>
        </p:txBody>
      </p:sp>
      <p:sp>
        <p:nvSpPr>
          <p:cNvPr id="52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DB 덤프로 가득 찬 공개 S3 버킷(Accenture, Verizon 등).</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Capital One 2019: SSRF가 WAF를 속여 IAM 자격 증명을 유출 → S3.</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'처음에 됐으니까'라는 이유로 *에 s3:*가 부여된 Lambda.</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보안 그룹: 5432 포트에 0.0.0.0/0.</a:t>
            </a:r>
            <a:endParaRPr lang="en-US" sz="2300" b="0" u="none" strike="noStrike">
              <a:solidFill>
                <a:srgbClr val="FFFFFF"/>
              </a:solidFill>
              <a:effectLst/>
              <a:uFillTx/>
              <a:latin typeface="Arial"/>
            </a:endParaRPr>
          </a:p>
        </p:txBody>
      </p:sp>
      <p:sp>
        <p:nvSpPr>
          <p:cNvPr id="52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AWS 관리자: '루트 계정을 없애고 필요한 곳마다 IAM을 사용하라.'</a:t>
            </a:r>
            <a:endParaRPr lang="en-US" sz="1600" b="0" u="none" strike="noStrike">
              <a:solidFill>
                <a:srgbClr val="FFFFFF"/>
              </a:solidFill>
              <a:effectLst/>
              <a:uFillTx/>
              <a:latin typeface="Arial"/>
            </a:endParaRPr>
          </a:p>
        </p:txBody>
      </p:sp>
      <p:sp>
        <p:nvSpPr>
          <p:cNvPr id="52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2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9" name="TextBox 1" descr="Attack category: Privilege Escalation: DB → OS. Database accounts can become shell access. Three classic moves. Key points: MS SQL: xp_cmdshell — runs shell commands as the DB process. | PostgreSQL: COPY ... TO PROGRAM — pipes output to a shell. | MySQL: load a UDF .so file → sys_exec on the OS. | Pattern: every privileged DB feature is part of the attack surface." title="Attack category: Privilege Escalation: DB → OS. Database accounts can become sh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권한 상승: DB → OS</a:t>
            </a:r>
            <a:endParaRPr lang="en-US" sz="4200" b="0" u="none" strike="noStrike">
              <a:solidFill>
                <a:srgbClr val="FFFFFF"/>
              </a:solidFill>
              <a:effectLst/>
              <a:uFillTx/>
              <a:latin typeface="Arial"/>
            </a:endParaRPr>
          </a:p>
        </p:txBody>
      </p:sp>
      <p:sp>
        <p:nvSpPr>
          <p:cNvPr id="53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데이터베이스 계정이 셸 접근으로 이어질 수 있습니다. 고전적인 세 가지 수법.</a:t>
            </a:r>
            <a:endParaRPr lang="en-US" sz="2400" b="0" u="none" strike="noStrike">
              <a:solidFill>
                <a:srgbClr val="FFFFFF"/>
              </a:solidFill>
              <a:effectLst/>
              <a:uFillTx/>
              <a:latin typeface="Arial"/>
            </a:endParaRPr>
          </a:p>
        </p:txBody>
      </p:sp>
      <p:sp>
        <p:nvSpPr>
          <p:cNvPr id="53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MS SQL: xp_cmdshell — DB 프로세스 권한으로 셸 명령을 실행합니다.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PostgreSQL: COPY ... TO PROGRAM — 출력을 셸로 파이프합니다.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MySQL: UDF .so 파일을 로드 → OS에서 sys_exec 실행.</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패턴: 모든 권한 있는 DB 기능은 공격 표면의 일부입니다.</a:t>
            </a:r>
            <a:endParaRPr lang="en-US" sz="2300" b="0" u="none" strike="noStrike">
              <a:solidFill>
                <a:srgbClr val="FFFFFF"/>
              </a:solidFill>
              <a:effectLst/>
              <a:uFillTx/>
              <a:latin typeface="Arial"/>
            </a:endParaRPr>
          </a:p>
        </p:txBody>
      </p:sp>
      <p:sp>
        <p:nvSpPr>
          <p:cNvPr id="534"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35"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36" name="TextBox 1" descr="Attack category: Data Lake Security Gaps. Everything ends up in S3 — including things you didn't mean to put there. Key points: Permissive IAM leaks from compute roles to humans. | No encryption-at-rest enforcement on bucket keys. | No write-side validation — anyone can drop poisoned data. | First question: WHO can write to the lake? WHO can read?" title="Attack category: Data Lake Security Gaps. Everything ends up in S3 — including t"/>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7"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데이터 레이크 보안 공백</a:t>
            </a:r>
            <a:endParaRPr lang="en-US" sz="4200" b="0" u="none" strike="noStrike">
              <a:solidFill>
                <a:srgbClr val="FFFFFF"/>
              </a:solidFill>
              <a:effectLst/>
              <a:uFillTx/>
              <a:latin typeface="Arial"/>
            </a:endParaRPr>
          </a:p>
        </p:txBody>
      </p:sp>
      <p:sp>
        <p:nvSpPr>
          <p:cNvPr id="538"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9"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모든 것이 결국 S3로 모입니다 — 거기 넣을 생각이 없던 것들까지도.</a:t>
            </a:r>
            <a:endParaRPr lang="en-US" sz="2400" b="0" u="none" strike="noStrike">
              <a:solidFill>
                <a:srgbClr val="FFFFFF"/>
              </a:solidFill>
              <a:effectLst/>
              <a:uFillTx/>
              <a:latin typeface="Arial"/>
            </a:endParaRPr>
          </a:p>
        </p:txBody>
      </p:sp>
      <p:sp>
        <p:nvSpPr>
          <p:cNvPr id="540"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느슨한 IAM이 컴퓨팅 역할에서 사람에게로 새어 나갑니다.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버킷 키에 대한 저장 데이터 암호화 미강제.</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쓰기 측 검증 없음 — 누구나 오염된 데이터를 떨어뜨릴 수 있습니다.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첫 번째 질문: 누가 레이크에 쓸 수 있는가? 누가 읽을 수 있는가?</a:t>
            </a:r>
            <a:endParaRPr lang="en-US" sz="2300" b="0" u="none" strike="noStrike">
              <a:solidFill>
                <a:srgbClr val="FFFFFF"/>
              </a:solidFill>
              <a:effectLst/>
              <a:uFillTx/>
              <a:latin typeface="Arial"/>
            </a:endParaRPr>
          </a:p>
        </p:txBody>
      </p:sp>
      <p:sp>
        <p:nvSpPr>
          <p:cNvPr id="54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4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43" name="TextBox 1" descr="Attack category: Ransomware Loves Databases. The DB is the thing the business needs back — maximum leverage. Key points: Encrypt the live database. | Encrypt the BACKUPS (otherwise customer just restores). | Exfil a copy first — extort with disclosure even if they restore. | Defense: offline, immutable backups + tested restores." title="Attack category: Ransomware Loves Databases. The DB is the thing the business 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4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랜섬웨어는 데이터베이스를 좋아합니다</a:t>
            </a:r>
            <a:endParaRPr lang="en-US" sz="4200" b="0" u="none" strike="noStrike">
              <a:solidFill>
                <a:srgbClr val="FFFFFF"/>
              </a:solidFill>
              <a:effectLst/>
              <a:uFillTx/>
              <a:latin typeface="Arial"/>
            </a:endParaRPr>
          </a:p>
        </p:txBody>
      </p:sp>
      <p:sp>
        <p:nvSpPr>
          <p:cNvPr id="54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4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DB는 비즈니스가 되찾아야만 하는 대상입니다 — 최대의 협상력.</a:t>
            </a:r>
            <a:endParaRPr lang="en-US" sz="2400" b="0" u="none" strike="noStrike">
              <a:solidFill>
                <a:srgbClr val="FFFFFF"/>
              </a:solidFill>
              <a:effectLst/>
              <a:uFillTx/>
              <a:latin typeface="Arial"/>
            </a:endParaRPr>
          </a:p>
        </p:txBody>
      </p:sp>
      <p:sp>
        <p:nvSpPr>
          <p:cNvPr id="54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운영 중인 데이터베이스를 암호화합니다.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백업을 암호화합니다(그렇지 않으면 고객이 그냥 복원해 버립니다).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먼저 사본을 빼돌립니다 — 복원하더라도 폭로를 빌미로 협박합니다.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방어: 오프라인의 변경 불가 백업 + 검증된 복원.</a:t>
            </a:r>
            <a:endParaRPr lang="en-US" sz="2300" b="0" u="none" strike="noStrike">
              <a:solidFill>
                <a:srgbClr val="FFFFFF"/>
              </a:solidFill>
              <a:effectLst/>
              <a:uFillTx/>
              <a:latin typeface="Arial"/>
            </a:endParaRPr>
          </a:p>
        </p:txBody>
      </p:sp>
      <p:sp>
        <p:nvSpPr>
          <p:cNvPr id="54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Cybersecurity A&amp;D: WannaCry — 패치는 59일 전에 이미 나와 있었습니다.</a:t>
            </a:r>
            <a:endParaRPr lang="en-US" sz="1600" b="0" u="none" strike="noStrike">
              <a:solidFill>
                <a:srgbClr val="FFFFFF"/>
              </a:solidFill>
              <a:effectLst/>
              <a:uFillTx/>
              <a:latin typeface="Arial"/>
            </a:endParaRPr>
          </a:p>
        </p:txBody>
      </p:sp>
      <p:sp>
        <p:nvSpPr>
          <p:cNvPr id="54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5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1" name="TextBox 1" descr="Attack category: Credential Attacks. Default creds and leaked connection strings — two old, durable bugs. Key points: Redis: no password by default for years. | Elastic: no auth in the free tier — also for years. | Connection strings (postgres://user:pass@host) committed to Git. | Pre-commit secret scanning — fix this week." title="Attack category: Credential Attacks. Default creds and leaked connection strings"/>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5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자격 증명 공격</a:t>
            </a:r>
            <a:endParaRPr lang="en-US" sz="4200" b="0" u="none" strike="noStrike">
              <a:solidFill>
                <a:srgbClr val="FFFFFF"/>
              </a:solidFill>
              <a:effectLst/>
              <a:uFillTx/>
              <a:latin typeface="Arial"/>
            </a:endParaRPr>
          </a:p>
        </p:txBody>
      </p:sp>
      <p:sp>
        <p:nvSpPr>
          <p:cNvPr id="55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5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기본 자격 증명과 유출된 연결 문자열 — 오래되고 끈질긴 두 가지 버그.</a:t>
            </a:r>
            <a:endParaRPr lang="en-US" sz="2400" b="0" u="none" strike="noStrike">
              <a:solidFill>
                <a:srgbClr val="FFFFFF"/>
              </a:solidFill>
              <a:effectLst/>
              <a:uFillTx/>
              <a:latin typeface="Arial"/>
            </a:endParaRPr>
          </a:p>
        </p:txBody>
      </p:sp>
      <p:sp>
        <p:nvSpPr>
          <p:cNvPr id="55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Redis: 수년간 기본적으로 비밀번호가 없었습니다.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Elastic: 무료 등급에 인증이 없었습니다 — 역시 수년간.</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Connection strings (postgres://user:pass@host) committed to Git.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커밋 전 비밀 정보 스캐닝 — 이번 주에 해결하세요.</a:t>
            </a:r>
            <a:endParaRPr lang="en-US" sz="2300" b="0" u="none" strike="noStrike">
              <a:solidFill>
                <a:srgbClr val="FFFFFF"/>
              </a:solidFill>
              <a:effectLst/>
              <a:uFillTx/>
              <a:latin typeface="Arial"/>
            </a:endParaRPr>
          </a:p>
        </p:txBody>
      </p:sp>
      <p:sp>
        <p:nvSpPr>
          <p:cNvPr id="55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Cybersecurity A&amp;D: 탈취된 자격 증명 = 조직범죄가 선호하는 공격 경로.</a:t>
            </a:r>
            <a:endParaRPr lang="en-US" sz="1600" b="0" u="none" strike="noStrike">
              <a:solidFill>
                <a:srgbClr val="FFFFFF"/>
              </a:solidFill>
              <a:effectLst/>
              <a:uFillTx/>
              <a:latin typeface="Arial"/>
            </a:endParaRPr>
          </a:p>
        </p:txBody>
      </p:sp>
      <p:sp>
        <p:nvSpPr>
          <p:cNvPr id="55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5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9" name="TextBox 1" descr="Attack category: Supply Chain — The DB Libraries You Trust. Your DB driver came from npm/PyPI/Maven. So did everyone else's. Key points: Malicious npm packages posing as ORMs / drivers. | Trojanized Docker Hub images for popular databases. | Compromised PostgreSQL extensions / MySQL plugins. | Extensions run with DB privileges — usually a lot." title="Attack category: Supply Chain — The DB Libraries You Trust. Your DB driver came "/>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750" b="1" u="none" strike="noStrike">
                <a:solidFill>
                  <a:srgbClr val="FF6B35"/>
                </a:solidFill>
                <a:effectLst/>
                <a:uFillTx/>
                <a:latin typeface="Calibri"/>
              </a:rPr>
              <a:t>공급망 — 여러분이 신뢰하는 DB 라이브러리</a:t>
            </a:r>
            <a:endParaRPr lang="en-US" sz="4200" b="0" u="none" strike="noStrike">
              <a:solidFill>
                <a:srgbClr val="FFFFFF"/>
              </a:solidFill>
              <a:effectLst/>
              <a:uFillTx/>
              <a:latin typeface="Arial"/>
            </a:endParaRPr>
          </a:p>
        </p:txBody>
      </p:sp>
      <p:sp>
        <p:nvSpPr>
          <p:cNvPr id="56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6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여러분의 DB 드라이버는 npm/PyPI/Maven에서 왔습니다. 다른 모두의 것도 마찬가지입니다.</a:t>
            </a:r>
            <a:endParaRPr lang="en-US" sz="2400" b="0" u="none" strike="noStrike">
              <a:solidFill>
                <a:srgbClr val="FFFFFF"/>
              </a:solidFill>
              <a:effectLst/>
              <a:uFillTx/>
              <a:latin typeface="Arial"/>
            </a:endParaRPr>
          </a:p>
        </p:txBody>
      </p:sp>
      <p:sp>
        <p:nvSpPr>
          <p:cNvPr id="56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ORM / 드라이버로 위장한 악성 npm 패키지.</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인기 데이터베이스용으로 트로이목마화된 Docker Hub 이미지.</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변조된 PostgreSQL 확장 / MySQL 플러그인.</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확장은 DB 권한으로 실행됩니다 — 보통 상당히 많은 권한으로.</a:t>
            </a:r>
            <a:endParaRPr lang="en-US" sz="2300" b="0" u="none" strike="noStrike">
              <a:solidFill>
                <a:srgbClr val="FFFFFF"/>
              </a:solidFill>
              <a:effectLst/>
              <a:uFillTx/>
              <a:latin typeface="Arial"/>
            </a:endParaRPr>
          </a:p>
        </p:txBody>
      </p:sp>
      <p:sp>
        <p:nvSpPr>
          <p:cNvPr id="564"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Shostack: '위협은 신뢰 경계 주변에 몰리는 경향이 있다.'</a:t>
            </a:r>
            <a:endParaRPr lang="en-US" sz="1600" b="0" u="none" strike="noStrike">
              <a:solidFill>
                <a:srgbClr val="FFFFFF"/>
              </a:solidFill>
              <a:effectLst/>
              <a:uFillTx/>
              <a:latin typeface="Arial"/>
            </a:endParaRPr>
          </a:p>
        </p:txBody>
      </p:sp>
      <p:sp>
        <p:nvSpPr>
          <p:cNvPr id="565"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66"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67" name="TextBox 1" descr="Attack category: RAG / LLM Data Poisoning. Stored XSS for the AI era. Write into the knowledge base → LLM quotes it. Key points: Poisoned support article: 'To reset, send your password to...' | Poisoned internal doc: 'Company policy is to wire transfer to...' | Prompt injection embedded in retrieved documents. | Defense: strict write ACLs, provenance tags, human-in-the-loop." title="Attack category: RAG / LLM Data Poisoning. Stored XSS for the AI era. Write int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8"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RAG / LLM 데이터 포이즈닝</a:t>
            </a:r>
            <a:endParaRPr lang="en-US" sz="4200" b="0" u="none" strike="noStrike">
              <a:solidFill>
                <a:srgbClr val="FFFFFF"/>
              </a:solidFill>
              <a:effectLst/>
              <a:uFillTx/>
              <a:latin typeface="Arial"/>
            </a:endParaRPr>
          </a:p>
        </p:txBody>
      </p:sp>
      <p:sp>
        <p:nvSpPr>
          <p:cNvPr id="569"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0"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AI 시대의 저장형 XSS. 지식 베이스에 써넣으면 → LLM이 그것을 인용합니다.</a:t>
            </a:r>
            <a:endParaRPr lang="en-US" sz="2400" b="0" u="none" strike="noStrike">
              <a:solidFill>
                <a:srgbClr val="FFFFFF"/>
              </a:solidFill>
              <a:effectLst/>
              <a:uFillTx/>
              <a:latin typeface="Arial"/>
            </a:endParaRPr>
          </a:p>
        </p:txBody>
      </p:sp>
      <p:sp>
        <p:nvSpPr>
          <p:cNvPr id="571"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오염된 지원 문서: '재설정하려면 비밀번호를 다음으로 보내세요...'</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오염된 내부 문서: '회사 정책상 다음으로 송금해야 합니다...'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검색된 문서에 심어진 프롬프트 인젝션.</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방어: 엄격한 쓰기 ACL, 출처 태그, 사람의 개입(human-in-the-loop).</a:t>
            </a:r>
            <a:endParaRPr lang="en-US" sz="2300" b="0" u="none" strike="noStrike">
              <a:solidFill>
                <a:srgbClr val="FFFFFF"/>
              </a:solidFill>
              <a:effectLst/>
              <a:uFillTx/>
              <a:latin typeface="Arial"/>
            </a:endParaRPr>
          </a:p>
        </p:txBody>
      </p:sp>
      <p:sp>
        <p:nvSpPr>
          <p:cNvPr id="572"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OWASP 2025 저장형 XSS 원칙 — 'admin'을 'LLM'으로 바꿔 생각하세요.</a:t>
            </a:r>
            <a:endParaRPr lang="en-US" sz="1600" b="0" u="none" strike="noStrike">
              <a:solidFill>
                <a:srgbClr val="FFFFFF"/>
              </a:solidFill>
              <a:effectLst/>
              <a:uFillTx/>
              <a:latin typeface="Arial"/>
            </a:endParaRPr>
          </a:p>
        </p:txBody>
      </p:sp>
      <p:sp>
        <p:nvSpPr>
          <p:cNvPr id="57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7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75" name="TextBox 1" descr="Attack category: Insider Threats &amp; DB-to-DB Lateral Movement. Databases aren't endpoints. They're nodes in a graph. Key points: Over-permissioned service accounts. Engineers with prod read. | DBAs with no audit trail. | Oracle DB_LINK, SQL Server linked servers, Postgres FDW. | Stored credentials → compromise A, hop to B, hop to C." title="Attack category: Insider Threats &amp; DB-to-DB Lateral Movement. Databases aren't 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7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내부자 위협 및 DB 간 측면 이동</a:t>
            </a:r>
            <a:endParaRPr lang="en-US" sz="4200" b="0" u="none" strike="noStrike">
              <a:solidFill>
                <a:srgbClr val="FFFFFF"/>
              </a:solidFill>
              <a:effectLst/>
              <a:uFillTx/>
              <a:latin typeface="Arial"/>
            </a:endParaRPr>
          </a:p>
        </p:txBody>
      </p:sp>
      <p:sp>
        <p:nvSpPr>
          <p:cNvPr id="57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데이터베이스는 종착점이 아닙니다. 그래프 속 노드입니다.</a:t>
            </a:r>
            <a:endParaRPr lang="en-US" sz="2400" b="0" u="none" strike="noStrike">
              <a:solidFill>
                <a:srgbClr val="FFFFFF"/>
              </a:solidFill>
              <a:effectLst/>
              <a:uFillTx/>
              <a:latin typeface="Arial"/>
            </a:endParaRPr>
          </a:p>
        </p:txBody>
      </p:sp>
      <p:sp>
        <p:nvSpPr>
          <p:cNvPr id="57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권한이 과도한 서비스 계정. 운영 환경 읽기 권한을 가진 엔지니어들.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감사 추적 없는 DBA들.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Oracle DB_LINK, SQL Server 연결 서버, Postgres FDW.</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저장된 자격 증명 → A를 장악하고, B로, 다시 C로 건너뜁니다.</a:t>
            </a:r>
            <a:endParaRPr lang="en-US" sz="2300" b="0" u="none" strike="noStrike">
              <a:solidFill>
                <a:srgbClr val="FFFFFF"/>
              </a:solidFill>
              <a:effectLst/>
              <a:uFillTx/>
              <a:latin typeface="Arial"/>
            </a:endParaRPr>
          </a:p>
        </p:txBody>
      </p:sp>
      <p:sp>
        <p:nvSpPr>
          <p:cNvPr id="58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Web App Hacker's Handbook: 허술하게 보호된 감사 로그 = 금광.</a:t>
            </a:r>
            <a:endParaRPr lang="en-US" sz="1600" b="0" u="none" strike="noStrike">
              <a:solidFill>
                <a:srgbClr val="FFFFFF"/>
              </a:solidFill>
              <a:effectLst/>
              <a:uFillTx/>
              <a:latin typeface="Arial"/>
            </a:endParaRPr>
          </a:p>
        </p:txBody>
      </p:sp>
      <p:sp>
        <p:nvSpPr>
          <p:cNvPr id="58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8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83" name="TextBox 1" descr="Attack category: Backup &amp; Snapshot Exposure. Same data as prod, half the love. Key points: Unencrypted DB backups on shares readable by Domain Users. | Cloud snapshots shared cross-account, never un-shared. | Off-site backups to vendors whose posture you never checked. | Backups are last resort. Apply identify-authN-authZ-audit." title="Attack category: Backup &amp; Snapshot Exposure. Same data as prod, half the love. K"/>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8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백업 및 스냅샷 노출</a:t>
            </a:r>
            <a:endParaRPr lang="en-US" sz="4200" b="0" u="none" strike="noStrike">
              <a:solidFill>
                <a:srgbClr val="FFFFFF"/>
              </a:solidFill>
              <a:effectLst/>
              <a:uFillTx/>
              <a:latin typeface="Arial"/>
            </a:endParaRPr>
          </a:p>
        </p:txBody>
      </p:sp>
      <p:sp>
        <p:nvSpPr>
          <p:cNvPr id="58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8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운영과 같은 데이터인데, 관심은 절반뿐.</a:t>
            </a:r>
            <a:endParaRPr lang="en-US" sz="2400" b="0" u="none" strike="noStrike">
              <a:solidFill>
                <a:srgbClr val="FFFFFF"/>
              </a:solidFill>
              <a:effectLst/>
              <a:uFillTx/>
              <a:latin typeface="Arial"/>
            </a:endParaRPr>
          </a:p>
        </p:txBody>
      </p:sp>
      <p:sp>
        <p:nvSpPr>
          <p:cNvPr id="58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Domain Users가 읽을 수 있는 공유에 놓인 암호화되지 않은 DB 백업.</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계정 간에 공유된 채 끝내 해제되지 않은 클라우드 스냅샷.</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보안 태세를 한 번도 확인하지 않은 업체로 보내는 오프사이트 백업.</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백업은 최후의 수단입니다. 식별-인증-인가-감사를 적용하세요.</a:t>
            </a:r>
            <a:endParaRPr lang="en-US" sz="2300" b="0" u="none" strike="noStrike">
              <a:solidFill>
                <a:srgbClr val="FFFFFF"/>
              </a:solidFill>
              <a:effectLst/>
              <a:uFillTx/>
              <a:latin typeface="Arial"/>
            </a:endParaRPr>
          </a:p>
        </p:txBody>
      </p:sp>
      <p:sp>
        <p:nvSpPr>
          <p:cNvPr id="58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Schneier: 식별, 인증, 인가, 감사 — 동일한 모델.</a:t>
            </a:r>
            <a:endParaRPr lang="en-US" sz="1600" b="0" u="none" strike="noStrike">
              <a:solidFill>
                <a:srgbClr val="FFFFFF"/>
              </a:solidFill>
              <a:effectLst/>
              <a:uFillTx/>
              <a:latin typeface="Arial"/>
            </a:endParaRPr>
          </a:p>
        </p:txBody>
      </p:sp>
      <p:sp>
        <p:nvSpPr>
          <p:cNvPr id="58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9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1" name="TextBox 1" descr="Recap of the mental map: definition, ten families, cloud shared responsibility, markdown as a database, and the expanded attack surface." title="Recap of the mental map: definition, ten families, cloud shared responsibility,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여러분의 머릿속 지도</a:t>
            </a:r>
            <a:endParaRPr lang="en-US" sz="4200" b="0" u="none" strike="noStrike">
              <a:solidFill>
                <a:srgbClr val="FFFFFF"/>
              </a:solidFill>
              <a:effectLst/>
              <a:uFillTx/>
              <a:latin typeface="Arial"/>
            </a:endParaRPr>
          </a:p>
        </p:txBody>
      </p:sp>
      <p:sp>
        <p:nvSpPr>
          <p:cNvPr id="59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3" name="TextBox 3"/>
          <p:cNvSpPr/>
          <p:nvPr/>
        </p:nvSpPr>
        <p:spPr>
          <a:xfrm>
            <a:off x="640080" y="1828800"/>
            <a:ext cx="109724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55000"/>
              </a:lnSpc>
            </a:pPr>
            <a:r>
              <a:rPr lang="en-US" sz="2700" b="1" u="none" strike="noStrike">
                <a:solidFill>
                  <a:srgbClr val="00D4FF"/>
                </a:solidFill>
                <a:effectLst/>
                <a:uFillTx/>
                <a:latin typeface="Calibri"/>
              </a:rPr>
              <a:t>✓ </a:t>
            </a:r>
            <a:r>
              <a:rPr lang="en-US" sz="2700" b="0" u="none" strike="noStrike">
                <a:solidFill>
                  <a:srgbClr val="FFFFFF"/>
                </a:solidFill>
                <a:effectLst/>
                <a:uFillTx/>
                <a:latin typeface="Calibri"/>
              </a:rPr>
              <a:t>데이터베이스 = 정리된 저장소 + 질문하는 방법.</a:t>
            </a:r>
            <a:endParaRPr lang="en-US" sz="2800" b="0" u="none" strike="noStrike">
              <a:solidFill>
                <a:srgbClr val="FFFFFF"/>
              </a:solidFill>
              <a:effectLst/>
              <a:uFillTx/>
              <a:latin typeface="Arial"/>
            </a:endParaRPr>
          </a:p>
          <a:p>
            <a:pPr defTabSz="457200">
              <a:lnSpc>
                <a:spcPct val="155000"/>
              </a:lnSpc>
            </a:pPr>
            <a:r>
              <a:rPr lang="en-US" sz="2700" b="1" u="none" strike="noStrike">
                <a:solidFill>
                  <a:srgbClr val="00D4FF"/>
                </a:solidFill>
                <a:effectLst/>
                <a:uFillTx/>
                <a:latin typeface="Calibri"/>
              </a:rPr>
              <a:t>✓ </a:t>
            </a:r>
            <a:r>
              <a:rPr lang="en-US" sz="2700" b="0" u="none" strike="noStrike">
                <a:solidFill>
                  <a:srgbClr val="FFFFFF"/>
                </a:solidFill>
                <a:effectLst/>
                <a:uFillTx/>
                <a:latin typeface="Calibri"/>
              </a:rPr>
              <a:t>열 가지 계열, 각각 고유한 함정이 있습니다.</a:t>
            </a:r>
            <a:endParaRPr lang="en-US" sz="2800" b="0" u="none" strike="noStrike">
              <a:solidFill>
                <a:srgbClr val="FFFFFF"/>
              </a:solidFill>
              <a:effectLst/>
              <a:uFillTx/>
              <a:latin typeface="Arial"/>
            </a:endParaRPr>
          </a:p>
          <a:p>
            <a:pPr defTabSz="457200">
              <a:lnSpc>
                <a:spcPct val="155000"/>
              </a:lnSpc>
            </a:pPr>
            <a:r>
              <a:rPr lang="en-US" sz="2700" b="1" u="none" strike="noStrike">
                <a:solidFill>
                  <a:srgbClr val="00D4FF"/>
                </a:solidFill>
                <a:effectLst/>
                <a:uFillTx/>
                <a:latin typeface="Calibri"/>
              </a:rPr>
              <a:t>✓ </a:t>
            </a:r>
            <a:r>
              <a:rPr lang="en-US" sz="2700" b="0" u="none" strike="noStrike">
                <a:solidFill>
                  <a:srgbClr val="FFFFFF"/>
                </a:solidFill>
                <a:effectLst/>
                <a:uFillTx/>
                <a:latin typeface="Calibri"/>
              </a:rPr>
              <a:t>클라우드 = 공동 책임. 구성과 데이터는 여러분 담당입니다.</a:t>
            </a:r>
            <a:endParaRPr lang="en-US" sz="2800" b="0" u="none" strike="noStrike">
              <a:solidFill>
                <a:srgbClr val="FFFFFF"/>
              </a:solidFill>
              <a:effectLst/>
              <a:uFillTx/>
              <a:latin typeface="Arial"/>
            </a:endParaRPr>
          </a:p>
          <a:p>
            <a:pPr defTabSz="457200">
              <a:lnSpc>
                <a:spcPct val="155000"/>
              </a:lnSpc>
            </a:pPr>
            <a:r>
              <a:rPr lang="en-US" sz="2700" b="1" u="none" strike="noStrike">
                <a:solidFill>
                  <a:srgbClr val="00D4FF"/>
                </a:solidFill>
                <a:effectLst/>
                <a:uFillTx/>
                <a:latin typeface="Calibri"/>
              </a:rPr>
              <a:t>✓ </a:t>
            </a:r>
            <a:r>
              <a:rPr lang="en-US" sz="2700" b="0" u="none" strike="noStrike">
                <a:solidFill>
                  <a:srgbClr val="FFFFFF"/>
                </a:solidFill>
                <a:effectLst/>
                <a:uFillTx/>
                <a:latin typeface="Calibri"/>
              </a:rPr>
              <a:t>마크다운은 LLM을 위한 데이터베이스입니다. RAG 포이즈닝은 실제 위협입니다.</a:t>
            </a:r>
            <a:endParaRPr lang="en-US" sz="2800" b="0" u="none" strike="noStrike">
              <a:solidFill>
                <a:srgbClr val="FFFFFF"/>
              </a:solidFill>
              <a:effectLst/>
              <a:uFillTx/>
              <a:latin typeface="Arial"/>
            </a:endParaRPr>
          </a:p>
          <a:p>
            <a:pPr defTabSz="457200">
              <a:lnSpc>
                <a:spcPct val="155000"/>
              </a:lnSpc>
            </a:pPr>
            <a:r>
              <a:rPr lang="en-US" sz="2700" b="1" u="none" strike="noStrike">
                <a:solidFill>
                  <a:srgbClr val="00D4FF"/>
                </a:solidFill>
                <a:effectLst/>
                <a:uFillTx/>
                <a:latin typeface="Calibri"/>
              </a:rPr>
              <a:t>✓ </a:t>
            </a:r>
            <a:r>
              <a:rPr lang="en-US" sz="2700" b="0" u="none" strike="noStrike">
                <a:solidFill>
                  <a:srgbClr val="FFFFFF"/>
                </a:solidFill>
                <a:effectLst/>
                <a:uFillTx/>
                <a:latin typeface="Calibri"/>
              </a:rPr>
              <a:t>SQLi는 해결됐습니다. 그러나 공격 표면은 확장됐습니다.</a:t>
            </a:r>
            <a:endParaRPr lang="en-US" sz="2800" b="0" u="none" strike="noStrike">
              <a:solidFill>
                <a:srgbClr val="FFFFFF"/>
              </a:solidFill>
              <a:effectLst/>
              <a:uFillTx/>
              <a:latin typeface="Arial"/>
            </a:endParaRPr>
          </a:p>
        </p:txBody>
      </p:sp>
      <p:sp>
        <p:nvSpPr>
          <p:cNvPr id="594"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595"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6" name="TextBox 1" descr="Five concrete next steps: install PostgreSQL, do PortSwigger SQLi labs, browse Shodan/Censys legally, read breach reports, list your org's databases." title="Five concrete next steps: install PostgreSQL, do PortSwigger SQLi labs, browse S"/>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다음 주에 할 일</a:t>
            </a:r>
            <a:endParaRPr lang="en-US" sz="4200" b="0" u="none" strike="noStrike">
              <a:solidFill>
                <a:srgbClr val="FFFFFF"/>
              </a:solidFill>
              <a:effectLst/>
              <a:uFillTx/>
              <a:latin typeface="Arial"/>
            </a:endParaRPr>
          </a:p>
        </p:txBody>
      </p:sp>
      <p:sp>
        <p:nvSpPr>
          <p:cNvPr id="59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8" name="TextBox 3"/>
          <p:cNvSpPr/>
          <p:nvPr/>
        </p:nvSpPr>
        <p:spPr>
          <a:xfrm>
            <a:off x="548640" y="178308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1.</a:t>
            </a:r>
            <a:endParaRPr lang="en-US" sz="3600" b="0" u="none" strike="noStrike">
              <a:solidFill>
                <a:srgbClr val="FFFFFF"/>
              </a:solidFill>
              <a:effectLst/>
              <a:uFillTx/>
              <a:latin typeface="Arial"/>
            </a:endParaRPr>
          </a:p>
        </p:txBody>
      </p:sp>
      <p:sp>
        <p:nvSpPr>
          <p:cNvPr id="599" name="TextBox 4"/>
          <p:cNvSpPr/>
          <p:nvPr/>
        </p:nvSpPr>
        <p:spPr>
          <a:xfrm>
            <a:off x="1554480" y="182880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로컬에 PostgreSQL을 설치하세요. SELECT를 작성해 보세요.</a:t>
            </a:r>
            <a:endParaRPr lang="en-US" sz="2600" b="0" u="none" strike="noStrike">
              <a:solidFill>
                <a:srgbClr val="FFFFFF"/>
              </a:solidFill>
              <a:effectLst/>
              <a:uFillTx/>
              <a:latin typeface="Arial"/>
            </a:endParaRPr>
          </a:p>
        </p:txBody>
      </p:sp>
      <p:sp>
        <p:nvSpPr>
          <p:cNvPr id="600" name="TextBox 5"/>
          <p:cNvSpPr/>
          <p:nvPr/>
        </p:nvSpPr>
        <p:spPr>
          <a:xfrm>
            <a:off x="548640" y="260604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2.</a:t>
            </a:r>
            <a:endParaRPr lang="en-US" sz="3600" b="0" u="none" strike="noStrike">
              <a:solidFill>
                <a:srgbClr val="FFFFFF"/>
              </a:solidFill>
              <a:effectLst/>
              <a:uFillTx/>
              <a:latin typeface="Arial"/>
            </a:endParaRPr>
          </a:p>
        </p:txBody>
      </p:sp>
      <p:sp>
        <p:nvSpPr>
          <p:cNvPr id="601" name="TextBox 6"/>
          <p:cNvSpPr/>
          <p:nvPr/>
        </p:nvSpPr>
        <p:spPr>
          <a:xfrm>
            <a:off x="1554480" y="265176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PortSwigger SQL 인젝션 랩을 해 보세요(무료).</a:t>
            </a:r>
            <a:endParaRPr lang="en-US" sz="2600" b="0" u="none" strike="noStrike">
              <a:solidFill>
                <a:srgbClr val="FFFFFF"/>
              </a:solidFill>
              <a:effectLst/>
              <a:uFillTx/>
              <a:latin typeface="Arial"/>
            </a:endParaRPr>
          </a:p>
        </p:txBody>
      </p:sp>
      <p:sp>
        <p:nvSpPr>
          <p:cNvPr id="602" name="TextBox 7"/>
          <p:cNvSpPr/>
          <p:nvPr/>
        </p:nvSpPr>
        <p:spPr>
          <a:xfrm>
            <a:off x="548640" y="342900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3.</a:t>
            </a:r>
            <a:endParaRPr lang="en-US" sz="3600" b="0" u="none" strike="noStrike">
              <a:solidFill>
                <a:srgbClr val="FFFFFF"/>
              </a:solidFill>
              <a:effectLst/>
              <a:uFillTx/>
              <a:latin typeface="Arial"/>
            </a:endParaRPr>
          </a:p>
        </p:txBody>
      </p:sp>
      <p:sp>
        <p:nvSpPr>
          <p:cNvPr id="603" name="TextBox 8"/>
          <p:cNvSpPr/>
          <p:nvPr/>
        </p:nvSpPr>
        <p:spPr>
          <a:xfrm>
            <a:off x="1554480" y="347472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Shodan / Censys를 둘러보세요 — 단, 여러분 소유의 시스템만.</a:t>
            </a:r>
            <a:endParaRPr lang="en-US" sz="2600" b="0" u="none" strike="noStrike">
              <a:solidFill>
                <a:srgbClr val="FFFFFF"/>
              </a:solidFill>
              <a:effectLst/>
              <a:uFillTx/>
              <a:latin typeface="Arial"/>
            </a:endParaRPr>
          </a:p>
        </p:txBody>
      </p:sp>
      <p:sp>
        <p:nvSpPr>
          <p:cNvPr id="604" name="TextBox 9"/>
          <p:cNvSpPr/>
          <p:nvPr/>
        </p:nvSpPr>
        <p:spPr>
          <a:xfrm>
            <a:off x="548640" y="425196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4.</a:t>
            </a:r>
            <a:endParaRPr lang="en-US" sz="3600" b="0" u="none" strike="noStrike">
              <a:solidFill>
                <a:srgbClr val="FFFFFF"/>
              </a:solidFill>
              <a:effectLst/>
              <a:uFillTx/>
              <a:latin typeface="Arial"/>
            </a:endParaRPr>
          </a:p>
        </p:txBody>
      </p:sp>
      <p:sp>
        <p:nvSpPr>
          <p:cNvPr id="605" name="TextBox 10"/>
          <p:cNvSpPr/>
          <p:nvPr/>
        </p:nvSpPr>
        <p:spPr>
          <a:xfrm>
            <a:off x="1554480" y="429768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침해 사고 보고서를 읽어 보세요 — Capital One, Equifax, MOVEit.</a:t>
            </a:r>
            <a:endParaRPr lang="en-US" sz="2600" b="0" u="none" strike="noStrike">
              <a:solidFill>
                <a:srgbClr val="FFFFFF"/>
              </a:solidFill>
              <a:effectLst/>
              <a:uFillTx/>
              <a:latin typeface="Arial"/>
            </a:endParaRPr>
          </a:p>
        </p:txBody>
      </p:sp>
      <p:sp>
        <p:nvSpPr>
          <p:cNvPr id="606" name="TextBox 11"/>
          <p:cNvSpPr/>
          <p:nvPr/>
        </p:nvSpPr>
        <p:spPr>
          <a:xfrm>
            <a:off x="548640" y="507492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5.</a:t>
            </a:r>
            <a:endParaRPr lang="en-US" sz="3600" b="0" u="none" strike="noStrike">
              <a:solidFill>
                <a:srgbClr val="FFFFFF"/>
              </a:solidFill>
              <a:effectLst/>
              <a:uFillTx/>
              <a:latin typeface="Arial"/>
            </a:endParaRPr>
          </a:p>
        </p:txBody>
      </p:sp>
      <p:sp>
        <p:nvSpPr>
          <p:cNvPr id="607" name="TextBox 12"/>
          <p:cNvSpPr/>
          <p:nvPr/>
        </p:nvSpPr>
        <p:spPr>
          <a:xfrm>
            <a:off x="1554480" y="512064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우리 조직이 실제로 어떤 데이터베이스를 운영하는지 알아보세요.</a:t>
            </a:r>
            <a:endParaRPr lang="en-US" sz="2600" b="0" u="none" strike="noStrike">
              <a:solidFill>
                <a:srgbClr val="FFFFFF"/>
              </a:solidFill>
              <a:effectLst/>
              <a:uFillTx/>
              <a:latin typeface="Arial"/>
            </a:endParaRPr>
          </a:p>
        </p:txBody>
      </p:sp>
      <p:sp>
        <p:nvSpPr>
          <p:cNvPr id="608" name="TextBox 1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609" name="TextBox 1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10" name="TextBox 1" descr="Resource list: PortSwigger Web Security Academy, SQLBolt, Use The Index Luke, DB-Engines, and the OWASP Top 10." title="Resource list: PortSwigger Web Security Academy, SQLBolt, Use The Index Luke, DB"/>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북마크할 만한 자료</a:t>
            </a:r>
            <a:endParaRPr lang="en-US" sz="4200" b="0" u="none" strike="noStrike">
              <a:solidFill>
                <a:srgbClr val="FFFFFF"/>
              </a:solidFill>
              <a:effectLst/>
              <a:uFillTx/>
              <a:latin typeface="Arial"/>
            </a:endParaRPr>
          </a:p>
        </p:txBody>
      </p:sp>
      <p:sp>
        <p:nvSpPr>
          <p:cNvPr id="6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12" name="TextBox 3"/>
          <p:cNvSpPr/>
          <p:nvPr/>
        </p:nvSpPr>
        <p:spPr>
          <a:xfrm>
            <a:off x="548640" y="182880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3" name="TextBox 4"/>
          <p:cNvSpPr/>
          <p:nvPr/>
        </p:nvSpPr>
        <p:spPr>
          <a:xfrm>
            <a:off x="1097280" y="182880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550" b="1" u="none" strike="noStrike">
                <a:solidFill>
                  <a:srgbClr val="FFFFFF"/>
                </a:solidFill>
                <a:effectLst/>
                <a:uFillTx/>
                <a:latin typeface="Calibri"/>
              </a:rPr>
              <a:t>PortSwigger Web Security Academy</a:t>
            </a:r>
            <a:endParaRPr lang="en-US" sz="2600" b="0" u="none" strike="noStrike">
              <a:solidFill>
                <a:srgbClr val="FFFFFF"/>
              </a:solidFill>
              <a:effectLst/>
              <a:uFillTx/>
              <a:latin typeface="Arial"/>
            </a:endParaRPr>
          </a:p>
        </p:txBody>
      </p:sp>
      <p:sp>
        <p:nvSpPr>
          <p:cNvPr id="614" name="TextBox 5"/>
          <p:cNvSpPr/>
          <p:nvPr/>
        </p:nvSpPr>
        <p:spPr>
          <a:xfrm>
            <a:off x="7040880" y="182880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portswigger.net/web-security</a:t>
            </a:r>
            <a:endParaRPr lang="en-US" sz="2200" b="0" u="none" strike="noStrike">
              <a:solidFill>
                <a:srgbClr val="FFFFFF"/>
              </a:solidFill>
              <a:effectLst/>
              <a:uFillTx/>
              <a:latin typeface="Arial"/>
            </a:endParaRPr>
          </a:p>
        </p:txBody>
      </p:sp>
      <p:sp>
        <p:nvSpPr>
          <p:cNvPr id="615" name="TextBox 6"/>
          <p:cNvSpPr/>
          <p:nvPr/>
        </p:nvSpPr>
        <p:spPr>
          <a:xfrm>
            <a:off x="548640" y="260604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6" name="TextBox 7"/>
          <p:cNvSpPr/>
          <p:nvPr/>
        </p:nvSpPr>
        <p:spPr>
          <a:xfrm>
            <a:off x="1097280" y="260604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SQLBolt</a:t>
            </a:r>
            <a:endParaRPr lang="en-US" sz="2600" b="0" u="none" strike="noStrike">
              <a:solidFill>
                <a:srgbClr val="FFFFFF"/>
              </a:solidFill>
              <a:effectLst/>
              <a:uFillTx/>
              <a:latin typeface="Arial"/>
            </a:endParaRPr>
          </a:p>
        </p:txBody>
      </p:sp>
      <p:sp>
        <p:nvSpPr>
          <p:cNvPr id="617" name="TextBox 8"/>
          <p:cNvSpPr/>
          <p:nvPr/>
        </p:nvSpPr>
        <p:spPr>
          <a:xfrm>
            <a:off x="7040880" y="260604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sqlbolt.com</a:t>
            </a:r>
            <a:endParaRPr lang="en-US" sz="2200" b="0" u="none" strike="noStrike">
              <a:solidFill>
                <a:srgbClr val="FFFFFF"/>
              </a:solidFill>
              <a:effectLst/>
              <a:uFillTx/>
              <a:latin typeface="Arial"/>
            </a:endParaRPr>
          </a:p>
        </p:txBody>
      </p:sp>
      <p:sp>
        <p:nvSpPr>
          <p:cNvPr id="618" name="TextBox 9"/>
          <p:cNvSpPr/>
          <p:nvPr/>
        </p:nvSpPr>
        <p:spPr>
          <a:xfrm>
            <a:off x="548640" y="338328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9" name="TextBox 10"/>
          <p:cNvSpPr/>
          <p:nvPr/>
        </p:nvSpPr>
        <p:spPr>
          <a:xfrm>
            <a:off x="1097280" y="338328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Use The Index, Luke</a:t>
            </a:r>
            <a:endParaRPr lang="en-US" sz="2600" b="0" u="none" strike="noStrike">
              <a:solidFill>
                <a:srgbClr val="FFFFFF"/>
              </a:solidFill>
              <a:effectLst/>
              <a:uFillTx/>
              <a:latin typeface="Arial"/>
            </a:endParaRPr>
          </a:p>
        </p:txBody>
      </p:sp>
      <p:sp>
        <p:nvSpPr>
          <p:cNvPr id="620" name="TextBox 11"/>
          <p:cNvSpPr/>
          <p:nvPr/>
        </p:nvSpPr>
        <p:spPr>
          <a:xfrm>
            <a:off x="7040880" y="338328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use-the-index-luke.com</a:t>
            </a:r>
            <a:endParaRPr lang="en-US" sz="2200" b="0" u="none" strike="noStrike">
              <a:solidFill>
                <a:srgbClr val="FFFFFF"/>
              </a:solidFill>
              <a:effectLst/>
              <a:uFillTx/>
              <a:latin typeface="Arial"/>
            </a:endParaRPr>
          </a:p>
        </p:txBody>
      </p:sp>
      <p:sp>
        <p:nvSpPr>
          <p:cNvPr id="621" name="TextBox 12"/>
          <p:cNvSpPr/>
          <p:nvPr/>
        </p:nvSpPr>
        <p:spPr>
          <a:xfrm>
            <a:off x="548640" y="416052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2" name="TextBox 13"/>
          <p:cNvSpPr/>
          <p:nvPr/>
        </p:nvSpPr>
        <p:spPr>
          <a:xfrm>
            <a:off x="1097280" y="416052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DB-Engines Ranking</a:t>
            </a:r>
            <a:endParaRPr lang="en-US" sz="2600" b="0" u="none" strike="noStrike">
              <a:solidFill>
                <a:srgbClr val="FFFFFF"/>
              </a:solidFill>
              <a:effectLst/>
              <a:uFillTx/>
              <a:latin typeface="Arial"/>
            </a:endParaRPr>
          </a:p>
        </p:txBody>
      </p:sp>
      <p:sp>
        <p:nvSpPr>
          <p:cNvPr id="623" name="TextBox 14"/>
          <p:cNvSpPr/>
          <p:nvPr/>
        </p:nvSpPr>
        <p:spPr>
          <a:xfrm>
            <a:off x="7040880" y="416052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db-engines.com</a:t>
            </a:r>
            <a:endParaRPr lang="en-US" sz="2200" b="0" u="none" strike="noStrike">
              <a:solidFill>
                <a:srgbClr val="FFFFFF"/>
              </a:solidFill>
              <a:effectLst/>
              <a:uFillTx/>
              <a:latin typeface="Arial"/>
            </a:endParaRPr>
          </a:p>
        </p:txBody>
      </p:sp>
      <p:sp>
        <p:nvSpPr>
          <p:cNvPr id="624" name="TextBox 15"/>
          <p:cNvSpPr/>
          <p:nvPr/>
        </p:nvSpPr>
        <p:spPr>
          <a:xfrm>
            <a:off x="548640" y="493776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5" name="TextBox 16"/>
          <p:cNvSpPr/>
          <p:nvPr/>
        </p:nvSpPr>
        <p:spPr>
          <a:xfrm>
            <a:off x="1097280" y="493776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OWASP Top 10</a:t>
            </a:r>
            <a:endParaRPr lang="en-US" sz="2600" b="0" u="none" strike="noStrike">
              <a:solidFill>
                <a:srgbClr val="FFFFFF"/>
              </a:solidFill>
              <a:effectLst/>
              <a:uFillTx/>
              <a:latin typeface="Arial"/>
            </a:endParaRPr>
          </a:p>
        </p:txBody>
      </p:sp>
      <p:sp>
        <p:nvSpPr>
          <p:cNvPr id="626" name="TextBox 17"/>
          <p:cNvSpPr/>
          <p:nvPr/>
        </p:nvSpPr>
        <p:spPr>
          <a:xfrm>
            <a:off x="7040880" y="493776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owasp.org/Top10/</a:t>
            </a:r>
            <a:endParaRPr lang="en-US" sz="2200" b="0" u="none" strike="noStrike">
              <a:solidFill>
                <a:srgbClr val="FFFFFF"/>
              </a:solidFill>
              <a:effectLst/>
              <a:uFillTx/>
              <a:latin typeface="Arial"/>
            </a:endParaRPr>
          </a:p>
        </p:txBody>
      </p:sp>
      <p:sp>
        <p:nvSpPr>
          <p:cNvPr id="627" name="TextBox 18"/>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628" name="TextBox 19"/>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29" name="TextBox 1" descr="Closing slide: Databases are where the money is. Literally. Now you know where to look. Ronin 48." title="Closing slide: Databases are where the money is. Literally. Now you know where t"/>
          <p:cNvSpPr/>
          <p:nvPr/>
        </p:nvSpPr>
        <p:spPr>
          <a:xfrm>
            <a:off x="457200" y="137160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FFFFFF"/>
                </a:solidFill>
                <a:effectLst/>
                <a:uFillTx/>
                <a:latin typeface="Calibri"/>
              </a:rPr>
              <a:t>“데이터베이스는</a:t>
            </a:r>
            <a:endParaRPr lang="en-US" sz="5800" b="0" u="none" strike="noStrike">
              <a:solidFill>
                <a:srgbClr val="FFFFFF"/>
              </a:solidFill>
              <a:effectLst/>
              <a:uFillTx/>
              <a:latin typeface="Arial"/>
            </a:endParaRPr>
          </a:p>
        </p:txBody>
      </p:sp>
      <p:sp>
        <p:nvSpPr>
          <p:cNvPr id="630" name="TextBox 2"/>
          <p:cNvSpPr/>
          <p:nvPr/>
        </p:nvSpPr>
        <p:spPr>
          <a:xfrm>
            <a:off x="457200" y="237744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00FF41"/>
                </a:solidFill>
                <a:effectLst/>
                <a:uFillTx/>
                <a:latin typeface="Calibri"/>
              </a:rPr>
              <a:t>돈이 있는 곳입니다. 말 그대로.”</a:t>
            </a:r>
            <a:endParaRPr lang="en-US" sz="5800" b="0" u="none" strike="noStrike">
              <a:solidFill>
                <a:srgbClr val="FFFFFF"/>
              </a:solidFill>
              <a:effectLst/>
              <a:uFillTx/>
              <a:latin typeface="Arial"/>
            </a:endParaRPr>
          </a:p>
        </p:txBody>
      </p:sp>
      <p:sp>
        <p:nvSpPr>
          <p:cNvPr id="631" name="Rectangle 3"/>
          <p:cNvSpPr/>
          <p:nvPr/>
        </p:nvSpPr>
        <p:spPr>
          <a:xfrm>
            <a:off x="7772760" y="4114800"/>
            <a:ext cx="27428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632" name="TextBox 4"/>
          <p:cNvSpPr/>
          <p:nvPr/>
        </p:nvSpPr>
        <p:spPr>
          <a:xfrm>
            <a:off x="-45360" y="571500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00D4FF"/>
                </a:solidFill>
                <a:effectLst/>
                <a:uFillTx/>
                <a:latin typeface="Calibri"/>
              </a:rPr>
              <a:t>이제 어디를 봐야 할지 아시겠죠.</a:t>
            </a:r>
            <a:endParaRPr lang="en-US" sz="4200" b="0" u="none" strike="noStrike">
              <a:solidFill>
                <a:srgbClr val="FFFFFF"/>
              </a:solidFill>
              <a:effectLst/>
              <a:uFillTx/>
              <a:latin typeface="Arial"/>
            </a:endParaRPr>
          </a:p>
        </p:txBody>
      </p:sp>
      <p:sp>
        <p:nvSpPr>
          <p:cNvPr id="633" name="TextBox 5"/>
          <p:cNvSpPr/>
          <p:nvPr/>
        </p:nvSpPr>
        <p:spPr>
          <a:xfrm>
            <a:off x="7315200" y="3429000"/>
            <a:ext cx="3886200" cy="517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500" b="1" u="none" strike="noStrike">
                <a:solidFill>
                  <a:srgbClr val="CCCCD6"/>
                </a:solidFill>
                <a:effectLst/>
                <a:uFillTx/>
                <a:latin typeface="Calibri"/>
              </a:rPr>
              <a:t>~Larry Ellison (아마도)</a:t>
            </a:r>
            <a:endParaRPr lang="en-US" sz="2800" b="0" u="none" strike="noStrike">
              <a:solidFill>
                <a:srgbClr val="FFFFFF"/>
              </a:solidFill>
              <a:effectLst/>
              <a:uFillTx/>
              <a:latin typeface="Arial"/>
            </a:endParaRPr>
          </a:p>
        </p:txBody>
      </p:sp>
      <p:sp>
        <p:nvSpPr>
          <p:cNvPr id="634" name="TextBox 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35" name="TextBox 1" descr="References list of all books cited throughout the talk, including Beaulieu's Learning SQL, Clarke's SQL Injection Attacks and Defense, Schneier's Secrets and Lies, and others." title="References list of all books cited throughout the talk, including Beaulieu's Lea"/>
          <p:cNvSpPr/>
          <p:nvPr/>
        </p:nvSpPr>
        <p:spPr>
          <a:xfrm>
            <a:off x="457200" y="320040"/>
            <a:ext cx="11246760" cy="669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참고 문헌 — 인용한 저작</a:t>
            </a:r>
            <a:endParaRPr lang="en-US" sz="3800" b="0" u="none" strike="noStrike">
              <a:solidFill>
                <a:srgbClr val="FFFFFF"/>
              </a:solidFill>
              <a:effectLst/>
              <a:uFillTx/>
              <a:latin typeface="Arial"/>
            </a:endParaRPr>
          </a:p>
        </p:txBody>
      </p:sp>
      <p:sp>
        <p:nvSpPr>
          <p:cNvPr id="63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37" name="TextBox 3"/>
          <p:cNvSpPr/>
          <p:nvPr/>
        </p:nvSpPr>
        <p:spPr>
          <a:xfrm>
            <a:off x="457200" y="169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38" name="TextBox 4"/>
          <p:cNvSpPr/>
          <p:nvPr/>
        </p:nvSpPr>
        <p:spPr>
          <a:xfrm>
            <a:off x="777240" y="16642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Beaulieu, A. — Learning SQL, 2nd Edition (O'Reilly)</a:t>
            </a:r>
            <a:endParaRPr lang="en-US" sz="1600" b="0" u="none" strike="noStrike">
              <a:solidFill>
                <a:srgbClr val="FFFFFF"/>
              </a:solidFill>
              <a:effectLst/>
              <a:uFillTx/>
              <a:latin typeface="Arial"/>
            </a:endParaRPr>
          </a:p>
        </p:txBody>
      </p:sp>
      <p:sp>
        <p:nvSpPr>
          <p:cNvPr id="639" name="TextBox 5"/>
          <p:cNvSpPr/>
          <p:nvPr/>
        </p:nvSpPr>
        <p:spPr>
          <a:xfrm>
            <a:off x="457200" y="20026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0" name="TextBox 6"/>
          <p:cNvSpPr/>
          <p:nvPr/>
        </p:nvSpPr>
        <p:spPr>
          <a:xfrm>
            <a:off x="777240" y="197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Clarke, J. et al. — SQL Injection Attacks and Defense (Syngress)</a:t>
            </a:r>
            <a:endParaRPr lang="en-US" sz="1600" b="0" u="none" strike="noStrike">
              <a:solidFill>
                <a:srgbClr val="FFFFFF"/>
              </a:solidFill>
              <a:effectLst/>
              <a:uFillTx/>
              <a:latin typeface="Arial"/>
            </a:endParaRPr>
          </a:p>
        </p:txBody>
      </p:sp>
      <p:sp>
        <p:nvSpPr>
          <p:cNvPr id="641" name="TextBox 7"/>
          <p:cNvSpPr/>
          <p:nvPr/>
        </p:nvSpPr>
        <p:spPr>
          <a:xfrm>
            <a:off x="457200" y="231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2" name="TextBox 8"/>
          <p:cNvSpPr/>
          <p:nvPr/>
        </p:nvSpPr>
        <p:spPr>
          <a:xfrm>
            <a:off x="777240" y="228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Crowther, P. — Concise Guide to Databases (Springer, 2013)</a:t>
            </a:r>
            <a:endParaRPr lang="en-US" sz="1600" b="0" u="none" strike="noStrike">
              <a:solidFill>
                <a:srgbClr val="FFFFFF"/>
              </a:solidFill>
              <a:effectLst/>
              <a:uFillTx/>
              <a:latin typeface="Arial"/>
            </a:endParaRPr>
          </a:p>
        </p:txBody>
      </p:sp>
      <p:sp>
        <p:nvSpPr>
          <p:cNvPr id="643" name="TextBox 9"/>
          <p:cNvSpPr/>
          <p:nvPr/>
        </p:nvSpPr>
        <p:spPr>
          <a:xfrm>
            <a:off x="457200" y="26244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4" name="TextBox 10"/>
          <p:cNvSpPr/>
          <p:nvPr/>
        </p:nvSpPr>
        <p:spPr>
          <a:xfrm>
            <a:off x="777240" y="25970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DeBarros, A. — Practical SQL (No Starch Press)</a:t>
            </a:r>
            <a:endParaRPr lang="en-US" sz="1600" b="0" u="none" strike="noStrike">
              <a:solidFill>
                <a:srgbClr val="FFFFFF"/>
              </a:solidFill>
              <a:effectLst/>
              <a:uFillTx/>
              <a:latin typeface="Arial"/>
            </a:endParaRPr>
          </a:p>
        </p:txBody>
      </p:sp>
      <p:sp>
        <p:nvSpPr>
          <p:cNvPr id="645" name="TextBox 11"/>
          <p:cNvSpPr/>
          <p:nvPr/>
        </p:nvSpPr>
        <p:spPr>
          <a:xfrm>
            <a:off x="457200" y="29350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6" name="TextBox 12"/>
          <p:cNvSpPr/>
          <p:nvPr/>
        </p:nvSpPr>
        <p:spPr>
          <a:xfrm>
            <a:off x="777240" y="29077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Diogenes &amp; Ozkaya — Cybersecurity Attack and Defense Strategies (Packt)</a:t>
            </a:r>
            <a:endParaRPr lang="en-US" sz="1600" b="0" u="none" strike="noStrike">
              <a:solidFill>
                <a:srgbClr val="FFFFFF"/>
              </a:solidFill>
              <a:effectLst/>
              <a:uFillTx/>
              <a:latin typeface="Arial"/>
            </a:endParaRPr>
          </a:p>
        </p:txBody>
      </p:sp>
      <p:sp>
        <p:nvSpPr>
          <p:cNvPr id="647" name="TextBox 13"/>
          <p:cNvSpPr/>
          <p:nvPr/>
        </p:nvSpPr>
        <p:spPr>
          <a:xfrm>
            <a:off x="457200" y="32461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8" name="TextBox 14"/>
          <p:cNvSpPr/>
          <p:nvPr/>
        </p:nvSpPr>
        <p:spPr>
          <a:xfrm>
            <a:off x="777240" y="32187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Janca, T. — Alice and Bob Learn Application Security (Wiley)</a:t>
            </a:r>
            <a:endParaRPr lang="en-US" sz="1600" b="0" u="none" strike="noStrike">
              <a:solidFill>
                <a:srgbClr val="FFFFFF"/>
              </a:solidFill>
              <a:effectLst/>
              <a:uFillTx/>
              <a:latin typeface="Arial"/>
            </a:endParaRPr>
          </a:p>
        </p:txBody>
      </p:sp>
      <p:sp>
        <p:nvSpPr>
          <p:cNvPr id="649" name="TextBox 15"/>
          <p:cNvSpPr/>
          <p:nvPr/>
        </p:nvSpPr>
        <p:spPr>
          <a:xfrm>
            <a:off x="457200" y="35571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0" name="TextBox 16"/>
          <p:cNvSpPr/>
          <p:nvPr/>
        </p:nvSpPr>
        <p:spPr>
          <a:xfrm>
            <a:off x="777240" y="35294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Mishra &amp; Singh — PostgreSQL Development Essentials (Packt)</a:t>
            </a:r>
            <a:endParaRPr lang="en-US" sz="1600" b="0" u="none" strike="noStrike">
              <a:solidFill>
                <a:srgbClr val="FFFFFF"/>
              </a:solidFill>
              <a:effectLst/>
              <a:uFillTx/>
              <a:latin typeface="Arial"/>
            </a:endParaRPr>
          </a:p>
        </p:txBody>
      </p:sp>
      <p:sp>
        <p:nvSpPr>
          <p:cNvPr id="651" name="TextBox 17"/>
          <p:cNvSpPr/>
          <p:nvPr/>
        </p:nvSpPr>
        <p:spPr>
          <a:xfrm>
            <a:off x="457200" y="38678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2" name="TextBox 18"/>
          <p:cNvSpPr/>
          <p:nvPr/>
        </p:nvSpPr>
        <p:spPr>
          <a:xfrm>
            <a:off x="777240" y="38404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MongoDB Cookbook (Packt)  •  10gen — Top 5 NoSQL Considerations</a:t>
            </a:r>
            <a:endParaRPr lang="en-US" sz="1600" b="0" u="none" strike="noStrike">
              <a:solidFill>
                <a:srgbClr val="FFFFFF"/>
              </a:solidFill>
              <a:effectLst/>
              <a:uFillTx/>
              <a:latin typeface="Arial"/>
            </a:endParaRPr>
          </a:p>
        </p:txBody>
      </p:sp>
      <p:sp>
        <p:nvSpPr>
          <p:cNvPr id="653" name="TextBox 19"/>
          <p:cNvSpPr/>
          <p:nvPr/>
        </p:nvSpPr>
        <p:spPr>
          <a:xfrm>
            <a:off x="457200" y="41788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4" name="TextBox 20"/>
          <p:cNvSpPr/>
          <p:nvPr/>
        </p:nvSpPr>
        <p:spPr>
          <a:xfrm>
            <a:off x="777240" y="41515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OWASP Top 10 — 2025년 판</a:t>
            </a:r>
            <a:endParaRPr lang="en-US" sz="1600" b="0" u="none" strike="noStrike">
              <a:solidFill>
                <a:srgbClr val="FFFFFF"/>
              </a:solidFill>
              <a:effectLst/>
              <a:uFillTx/>
              <a:latin typeface="Arial"/>
            </a:endParaRPr>
          </a:p>
        </p:txBody>
      </p:sp>
      <p:sp>
        <p:nvSpPr>
          <p:cNvPr id="655" name="TextBox 21"/>
          <p:cNvSpPr/>
          <p:nvPr/>
        </p:nvSpPr>
        <p:spPr>
          <a:xfrm>
            <a:off x="457200" y="44895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6" name="TextBox 22"/>
          <p:cNvSpPr/>
          <p:nvPr/>
        </p:nvSpPr>
        <p:spPr>
          <a:xfrm>
            <a:off x="777240" y="44622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Sharma, M. — Cosmos DB for MongoDB Developers (Apress, 2018)</a:t>
            </a:r>
            <a:endParaRPr lang="en-US" sz="1600" b="0" u="none" strike="noStrike">
              <a:solidFill>
                <a:srgbClr val="FFFFFF"/>
              </a:solidFill>
              <a:effectLst/>
              <a:uFillTx/>
              <a:latin typeface="Arial"/>
            </a:endParaRPr>
          </a:p>
        </p:txBody>
      </p:sp>
      <p:sp>
        <p:nvSpPr>
          <p:cNvPr id="657" name="TextBox 23"/>
          <p:cNvSpPr/>
          <p:nvPr/>
        </p:nvSpPr>
        <p:spPr>
          <a:xfrm>
            <a:off x="457200" y="48006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8" name="TextBox 24"/>
          <p:cNvSpPr/>
          <p:nvPr/>
        </p:nvSpPr>
        <p:spPr>
          <a:xfrm>
            <a:off x="777240" y="47732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Schneier, B. — Secrets and Lies (Wiley)</a:t>
            </a:r>
            <a:endParaRPr lang="en-US" sz="1600" b="0" u="none" strike="noStrike">
              <a:solidFill>
                <a:srgbClr val="FFFFFF"/>
              </a:solidFill>
              <a:effectLst/>
              <a:uFillTx/>
              <a:latin typeface="Arial"/>
            </a:endParaRPr>
          </a:p>
        </p:txBody>
      </p:sp>
      <p:sp>
        <p:nvSpPr>
          <p:cNvPr id="659" name="TextBox 25"/>
          <p:cNvSpPr/>
          <p:nvPr/>
        </p:nvSpPr>
        <p:spPr>
          <a:xfrm>
            <a:off x="457200" y="511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0" name="TextBox 26"/>
          <p:cNvSpPr/>
          <p:nvPr/>
        </p:nvSpPr>
        <p:spPr>
          <a:xfrm>
            <a:off x="777240" y="50839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Stuttard &amp; Pinto — Web Application Hacker's Handbook, 2nd Ed.</a:t>
            </a:r>
            <a:endParaRPr lang="en-US" sz="1600" b="0" u="none" strike="noStrike">
              <a:solidFill>
                <a:srgbClr val="FFFFFF"/>
              </a:solidFill>
              <a:effectLst/>
              <a:uFillTx/>
              <a:latin typeface="Arial"/>
            </a:endParaRPr>
          </a:p>
        </p:txBody>
      </p:sp>
      <p:sp>
        <p:nvSpPr>
          <p:cNvPr id="661" name="TextBox 27"/>
          <p:cNvSpPr/>
          <p:nvPr/>
        </p:nvSpPr>
        <p:spPr>
          <a:xfrm>
            <a:off x="457200" y="54223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2" name="TextBox 28"/>
          <p:cNvSpPr/>
          <p:nvPr/>
        </p:nvSpPr>
        <p:spPr>
          <a:xfrm>
            <a:off x="777240" y="539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Shostack, A. — Threat Modeling: Designing for Security (Wiley)</a:t>
            </a:r>
            <a:endParaRPr lang="en-US" sz="1600" b="0" u="none" strike="noStrike">
              <a:solidFill>
                <a:srgbClr val="FFFFFF"/>
              </a:solidFill>
              <a:effectLst/>
              <a:uFillTx/>
              <a:latin typeface="Arial"/>
            </a:endParaRPr>
          </a:p>
        </p:txBody>
      </p:sp>
      <p:sp>
        <p:nvSpPr>
          <p:cNvPr id="663" name="TextBox 29"/>
          <p:cNvSpPr/>
          <p:nvPr/>
        </p:nvSpPr>
        <p:spPr>
          <a:xfrm>
            <a:off x="457200" y="573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4" name="TextBox 30"/>
          <p:cNvSpPr/>
          <p:nvPr/>
        </p:nvSpPr>
        <p:spPr>
          <a:xfrm>
            <a:off x="777240" y="570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AWS Administration: The Definitive Guide (Packt)</a:t>
            </a:r>
            <a:endParaRPr lang="en-US" sz="1600" b="0" u="none" strike="noStrike">
              <a:solidFill>
                <a:srgbClr val="FFFFFF"/>
              </a:solidFill>
              <a:effectLst/>
              <a:uFillTx/>
              <a:latin typeface="Arial"/>
            </a:endParaRPr>
          </a:p>
        </p:txBody>
      </p:sp>
      <p:sp>
        <p:nvSpPr>
          <p:cNvPr id="665" name="TextBox 31"/>
          <p:cNvSpPr/>
          <p:nvPr/>
        </p:nvSpPr>
        <p:spPr>
          <a:xfrm>
            <a:off x="457200" y="60440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6" name="TextBox 32"/>
          <p:cNvSpPr/>
          <p:nvPr/>
        </p:nvSpPr>
        <p:spPr>
          <a:xfrm>
            <a:off x="777240" y="60166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Fundamentals of Azure, 2nd Edition (Microsoft Press)</a:t>
            </a:r>
            <a:endParaRPr lang="en-US" sz="1600" b="0" u="none" strike="noStrike">
              <a:solidFill>
                <a:srgbClr val="FFFFFF"/>
              </a:solidFill>
              <a:effectLst/>
              <a:uFillTx/>
              <a:latin typeface="Arial"/>
            </a:endParaRPr>
          </a:p>
        </p:txBody>
      </p:sp>
      <p:sp>
        <p:nvSpPr>
          <p:cNvPr id="667" name="TextBox 3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
        <p:nvSpPr>
          <p:cNvPr id="668" name="TextBox 34"/>
          <p:cNvSpPr/>
          <p:nvPr/>
        </p:nvSpPr>
        <p:spPr>
          <a:xfrm>
            <a:off x="10972800" y="6446520"/>
            <a:ext cx="1096920" cy="303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69" name="TextBox 1" descr="Questions and answers slide." title="Questions and answers slide."/>
          <p:cNvSpPr/>
          <p:nvPr/>
        </p:nvSpPr>
        <p:spPr>
          <a:xfrm>
            <a:off x="411840" y="1371600"/>
            <a:ext cx="11246760" cy="2832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0" b="1" u="none" strike="noStrike">
                <a:solidFill>
                  <a:srgbClr val="00FF41"/>
                </a:solidFill>
                <a:effectLst/>
                <a:uFillTx/>
                <a:latin typeface="Calibri"/>
              </a:rPr>
              <a:t>Q &amp; A*</a:t>
            </a:r>
            <a:endParaRPr lang="en-US" sz="18000" b="0" u="none" strike="noStrike">
              <a:solidFill>
                <a:srgbClr val="FFFFFF"/>
              </a:solidFill>
              <a:effectLst/>
              <a:uFillTx/>
              <a:latin typeface="Arial"/>
            </a:endParaRPr>
          </a:p>
        </p:txBody>
      </p:sp>
      <p:sp>
        <p:nvSpPr>
          <p:cNvPr id="670" name="TextBox 2"/>
          <p:cNvSpPr/>
          <p:nvPr/>
        </p:nvSpPr>
        <p:spPr>
          <a:xfrm>
            <a:off x="457200" y="4754880"/>
            <a:ext cx="11246760" cy="63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A == 멍한 시선</a:t>
            </a:r>
            <a:endParaRPr lang="en-US" sz="3600" b="0" u="none" strike="noStrike">
              <a:solidFill>
                <a:srgbClr val="FFFFFF"/>
              </a:solidFill>
              <a:effectLst/>
              <a:uFillTx/>
              <a:latin typeface="Arial"/>
            </a:endParaRPr>
          </a:p>
        </p:txBody>
      </p:sp>
      <p:sp>
        <p:nvSpPr>
          <p:cNvPr id="671" name="TextBox 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해커를 위한 데이터베이스</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LibreOffice/26.2.3.2$MacOSX_AARCH64 LibreOffice_project/70e089b17412e4cb7773e41413306b17a2328c34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2026-06-04T07:38:35Z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