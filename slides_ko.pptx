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데이터베이스</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해커를 위한</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CryptoJones의 독립 발표</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45분</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학위 필요 없음</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대학원생,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40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여러분이 지금까지 접한 모든 침해 사고는</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600" b="1" u="none" strike="noStrike">
                <a:solidFill>
                  <a:srgbClr val="FFFFFF"/>
                </a:solidFill>
                <a:effectLst/>
                <a:uFillTx/>
                <a:latin typeface="Calibri"/>
              </a:rPr>
              <a:t>결국 다음에서 끝납니다</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데이터베이스*</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왕관의 보석</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데이터  금고</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여러분의 싱글 페이지 앱이 아닙니다.</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여러분의 방화벽이 아닙니다.</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여러분의 마이크로서비스가 아닙니다.</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바로 데이터. 언제나 데이터입니다.</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데이터베이스란 무엇인가?</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000" b="1" u="none" strike="noStrike">
                <a:solidFill>
                  <a:srgbClr val="FFFFFF"/>
                </a:solidFill>
                <a:effectLst/>
                <a:uFillTx/>
                <a:latin typeface="Calibri"/>
              </a:rPr>
              <a:t>정리된 저장소  +  질문하는 방법.</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그게 전부입니다. 나머지는 모두 세부 사항입니다.</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서류 캐비닛  =  저장소  +  쿼리 역할을 하는 여러분의 눈.</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Excel + Ctrl-F  =  저장소  +  쿼리 역할을 하는 찾기·바꾸기.</a:t>
            </a:r>
            <a:endParaRPr lang="en-US" sz="2600" b="0" u="none" strike="noStrike">
              <a:solidFill>
                <a:srgbClr val="FFFFFF"/>
              </a:solidFill>
              <a:effectLst/>
              <a:uFillTx/>
              <a:latin typeface="Arial"/>
            </a:endParaRPr>
          </a:p>
          <a:p>
            <a:pPr defTabSz="457200">
              <a:lnSpc>
                <a:spcPct val="150000"/>
              </a:lnSpc>
            </a:pPr>
            <a:r>
              <a:rPr lang="en-US" sz="2600" b="1" u="none" strike="noStrike">
                <a:solidFill>
                  <a:srgbClr val="00D4FF"/>
                </a:solidFill>
                <a:effectLst/>
                <a:uFillTx/>
                <a:latin typeface="Calibri"/>
              </a:rPr>
              <a:t>▶ </a:t>
            </a:r>
            <a:r>
              <a:rPr lang="en-US" sz="2600" b="0" u="none" strike="noStrike">
                <a:solidFill>
                  <a:srgbClr val="FFFFFF"/>
                </a:solidFill>
                <a:effectLst/>
                <a:uFillTx/>
                <a:latin typeface="Calibri"/>
              </a:rPr>
              <a:t>실제 DB는 여기에 더합니다:  규모, 속도, 동시성, 정형화된 언어.</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꼭 알아야 할 여섯 단어</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테이블</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스프레드시트 탭 하나</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행</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하나의 레코드(고객 한 명, 경보 하나)</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열</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하나의 속성(이메일, IP, 합계)</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쿼리</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여러분이 던지는 질문</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스키마</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데이터의 형태</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인덱스</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조회를 빠르게 해 주는 책갈피</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생성  •  조회  •  수정  •  삭제</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역사 둘러보기 — 운영 환경에서 마주칠 화석들</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플랫 파일</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파일시스템 권한 = 유일한 접근 제어</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1960년대 후반</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계층형(IMS)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메인프레임 시대, 물리적 위협 모델</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네트워크형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은행 백오피스에서 여전히 돌아가는 중</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Codd의 관계형 모델</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역할 — DB 내부의 접근 제어</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데이터베이스가 네트워크화됨 → 인증 문제</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클라이언트-서버,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 인젝션이 등장</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NoSQL 붐</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"기반을 버렸다" — 보안 포함</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클라우드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공동 책임, 고객의 설정 오류</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벡터 / 서버리스</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데이터 포이즈닝, 프롬프트 인젝션</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데이터베이스의 열 가지 계열</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관계형</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문서형</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키-값</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딕셔너리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컬럼 패밀리</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와이드 컬럼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그래프</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노드+엣지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검색</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전문 검색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시계열</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메트릭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벡터</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임베딩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임베디드/엣지</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앱 내장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데이터 레이크</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스키마 온 리드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관계형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명확한 관계와 일관성이 필요할 때 — 금융, 규제 대상 데이터.</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개발자가 사용자 입력을 쿼리에 문자열로 이어붙일 때 발생하는 SQL 인젝션.</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문서 저장소</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자연스럽게 중첩되는 데이터로, 시간이 지나면 형태가 바뀝니다.</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쿼리 연산자($ne, $gt, $where)를 통한 NoSQL 인젝션. 기본적으로 인증 없음.</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키-값 저장소</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캐시, 세션 저장소, 속도 제한기, 리더보드.</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기본적으로 인증 없는 Redis + CONFIG SET → 디스크에 SSH 키 기록.</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컬럼 패밀리</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여러 머신에 걸친 대규모 확장; 복잡한 조인이 필요 없습니다.</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클러스터는 gossip 포트로 서로를 신뢰합니다 — 관리 네트워크 = 루트.</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그래프 데이터베이스</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소셜 네트워크, 사기 탐지, IAM 분석(예: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Cypher 같은 쿼리 언어도 인젝션이 가능합니다. NoSQLi는 Mongo만의 문제가 아닙니다.</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검색 엔진</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로그 검색, SIEM 백본, 전자상거래 사이트 검색.</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역사적으로 내장 인증이 없었음 — Shodan에 수십억 건의 레코드가 노출됨.</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시계열</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메트릭, 관측 가능성, IoT 텔레메트리.</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보통 경계 안쪽에 있고, 인증이 없는 경우가 많습니다.</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벡터 데이터베이스</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추천 엔진, 시맨틱 검색.</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데이터 포이즈닝 — 문서를 몰래 끼워 넣으면 LLM이 그것을 사실인 양 인용합니다.</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임베디드 / 엣지</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앱 내장 저장소 — 브라우저, 휴대폰, 모든 현대 항공기.</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DB가 곧 파일입니다 — 공격은 '파일을 훔치는 것'. 모바일 모의 침투의 세계.</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데이터 레이크 / 레이크하우스</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제품</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사용 시점</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스키마 온 라이트가 아니라 스키마 온 리드. 먼저 쌓고, 나중에 쿼리합니다.</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보안 함정</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거대한 S3 풀 + 느슨한 IAM, 저장 데이터 암호화 미강제.</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클라우드 DB 서비스 — 전체 지형 살펴보기</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(그래프)</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(객체 저장소)</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(출시 예정)</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(직접 구축)</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(다형성 변신)</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그래프 모드</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(직접 구축)</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클라우드 DB 치트 시트</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분류</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관계형</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문서형/NoSQL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웨어하우스</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캐시</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그래프</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그래프</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시계열</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객체 저장소</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공동 책임 모델</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00FF41"/>
                </a:solidFill>
                <a:effectLst/>
                <a:uFillTx/>
                <a:latin typeface="Calibri"/>
              </a:rPr>
              <a:t>✓  클라우드 공급자 담당</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하이퍼바이저 및 물리 서버</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DB 엔진 패치</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물리 보안</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기반 네트워크</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여러분 담당</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구성</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접근 정책(IAM)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데이터 그 자체</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암호화 선택</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거의 모든 클라우드 DB 침해 = 고객의 설정 오류.</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주요 DB 포트 — 머릿속에 새기세요</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이 중 어느 하나라도 인터넷에 노출되면 = 취약점 발견. 예외 없이*</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이제 여러분의 노트도 데이터베이스입니다</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마크다운 파일은 이제</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LLM이 읽어 들이는 데이터베이스입니다.</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00D4FF"/>
                </a:solidFill>
                <a:effectLst/>
                <a:uFillTx/>
                <a:latin typeface="Calibri"/>
              </a:rPr>
              <a:t>Obsidian 볼트  •  위키 내보내기  •  회의 노트  •  GitHub 문서</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임베딩 → 벡터 DB → LLM 컨텍스트 → 사용자에게 답변</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RAG 파이프라인 — 신뢰 경계는 어디에 있는가?</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.md 파일</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임베더</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벡터 DB</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LLM 프롬프트</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답변</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신뢰 경계</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누구나 그 .md 파일을 편집할 수 있다면, 누구나 심을 수 있습니다</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AI가 권위 있는 것으로 인용할 콘텐츠를.</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핵심 정리</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마크다운을 데이터베이스처럼 다루세요.</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LLM에게는 실제로 데이터베이스이기 때문입니다.</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문서 폴더에 접근 제어를 적용하세요.</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.md 변경에 코드 리뷰를 적용하세요.</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위키에 변경 이력 추적을 적용하세요.</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보안</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2026년에 실제로 공격받는 것들*</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학교:  "안녕하세요, 자녀분 학교입니다. 저희가 지금</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컴퓨터 문제를 좀 겪고 있어서요."</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엄마:     "어머나 — 우리 애가 뭘 망가뜨렸나요?"</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학교:  "정말 자녀분 이름을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로 지으신 거 맞나요?"</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그 메커니즘: 쿼리에서의 문자열 연결.</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공격 표면은</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7200" b="1" u="none" strike="noStrike">
                <a:solidFill>
                  <a:srgbClr val="FF6B35"/>
                </a:solidFill>
                <a:effectLst/>
                <a:uFillTx/>
                <a:latin typeface="Calibri"/>
              </a:rPr>
              <a:t>줄어든 게 아니라 확장됐습니다.</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SQL 인젝션은 해결됐습니다. 그 자리를 열한 개의 새로운 범주가 차지했습니다.</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 인젝션</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MongoDB JSON 쿼리 + 가공되지 않은 사용자 입력 = 부활한 SQLi.</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로그인 우회: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$where를 쓰면 JavaScript를 DB에 곧바로 주입할 수 있습니다.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N1QL은 SQL 계열이라 — 고전적인 SQLi 패턴이 그대로 적용됩니다.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원칙: SQL뿐 아니라 어떤 인터프리터든 인젝션될 수 있습니다.</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'동적 쿼리... 인터프리터에서 직접 사용됨.'</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노출되고 잘못 구성된 데이터베이스</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Shodan과 Censys에는 거기 있어서는 안 될 데이터베이스가 가득합니다.</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인증 없이 0.0.0.0에 바인딩된 MongoDB.</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활짝 열린 Elasticsearch 클러스터. 비밀번호 없는 Redis.</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 pg_hba.conf가 'host all all 0.0.0.0/0 trust'로 설정됨.</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Meow 공격(2020): 봇들이 재미로 수천 개의 열린 DB를 지워 버렸습니다.</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실행 항목: 우리 조직이 공개 인터페이스에 무엇을 바인딩했는지 찾으세요. 오늘 당장.</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클라우드 설정 오류</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클라우드에서 버그는 엔진 자체인 경우가 드뭅니다. 그것을 둘러싼 정책이 문제입니다.</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DB 덤프로 가득 찬 공개 S3 버킷(Accenture, Verizon 등).</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SSRF가 WAF를 속여 IAM 자격 증명을 유출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'처음에 됐으니까'라는 이유로 *에 s3:*가 부여된 Lambda.</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보안 그룹: 5432 포트에 0.0.0.0/0.</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AWS 관리자: '루트 계정을 없애고 필요한 곳마다 IAM을 사용하라.'</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권한 상승: DB → OS</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데이터베이스 계정이 셸 접근으로 이어질 수 있습니다. 고전적인 세 가지 수법.</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DB 프로세스 권한으로 셸 명령을 실행합니다.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출력을 셸로 파이프합니다.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UDF .so 파일을 로드 → OS에서 sys_exec 실행.</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패턴: 모든 권한 있는 DB 기능은 공격 표면의 일부입니다.</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데이터 레이크 보안 공백</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모든 것이 결국 S3로 모입니다 — 거기 넣을 생각이 없던 것들까지도.</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느슨한 IAM이 컴퓨팅 역할에서 사람에게로 새어 나갑니다.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버킷 키에 대한 저장 데이터 암호화 미강제.</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쓰기 측 검증 없음 — 누구나 오염된 데이터를 떨어뜨릴 수 있습니다.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첫 번째 질문: 누가 레이크에 쓸 수 있는가? 누가 읽을 수 있는가?</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랜섬웨어는 데이터베이스를 좋아합니다</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DB는 비즈니스가 되찾아야만 하는 대상입니다 — 최대의 협상력.</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운영 중인 데이터베이스를 암호화합니다.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백업을 암호화합니다(그렇지 않으면 고객이 그냥 복원해 버립니다).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먼저 사본을 빼돌립니다 — 복원하더라도 폭로를 빌미로 협박합니다.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방어: 오프라인의 변경 불가 백업 + 검증된 복원.</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패치는 59일 전에 이미 나와 있었습니다.</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자격 증명 공격</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기본 자격 증명과 유출된 연결 문자열 — 오래되고 끈질긴 두 가지 버그.</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수년간 기본적으로 비밀번호가 없었습니다.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무료 등급에 인증이 없었습니다 — 역시 수년간.</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커밋 전 비밀 정보 스캐닝 — 이번 주에 해결하세요.</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탈취된 자격 증명 = 조직범죄가 선호하는 공격 경로.</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공급망 — 여러분이 신뢰하는 DB 라이브러리</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여러분의 DB 드라이버는 npm/PyPI/Maven에서 왔습니다. 다른 모두의 것도 마찬가지입니다.</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ORM / 드라이버로 위장한 악성 npm 패키지.</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인기 데이터베이스용으로 트로이목마화된 Docker Hub 이미지.</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변조된 PostgreSQL 확장 / MySQL 플러그인.</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확장은 DB 권한으로 실행됩니다 — 보통 상당히 많은 권한으로.</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Shostack: '위협은 신뢰 경계 주변에 몰리는 경향이 있다.'</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RAG / LLM 데이터 포이즈닝</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AI 시대의 저장형 XSS. 지식 베이스에 써넣으면 → LLM이 그것을 인용합니다.</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오염된 지원 문서: '재설정하려면 비밀번호를 다음으로 보내세요...'</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오염된 내부 문서: '회사 정책상 다음으로 송금해야 합니다...'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검색된 문서에 심어진 프롬프트 인젝션.</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방어: 엄격한 쓰기 ACL, 출처 태그, 사람의 개입(human-in-the-loop).</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2025 저장형 XSS 원칙 — 'admin'을 'LLM'으로 바꿔 생각하세요.</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내부자 위협 및 DB 간 측면 이동</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데이터베이스는 종착점이 아닙니다. 그래프 속 노드입니다.</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권한이 과도한 서비스 계정. 운영 환경 읽기 권한을 가진 엔지니어들.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감사 추적 없는 DBA들.</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SQL Server 연결 서버,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저장된 자격 증명 → A를 장악하고, B로, 다시 C로 건너뜁니다.</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허술하게 보호된 감사 로그 = 금광.</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백업 및 스냅샷 노출</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운영과 같은 데이터인데, 관심은 절반뿐.</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Domain Users가 읽을 수 있는 공유에 놓인 암호화되지 않은 DB 백업.</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계정 간에 공유된 채 끝내 해제되지 않은 클라우드 스냅샷.</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보안 태세를 한 번도 확인하지 않은 업체로 보내는 오프사이트 백업.</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백업은 최후의 수단입니다. 식별-인증-인가-감사를 적용하세요.</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Schneier: 식별, 인증, 인가, 감사 — 동일한 모델.</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여러분의 머릿속 지도</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데이터베이스 = 정리된 저장소 + 질문하는 방법.</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열 가지 계열, 각각 고유한 함정이 있습니다.</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클라우드 = 공동 책임. 구성과 데이터는 여러분 담당입니다.</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마크다운은 LLM을 위한 데이터베이스입니다. RAG 포이즈닝은 실제 위협입니다.</a:t>
            </a:r>
            <a:endParaRPr lang="en-US" sz="2800" b="0" u="none" strike="noStrike">
              <a:solidFill>
                <a:srgbClr val="FFFFFF"/>
              </a:solidFill>
              <a:effectLst/>
              <a:uFillTx/>
              <a:latin typeface="Arial"/>
            </a:endParaRPr>
          </a:p>
          <a:p>
            <a:pPr defTabSz="457200">
              <a:lnSpc>
                <a:spcPct val="155000"/>
              </a:lnSpc>
            </a:pPr>
            <a:r>
              <a:rPr lang="en-US" sz="2800" b="1" u="none" strike="noStrike">
                <a:solidFill>
                  <a:srgbClr val="00D4FF"/>
                </a:solidFill>
                <a:effectLst/>
                <a:uFillTx/>
                <a:latin typeface="Calibri"/>
              </a:rPr>
              <a:t>✓ </a:t>
            </a:r>
            <a:r>
              <a:rPr lang="en-US" sz="2800" b="0" u="none" strike="noStrike">
                <a:solidFill>
                  <a:srgbClr val="FFFFFF"/>
                </a:solidFill>
                <a:effectLst/>
                <a:uFillTx/>
                <a:latin typeface="Calibri"/>
              </a:rPr>
              <a:t>SQLi는 해결됐습니다. 그러나 공격 표면은 확장됐습니다.</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다음 주에 할 일</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로컬에 PostgreSQL을 설치하세요. SELECT를 작성해 보세요.</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PortSwigger SQL 인젝션 랩을 해 보세요(무료).</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Shodan / Censys를 둘러보세요 — 단, 여러분 소유의 시스템만.</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침해 사고 보고서를 읽어 보세요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우리 조직이 실제로 어떤 데이터베이스를 운영하는지 알아보세요.</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북마크할 만한 자료</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FFFFFF"/>
                </a:solidFill>
                <a:effectLst/>
                <a:uFillTx/>
                <a:latin typeface="Calibri"/>
              </a:rPr>
              <a:t>“데이터베이스는</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800" b="1" u="none" strike="noStrike">
                <a:solidFill>
                  <a:srgbClr val="00FF41"/>
                </a:solidFill>
                <a:effectLst/>
                <a:uFillTx/>
                <a:latin typeface="Calibri"/>
              </a:rPr>
              <a:t>돈이 있는 곳입니다. 말 그대로.”</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이제 어디를 봐야 할지 아시겠죠.</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CCCCD6"/>
                </a:solidFill>
                <a:effectLst/>
                <a:uFillTx/>
                <a:latin typeface="Calibri"/>
              </a:rPr>
              <a:t>~Larry Ellison (아마도)</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참고 문헌 — 인용한 저작</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2025년 판</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0" b="1" u="none" strike="noStrike">
                <a:solidFill>
                  <a:srgbClr val="00FF41"/>
                </a:solidFill>
                <a:effectLst/>
                <a:uFillTx/>
                <a:latin typeface="Calibri"/>
              </a:rPr>
              <a:t>Q &amp; A*</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멍한 시선</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해커를 위한 데이터베이스</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