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300" r:id="rId5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45-minute talk for new security analysts. No computer-science background required. There's a script, slides, and a recording — nothing to memorize.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Equifax, Capital One, MOVEit, SolarWinds, T-Mobile, LinkedIn, OPM, Marriott — every one of those breaches ended at a database. Attackers care about data, not architecture diagrams.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Attackers don't care about your beautiful SPA or your microservices diagram. They care about the data — the crown jewels — because that's what converts into money, leverage, or headlines.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jargon: organized storage plus a query language. If you've used Ctrl-F in Excel, you've used a database. Real databases add scale, speed, concurrency, and a formal query language.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Memorize these six words and you can hold a real conversation with a DBA. Table is a tab, row is a record, column is an attribute, query is a question, schema is the shape, index is the bookmark. CRUD covers every action: create, read, update, delete.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weird thing you'll see in a real environment is a fossil from one of these eras. Knowing which era something comes from is a real superpower in incident response and pentesting.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families you'll meet in the wild. For each: what it stores, what it's for, key products, and the security gotcha.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 Relational / SQL. Products include PostgreSQL  •  MySQL/MariaDB  •  SQL Server  •  Oracle. Clear relationships, consistency required — finance, regulated data. Security gotcha: SQL injection when developers concatenate user input into queries.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2: Document Stores. Products include MongoDB  •  Couchbase  •  Firestore. Naturally nested data; the shape changes over time. Security gotcha: NoSQL injection via query operators ($ne, $gt, $where). Default no-auth.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3: Key-Value Stores. Products include Redis  •  Memcached  •  DynamoDB. Caches, session stores, rate limiters, leaderboards. Security gotcha: Default no-auth Redis + CONFIG SET → writing SSH keys to disk.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4: Column-Family. Products include Apache Cassandra  •  HBase  •  ScyllaDB. Massive scale across many machines; no complex joins needed. Security gotcha: Clusters trust each other on gossip ports — mgmt network = root.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5: Graph Databases. Products include Neo4j  •  Amazon Neptune  •  ArangoDB. Social networks, fraud detection, IAM analysis (e.g. BloodHound). Security gotcha: Query languages like Cypher are injectable too. NoSQLi isn't just Mongo.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6: Search Engines. Products include Elasticsearch  •  OpenSearch  •  Solr. Log search, SIEM backbones, e-commerce site search. Security gotcha: No built-in auth historically — billions of records exposed on Shodan.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7: Time-Series. Products include InfluxDB  •  TimescaleDB  •  Prometheus. Metrics, observability, IoT telemetry. Security gotcha: Usually inside the perimeter, often unauthenticated.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8: Vector Databases. Products include Pinecone  •  Milvus  •  Weaviate  •  pgvector. RAG, recommendation engines, semantic search. Security gotcha: Data poisoning — sneak in a doc, the LLM quotes it as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9: Embedded / Edge. Products include SQLite  •  DuckDB  •  LevelDB. In-app storage — browsers, phones, every modern airplane. Security gotcha: DB is a file — attack is 'steal the file'. Mobile pentest world.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10: Data Lakes / Lakehouses. Products include S3 + Athena  •  Delta Lake  •  Iceberg  •  Snowflake. Schema-on-read instead of schema-on-write. Dump now, query later. Security gotcha: Giant S3 pools + permissive IAM, no encryption-at-rest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 the cloud vendor names — that's how databases appear in alerts, IAM policies, and incident response. AWS RDS/Aurora, GCP Cloud SQL, Azure SQL. Document side: DynamoDB, Firestore, Cosmos DB.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Side-by-side table. Memorize the row labels — those are the categories. The vendor columns rotate with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vendor patches hypervisor and engine. You own config, IAM, and the data. Almost every cloud DB breach is a customer-side misconfiguration — public S3, wide security group, snapshot shared to wrong account.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 analysts use these every day. Pentesters scan for them every day. If you see any of these exposed to the internet in a real environment, that's a finding.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Markdown files are a database now — literally. Folder of .md files → embedder → vector DB → LLM prompt. This pattern is called RAG.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boundary is between whoever writes markdown and the embedder. Anyone who can edit those files can plant content the LLM will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org is doing any kind of internal AI assistant, the markdown files feeding it are infrastructure. Treat them like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SECURITY — What's actually getting hit in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famous database attack of all time. xkcd #327. Mom names her kid Robert'); DROP TABLE Students;-- and the school's database disappears because someone built a query by gluing strings. Fix is parameterized queries.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injection is a success story — parameterized queries fixed it. But the attack surface didn't shrink, it expanded into new shapes.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Database is storage + questions. Ten families. Cloud is shared responsibility. Markdown is a database for LLMs. SQLi got fixed but the surface expanded.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concrete next-week actions. Install Postgres. PortSwigger labs. Browse Shodan legally. Read a breach report. List your org's DBs.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PortSwigger for SQLi labs. SQLBolt for learning SQL. Use The Index, Luke for deep DB internals. DB-Engines for popularity rankings. OWASP Top 10 for the canonical web vuln list.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Willie Sutton said he robbed banks because that's where the money was. In 2026, the money is in databases.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five minutes of questions.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books cited throughout the talk. Worth picking any of these up — they're the durable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Aaron K. Clark, Ronin 48. Brief pause, let the audience settle.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tle slide: Databases for Hackers — A Ronin 48 stand-up talk." title="Title slide: Databases for Hackers — A Ronin 48 stand-up talk."/>
          <p:cNvSpPr txBox="1"/>
          <p:nvPr/>
        </p:nvSpPr>
        <p:spPr>
          <a:xfrm>
            <a:off x="457200" y="2103120"/>
            <a:ext cx="11247120" cy="1371600"/>
          </a:xfrm>
          <a:prstGeom prst="rect">
            <a:avLst/>
          </a:prstGeom>
          <a:noFill/>
        </p:spPr>
        <p:txBody>
          <a:bodyPr wrap="square" anchor="t">
            <a:spAutoFit/>
          </a:bodyPr>
          <a:lstStyle/>
          <a:p>
            <a:pPr algn="ctr"/>
            <a:r>
              <a:rPr sz="8400" b="1">
                <a:solidFill>
                  <a:srgbClr val="00FF41"/>
                </a:solidFill>
                <a:latin typeface="Calibri"/>
              </a:rPr>
              <a:t>DATABASES</a:t>
            </a:r>
          </a:p>
        </p:txBody>
      </p:sp>
      <p:sp>
        <p:nvSpPr>
          <p:cNvPr id="3" name="TextBox 2"/>
          <p:cNvSpPr txBox="1"/>
          <p:nvPr/>
        </p:nvSpPr>
        <p:spPr>
          <a:xfrm>
            <a:off x="457200" y="3108960"/>
            <a:ext cx="11247120" cy="1097280"/>
          </a:xfrm>
          <a:prstGeom prst="rect">
            <a:avLst/>
          </a:prstGeom>
          <a:noFill/>
        </p:spPr>
        <p:txBody>
          <a:bodyPr wrap="square" anchor="t">
            <a:spAutoFit/>
          </a:bodyPr>
          <a:lstStyle/>
          <a:p>
            <a:pPr algn="ctr"/>
            <a:r>
              <a:rPr sz="6000" b="1">
                <a:solidFill>
                  <a:srgbClr val="FFFFFF"/>
                </a:solidFill>
                <a:latin typeface="Calibri"/>
              </a:rPr>
              <a:t>for Hackers</a:t>
            </a:r>
          </a:p>
        </p:txBody>
      </p:sp>
      <p:sp>
        <p:nvSpPr>
          <p:cNvPr id="4" name="Rectangle 3"/>
          <p:cNvSpPr/>
          <p:nvPr/>
        </p:nvSpPr>
        <p:spPr>
          <a:xfrm>
            <a:off x="5181904" y="4297680"/>
            <a:ext cx="18288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480560"/>
            <a:ext cx="11247120" cy="548640"/>
          </a:xfrm>
          <a:prstGeom prst="rect">
            <a:avLst/>
          </a:prstGeom>
          <a:noFill/>
        </p:spPr>
        <p:txBody>
          <a:bodyPr wrap="square" anchor="t">
            <a:spAutoFit/>
          </a:bodyPr>
          <a:lstStyle/>
          <a:p>
            <a:pPr algn="ctr"/>
            <a:r>
              <a:rPr sz="3200" b="0">
                <a:solidFill>
                  <a:srgbClr val="00D4FF"/>
                </a:solidFill>
                <a:latin typeface="Calibri"/>
              </a:rPr>
              <a:t>A Ronin 48 Stand-Up Talk</a:t>
            </a:r>
          </a:p>
        </p:txBody>
      </p:sp>
      <p:sp>
        <p:nvSpPr>
          <p:cNvPr id="6" name="TextBox 5"/>
          <p:cNvSpPr txBox="1"/>
          <p:nvPr/>
        </p:nvSpPr>
        <p:spPr>
          <a:xfrm>
            <a:off x="457200" y="5120640"/>
            <a:ext cx="11247120" cy="457200"/>
          </a:xfrm>
          <a:prstGeom prst="rect">
            <a:avLst/>
          </a:prstGeom>
          <a:noFill/>
        </p:spPr>
        <p:txBody>
          <a:bodyPr wrap="square" anchor="t">
            <a:spAutoFit/>
          </a:bodyPr>
          <a:lstStyle/>
          <a:p>
            <a:pPr algn="ctr"/>
            <a:r>
              <a:rPr sz="2400" b="0">
                <a:solidFill>
                  <a:srgbClr val="CCCCD6"/>
                </a:solidFill>
                <a:latin typeface="Calibri"/>
              </a:rPr>
              <a:t>45 minutes  •  No CS degree required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1371600" y="1828800"/>
            <a:ext cx="9445752" cy="1371600"/>
          </a:xfrm>
          <a:prstGeom prst="rect">
            <a:avLst/>
          </a:prstGeom>
          <a:noFill/>
        </p:spPr>
        <p:txBody>
          <a:bodyPr wrap="square">
            <a:spAutoFit/>
          </a:bodyPr>
          <a:lstStyle/>
          <a:p>
            <a:pPr algn="ctr"/>
            <a:r>
              <a:rPr sz="5400" b="1">
                <a:solidFill>
                  <a:srgbClr val="00FF41"/>
                </a:solidFill>
                <a:latin typeface="Calibri"/>
              </a:rPr>
              <a:t>Aaron K. Clark</a:t>
            </a:r>
          </a:p>
        </p:txBody>
      </p:sp>
      <p:sp>
        <p:nvSpPr>
          <p:cNvPr id="3" name="TextBox 2"/>
          <p:cNvSpPr txBox="1"/>
          <p:nvPr/>
        </p:nvSpPr>
        <p:spPr>
          <a:xfrm>
            <a:off x="1371600" y="3474720"/>
            <a:ext cx="9445752" cy="914400"/>
          </a:xfrm>
          <a:prstGeom prst="rect">
            <a:avLst/>
          </a:prstGeom>
          <a:noFill/>
        </p:spPr>
        <p:txBody>
          <a:bodyPr wrap="square">
            <a:spAutoFit/>
          </a:bodyPr>
          <a:lstStyle/>
          <a:p>
            <a:pPr algn="ctr"/>
            <a:r>
              <a:rPr sz="3600" b="0">
                <a:solidFill>
                  <a:srgbClr val="FFFFFF"/>
                </a:solidFill>
                <a:latin typeface="Calibri"/>
              </a:rPr>
              <a:t>Ronin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Headline slide: Every breach you have ever read about ends at a database." title="Headline slide: Every breach you have ever read about ends at a database."/>
          <p:cNvSpPr txBox="1"/>
          <p:nvPr/>
        </p:nvSpPr>
        <p:spPr>
          <a:xfrm>
            <a:off x="457200" y="1828800"/>
            <a:ext cx="11247120" cy="1828800"/>
          </a:xfrm>
          <a:prstGeom prst="rect">
            <a:avLst/>
          </a:prstGeom>
          <a:noFill/>
        </p:spPr>
        <p:txBody>
          <a:bodyPr wrap="square" anchor="t">
            <a:spAutoFit/>
          </a:bodyPr>
          <a:lstStyle/>
          <a:p>
            <a:pPr algn="ctr"/>
            <a:r>
              <a:rPr sz="5600" b="1">
                <a:solidFill>
                  <a:srgbClr val="FFFFFF"/>
                </a:solidFill>
                <a:latin typeface="Calibri"/>
              </a:rPr>
              <a:t>Every breach you have ever</a:t>
            </a:r>
          </a:p>
        </p:txBody>
      </p:sp>
      <p:sp>
        <p:nvSpPr>
          <p:cNvPr id="3" name="TextBox 2"/>
          <p:cNvSpPr txBox="1"/>
          <p:nvPr/>
        </p:nvSpPr>
        <p:spPr>
          <a:xfrm>
            <a:off x="457200" y="2834640"/>
            <a:ext cx="11247120" cy="1828800"/>
          </a:xfrm>
          <a:prstGeom prst="rect">
            <a:avLst/>
          </a:prstGeom>
          <a:noFill/>
        </p:spPr>
        <p:txBody>
          <a:bodyPr wrap="square" anchor="t">
            <a:spAutoFit/>
          </a:bodyPr>
          <a:lstStyle/>
          <a:p>
            <a:pPr algn="ctr"/>
            <a:r>
              <a:rPr sz="5600" b="1">
                <a:solidFill>
                  <a:srgbClr val="FFFFFF"/>
                </a:solidFill>
                <a:latin typeface="Calibri"/>
              </a:rPr>
              <a:t>read about ends at a</a:t>
            </a:r>
          </a:p>
        </p:txBody>
      </p:sp>
      <p:sp>
        <p:nvSpPr>
          <p:cNvPr id="4" name="TextBox 3"/>
          <p:cNvSpPr txBox="1"/>
          <p:nvPr/>
        </p:nvSpPr>
        <p:spPr>
          <a:xfrm>
            <a:off x="457200" y="3840480"/>
            <a:ext cx="11247120" cy="1828800"/>
          </a:xfrm>
          <a:prstGeom prst="rect">
            <a:avLst/>
          </a:prstGeom>
          <a:noFill/>
        </p:spPr>
        <p:txBody>
          <a:bodyPr wrap="square" anchor="t">
            <a:spAutoFit/>
          </a:bodyPr>
          <a:lstStyle/>
          <a:p>
            <a:pPr algn="ctr"/>
            <a:r>
              <a:rPr sz="8400" b="1">
                <a:solidFill>
                  <a:srgbClr val="00FF41"/>
                </a:solidFill>
                <a:latin typeface="Calibri"/>
              </a:rPr>
              <a:t>DATABASE.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 stylized vault icon next to four bullets explaining that attackers target the data, not the surrounding application or infrastructure." title="A stylized vault icon next to four bullets explaining that attackers target the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Crown Jewels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1828800"/>
            <a:ext cx="4114800" cy="3840480"/>
          </a:xfrm>
          <a:prstGeom prst="roundRect">
            <a:avLst/>
          </a:prstGeom>
          <a:solidFill>
            <a:srgbClr val="2A2A44"/>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971800" y="3291840"/>
            <a:ext cx="914400" cy="914400"/>
          </a:xfrm>
          <a:prstGeom prst="ellipse">
            <a:avLst/>
          </a:prstGeom>
          <a:solidFill>
            <a:srgbClr val="00FF4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5577840"/>
            <a:ext cx="4114800" cy="457200"/>
          </a:xfrm>
          <a:prstGeom prst="rect">
            <a:avLst/>
          </a:prstGeom>
          <a:noFill/>
        </p:spPr>
        <p:txBody>
          <a:bodyPr wrap="square" anchor="t">
            <a:spAutoFit/>
          </a:bodyPr>
          <a:lstStyle/>
          <a:p>
            <a:pPr algn="ctr"/>
            <a:r>
              <a:rPr sz="2400" b="1">
                <a:solidFill>
                  <a:srgbClr val="00FF41"/>
                </a:solidFill>
                <a:latin typeface="Calibri"/>
              </a:rPr>
              <a:t>DATA  VAULT</a:t>
            </a:r>
          </a:p>
        </p:txBody>
      </p:sp>
      <p:sp>
        <p:nvSpPr>
          <p:cNvPr id="7" name="TextBox 6"/>
          <p:cNvSpPr txBox="1"/>
          <p:nvPr/>
        </p:nvSpPr>
        <p:spPr>
          <a:xfrm>
            <a:off x="5943600" y="2011680"/>
            <a:ext cx="5943600" cy="3840480"/>
          </a:xfrm>
          <a:prstGeom prst="rect">
            <a:avLst/>
          </a:prstGeom>
          <a:noFill/>
        </p:spPr>
        <p:txBody>
          <a:bodyPr wrap="square">
            <a:spAutoFit/>
          </a:bodyPr>
          <a:lstStyle/>
          <a:p>
            <a:pPr algn="l">
              <a:lnSpc>
                <a:spcPct val="140000"/>
              </a:lnSpc>
            </a:pPr>
            <a:r>
              <a:rPr sz="3000" b="1">
                <a:solidFill>
                  <a:srgbClr val="00D4FF"/>
                </a:solidFill>
                <a:latin typeface="Calibri"/>
              </a:rPr>
              <a:t>▶ </a:t>
            </a:r>
            <a:r>
              <a:rPr sz="3000">
                <a:solidFill>
                  <a:srgbClr val="FFFFFF"/>
                </a:solidFill>
                <a:latin typeface="Calibri"/>
              </a:rPr>
              <a:t>Not your single-page app.</a:t>
            </a:r>
          </a:p>
          <a:p>
            <a:pPr algn="l">
              <a:lnSpc>
                <a:spcPct val="140000"/>
              </a:lnSpc>
            </a:pPr>
            <a:r>
              <a:rPr sz="3000" b="1">
                <a:solidFill>
                  <a:srgbClr val="00D4FF"/>
                </a:solidFill>
                <a:latin typeface="Calibri"/>
              </a:rPr>
              <a:t>▶ </a:t>
            </a:r>
            <a:r>
              <a:rPr sz="3000">
                <a:solidFill>
                  <a:srgbClr val="FFFFFF"/>
                </a:solidFill>
                <a:latin typeface="Calibri"/>
              </a:rPr>
              <a:t>Not your firewall.</a:t>
            </a:r>
          </a:p>
          <a:p>
            <a:pPr algn="l">
              <a:lnSpc>
                <a:spcPct val="140000"/>
              </a:lnSpc>
            </a:pPr>
            <a:r>
              <a:rPr sz="3000" b="1">
                <a:solidFill>
                  <a:srgbClr val="00D4FF"/>
                </a:solidFill>
                <a:latin typeface="Calibri"/>
              </a:rPr>
              <a:t>▶ </a:t>
            </a:r>
            <a:r>
              <a:rPr sz="3000">
                <a:solidFill>
                  <a:srgbClr val="FFFFFF"/>
                </a:solidFill>
                <a:latin typeface="Calibri"/>
              </a:rPr>
              <a:t>Not your microservices.</a:t>
            </a:r>
          </a:p>
          <a:p>
            <a:pPr algn="l">
              <a:lnSpc>
                <a:spcPct val="140000"/>
              </a:lnSpc>
            </a:pPr>
            <a:r>
              <a:rPr sz="3000" b="1">
                <a:solidFill>
                  <a:srgbClr val="00D4FF"/>
                </a:solidFill>
                <a:latin typeface="Calibri"/>
              </a:rPr>
              <a:t>▶ </a:t>
            </a:r>
            <a:r>
              <a:rPr sz="3000">
                <a:solidFill>
                  <a:srgbClr val="FFFFFF"/>
                </a:solidFill>
                <a:latin typeface="Calibri"/>
              </a:rPr>
              <a:t>THE DATA. Always the data.</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Definition slide: A database is organized storage plus a way to ask questions, illustrated with filing-cabinet and Excel analogies." title="Definition slide: A database is organized storage plus a way to ask questions, i"/>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Is a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000" b="1">
                <a:solidFill>
                  <a:srgbClr val="FFFFFF"/>
                </a:solidFill>
                <a:latin typeface="Calibri"/>
              </a:rPr>
              <a:t>Organized storage  +  a way to ask questions.</a:t>
            </a:r>
          </a:p>
        </p:txBody>
      </p:sp>
      <p:sp>
        <p:nvSpPr>
          <p:cNvPr id="5" name="TextBox 4"/>
          <p:cNvSpPr txBox="1"/>
          <p:nvPr/>
        </p:nvSpPr>
        <p:spPr>
          <a:xfrm>
            <a:off x="457200" y="2926080"/>
            <a:ext cx="11247120" cy="548640"/>
          </a:xfrm>
          <a:prstGeom prst="rect">
            <a:avLst/>
          </a:prstGeom>
          <a:noFill/>
        </p:spPr>
        <p:txBody>
          <a:bodyPr wrap="square" anchor="t">
            <a:spAutoFit/>
          </a:bodyPr>
          <a:lstStyle/>
          <a:p>
            <a:pPr algn="ctr"/>
            <a:r>
              <a:rPr sz="2600" b="0">
                <a:solidFill>
                  <a:srgbClr val="00D4FF"/>
                </a:solidFill>
                <a:latin typeface="Calibri"/>
              </a:rPr>
              <a:t>That's it. Everything else is detail.</a:t>
            </a:r>
          </a:p>
        </p:txBody>
      </p:sp>
      <p:sp>
        <p:nvSpPr>
          <p:cNvPr id="6" name="TextBox 5"/>
          <p:cNvSpPr txBox="1"/>
          <p:nvPr/>
        </p:nvSpPr>
        <p:spPr>
          <a:xfrm>
            <a:off x="914400" y="3931920"/>
            <a:ext cx="10332720" cy="2286000"/>
          </a:xfrm>
          <a:prstGeom prst="rect">
            <a:avLst/>
          </a:prstGeom>
          <a:noFill/>
        </p:spPr>
        <p:txBody>
          <a:bodyPr wrap="square">
            <a:spAutoFit/>
          </a:bodyPr>
          <a:lstStyle/>
          <a:p>
            <a:pPr algn="l">
              <a:lnSpc>
                <a:spcPct val="150000"/>
              </a:lnSpc>
            </a:pPr>
            <a:r>
              <a:rPr sz="2600" b="1">
                <a:solidFill>
                  <a:srgbClr val="00D4FF"/>
                </a:solidFill>
                <a:latin typeface="Calibri"/>
              </a:rPr>
              <a:t>▶ </a:t>
            </a:r>
            <a:r>
              <a:rPr sz="2600">
                <a:solidFill>
                  <a:srgbClr val="FFFFFF"/>
                </a:solidFill>
                <a:latin typeface="Calibri"/>
              </a:rPr>
              <a:t>Filing cabinet  =  storage  +  your eyeballs as query.</a:t>
            </a:r>
          </a:p>
          <a:p>
            <a:pPr algn="l">
              <a:lnSpc>
                <a:spcPct val="150000"/>
              </a:lnSpc>
            </a:pPr>
            <a:r>
              <a:rPr sz="2600" b="1">
                <a:solidFill>
                  <a:srgbClr val="00D4FF"/>
                </a:solidFill>
                <a:latin typeface="Calibri"/>
              </a:rPr>
              <a:t>▶ </a:t>
            </a:r>
            <a:r>
              <a:rPr sz="2600">
                <a:solidFill>
                  <a:srgbClr val="FFFFFF"/>
                </a:solidFill>
                <a:latin typeface="Calibri"/>
              </a:rPr>
              <a:t>Excel + Ctrl-F  =  storage  +  find-and-replace as query.</a:t>
            </a:r>
          </a:p>
          <a:p>
            <a:pPr algn="l">
              <a:lnSpc>
                <a:spcPct val="150000"/>
              </a:lnSpc>
            </a:pPr>
            <a:r>
              <a:rPr sz="2600" b="1">
                <a:solidFill>
                  <a:srgbClr val="00D4FF"/>
                </a:solidFill>
                <a:latin typeface="Calibri"/>
              </a:rPr>
              <a:t>▶ </a:t>
            </a:r>
            <a:r>
              <a:rPr sz="2600">
                <a:solidFill>
                  <a:srgbClr val="FFFFFF"/>
                </a:solidFill>
                <a:latin typeface="Calibri"/>
              </a:rPr>
              <a:t>Real DB adds:  scale, speed, concurrency, a formal language.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Vocabulary slide listing six core database terms: table, row, column, query, schema, index — plus the CRUD verbs." title="Vocabulary slide listing six core database terms: table, row, column, query, sc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Six Words You Need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3200400" cy="640080"/>
          </a:xfrm>
          <a:prstGeom prst="rect">
            <a:avLst/>
          </a:prstGeom>
          <a:noFill/>
        </p:spPr>
        <p:txBody>
          <a:bodyPr wrap="square" anchor="t">
            <a:spAutoFit/>
          </a:bodyPr>
          <a:lstStyle/>
          <a:p>
            <a:pPr algn="l"/>
            <a:r>
              <a:rPr sz="3200" b="1">
                <a:solidFill>
                  <a:srgbClr val="00FF41"/>
                </a:solidFill>
                <a:latin typeface="Calibri"/>
              </a:rPr>
              <a:t>TABLE</a:t>
            </a:r>
          </a:p>
        </p:txBody>
      </p:sp>
      <p:sp>
        <p:nvSpPr>
          <p:cNvPr id="5" name="TextBox 4"/>
          <p:cNvSpPr txBox="1"/>
          <p:nvPr/>
        </p:nvSpPr>
        <p:spPr>
          <a:xfrm>
            <a:off x="3931920" y="169164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6" name="TextBox 5"/>
          <p:cNvSpPr txBox="1"/>
          <p:nvPr/>
        </p:nvSpPr>
        <p:spPr>
          <a:xfrm>
            <a:off x="4480560" y="1691640"/>
            <a:ext cx="7315200" cy="640080"/>
          </a:xfrm>
          <a:prstGeom prst="rect">
            <a:avLst/>
          </a:prstGeom>
          <a:noFill/>
        </p:spPr>
        <p:txBody>
          <a:bodyPr wrap="square" anchor="t">
            <a:spAutoFit/>
          </a:bodyPr>
          <a:lstStyle/>
          <a:p>
            <a:pPr algn="l"/>
            <a:r>
              <a:rPr sz="2800" b="0">
                <a:solidFill>
                  <a:srgbClr val="FFFFFF"/>
                </a:solidFill>
                <a:latin typeface="Calibri"/>
              </a:rPr>
              <a:t>a spreadsheet tab</a:t>
            </a:r>
          </a:p>
        </p:txBody>
      </p:sp>
      <p:sp>
        <p:nvSpPr>
          <p:cNvPr id="7" name="TextBox 6"/>
          <p:cNvSpPr txBox="1"/>
          <p:nvPr/>
        </p:nvSpPr>
        <p:spPr>
          <a:xfrm>
            <a:off x="731520" y="2404872"/>
            <a:ext cx="3200400" cy="640080"/>
          </a:xfrm>
          <a:prstGeom prst="rect">
            <a:avLst/>
          </a:prstGeom>
          <a:noFill/>
        </p:spPr>
        <p:txBody>
          <a:bodyPr wrap="square" anchor="t">
            <a:spAutoFit/>
          </a:bodyPr>
          <a:lstStyle/>
          <a:p>
            <a:pPr algn="l"/>
            <a:r>
              <a:rPr sz="3200" b="1">
                <a:solidFill>
                  <a:srgbClr val="00FF41"/>
                </a:solidFill>
                <a:latin typeface="Calibri"/>
              </a:rPr>
              <a:t>ROW</a:t>
            </a:r>
          </a:p>
        </p:txBody>
      </p:sp>
      <p:sp>
        <p:nvSpPr>
          <p:cNvPr id="8" name="TextBox 7"/>
          <p:cNvSpPr txBox="1"/>
          <p:nvPr/>
        </p:nvSpPr>
        <p:spPr>
          <a:xfrm>
            <a:off x="3931920" y="2404872"/>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9" name="TextBox 8"/>
          <p:cNvSpPr txBox="1"/>
          <p:nvPr/>
        </p:nvSpPr>
        <p:spPr>
          <a:xfrm>
            <a:off x="4480560" y="2404872"/>
            <a:ext cx="7315200" cy="640080"/>
          </a:xfrm>
          <a:prstGeom prst="rect">
            <a:avLst/>
          </a:prstGeom>
          <a:noFill/>
        </p:spPr>
        <p:txBody>
          <a:bodyPr wrap="square" anchor="t">
            <a:spAutoFit/>
          </a:bodyPr>
          <a:lstStyle/>
          <a:p>
            <a:pPr algn="l"/>
            <a:r>
              <a:rPr sz="2800" b="0">
                <a:solidFill>
                  <a:srgbClr val="FFFFFF"/>
                </a:solidFill>
                <a:latin typeface="Calibri"/>
              </a:rPr>
              <a:t>one record (one customer, one alert)</a:t>
            </a:r>
          </a:p>
        </p:txBody>
      </p:sp>
      <p:sp>
        <p:nvSpPr>
          <p:cNvPr id="10" name="TextBox 9"/>
          <p:cNvSpPr txBox="1"/>
          <p:nvPr/>
        </p:nvSpPr>
        <p:spPr>
          <a:xfrm>
            <a:off x="731520" y="3118104"/>
            <a:ext cx="3200400" cy="640080"/>
          </a:xfrm>
          <a:prstGeom prst="rect">
            <a:avLst/>
          </a:prstGeom>
          <a:noFill/>
        </p:spPr>
        <p:txBody>
          <a:bodyPr wrap="square" anchor="t">
            <a:spAutoFit/>
          </a:bodyPr>
          <a:lstStyle/>
          <a:p>
            <a:pPr algn="l"/>
            <a:r>
              <a:rPr sz="3200" b="1">
                <a:solidFill>
                  <a:srgbClr val="00FF41"/>
                </a:solidFill>
                <a:latin typeface="Calibri"/>
              </a:rPr>
              <a:t>COLUMN</a:t>
            </a:r>
          </a:p>
        </p:txBody>
      </p:sp>
      <p:sp>
        <p:nvSpPr>
          <p:cNvPr id="11" name="TextBox 10"/>
          <p:cNvSpPr txBox="1"/>
          <p:nvPr/>
        </p:nvSpPr>
        <p:spPr>
          <a:xfrm>
            <a:off x="3931920" y="3118104"/>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2" name="TextBox 11"/>
          <p:cNvSpPr txBox="1"/>
          <p:nvPr/>
        </p:nvSpPr>
        <p:spPr>
          <a:xfrm>
            <a:off x="4480560" y="3118104"/>
            <a:ext cx="7315200" cy="640080"/>
          </a:xfrm>
          <a:prstGeom prst="rect">
            <a:avLst/>
          </a:prstGeom>
          <a:noFill/>
        </p:spPr>
        <p:txBody>
          <a:bodyPr wrap="square" anchor="t">
            <a:spAutoFit/>
          </a:bodyPr>
          <a:lstStyle/>
          <a:p>
            <a:pPr algn="l"/>
            <a:r>
              <a:rPr sz="2800" b="0">
                <a:solidFill>
                  <a:srgbClr val="FFFFFF"/>
                </a:solidFill>
                <a:latin typeface="Calibri"/>
              </a:rPr>
              <a:t>one attribute (email, IP, total)</a:t>
            </a:r>
          </a:p>
        </p:txBody>
      </p:sp>
      <p:sp>
        <p:nvSpPr>
          <p:cNvPr id="13" name="TextBox 12"/>
          <p:cNvSpPr txBox="1"/>
          <p:nvPr/>
        </p:nvSpPr>
        <p:spPr>
          <a:xfrm>
            <a:off x="731520" y="3831335"/>
            <a:ext cx="3200400" cy="640080"/>
          </a:xfrm>
          <a:prstGeom prst="rect">
            <a:avLst/>
          </a:prstGeom>
          <a:noFill/>
        </p:spPr>
        <p:txBody>
          <a:bodyPr wrap="square" anchor="t">
            <a:spAutoFit/>
          </a:bodyPr>
          <a:lstStyle/>
          <a:p>
            <a:pPr algn="l"/>
            <a:r>
              <a:rPr sz="3200" b="1">
                <a:solidFill>
                  <a:srgbClr val="00FF41"/>
                </a:solidFill>
                <a:latin typeface="Calibri"/>
              </a:rPr>
              <a:t>QUERY</a:t>
            </a:r>
          </a:p>
        </p:txBody>
      </p:sp>
      <p:sp>
        <p:nvSpPr>
          <p:cNvPr id="14" name="TextBox 13"/>
          <p:cNvSpPr txBox="1"/>
          <p:nvPr/>
        </p:nvSpPr>
        <p:spPr>
          <a:xfrm>
            <a:off x="3931920" y="3831335"/>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5" name="TextBox 14"/>
          <p:cNvSpPr txBox="1"/>
          <p:nvPr/>
        </p:nvSpPr>
        <p:spPr>
          <a:xfrm>
            <a:off x="4480560" y="3831335"/>
            <a:ext cx="7315200" cy="640080"/>
          </a:xfrm>
          <a:prstGeom prst="rect">
            <a:avLst/>
          </a:prstGeom>
          <a:noFill/>
        </p:spPr>
        <p:txBody>
          <a:bodyPr wrap="square" anchor="t">
            <a:spAutoFit/>
          </a:bodyPr>
          <a:lstStyle/>
          <a:p>
            <a:pPr algn="l"/>
            <a:r>
              <a:rPr sz="2800" b="0">
                <a:solidFill>
                  <a:srgbClr val="FFFFFF"/>
                </a:solidFill>
                <a:latin typeface="Calibri"/>
              </a:rPr>
              <a:t>the question you're asking</a:t>
            </a:r>
          </a:p>
        </p:txBody>
      </p:sp>
      <p:sp>
        <p:nvSpPr>
          <p:cNvPr id="16" name="TextBox 15"/>
          <p:cNvSpPr txBox="1"/>
          <p:nvPr/>
        </p:nvSpPr>
        <p:spPr>
          <a:xfrm>
            <a:off x="731520" y="4544568"/>
            <a:ext cx="3200400" cy="640080"/>
          </a:xfrm>
          <a:prstGeom prst="rect">
            <a:avLst/>
          </a:prstGeom>
          <a:noFill/>
        </p:spPr>
        <p:txBody>
          <a:bodyPr wrap="square" anchor="t">
            <a:spAutoFit/>
          </a:bodyPr>
          <a:lstStyle/>
          <a:p>
            <a:pPr algn="l"/>
            <a:r>
              <a:rPr sz="3200" b="1">
                <a:solidFill>
                  <a:srgbClr val="00FF41"/>
                </a:solidFill>
                <a:latin typeface="Calibri"/>
              </a:rPr>
              <a:t>SCHEMA</a:t>
            </a:r>
          </a:p>
        </p:txBody>
      </p:sp>
      <p:sp>
        <p:nvSpPr>
          <p:cNvPr id="17" name="TextBox 16"/>
          <p:cNvSpPr txBox="1"/>
          <p:nvPr/>
        </p:nvSpPr>
        <p:spPr>
          <a:xfrm>
            <a:off x="3931920" y="4544568"/>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8" name="TextBox 17"/>
          <p:cNvSpPr txBox="1"/>
          <p:nvPr/>
        </p:nvSpPr>
        <p:spPr>
          <a:xfrm>
            <a:off x="4480560" y="4544568"/>
            <a:ext cx="7315200" cy="640080"/>
          </a:xfrm>
          <a:prstGeom prst="rect">
            <a:avLst/>
          </a:prstGeom>
          <a:noFill/>
        </p:spPr>
        <p:txBody>
          <a:bodyPr wrap="square" anchor="t">
            <a:spAutoFit/>
          </a:bodyPr>
          <a:lstStyle/>
          <a:p>
            <a:pPr algn="l"/>
            <a:r>
              <a:rPr sz="2800" b="0">
                <a:solidFill>
                  <a:srgbClr val="FFFFFF"/>
                </a:solidFill>
                <a:latin typeface="Calibri"/>
              </a:rPr>
              <a:t>the shape of the data</a:t>
            </a:r>
          </a:p>
        </p:txBody>
      </p:sp>
      <p:sp>
        <p:nvSpPr>
          <p:cNvPr id="19" name="TextBox 18"/>
          <p:cNvSpPr txBox="1"/>
          <p:nvPr/>
        </p:nvSpPr>
        <p:spPr>
          <a:xfrm>
            <a:off x="731520" y="5257800"/>
            <a:ext cx="3200400" cy="640080"/>
          </a:xfrm>
          <a:prstGeom prst="rect">
            <a:avLst/>
          </a:prstGeom>
          <a:noFill/>
        </p:spPr>
        <p:txBody>
          <a:bodyPr wrap="square" anchor="t">
            <a:spAutoFit/>
          </a:bodyPr>
          <a:lstStyle/>
          <a:p>
            <a:pPr algn="l"/>
            <a:r>
              <a:rPr sz="3200" b="1">
                <a:solidFill>
                  <a:srgbClr val="00FF41"/>
                </a:solidFill>
                <a:latin typeface="Calibri"/>
              </a:rPr>
              <a:t>INDEX</a:t>
            </a:r>
          </a:p>
        </p:txBody>
      </p:sp>
      <p:sp>
        <p:nvSpPr>
          <p:cNvPr id="20" name="TextBox 19"/>
          <p:cNvSpPr txBox="1"/>
          <p:nvPr/>
        </p:nvSpPr>
        <p:spPr>
          <a:xfrm>
            <a:off x="3931920" y="525780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21" name="TextBox 20"/>
          <p:cNvSpPr txBox="1"/>
          <p:nvPr/>
        </p:nvSpPr>
        <p:spPr>
          <a:xfrm>
            <a:off x="4480560" y="5257800"/>
            <a:ext cx="7315200" cy="640080"/>
          </a:xfrm>
          <a:prstGeom prst="rect">
            <a:avLst/>
          </a:prstGeom>
          <a:noFill/>
        </p:spPr>
        <p:txBody>
          <a:bodyPr wrap="square" anchor="t">
            <a:spAutoFit/>
          </a:bodyPr>
          <a:lstStyle/>
          <a:p>
            <a:pPr algn="l"/>
            <a:r>
              <a:rPr sz="2800" b="0">
                <a:solidFill>
                  <a:srgbClr val="FFFFFF"/>
                </a:solidFill>
                <a:latin typeface="Calibri"/>
              </a:rPr>
              <a:t>the bookmark that makes lookups fast</a:t>
            </a:r>
          </a:p>
        </p:txBody>
      </p:sp>
      <p:sp>
        <p:nvSpPr>
          <p:cNvPr id="22" name="TextBox 21"/>
          <p:cNvSpPr txBox="1"/>
          <p:nvPr/>
        </p:nvSpPr>
        <p:spPr>
          <a:xfrm>
            <a:off x="457200" y="5989320"/>
            <a:ext cx="11247120" cy="457200"/>
          </a:xfrm>
          <a:prstGeom prst="rect">
            <a:avLst/>
          </a:prstGeom>
          <a:noFill/>
        </p:spPr>
        <p:txBody>
          <a:bodyPr wrap="square" anchor="t">
            <a:spAutoFit/>
          </a:bodyPr>
          <a:lstStyle/>
          <a:p>
            <a:pPr algn="ctr"/>
            <a:r>
              <a:rPr sz="2600" b="1">
                <a:solidFill>
                  <a:srgbClr val="FF6B35"/>
                </a:solidFill>
                <a:latin typeface="Calibri"/>
              </a:rPr>
              <a:t>+  CRUD  =  Create  •  Read  •  Update  •  Delete</a:t>
            </a:r>
          </a:p>
        </p:txBody>
      </p:sp>
      <p:sp>
        <p:nvSpPr>
          <p:cNvPr id="23" name="TextBox 2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24" name="TextBox 2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5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meline of database eras from 1960s flat files to 2020s vector databases, each annotated with its security implication." title="Timeline of database eras from 1960s flat files to 2020s vector databases, each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History Tour — Fossils You'll See in Prod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00200"/>
            <a:ext cx="1828800" cy="457200"/>
          </a:xfrm>
          <a:prstGeom prst="rect">
            <a:avLst/>
          </a:prstGeom>
          <a:noFill/>
        </p:spPr>
        <p:txBody>
          <a:bodyPr wrap="square" anchor="t">
            <a:spAutoFit/>
          </a:bodyPr>
          <a:lstStyle/>
          <a:p>
            <a:pPr algn="l"/>
            <a:r>
              <a:rPr sz="2200" b="1">
                <a:solidFill>
                  <a:srgbClr val="00D4FF"/>
                </a:solidFill>
                <a:latin typeface="Calibri"/>
              </a:rPr>
              <a:t>1960s</a:t>
            </a:r>
          </a:p>
        </p:txBody>
      </p:sp>
      <p:sp>
        <p:nvSpPr>
          <p:cNvPr id="5" name="TextBox 4"/>
          <p:cNvSpPr txBox="1"/>
          <p:nvPr/>
        </p:nvSpPr>
        <p:spPr>
          <a:xfrm>
            <a:off x="2286000" y="1600200"/>
            <a:ext cx="3657600" cy="457200"/>
          </a:xfrm>
          <a:prstGeom prst="rect">
            <a:avLst/>
          </a:prstGeom>
          <a:noFill/>
        </p:spPr>
        <p:txBody>
          <a:bodyPr wrap="square" anchor="t">
            <a:spAutoFit/>
          </a:bodyPr>
          <a:lstStyle/>
          <a:p>
            <a:pPr algn="l"/>
            <a:r>
              <a:rPr sz="2200" b="1">
                <a:solidFill>
                  <a:srgbClr val="FFFFFF"/>
                </a:solidFill>
                <a:latin typeface="Calibri"/>
              </a:rPr>
              <a:t>Flat files</a:t>
            </a:r>
          </a:p>
        </p:txBody>
      </p:sp>
      <p:sp>
        <p:nvSpPr>
          <p:cNvPr id="6" name="TextBox 5"/>
          <p:cNvSpPr txBox="1"/>
          <p:nvPr/>
        </p:nvSpPr>
        <p:spPr>
          <a:xfrm>
            <a:off x="5943600" y="160020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7" name="TextBox 6"/>
          <p:cNvSpPr txBox="1"/>
          <p:nvPr/>
        </p:nvSpPr>
        <p:spPr>
          <a:xfrm>
            <a:off x="6309360" y="1600200"/>
            <a:ext cx="5760720" cy="457200"/>
          </a:xfrm>
          <a:prstGeom prst="rect">
            <a:avLst/>
          </a:prstGeom>
          <a:noFill/>
        </p:spPr>
        <p:txBody>
          <a:bodyPr wrap="square" anchor="t">
            <a:spAutoFit/>
          </a:bodyPr>
          <a:lstStyle/>
          <a:p>
            <a:pPr algn="l"/>
            <a:r>
              <a:rPr sz="2000" b="0">
                <a:solidFill>
                  <a:srgbClr val="CCCCD6"/>
                </a:solidFill>
                <a:latin typeface="Calibri"/>
              </a:rPr>
              <a:t>filesystem perms = only access control</a:t>
            </a:r>
          </a:p>
        </p:txBody>
      </p:sp>
      <p:sp>
        <p:nvSpPr>
          <p:cNvPr id="8" name="TextBox 7"/>
          <p:cNvSpPr txBox="1"/>
          <p:nvPr/>
        </p:nvSpPr>
        <p:spPr>
          <a:xfrm>
            <a:off x="457200" y="2112264"/>
            <a:ext cx="1828800" cy="457200"/>
          </a:xfrm>
          <a:prstGeom prst="rect">
            <a:avLst/>
          </a:prstGeom>
          <a:noFill/>
        </p:spPr>
        <p:txBody>
          <a:bodyPr wrap="square" anchor="t">
            <a:spAutoFit/>
          </a:bodyPr>
          <a:lstStyle/>
          <a:p>
            <a:pPr algn="l"/>
            <a:r>
              <a:rPr sz="2200" b="1">
                <a:solidFill>
                  <a:srgbClr val="00D4FF"/>
                </a:solidFill>
                <a:latin typeface="Calibri"/>
              </a:rPr>
              <a:t>Late 1960s</a:t>
            </a:r>
          </a:p>
        </p:txBody>
      </p:sp>
      <p:sp>
        <p:nvSpPr>
          <p:cNvPr id="9" name="TextBox 8"/>
          <p:cNvSpPr txBox="1"/>
          <p:nvPr/>
        </p:nvSpPr>
        <p:spPr>
          <a:xfrm>
            <a:off x="2286000" y="2112264"/>
            <a:ext cx="3657600" cy="457200"/>
          </a:xfrm>
          <a:prstGeom prst="rect">
            <a:avLst/>
          </a:prstGeom>
          <a:noFill/>
        </p:spPr>
        <p:txBody>
          <a:bodyPr wrap="square" anchor="t">
            <a:spAutoFit/>
          </a:bodyPr>
          <a:lstStyle/>
          <a:p>
            <a:pPr algn="l"/>
            <a:r>
              <a:rPr sz="2200" b="1">
                <a:solidFill>
                  <a:srgbClr val="FFFFFF"/>
                </a:solidFill>
                <a:latin typeface="Calibri"/>
              </a:rPr>
              <a:t>Hierarchical (IMS)</a:t>
            </a:r>
          </a:p>
        </p:txBody>
      </p:sp>
      <p:sp>
        <p:nvSpPr>
          <p:cNvPr id="10" name="TextBox 9"/>
          <p:cNvSpPr txBox="1"/>
          <p:nvPr/>
        </p:nvSpPr>
        <p:spPr>
          <a:xfrm>
            <a:off x="5943600" y="211226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1" name="TextBox 10"/>
          <p:cNvSpPr txBox="1"/>
          <p:nvPr/>
        </p:nvSpPr>
        <p:spPr>
          <a:xfrm>
            <a:off x="6309360" y="2112264"/>
            <a:ext cx="5760720" cy="457200"/>
          </a:xfrm>
          <a:prstGeom prst="rect">
            <a:avLst/>
          </a:prstGeom>
          <a:noFill/>
        </p:spPr>
        <p:txBody>
          <a:bodyPr wrap="square" anchor="t">
            <a:spAutoFit/>
          </a:bodyPr>
          <a:lstStyle/>
          <a:p>
            <a:pPr algn="l"/>
            <a:r>
              <a:rPr sz="2000" b="0">
                <a:solidFill>
                  <a:srgbClr val="CCCCD6"/>
                </a:solidFill>
                <a:latin typeface="Calibri"/>
              </a:rPr>
              <a:t>mainframe-era, physical threat model</a:t>
            </a:r>
          </a:p>
        </p:txBody>
      </p:sp>
      <p:sp>
        <p:nvSpPr>
          <p:cNvPr id="12" name="TextBox 11"/>
          <p:cNvSpPr txBox="1"/>
          <p:nvPr/>
        </p:nvSpPr>
        <p:spPr>
          <a:xfrm>
            <a:off x="457200" y="2624328"/>
            <a:ext cx="1828800" cy="457200"/>
          </a:xfrm>
          <a:prstGeom prst="rect">
            <a:avLst/>
          </a:prstGeom>
          <a:noFill/>
        </p:spPr>
        <p:txBody>
          <a:bodyPr wrap="square" anchor="t">
            <a:spAutoFit/>
          </a:bodyPr>
          <a:lstStyle/>
          <a:p>
            <a:pPr algn="l"/>
            <a:r>
              <a:rPr sz="2200" b="1">
                <a:solidFill>
                  <a:srgbClr val="00D4FF"/>
                </a:solidFill>
                <a:latin typeface="Calibri"/>
              </a:rPr>
              <a:t>1970s</a:t>
            </a:r>
          </a:p>
        </p:txBody>
      </p:sp>
      <p:sp>
        <p:nvSpPr>
          <p:cNvPr id="13" name="TextBox 12"/>
          <p:cNvSpPr txBox="1"/>
          <p:nvPr/>
        </p:nvSpPr>
        <p:spPr>
          <a:xfrm>
            <a:off x="2286000" y="2624328"/>
            <a:ext cx="3657600" cy="457200"/>
          </a:xfrm>
          <a:prstGeom prst="rect">
            <a:avLst/>
          </a:prstGeom>
          <a:noFill/>
        </p:spPr>
        <p:txBody>
          <a:bodyPr wrap="square" anchor="t">
            <a:spAutoFit/>
          </a:bodyPr>
          <a:lstStyle/>
          <a:p>
            <a:pPr algn="l"/>
            <a:r>
              <a:rPr sz="2200" b="1">
                <a:solidFill>
                  <a:srgbClr val="FFFFFF"/>
                </a:solidFill>
                <a:latin typeface="Calibri"/>
              </a:rPr>
              <a:t>Network / CODASYL</a:t>
            </a:r>
          </a:p>
        </p:txBody>
      </p:sp>
      <p:sp>
        <p:nvSpPr>
          <p:cNvPr id="14" name="TextBox 13"/>
          <p:cNvSpPr txBox="1"/>
          <p:nvPr/>
        </p:nvSpPr>
        <p:spPr>
          <a:xfrm>
            <a:off x="5943600" y="262432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5" name="TextBox 14"/>
          <p:cNvSpPr txBox="1"/>
          <p:nvPr/>
        </p:nvSpPr>
        <p:spPr>
          <a:xfrm>
            <a:off x="6309360" y="2624328"/>
            <a:ext cx="5760720" cy="457200"/>
          </a:xfrm>
          <a:prstGeom prst="rect">
            <a:avLst/>
          </a:prstGeom>
          <a:noFill/>
        </p:spPr>
        <p:txBody>
          <a:bodyPr wrap="square" anchor="t">
            <a:spAutoFit/>
          </a:bodyPr>
          <a:lstStyle/>
          <a:p>
            <a:pPr algn="l"/>
            <a:r>
              <a:rPr sz="2000" b="0">
                <a:solidFill>
                  <a:srgbClr val="CCCCD6"/>
                </a:solidFill>
                <a:latin typeface="Calibri"/>
              </a:rPr>
              <a:t>still humming in your bank's back office</a:t>
            </a:r>
          </a:p>
        </p:txBody>
      </p:sp>
      <p:sp>
        <p:nvSpPr>
          <p:cNvPr id="16" name="TextBox 15"/>
          <p:cNvSpPr txBox="1"/>
          <p:nvPr/>
        </p:nvSpPr>
        <p:spPr>
          <a:xfrm>
            <a:off x="457200" y="3136392"/>
            <a:ext cx="1828800" cy="457200"/>
          </a:xfrm>
          <a:prstGeom prst="rect">
            <a:avLst/>
          </a:prstGeom>
          <a:noFill/>
        </p:spPr>
        <p:txBody>
          <a:bodyPr wrap="square" anchor="t">
            <a:spAutoFit/>
          </a:bodyPr>
          <a:lstStyle/>
          <a:p>
            <a:pPr algn="l"/>
            <a:r>
              <a:rPr sz="2200" b="1">
                <a:solidFill>
                  <a:srgbClr val="00D4FF"/>
                </a:solidFill>
                <a:latin typeface="Calibri"/>
              </a:rPr>
              <a:t>1970</a:t>
            </a:r>
          </a:p>
        </p:txBody>
      </p:sp>
      <p:sp>
        <p:nvSpPr>
          <p:cNvPr id="17" name="TextBox 16"/>
          <p:cNvSpPr txBox="1"/>
          <p:nvPr/>
        </p:nvSpPr>
        <p:spPr>
          <a:xfrm>
            <a:off x="2286000" y="3136392"/>
            <a:ext cx="3657600" cy="457200"/>
          </a:xfrm>
          <a:prstGeom prst="rect">
            <a:avLst/>
          </a:prstGeom>
          <a:noFill/>
        </p:spPr>
        <p:txBody>
          <a:bodyPr wrap="square" anchor="t">
            <a:spAutoFit/>
          </a:bodyPr>
          <a:lstStyle/>
          <a:p>
            <a:pPr algn="l"/>
            <a:r>
              <a:rPr sz="2200" b="1">
                <a:solidFill>
                  <a:srgbClr val="FFFFFF"/>
                </a:solidFill>
                <a:latin typeface="Calibri"/>
              </a:rPr>
              <a:t>Codd's relational</a:t>
            </a:r>
          </a:p>
        </p:txBody>
      </p:sp>
      <p:sp>
        <p:nvSpPr>
          <p:cNvPr id="18" name="TextBox 17"/>
          <p:cNvSpPr txBox="1"/>
          <p:nvPr/>
        </p:nvSpPr>
        <p:spPr>
          <a:xfrm>
            <a:off x="5943600" y="313639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9" name="TextBox 18"/>
          <p:cNvSpPr txBox="1"/>
          <p:nvPr/>
        </p:nvSpPr>
        <p:spPr>
          <a:xfrm>
            <a:off x="6309360" y="3136392"/>
            <a:ext cx="5760720" cy="457200"/>
          </a:xfrm>
          <a:prstGeom prst="rect">
            <a:avLst/>
          </a:prstGeom>
          <a:noFill/>
        </p:spPr>
        <p:txBody>
          <a:bodyPr wrap="square" anchor="t">
            <a:spAutoFit/>
          </a:bodyPr>
          <a:lstStyle/>
          <a:p>
            <a:pPr algn="l"/>
            <a:r>
              <a:rPr sz="2000" b="0">
                <a:solidFill>
                  <a:srgbClr val="CCCCD6"/>
                </a:solidFill>
                <a:latin typeface="Calibri"/>
              </a:rPr>
              <a:t>GRANT, roles — access control inside DB</a:t>
            </a:r>
          </a:p>
        </p:txBody>
      </p:sp>
      <p:sp>
        <p:nvSpPr>
          <p:cNvPr id="20" name="TextBox 19"/>
          <p:cNvSpPr txBox="1"/>
          <p:nvPr/>
        </p:nvSpPr>
        <p:spPr>
          <a:xfrm>
            <a:off x="457200" y="3648456"/>
            <a:ext cx="1828800" cy="457200"/>
          </a:xfrm>
          <a:prstGeom prst="rect">
            <a:avLst/>
          </a:prstGeom>
          <a:noFill/>
        </p:spPr>
        <p:txBody>
          <a:bodyPr wrap="square" anchor="t">
            <a:spAutoFit/>
          </a:bodyPr>
          <a:lstStyle/>
          <a:p>
            <a:pPr algn="l"/>
            <a:r>
              <a:rPr sz="2200" b="1">
                <a:solidFill>
                  <a:srgbClr val="00D4FF"/>
                </a:solidFill>
                <a:latin typeface="Calibri"/>
              </a:rPr>
              <a:t>1980s</a:t>
            </a:r>
          </a:p>
        </p:txBody>
      </p:sp>
      <p:sp>
        <p:nvSpPr>
          <p:cNvPr id="21" name="TextBox 20"/>
          <p:cNvSpPr txBox="1"/>
          <p:nvPr/>
        </p:nvSpPr>
        <p:spPr>
          <a:xfrm>
            <a:off x="2286000" y="3648456"/>
            <a:ext cx="3657600" cy="457200"/>
          </a:xfrm>
          <a:prstGeom prst="rect">
            <a:avLst/>
          </a:prstGeom>
          <a:noFill/>
        </p:spPr>
        <p:txBody>
          <a:bodyPr wrap="square" anchor="t">
            <a:spAutoFit/>
          </a:bodyPr>
          <a:lstStyle/>
          <a:p>
            <a:pPr algn="l"/>
            <a:r>
              <a:rPr sz="2200" b="1">
                <a:solidFill>
                  <a:srgbClr val="FFFFFF"/>
                </a:solidFill>
                <a:latin typeface="Calibri"/>
              </a:rPr>
              <a:t>Oracle, DB2, SQL Svr</a:t>
            </a:r>
          </a:p>
        </p:txBody>
      </p:sp>
      <p:sp>
        <p:nvSpPr>
          <p:cNvPr id="22" name="TextBox 21"/>
          <p:cNvSpPr txBox="1"/>
          <p:nvPr/>
        </p:nvSpPr>
        <p:spPr>
          <a:xfrm>
            <a:off x="5943600" y="3648456"/>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3" name="TextBox 22"/>
          <p:cNvSpPr txBox="1"/>
          <p:nvPr/>
        </p:nvSpPr>
        <p:spPr>
          <a:xfrm>
            <a:off x="6309360" y="3648456"/>
            <a:ext cx="5760720" cy="457200"/>
          </a:xfrm>
          <a:prstGeom prst="rect">
            <a:avLst/>
          </a:prstGeom>
          <a:noFill/>
        </p:spPr>
        <p:txBody>
          <a:bodyPr wrap="square" anchor="t">
            <a:spAutoFit/>
          </a:bodyPr>
          <a:lstStyle/>
          <a:p>
            <a:pPr algn="l"/>
            <a:r>
              <a:rPr sz="2000" b="0">
                <a:solidFill>
                  <a:srgbClr val="CCCCD6"/>
                </a:solidFill>
                <a:latin typeface="Calibri"/>
              </a:rPr>
              <a:t>databases get networked → authN problem</a:t>
            </a:r>
          </a:p>
        </p:txBody>
      </p:sp>
      <p:sp>
        <p:nvSpPr>
          <p:cNvPr id="24" name="TextBox 23"/>
          <p:cNvSpPr txBox="1"/>
          <p:nvPr/>
        </p:nvSpPr>
        <p:spPr>
          <a:xfrm>
            <a:off x="457200" y="4160520"/>
            <a:ext cx="1828800" cy="457200"/>
          </a:xfrm>
          <a:prstGeom prst="rect">
            <a:avLst/>
          </a:prstGeom>
          <a:noFill/>
        </p:spPr>
        <p:txBody>
          <a:bodyPr wrap="square" anchor="t">
            <a:spAutoFit/>
          </a:bodyPr>
          <a:lstStyle/>
          <a:p>
            <a:pPr algn="l"/>
            <a:r>
              <a:rPr sz="2200" b="1">
                <a:solidFill>
                  <a:srgbClr val="00D4FF"/>
                </a:solidFill>
                <a:latin typeface="Calibri"/>
              </a:rPr>
              <a:t>1990s</a:t>
            </a:r>
          </a:p>
        </p:txBody>
      </p:sp>
      <p:sp>
        <p:nvSpPr>
          <p:cNvPr id="25" name="TextBox 24"/>
          <p:cNvSpPr txBox="1"/>
          <p:nvPr/>
        </p:nvSpPr>
        <p:spPr>
          <a:xfrm>
            <a:off x="2286000" y="4160520"/>
            <a:ext cx="3657600" cy="457200"/>
          </a:xfrm>
          <a:prstGeom prst="rect">
            <a:avLst/>
          </a:prstGeom>
          <a:noFill/>
        </p:spPr>
        <p:txBody>
          <a:bodyPr wrap="square" anchor="t">
            <a:spAutoFit/>
          </a:bodyPr>
          <a:lstStyle/>
          <a:p>
            <a:pPr algn="l"/>
            <a:r>
              <a:rPr sz="2200" b="1">
                <a:solidFill>
                  <a:srgbClr val="FFFFFF"/>
                </a:solidFill>
                <a:latin typeface="Calibri"/>
              </a:rPr>
              <a:t>Client-server, OSS</a:t>
            </a:r>
          </a:p>
        </p:txBody>
      </p:sp>
      <p:sp>
        <p:nvSpPr>
          <p:cNvPr id="26" name="TextBox 25"/>
          <p:cNvSpPr txBox="1"/>
          <p:nvPr/>
        </p:nvSpPr>
        <p:spPr>
          <a:xfrm>
            <a:off x="5943600" y="416052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7" name="TextBox 26"/>
          <p:cNvSpPr txBox="1"/>
          <p:nvPr/>
        </p:nvSpPr>
        <p:spPr>
          <a:xfrm>
            <a:off x="6309360" y="4160520"/>
            <a:ext cx="5760720" cy="457200"/>
          </a:xfrm>
          <a:prstGeom prst="rect">
            <a:avLst/>
          </a:prstGeom>
          <a:noFill/>
        </p:spPr>
        <p:txBody>
          <a:bodyPr wrap="square" anchor="t">
            <a:spAutoFit/>
          </a:bodyPr>
          <a:lstStyle/>
          <a:p>
            <a:pPr algn="l"/>
            <a:r>
              <a:rPr sz="2000" b="0">
                <a:solidFill>
                  <a:srgbClr val="CCCCD6"/>
                </a:solidFill>
                <a:latin typeface="Calibri"/>
              </a:rPr>
              <a:t>SQL injection becomes a thing</a:t>
            </a:r>
          </a:p>
        </p:txBody>
      </p:sp>
      <p:sp>
        <p:nvSpPr>
          <p:cNvPr id="28" name="TextBox 27"/>
          <p:cNvSpPr txBox="1"/>
          <p:nvPr/>
        </p:nvSpPr>
        <p:spPr>
          <a:xfrm>
            <a:off x="457200" y="4672584"/>
            <a:ext cx="1828800" cy="457200"/>
          </a:xfrm>
          <a:prstGeom prst="rect">
            <a:avLst/>
          </a:prstGeom>
          <a:noFill/>
        </p:spPr>
        <p:txBody>
          <a:bodyPr wrap="square" anchor="t">
            <a:spAutoFit/>
          </a:bodyPr>
          <a:lstStyle/>
          <a:p>
            <a:pPr algn="l"/>
            <a:r>
              <a:rPr sz="2200" b="1">
                <a:solidFill>
                  <a:srgbClr val="00D4FF"/>
                </a:solidFill>
                <a:latin typeface="Calibri"/>
              </a:rPr>
              <a:t>2000s</a:t>
            </a:r>
          </a:p>
        </p:txBody>
      </p:sp>
      <p:sp>
        <p:nvSpPr>
          <p:cNvPr id="29" name="TextBox 28"/>
          <p:cNvSpPr txBox="1"/>
          <p:nvPr/>
        </p:nvSpPr>
        <p:spPr>
          <a:xfrm>
            <a:off x="2286000" y="4672584"/>
            <a:ext cx="3657600" cy="457200"/>
          </a:xfrm>
          <a:prstGeom prst="rect">
            <a:avLst/>
          </a:prstGeom>
          <a:noFill/>
        </p:spPr>
        <p:txBody>
          <a:bodyPr wrap="square" anchor="t">
            <a:spAutoFit/>
          </a:bodyPr>
          <a:lstStyle/>
          <a:p>
            <a:pPr algn="l"/>
            <a:r>
              <a:rPr sz="2200" b="1">
                <a:solidFill>
                  <a:srgbClr val="FFFFFF"/>
                </a:solidFill>
                <a:latin typeface="Calibri"/>
              </a:rPr>
              <a:t>NoSQL boom</a:t>
            </a:r>
          </a:p>
        </p:txBody>
      </p:sp>
      <p:sp>
        <p:nvSpPr>
          <p:cNvPr id="30" name="TextBox 29"/>
          <p:cNvSpPr txBox="1"/>
          <p:nvPr/>
        </p:nvSpPr>
        <p:spPr>
          <a:xfrm>
            <a:off x="5943600" y="467258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1" name="TextBox 30"/>
          <p:cNvSpPr txBox="1"/>
          <p:nvPr/>
        </p:nvSpPr>
        <p:spPr>
          <a:xfrm>
            <a:off x="6309360" y="4672584"/>
            <a:ext cx="5760720" cy="457200"/>
          </a:xfrm>
          <a:prstGeom prst="rect">
            <a:avLst/>
          </a:prstGeom>
          <a:noFill/>
        </p:spPr>
        <p:txBody>
          <a:bodyPr wrap="square" anchor="t">
            <a:spAutoFit/>
          </a:bodyPr>
          <a:lstStyle/>
          <a:p>
            <a:pPr algn="l"/>
            <a:r>
              <a:rPr sz="2000" b="0">
                <a:solidFill>
                  <a:srgbClr val="CCCCD6"/>
                </a:solidFill>
                <a:latin typeface="Calibri"/>
              </a:rPr>
              <a:t>"discarded the foundation" — incl. security</a:t>
            </a:r>
          </a:p>
        </p:txBody>
      </p:sp>
      <p:sp>
        <p:nvSpPr>
          <p:cNvPr id="32" name="TextBox 31"/>
          <p:cNvSpPr txBox="1"/>
          <p:nvPr/>
        </p:nvSpPr>
        <p:spPr>
          <a:xfrm>
            <a:off x="457200" y="5184648"/>
            <a:ext cx="1828800" cy="457200"/>
          </a:xfrm>
          <a:prstGeom prst="rect">
            <a:avLst/>
          </a:prstGeom>
          <a:noFill/>
        </p:spPr>
        <p:txBody>
          <a:bodyPr wrap="square" anchor="t">
            <a:spAutoFit/>
          </a:bodyPr>
          <a:lstStyle/>
          <a:p>
            <a:pPr algn="l"/>
            <a:r>
              <a:rPr sz="2200" b="1">
                <a:solidFill>
                  <a:srgbClr val="00D4FF"/>
                </a:solidFill>
                <a:latin typeface="Calibri"/>
              </a:rPr>
              <a:t>2010s</a:t>
            </a:r>
          </a:p>
        </p:txBody>
      </p:sp>
      <p:sp>
        <p:nvSpPr>
          <p:cNvPr id="33" name="TextBox 32"/>
          <p:cNvSpPr txBox="1"/>
          <p:nvPr/>
        </p:nvSpPr>
        <p:spPr>
          <a:xfrm>
            <a:off x="2286000" y="5184648"/>
            <a:ext cx="3657600" cy="457200"/>
          </a:xfrm>
          <a:prstGeom prst="rect">
            <a:avLst/>
          </a:prstGeom>
          <a:noFill/>
        </p:spPr>
        <p:txBody>
          <a:bodyPr wrap="square" anchor="t">
            <a:spAutoFit/>
          </a:bodyPr>
          <a:lstStyle/>
          <a:p>
            <a:pPr algn="l"/>
            <a:r>
              <a:rPr sz="2200" b="1">
                <a:solidFill>
                  <a:srgbClr val="FFFFFF"/>
                </a:solidFill>
                <a:latin typeface="Calibri"/>
              </a:rPr>
              <a:t>Cloud / NewSQL</a:t>
            </a:r>
          </a:p>
        </p:txBody>
      </p:sp>
      <p:sp>
        <p:nvSpPr>
          <p:cNvPr id="34" name="TextBox 33"/>
          <p:cNvSpPr txBox="1"/>
          <p:nvPr/>
        </p:nvSpPr>
        <p:spPr>
          <a:xfrm>
            <a:off x="5943600" y="518464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5" name="TextBox 34"/>
          <p:cNvSpPr txBox="1"/>
          <p:nvPr/>
        </p:nvSpPr>
        <p:spPr>
          <a:xfrm>
            <a:off x="6309360" y="5184648"/>
            <a:ext cx="5760720" cy="457200"/>
          </a:xfrm>
          <a:prstGeom prst="rect">
            <a:avLst/>
          </a:prstGeom>
          <a:noFill/>
        </p:spPr>
        <p:txBody>
          <a:bodyPr wrap="square" anchor="t">
            <a:spAutoFit/>
          </a:bodyPr>
          <a:lstStyle/>
          <a:p>
            <a:pPr algn="l"/>
            <a:r>
              <a:rPr sz="2000" b="0">
                <a:solidFill>
                  <a:srgbClr val="CCCCD6"/>
                </a:solidFill>
                <a:latin typeface="Calibri"/>
              </a:rPr>
              <a:t>shared-responsibility, customer misconfigs</a:t>
            </a:r>
          </a:p>
        </p:txBody>
      </p:sp>
      <p:sp>
        <p:nvSpPr>
          <p:cNvPr id="36" name="TextBox 35"/>
          <p:cNvSpPr txBox="1"/>
          <p:nvPr/>
        </p:nvSpPr>
        <p:spPr>
          <a:xfrm>
            <a:off x="457200" y="5696712"/>
            <a:ext cx="1828800" cy="457200"/>
          </a:xfrm>
          <a:prstGeom prst="rect">
            <a:avLst/>
          </a:prstGeom>
          <a:noFill/>
        </p:spPr>
        <p:txBody>
          <a:bodyPr wrap="square" anchor="t">
            <a:spAutoFit/>
          </a:bodyPr>
          <a:lstStyle/>
          <a:p>
            <a:pPr algn="l"/>
            <a:r>
              <a:rPr sz="2200" b="1">
                <a:solidFill>
                  <a:srgbClr val="00D4FF"/>
                </a:solidFill>
                <a:latin typeface="Calibri"/>
              </a:rPr>
              <a:t>2020s</a:t>
            </a:r>
          </a:p>
        </p:txBody>
      </p:sp>
      <p:sp>
        <p:nvSpPr>
          <p:cNvPr id="37" name="TextBox 36"/>
          <p:cNvSpPr txBox="1"/>
          <p:nvPr/>
        </p:nvSpPr>
        <p:spPr>
          <a:xfrm>
            <a:off x="2286000" y="5696712"/>
            <a:ext cx="3657600" cy="457200"/>
          </a:xfrm>
          <a:prstGeom prst="rect">
            <a:avLst/>
          </a:prstGeom>
          <a:noFill/>
        </p:spPr>
        <p:txBody>
          <a:bodyPr wrap="square" anchor="t">
            <a:spAutoFit/>
          </a:bodyPr>
          <a:lstStyle/>
          <a:p>
            <a:pPr algn="l"/>
            <a:r>
              <a:rPr sz="2200" b="1">
                <a:solidFill>
                  <a:srgbClr val="FFFFFF"/>
                </a:solidFill>
                <a:latin typeface="Calibri"/>
              </a:rPr>
              <a:t>Vector / serverless</a:t>
            </a:r>
          </a:p>
        </p:txBody>
      </p:sp>
      <p:sp>
        <p:nvSpPr>
          <p:cNvPr id="38" name="TextBox 37"/>
          <p:cNvSpPr txBox="1"/>
          <p:nvPr/>
        </p:nvSpPr>
        <p:spPr>
          <a:xfrm>
            <a:off x="5943600" y="569671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9" name="TextBox 38"/>
          <p:cNvSpPr txBox="1"/>
          <p:nvPr/>
        </p:nvSpPr>
        <p:spPr>
          <a:xfrm>
            <a:off x="6309360" y="5696712"/>
            <a:ext cx="5760720" cy="457200"/>
          </a:xfrm>
          <a:prstGeom prst="rect">
            <a:avLst/>
          </a:prstGeom>
          <a:noFill/>
        </p:spPr>
        <p:txBody>
          <a:bodyPr wrap="square" anchor="t">
            <a:spAutoFit/>
          </a:bodyPr>
          <a:lstStyle/>
          <a:p>
            <a:pPr algn="l"/>
            <a:r>
              <a:rPr sz="2000" b="0">
                <a:solidFill>
                  <a:srgbClr val="CCCCD6"/>
                </a:solidFill>
                <a:latin typeface="Calibri"/>
              </a:rPr>
              <a:t>data poisoning, prompt injection</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6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Grid of the ten database families with example products: relational, document, key-value, column-family, graph, search, time-series, vector, embedded, and data lake." title="Grid of the ten database families with example products: relational, document, k"/>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Ten Families of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1097280" cy="457200"/>
          </a:xfrm>
          <a:prstGeom prst="rect">
            <a:avLst/>
          </a:prstGeom>
          <a:noFill/>
        </p:spPr>
        <p:txBody>
          <a:bodyPr wrap="square" anchor="t">
            <a:spAutoFit/>
          </a:bodyPr>
          <a:lstStyle/>
          <a:p>
            <a:pPr algn="l"/>
            <a:r>
              <a:rPr sz="2200" b="1">
                <a:solidFill>
                  <a:srgbClr val="00FF41"/>
                </a:solidFill>
                <a:latin typeface="Calibri"/>
              </a:rPr>
              <a:t>◆ 1.</a:t>
            </a:r>
          </a:p>
        </p:txBody>
      </p:sp>
      <p:sp>
        <p:nvSpPr>
          <p:cNvPr id="6" name="TextBox 5"/>
          <p:cNvSpPr txBox="1"/>
          <p:nvPr/>
        </p:nvSpPr>
        <p:spPr>
          <a:xfrm>
            <a:off x="1737360" y="1783080"/>
            <a:ext cx="4297679" cy="457200"/>
          </a:xfrm>
          <a:prstGeom prst="rect">
            <a:avLst/>
          </a:prstGeom>
          <a:noFill/>
        </p:spPr>
        <p:txBody>
          <a:bodyPr wrap="square" anchor="t">
            <a:spAutoFit/>
          </a:bodyPr>
          <a:lstStyle/>
          <a:p>
            <a:pPr algn="l"/>
            <a:r>
              <a:rPr sz="2200" b="1">
                <a:solidFill>
                  <a:srgbClr val="FFFFFF"/>
                </a:solidFill>
                <a:latin typeface="Calibri"/>
              </a:rPr>
              <a:t>Relational</a:t>
            </a:r>
          </a:p>
        </p:txBody>
      </p:sp>
      <p:sp>
        <p:nvSpPr>
          <p:cNvPr id="7" name="TextBox 6"/>
          <p:cNvSpPr txBox="1"/>
          <p:nvPr/>
        </p:nvSpPr>
        <p:spPr>
          <a:xfrm>
            <a:off x="1737360" y="2148840"/>
            <a:ext cx="4297679" cy="457200"/>
          </a:xfrm>
          <a:prstGeom prst="rect">
            <a:avLst/>
          </a:prstGeom>
          <a:noFill/>
        </p:spPr>
        <p:txBody>
          <a:bodyPr wrap="square" anchor="t">
            <a:spAutoFit/>
          </a:bodyPr>
          <a:lstStyle/>
          <a:p>
            <a:pPr algn="l"/>
            <a:r>
              <a:rPr sz="1800" b="0">
                <a:solidFill>
                  <a:srgbClr val="CCCCD6"/>
                </a:solidFill>
                <a:latin typeface="Calibri"/>
              </a:rPr>
              <a:t>SQL  •  PostgreSQL, MySQL</a:t>
            </a:r>
          </a:p>
        </p:txBody>
      </p:sp>
      <p:sp>
        <p:nvSpPr>
          <p:cNvPr id="8" name="Rounded Rectangle 7"/>
          <p:cNvSpPr/>
          <p:nvPr/>
        </p:nvSpPr>
        <p:spPr>
          <a:xfrm>
            <a:off x="6217919"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79" y="1783080"/>
            <a:ext cx="1097280" cy="457200"/>
          </a:xfrm>
          <a:prstGeom prst="rect">
            <a:avLst/>
          </a:prstGeom>
          <a:noFill/>
        </p:spPr>
        <p:txBody>
          <a:bodyPr wrap="square" anchor="t">
            <a:spAutoFit/>
          </a:bodyPr>
          <a:lstStyle/>
          <a:p>
            <a:pPr algn="l"/>
            <a:r>
              <a:rPr sz="2200" b="1">
                <a:solidFill>
                  <a:srgbClr val="00FF41"/>
                </a:solidFill>
                <a:latin typeface="Calibri"/>
              </a:rPr>
              <a:t>◆ 2.</a:t>
            </a:r>
          </a:p>
        </p:txBody>
      </p:sp>
      <p:sp>
        <p:nvSpPr>
          <p:cNvPr id="10" name="TextBox 9"/>
          <p:cNvSpPr txBox="1"/>
          <p:nvPr/>
        </p:nvSpPr>
        <p:spPr>
          <a:xfrm>
            <a:off x="7406640" y="1783080"/>
            <a:ext cx="4297679" cy="457200"/>
          </a:xfrm>
          <a:prstGeom prst="rect">
            <a:avLst/>
          </a:prstGeom>
          <a:noFill/>
        </p:spPr>
        <p:txBody>
          <a:bodyPr wrap="square" anchor="t">
            <a:spAutoFit/>
          </a:bodyPr>
          <a:lstStyle/>
          <a:p>
            <a:pPr algn="l"/>
            <a:r>
              <a:rPr sz="2200" b="1">
                <a:solidFill>
                  <a:srgbClr val="FFFFFF"/>
                </a:solidFill>
                <a:latin typeface="Calibri"/>
              </a:rPr>
              <a:t>Document</a:t>
            </a:r>
          </a:p>
        </p:txBody>
      </p:sp>
      <p:sp>
        <p:nvSpPr>
          <p:cNvPr id="11" name="TextBox 10"/>
          <p:cNvSpPr txBox="1"/>
          <p:nvPr/>
        </p:nvSpPr>
        <p:spPr>
          <a:xfrm>
            <a:off x="7406640" y="2148840"/>
            <a:ext cx="4297679" cy="457200"/>
          </a:xfrm>
          <a:prstGeom prst="rect">
            <a:avLst/>
          </a:prstGeom>
          <a:noFill/>
        </p:spPr>
        <p:txBody>
          <a:bodyPr wrap="square" anchor="t">
            <a:spAutoFit/>
          </a:bodyPr>
          <a:lstStyle/>
          <a:p>
            <a:pPr algn="l"/>
            <a:r>
              <a:rPr sz="1800" b="0">
                <a:solidFill>
                  <a:srgbClr val="CCCCD6"/>
                </a:solidFill>
                <a:latin typeface="Calibri"/>
              </a:rPr>
              <a:t>JSON  •  MongoDB, Firestore</a:t>
            </a:r>
          </a:p>
        </p:txBody>
      </p:sp>
      <p:sp>
        <p:nvSpPr>
          <p:cNvPr id="12" name="Rounded Rectangle 11"/>
          <p:cNvSpPr/>
          <p:nvPr/>
        </p:nvSpPr>
        <p:spPr>
          <a:xfrm>
            <a:off x="548640"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43200"/>
            <a:ext cx="1097280" cy="457200"/>
          </a:xfrm>
          <a:prstGeom prst="rect">
            <a:avLst/>
          </a:prstGeom>
          <a:noFill/>
        </p:spPr>
        <p:txBody>
          <a:bodyPr wrap="square" anchor="t">
            <a:spAutoFit/>
          </a:bodyPr>
          <a:lstStyle/>
          <a:p>
            <a:pPr algn="l"/>
            <a:r>
              <a:rPr sz="2200" b="1">
                <a:solidFill>
                  <a:srgbClr val="00FF41"/>
                </a:solidFill>
                <a:latin typeface="Calibri"/>
              </a:rPr>
              <a:t>◆ 3.</a:t>
            </a:r>
          </a:p>
        </p:txBody>
      </p:sp>
      <p:sp>
        <p:nvSpPr>
          <p:cNvPr id="14" name="TextBox 13"/>
          <p:cNvSpPr txBox="1"/>
          <p:nvPr/>
        </p:nvSpPr>
        <p:spPr>
          <a:xfrm>
            <a:off x="1737360" y="2743200"/>
            <a:ext cx="4297679" cy="457200"/>
          </a:xfrm>
          <a:prstGeom prst="rect">
            <a:avLst/>
          </a:prstGeom>
          <a:noFill/>
        </p:spPr>
        <p:txBody>
          <a:bodyPr wrap="square" anchor="t">
            <a:spAutoFit/>
          </a:bodyPr>
          <a:lstStyle/>
          <a:p>
            <a:pPr algn="l"/>
            <a:r>
              <a:rPr sz="2200" b="1">
                <a:solidFill>
                  <a:srgbClr val="FFFFFF"/>
                </a:solidFill>
                <a:latin typeface="Calibri"/>
              </a:rPr>
              <a:t>Key-Value</a:t>
            </a:r>
          </a:p>
        </p:txBody>
      </p:sp>
      <p:sp>
        <p:nvSpPr>
          <p:cNvPr id="15" name="TextBox 14"/>
          <p:cNvSpPr txBox="1"/>
          <p:nvPr/>
        </p:nvSpPr>
        <p:spPr>
          <a:xfrm>
            <a:off x="1737360" y="3108960"/>
            <a:ext cx="4297679" cy="457200"/>
          </a:xfrm>
          <a:prstGeom prst="rect">
            <a:avLst/>
          </a:prstGeom>
          <a:noFill/>
        </p:spPr>
        <p:txBody>
          <a:bodyPr wrap="square" anchor="t">
            <a:spAutoFit/>
          </a:bodyPr>
          <a:lstStyle/>
          <a:p>
            <a:pPr algn="l"/>
            <a:r>
              <a:rPr sz="1800" b="0">
                <a:solidFill>
                  <a:srgbClr val="CCCCD6"/>
                </a:solidFill>
                <a:latin typeface="Calibri"/>
              </a:rPr>
              <a:t>dictionary  •  Redis, DynamoDB</a:t>
            </a:r>
          </a:p>
        </p:txBody>
      </p:sp>
      <p:sp>
        <p:nvSpPr>
          <p:cNvPr id="16" name="Rounded Rectangle 15"/>
          <p:cNvSpPr/>
          <p:nvPr/>
        </p:nvSpPr>
        <p:spPr>
          <a:xfrm>
            <a:off x="6217919"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2743200"/>
            <a:ext cx="1097280" cy="457200"/>
          </a:xfrm>
          <a:prstGeom prst="rect">
            <a:avLst/>
          </a:prstGeom>
          <a:noFill/>
        </p:spPr>
        <p:txBody>
          <a:bodyPr wrap="square" anchor="t">
            <a:spAutoFit/>
          </a:bodyPr>
          <a:lstStyle/>
          <a:p>
            <a:pPr algn="l"/>
            <a:r>
              <a:rPr sz="2200" b="1">
                <a:solidFill>
                  <a:srgbClr val="00FF41"/>
                </a:solidFill>
                <a:latin typeface="Calibri"/>
              </a:rPr>
              <a:t>◆ 4.</a:t>
            </a:r>
          </a:p>
        </p:txBody>
      </p:sp>
      <p:sp>
        <p:nvSpPr>
          <p:cNvPr id="18" name="TextBox 17"/>
          <p:cNvSpPr txBox="1"/>
          <p:nvPr/>
        </p:nvSpPr>
        <p:spPr>
          <a:xfrm>
            <a:off x="7406640" y="2743200"/>
            <a:ext cx="4297679" cy="457200"/>
          </a:xfrm>
          <a:prstGeom prst="rect">
            <a:avLst/>
          </a:prstGeom>
          <a:noFill/>
        </p:spPr>
        <p:txBody>
          <a:bodyPr wrap="square" anchor="t">
            <a:spAutoFit/>
          </a:bodyPr>
          <a:lstStyle/>
          <a:p>
            <a:pPr algn="l"/>
            <a:r>
              <a:rPr sz="2200" b="1">
                <a:solidFill>
                  <a:srgbClr val="FFFFFF"/>
                </a:solidFill>
                <a:latin typeface="Calibri"/>
              </a:rPr>
              <a:t>Column-Family</a:t>
            </a:r>
          </a:p>
        </p:txBody>
      </p:sp>
      <p:sp>
        <p:nvSpPr>
          <p:cNvPr id="19" name="TextBox 18"/>
          <p:cNvSpPr txBox="1"/>
          <p:nvPr/>
        </p:nvSpPr>
        <p:spPr>
          <a:xfrm>
            <a:off x="7406640" y="3108960"/>
            <a:ext cx="4297679" cy="457200"/>
          </a:xfrm>
          <a:prstGeom prst="rect">
            <a:avLst/>
          </a:prstGeom>
          <a:noFill/>
        </p:spPr>
        <p:txBody>
          <a:bodyPr wrap="square" anchor="t">
            <a:spAutoFit/>
          </a:bodyPr>
          <a:lstStyle/>
          <a:p>
            <a:pPr algn="l"/>
            <a:r>
              <a:rPr sz="1800" b="0">
                <a:solidFill>
                  <a:srgbClr val="CCCCD6"/>
                </a:solidFill>
                <a:latin typeface="Calibri"/>
              </a:rPr>
              <a:t>wide-column  •  Cassandra, HBase</a:t>
            </a:r>
          </a:p>
        </p:txBody>
      </p:sp>
      <p:sp>
        <p:nvSpPr>
          <p:cNvPr id="20" name="Rounded Rectangle 19"/>
          <p:cNvSpPr/>
          <p:nvPr/>
        </p:nvSpPr>
        <p:spPr>
          <a:xfrm>
            <a:off x="548640"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20"/>
            <a:ext cx="1097280" cy="457200"/>
          </a:xfrm>
          <a:prstGeom prst="rect">
            <a:avLst/>
          </a:prstGeom>
          <a:noFill/>
        </p:spPr>
        <p:txBody>
          <a:bodyPr wrap="square" anchor="t">
            <a:spAutoFit/>
          </a:bodyPr>
          <a:lstStyle/>
          <a:p>
            <a:pPr algn="l"/>
            <a:r>
              <a:rPr sz="2200" b="1">
                <a:solidFill>
                  <a:srgbClr val="00FF41"/>
                </a:solidFill>
                <a:latin typeface="Calibri"/>
              </a:rPr>
              <a:t>◆ 5.</a:t>
            </a:r>
          </a:p>
        </p:txBody>
      </p:sp>
      <p:sp>
        <p:nvSpPr>
          <p:cNvPr id="22" name="TextBox 21"/>
          <p:cNvSpPr txBox="1"/>
          <p:nvPr/>
        </p:nvSpPr>
        <p:spPr>
          <a:xfrm>
            <a:off x="1737360" y="3703320"/>
            <a:ext cx="4297679" cy="457200"/>
          </a:xfrm>
          <a:prstGeom prst="rect">
            <a:avLst/>
          </a:prstGeom>
          <a:noFill/>
        </p:spPr>
        <p:txBody>
          <a:bodyPr wrap="square" anchor="t">
            <a:spAutoFit/>
          </a:bodyPr>
          <a:lstStyle/>
          <a:p>
            <a:pPr algn="l"/>
            <a:r>
              <a:rPr sz="2200" b="1">
                <a:solidFill>
                  <a:srgbClr val="FFFFFF"/>
                </a:solidFill>
                <a:latin typeface="Calibri"/>
              </a:rPr>
              <a:t>Graph</a:t>
            </a:r>
          </a:p>
        </p:txBody>
      </p:sp>
      <p:sp>
        <p:nvSpPr>
          <p:cNvPr id="23" name="TextBox 22"/>
          <p:cNvSpPr txBox="1"/>
          <p:nvPr/>
        </p:nvSpPr>
        <p:spPr>
          <a:xfrm>
            <a:off x="1737360" y="4069080"/>
            <a:ext cx="4297679" cy="457200"/>
          </a:xfrm>
          <a:prstGeom prst="rect">
            <a:avLst/>
          </a:prstGeom>
          <a:noFill/>
        </p:spPr>
        <p:txBody>
          <a:bodyPr wrap="square" anchor="t">
            <a:spAutoFit/>
          </a:bodyPr>
          <a:lstStyle/>
          <a:p>
            <a:pPr algn="l"/>
            <a:r>
              <a:rPr sz="1800" b="0">
                <a:solidFill>
                  <a:srgbClr val="CCCCD6"/>
                </a:solidFill>
                <a:latin typeface="Calibri"/>
              </a:rPr>
              <a:t>nodes+edges  •  Neo4j, Neptune</a:t>
            </a:r>
          </a:p>
        </p:txBody>
      </p:sp>
      <p:sp>
        <p:nvSpPr>
          <p:cNvPr id="24" name="Rounded Rectangle 23"/>
          <p:cNvSpPr/>
          <p:nvPr/>
        </p:nvSpPr>
        <p:spPr>
          <a:xfrm>
            <a:off x="6217919"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79" y="3703320"/>
            <a:ext cx="1097280" cy="457200"/>
          </a:xfrm>
          <a:prstGeom prst="rect">
            <a:avLst/>
          </a:prstGeom>
          <a:noFill/>
        </p:spPr>
        <p:txBody>
          <a:bodyPr wrap="square" anchor="t">
            <a:spAutoFit/>
          </a:bodyPr>
          <a:lstStyle/>
          <a:p>
            <a:pPr algn="l"/>
            <a:r>
              <a:rPr sz="2200" b="1">
                <a:solidFill>
                  <a:srgbClr val="00FF41"/>
                </a:solidFill>
                <a:latin typeface="Calibri"/>
              </a:rPr>
              <a:t>◆ 6.</a:t>
            </a:r>
          </a:p>
        </p:txBody>
      </p:sp>
      <p:sp>
        <p:nvSpPr>
          <p:cNvPr id="26" name="TextBox 25"/>
          <p:cNvSpPr txBox="1"/>
          <p:nvPr/>
        </p:nvSpPr>
        <p:spPr>
          <a:xfrm>
            <a:off x="7406640" y="3703320"/>
            <a:ext cx="4297679" cy="457200"/>
          </a:xfrm>
          <a:prstGeom prst="rect">
            <a:avLst/>
          </a:prstGeom>
          <a:noFill/>
        </p:spPr>
        <p:txBody>
          <a:bodyPr wrap="square" anchor="t">
            <a:spAutoFit/>
          </a:bodyPr>
          <a:lstStyle/>
          <a:p>
            <a:pPr algn="l"/>
            <a:r>
              <a:rPr sz="2200" b="1">
                <a:solidFill>
                  <a:srgbClr val="FFFFFF"/>
                </a:solidFill>
                <a:latin typeface="Calibri"/>
              </a:rPr>
              <a:t>Search</a:t>
            </a:r>
          </a:p>
        </p:txBody>
      </p:sp>
      <p:sp>
        <p:nvSpPr>
          <p:cNvPr id="27" name="TextBox 26"/>
          <p:cNvSpPr txBox="1"/>
          <p:nvPr/>
        </p:nvSpPr>
        <p:spPr>
          <a:xfrm>
            <a:off x="7406640" y="4069080"/>
            <a:ext cx="4297679" cy="457200"/>
          </a:xfrm>
          <a:prstGeom prst="rect">
            <a:avLst/>
          </a:prstGeom>
          <a:noFill/>
        </p:spPr>
        <p:txBody>
          <a:bodyPr wrap="square" anchor="t">
            <a:spAutoFit/>
          </a:bodyPr>
          <a:lstStyle/>
          <a:p>
            <a:pPr algn="l"/>
            <a:r>
              <a:rPr sz="1800" b="0">
                <a:solidFill>
                  <a:srgbClr val="CCCCD6"/>
                </a:solidFill>
                <a:latin typeface="Calibri"/>
              </a:rPr>
              <a:t>full-text  •  Elastic, OpenSearch</a:t>
            </a:r>
          </a:p>
        </p:txBody>
      </p:sp>
      <p:sp>
        <p:nvSpPr>
          <p:cNvPr id="28" name="Rounded Rectangle 27"/>
          <p:cNvSpPr/>
          <p:nvPr/>
        </p:nvSpPr>
        <p:spPr>
          <a:xfrm>
            <a:off x="548640"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63440"/>
            <a:ext cx="1097280" cy="457200"/>
          </a:xfrm>
          <a:prstGeom prst="rect">
            <a:avLst/>
          </a:prstGeom>
          <a:noFill/>
        </p:spPr>
        <p:txBody>
          <a:bodyPr wrap="square" anchor="t">
            <a:spAutoFit/>
          </a:bodyPr>
          <a:lstStyle/>
          <a:p>
            <a:pPr algn="l"/>
            <a:r>
              <a:rPr sz="2200" b="1">
                <a:solidFill>
                  <a:srgbClr val="00FF41"/>
                </a:solidFill>
                <a:latin typeface="Calibri"/>
              </a:rPr>
              <a:t>◆ 7.</a:t>
            </a:r>
          </a:p>
        </p:txBody>
      </p:sp>
      <p:sp>
        <p:nvSpPr>
          <p:cNvPr id="30" name="TextBox 29"/>
          <p:cNvSpPr txBox="1"/>
          <p:nvPr/>
        </p:nvSpPr>
        <p:spPr>
          <a:xfrm>
            <a:off x="1737360" y="4663440"/>
            <a:ext cx="4297679" cy="457200"/>
          </a:xfrm>
          <a:prstGeom prst="rect">
            <a:avLst/>
          </a:prstGeom>
          <a:noFill/>
        </p:spPr>
        <p:txBody>
          <a:bodyPr wrap="square" anchor="t">
            <a:spAutoFit/>
          </a:bodyPr>
          <a:lstStyle/>
          <a:p>
            <a:pPr algn="l"/>
            <a:r>
              <a:rPr sz="2200" b="1">
                <a:solidFill>
                  <a:srgbClr val="FFFFFF"/>
                </a:solidFill>
                <a:latin typeface="Calibri"/>
              </a:rPr>
              <a:t>Time-Series</a:t>
            </a:r>
          </a:p>
        </p:txBody>
      </p:sp>
      <p:sp>
        <p:nvSpPr>
          <p:cNvPr id="31" name="TextBox 30"/>
          <p:cNvSpPr txBox="1"/>
          <p:nvPr/>
        </p:nvSpPr>
        <p:spPr>
          <a:xfrm>
            <a:off x="1737360" y="5029200"/>
            <a:ext cx="4297679" cy="457200"/>
          </a:xfrm>
          <a:prstGeom prst="rect">
            <a:avLst/>
          </a:prstGeom>
          <a:noFill/>
        </p:spPr>
        <p:txBody>
          <a:bodyPr wrap="square" anchor="t">
            <a:spAutoFit/>
          </a:bodyPr>
          <a:lstStyle/>
          <a:p>
            <a:pPr algn="l"/>
            <a:r>
              <a:rPr sz="1800" b="0">
                <a:solidFill>
                  <a:srgbClr val="CCCCD6"/>
                </a:solidFill>
                <a:latin typeface="Calibri"/>
              </a:rPr>
              <a:t>metrics  •  Influx, Prometheus</a:t>
            </a:r>
          </a:p>
        </p:txBody>
      </p:sp>
      <p:sp>
        <p:nvSpPr>
          <p:cNvPr id="32" name="Rounded Rectangle 31"/>
          <p:cNvSpPr/>
          <p:nvPr/>
        </p:nvSpPr>
        <p:spPr>
          <a:xfrm>
            <a:off x="6217919"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79" y="4663440"/>
            <a:ext cx="1097280" cy="457200"/>
          </a:xfrm>
          <a:prstGeom prst="rect">
            <a:avLst/>
          </a:prstGeom>
          <a:noFill/>
        </p:spPr>
        <p:txBody>
          <a:bodyPr wrap="square" anchor="t">
            <a:spAutoFit/>
          </a:bodyPr>
          <a:lstStyle/>
          <a:p>
            <a:pPr algn="l"/>
            <a:r>
              <a:rPr sz="2200" b="1">
                <a:solidFill>
                  <a:srgbClr val="00FF41"/>
                </a:solidFill>
                <a:latin typeface="Calibri"/>
              </a:rPr>
              <a:t>◆ 8.</a:t>
            </a:r>
          </a:p>
        </p:txBody>
      </p:sp>
      <p:sp>
        <p:nvSpPr>
          <p:cNvPr id="34" name="TextBox 33"/>
          <p:cNvSpPr txBox="1"/>
          <p:nvPr/>
        </p:nvSpPr>
        <p:spPr>
          <a:xfrm>
            <a:off x="7406640" y="4663440"/>
            <a:ext cx="4297679" cy="457200"/>
          </a:xfrm>
          <a:prstGeom prst="rect">
            <a:avLst/>
          </a:prstGeom>
          <a:noFill/>
        </p:spPr>
        <p:txBody>
          <a:bodyPr wrap="square" anchor="t">
            <a:spAutoFit/>
          </a:bodyPr>
          <a:lstStyle/>
          <a:p>
            <a:pPr algn="l"/>
            <a:r>
              <a:rPr sz="2200" b="1">
                <a:solidFill>
                  <a:srgbClr val="FFFFFF"/>
                </a:solidFill>
                <a:latin typeface="Calibri"/>
              </a:rPr>
              <a:t>Vector</a:t>
            </a:r>
          </a:p>
        </p:txBody>
      </p:sp>
      <p:sp>
        <p:nvSpPr>
          <p:cNvPr id="35" name="TextBox 34"/>
          <p:cNvSpPr txBox="1"/>
          <p:nvPr/>
        </p:nvSpPr>
        <p:spPr>
          <a:xfrm>
            <a:off x="7406640" y="5029200"/>
            <a:ext cx="4297679" cy="457200"/>
          </a:xfrm>
          <a:prstGeom prst="rect">
            <a:avLst/>
          </a:prstGeom>
          <a:noFill/>
        </p:spPr>
        <p:txBody>
          <a:bodyPr wrap="square" anchor="t">
            <a:spAutoFit/>
          </a:bodyPr>
          <a:lstStyle/>
          <a:p>
            <a:pPr algn="l"/>
            <a:r>
              <a:rPr sz="1800" b="0">
                <a:solidFill>
                  <a:srgbClr val="CCCCD6"/>
                </a:solidFill>
                <a:latin typeface="Calibri"/>
              </a:rPr>
              <a:t>embeddings  •  Pinecone, pgvector</a:t>
            </a:r>
          </a:p>
        </p:txBody>
      </p:sp>
      <p:sp>
        <p:nvSpPr>
          <p:cNvPr id="36" name="Rounded Rectangle 35"/>
          <p:cNvSpPr/>
          <p:nvPr/>
        </p:nvSpPr>
        <p:spPr>
          <a:xfrm>
            <a:off x="548640"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623560"/>
            <a:ext cx="1097280" cy="457200"/>
          </a:xfrm>
          <a:prstGeom prst="rect">
            <a:avLst/>
          </a:prstGeom>
          <a:noFill/>
        </p:spPr>
        <p:txBody>
          <a:bodyPr wrap="square" anchor="t">
            <a:spAutoFit/>
          </a:bodyPr>
          <a:lstStyle/>
          <a:p>
            <a:pPr algn="l"/>
            <a:r>
              <a:rPr sz="2200" b="1">
                <a:solidFill>
                  <a:srgbClr val="00FF41"/>
                </a:solidFill>
                <a:latin typeface="Calibri"/>
              </a:rPr>
              <a:t>◆ 9.</a:t>
            </a:r>
          </a:p>
        </p:txBody>
      </p:sp>
      <p:sp>
        <p:nvSpPr>
          <p:cNvPr id="38" name="TextBox 37"/>
          <p:cNvSpPr txBox="1"/>
          <p:nvPr/>
        </p:nvSpPr>
        <p:spPr>
          <a:xfrm>
            <a:off x="1737360" y="5623560"/>
            <a:ext cx="4297679" cy="457200"/>
          </a:xfrm>
          <a:prstGeom prst="rect">
            <a:avLst/>
          </a:prstGeom>
          <a:noFill/>
        </p:spPr>
        <p:txBody>
          <a:bodyPr wrap="square" anchor="t">
            <a:spAutoFit/>
          </a:bodyPr>
          <a:lstStyle/>
          <a:p>
            <a:pPr algn="l"/>
            <a:r>
              <a:rPr sz="2200" b="1">
                <a:solidFill>
                  <a:srgbClr val="FFFFFF"/>
                </a:solidFill>
                <a:latin typeface="Calibri"/>
              </a:rPr>
              <a:t>Embedded/Edge</a:t>
            </a:r>
          </a:p>
        </p:txBody>
      </p:sp>
      <p:sp>
        <p:nvSpPr>
          <p:cNvPr id="39" name="TextBox 38"/>
          <p:cNvSpPr txBox="1"/>
          <p:nvPr/>
        </p:nvSpPr>
        <p:spPr>
          <a:xfrm>
            <a:off x="1737360" y="5989320"/>
            <a:ext cx="4297679" cy="457200"/>
          </a:xfrm>
          <a:prstGeom prst="rect">
            <a:avLst/>
          </a:prstGeom>
          <a:noFill/>
        </p:spPr>
        <p:txBody>
          <a:bodyPr wrap="square" anchor="t">
            <a:spAutoFit/>
          </a:bodyPr>
          <a:lstStyle/>
          <a:p>
            <a:pPr algn="l"/>
            <a:r>
              <a:rPr sz="1800" b="0">
                <a:solidFill>
                  <a:srgbClr val="CCCCD6"/>
                </a:solidFill>
                <a:latin typeface="Calibri"/>
              </a:rPr>
              <a:t>in-app  •  SQLite, DuckDB</a:t>
            </a:r>
          </a:p>
        </p:txBody>
      </p:sp>
      <p:sp>
        <p:nvSpPr>
          <p:cNvPr id="40" name="Rounded Rectangle 39"/>
          <p:cNvSpPr/>
          <p:nvPr/>
        </p:nvSpPr>
        <p:spPr>
          <a:xfrm>
            <a:off x="6217919"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79" y="5623560"/>
            <a:ext cx="1097280" cy="457200"/>
          </a:xfrm>
          <a:prstGeom prst="rect">
            <a:avLst/>
          </a:prstGeom>
          <a:noFill/>
        </p:spPr>
        <p:txBody>
          <a:bodyPr wrap="square" anchor="t">
            <a:spAutoFit/>
          </a:bodyPr>
          <a:lstStyle/>
          <a:p>
            <a:pPr algn="l"/>
            <a:r>
              <a:rPr sz="2200" b="1">
                <a:solidFill>
                  <a:srgbClr val="00FF41"/>
                </a:solidFill>
                <a:latin typeface="Calibri"/>
              </a:rPr>
              <a:t>◆ 10.</a:t>
            </a:r>
          </a:p>
        </p:txBody>
      </p:sp>
      <p:sp>
        <p:nvSpPr>
          <p:cNvPr id="42" name="TextBox 41"/>
          <p:cNvSpPr txBox="1"/>
          <p:nvPr/>
        </p:nvSpPr>
        <p:spPr>
          <a:xfrm>
            <a:off x="7406640" y="5623560"/>
            <a:ext cx="4297679" cy="457200"/>
          </a:xfrm>
          <a:prstGeom prst="rect">
            <a:avLst/>
          </a:prstGeom>
          <a:noFill/>
        </p:spPr>
        <p:txBody>
          <a:bodyPr wrap="square" anchor="t">
            <a:spAutoFit/>
          </a:bodyPr>
          <a:lstStyle/>
          <a:p>
            <a:pPr algn="l"/>
            <a:r>
              <a:rPr sz="2200" b="1">
                <a:solidFill>
                  <a:srgbClr val="FFFFFF"/>
                </a:solidFill>
                <a:latin typeface="Calibri"/>
              </a:rPr>
              <a:t>Data Lake</a:t>
            </a:r>
          </a:p>
        </p:txBody>
      </p:sp>
      <p:sp>
        <p:nvSpPr>
          <p:cNvPr id="43" name="TextBox 42"/>
          <p:cNvSpPr txBox="1"/>
          <p:nvPr/>
        </p:nvSpPr>
        <p:spPr>
          <a:xfrm>
            <a:off x="7406640" y="5989320"/>
            <a:ext cx="4297679" cy="457200"/>
          </a:xfrm>
          <a:prstGeom prst="rect">
            <a:avLst/>
          </a:prstGeom>
          <a:noFill/>
        </p:spPr>
        <p:txBody>
          <a:bodyPr wrap="square" anchor="t">
            <a:spAutoFit/>
          </a:bodyPr>
          <a:lstStyle/>
          <a:p>
            <a:pPr algn="l"/>
            <a:r>
              <a:rPr sz="1800" b="0">
                <a:solidFill>
                  <a:srgbClr val="CCCCD6"/>
                </a:solidFill>
                <a:latin typeface="Calibri"/>
              </a:rPr>
              <a:t>schema-on-read  •  S3+Athena, Iceberg</a:t>
            </a:r>
          </a:p>
        </p:txBody>
      </p:sp>
      <p:sp>
        <p:nvSpPr>
          <p:cNvPr id="44" name="TextBox 4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45" name="TextBox 4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7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Relational / SQL</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PostgreSQL  •  MySQL/MariaDB  •  SQL Server  •  Oracle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Clear relationships, consistency required — finance, regulated data.</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SQL injection when developers concatenate user input into queries.</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8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2</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Document Stores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MongoDB  •  Couchbase  •  Firestore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Naturally nested data; the shape changes over time.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NoSQL injection via query operators ($ne, $gt, $where). Default no-auth.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9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3</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Key-Value Stores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Redis  •  Memcached  •  DynamoDB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Caches, session stores, rate limiters, leaderboards.</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Default no-auth Redis + CONFIG SET → writing SSH keys to disk.</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10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4</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Column-Family</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Apache Cassandra  •  HBase  •  ScyllaDB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Massive scale across many machines; no complex joins needed.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Clusters trust each other on gossip ports — mgmt network = root.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11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5</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Graph Databases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Neo4j  •  Amazon Neptune  •  ArangoDB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Social networks, fraud detection, IAM analysis (e.g. BloodHound).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Query languages like Cypher are injectable too. NoSQLi isn't just Mongo.</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12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6</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Search Engines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Elasticsearch  •  OpenSearch  •  Solr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Log search, SIEM backbones, e-commerce site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 built-in auth historically — billions of records exposed on Shodan.</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13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7</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Time-Series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InfluxDB  •  TimescaleDB  •  Prometheus</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Metrics, observability, IoT telemetry.</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Usually inside the perimeter, often unauthenticated.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14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8</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Vector Databases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Pinecone  •  Milvus  •  Weaviate  •  pgvector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RAG, recommendation engines, semantic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Data poisoning — sneak in a doc, the LLM quotes it as truth.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15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9</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Embedded / Edge</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SQLite  •  DuckDB  •  LevelDB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In-app storage — browsers, phones, every modern airplane.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DB is a file — attack is 'steal the file'. Mobile pentest world.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16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10</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Data Lakes / Lakehouses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S3 + Athena  •  Delta Lake  •  Iceberg  •  Snowflake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Schema-on-read instead of schema-on-write. Dump now, query later.</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Giant S3 pools + permissive IAM, no encryption-at-rest enforcement.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17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hree-column comparison of database services across AWS, GCP, and Azure: relational, document, warehouse, cache, graph, time-series, and object storage." title="Three-column comparison of database services across AWS, GCP, and Azure: relatio"/>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Cloud DB Services — The Lay of the Land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554480"/>
            <a:ext cx="3749039" cy="64008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3749039" cy="548640"/>
          </a:xfrm>
          <a:prstGeom prst="rect">
            <a:avLst/>
          </a:prstGeom>
          <a:noFill/>
        </p:spPr>
        <p:txBody>
          <a:bodyPr wrap="square" anchor="t">
            <a:spAutoFit/>
          </a:bodyPr>
          <a:lstStyle/>
          <a:p>
            <a:pPr algn="ctr"/>
            <a:r>
              <a:rPr sz="3200" b="1">
                <a:solidFill>
                  <a:srgbClr val="1A1A2E"/>
                </a:solidFill>
                <a:latin typeface="Calibri"/>
              </a:rPr>
              <a:t>AWS</a:t>
            </a:r>
          </a:p>
        </p:txBody>
      </p:sp>
      <p:sp>
        <p:nvSpPr>
          <p:cNvPr id="6" name="TextBox 5"/>
          <p:cNvSpPr txBox="1"/>
          <p:nvPr/>
        </p:nvSpPr>
        <p:spPr>
          <a:xfrm>
            <a:off x="548640" y="2331720"/>
            <a:ext cx="3566159" cy="457200"/>
          </a:xfrm>
          <a:prstGeom prst="rect">
            <a:avLst/>
          </a:prstGeom>
          <a:noFill/>
        </p:spPr>
        <p:txBody>
          <a:bodyPr wrap="square" anchor="t">
            <a:spAutoFit/>
          </a:bodyPr>
          <a:lstStyle/>
          <a:p>
            <a:pPr algn="l"/>
            <a:r>
              <a:rPr sz="1800" b="0">
                <a:solidFill>
                  <a:srgbClr val="FFFFFF"/>
                </a:solidFill>
                <a:latin typeface="Calibri"/>
              </a:rPr>
              <a:t>● RDS, Aurora</a:t>
            </a:r>
          </a:p>
        </p:txBody>
      </p:sp>
      <p:sp>
        <p:nvSpPr>
          <p:cNvPr id="7" name="TextBox 6"/>
          <p:cNvSpPr txBox="1"/>
          <p:nvPr/>
        </p:nvSpPr>
        <p:spPr>
          <a:xfrm>
            <a:off x="548640" y="2834639"/>
            <a:ext cx="3566159" cy="457200"/>
          </a:xfrm>
          <a:prstGeom prst="rect">
            <a:avLst/>
          </a:prstGeom>
          <a:noFill/>
        </p:spPr>
        <p:txBody>
          <a:bodyPr wrap="square" anchor="t">
            <a:spAutoFit/>
          </a:bodyPr>
          <a:lstStyle/>
          <a:p>
            <a:pPr algn="l"/>
            <a:r>
              <a:rPr sz="1800" b="0">
                <a:solidFill>
                  <a:srgbClr val="FFFFFF"/>
                </a:solidFill>
                <a:latin typeface="Calibri"/>
              </a:rPr>
              <a:t>● DynamoDB, DocumentDB</a:t>
            </a:r>
          </a:p>
        </p:txBody>
      </p:sp>
      <p:sp>
        <p:nvSpPr>
          <p:cNvPr id="8" name="TextBox 7"/>
          <p:cNvSpPr txBox="1"/>
          <p:nvPr/>
        </p:nvSpPr>
        <p:spPr>
          <a:xfrm>
            <a:off x="548640" y="3337560"/>
            <a:ext cx="3566159" cy="457200"/>
          </a:xfrm>
          <a:prstGeom prst="rect">
            <a:avLst/>
          </a:prstGeom>
          <a:noFill/>
        </p:spPr>
        <p:txBody>
          <a:bodyPr wrap="square" anchor="t">
            <a:spAutoFit/>
          </a:bodyPr>
          <a:lstStyle/>
          <a:p>
            <a:pPr algn="l"/>
            <a:r>
              <a:rPr sz="1800" b="0">
                <a:solidFill>
                  <a:srgbClr val="FFFFFF"/>
                </a:solidFill>
                <a:latin typeface="Calibri"/>
              </a:rPr>
              <a:t>● Redshift, S3 + Athena</a:t>
            </a:r>
          </a:p>
        </p:txBody>
      </p:sp>
      <p:sp>
        <p:nvSpPr>
          <p:cNvPr id="9" name="TextBox 8"/>
          <p:cNvSpPr txBox="1"/>
          <p:nvPr/>
        </p:nvSpPr>
        <p:spPr>
          <a:xfrm>
            <a:off x="548640" y="3840480"/>
            <a:ext cx="3566159" cy="457200"/>
          </a:xfrm>
          <a:prstGeom prst="rect">
            <a:avLst/>
          </a:prstGeom>
          <a:noFill/>
        </p:spPr>
        <p:txBody>
          <a:bodyPr wrap="square" anchor="t">
            <a:spAutoFit/>
          </a:bodyPr>
          <a:lstStyle/>
          <a:p>
            <a:pPr algn="l"/>
            <a:r>
              <a:rPr sz="1800" b="0">
                <a:solidFill>
                  <a:srgbClr val="FFFFFF"/>
                </a:solidFill>
                <a:latin typeface="Calibri"/>
              </a:rPr>
              <a:t>● ElastiCache</a:t>
            </a:r>
          </a:p>
        </p:txBody>
      </p:sp>
      <p:sp>
        <p:nvSpPr>
          <p:cNvPr id="10" name="TextBox 9"/>
          <p:cNvSpPr txBox="1"/>
          <p:nvPr/>
        </p:nvSpPr>
        <p:spPr>
          <a:xfrm>
            <a:off x="548640" y="4343400"/>
            <a:ext cx="3566159" cy="457200"/>
          </a:xfrm>
          <a:prstGeom prst="rect">
            <a:avLst/>
          </a:prstGeom>
          <a:noFill/>
        </p:spPr>
        <p:txBody>
          <a:bodyPr wrap="square" anchor="t">
            <a:spAutoFit/>
          </a:bodyPr>
          <a:lstStyle/>
          <a:p>
            <a:pPr algn="l"/>
            <a:r>
              <a:rPr sz="1800" b="0">
                <a:solidFill>
                  <a:srgbClr val="FFFFFF"/>
                </a:solidFill>
                <a:latin typeface="Calibri"/>
              </a:rPr>
              <a:t>● Neptune (graph)</a:t>
            </a:r>
          </a:p>
        </p:txBody>
      </p:sp>
      <p:sp>
        <p:nvSpPr>
          <p:cNvPr id="11" name="TextBox 10"/>
          <p:cNvSpPr txBox="1"/>
          <p:nvPr/>
        </p:nvSpPr>
        <p:spPr>
          <a:xfrm>
            <a:off x="548640" y="4846320"/>
            <a:ext cx="3566159" cy="457200"/>
          </a:xfrm>
          <a:prstGeom prst="rect">
            <a:avLst/>
          </a:prstGeom>
          <a:noFill/>
        </p:spPr>
        <p:txBody>
          <a:bodyPr wrap="square" anchor="t">
            <a:spAutoFit/>
          </a:bodyPr>
          <a:lstStyle/>
          <a:p>
            <a:pPr algn="l"/>
            <a:r>
              <a:rPr sz="1800" b="0">
                <a:solidFill>
                  <a:srgbClr val="FFFFFF"/>
                </a:solidFill>
                <a:latin typeface="Calibri"/>
              </a:rPr>
              <a:t>● Timestream</a:t>
            </a:r>
          </a:p>
        </p:txBody>
      </p:sp>
      <p:sp>
        <p:nvSpPr>
          <p:cNvPr id="12" name="TextBox 11"/>
          <p:cNvSpPr txBox="1"/>
          <p:nvPr/>
        </p:nvSpPr>
        <p:spPr>
          <a:xfrm>
            <a:off x="548640" y="5349240"/>
            <a:ext cx="3566159" cy="457200"/>
          </a:xfrm>
          <a:prstGeom prst="rect">
            <a:avLst/>
          </a:prstGeom>
          <a:noFill/>
        </p:spPr>
        <p:txBody>
          <a:bodyPr wrap="square" anchor="t">
            <a:spAutoFit/>
          </a:bodyPr>
          <a:lstStyle/>
          <a:p>
            <a:pPr algn="l"/>
            <a:r>
              <a:rPr sz="1800" b="0">
                <a:solidFill>
                  <a:srgbClr val="FFFFFF"/>
                </a:solidFill>
                <a:latin typeface="Calibri"/>
              </a:rPr>
              <a:t>● S3 (object store)</a:t>
            </a:r>
          </a:p>
        </p:txBody>
      </p:sp>
      <p:sp>
        <p:nvSpPr>
          <p:cNvPr id="13" name="Rectangle 12"/>
          <p:cNvSpPr/>
          <p:nvPr/>
        </p:nvSpPr>
        <p:spPr>
          <a:xfrm>
            <a:off x="4297680" y="1554480"/>
            <a:ext cx="3749039" cy="64008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600200"/>
            <a:ext cx="3749039" cy="548640"/>
          </a:xfrm>
          <a:prstGeom prst="rect">
            <a:avLst/>
          </a:prstGeom>
          <a:noFill/>
        </p:spPr>
        <p:txBody>
          <a:bodyPr wrap="square" anchor="t">
            <a:spAutoFit/>
          </a:bodyPr>
          <a:lstStyle/>
          <a:p>
            <a:pPr algn="ctr"/>
            <a:r>
              <a:rPr sz="3200" b="1">
                <a:solidFill>
                  <a:srgbClr val="1A1A2E"/>
                </a:solidFill>
                <a:latin typeface="Calibri"/>
              </a:rPr>
              <a:t>GCP</a:t>
            </a:r>
          </a:p>
        </p:txBody>
      </p:sp>
      <p:sp>
        <p:nvSpPr>
          <p:cNvPr id="15" name="TextBox 14"/>
          <p:cNvSpPr txBox="1"/>
          <p:nvPr/>
        </p:nvSpPr>
        <p:spPr>
          <a:xfrm>
            <a:off x="4389120" y="2331720"/>
            <a:ext cx="3566159" cy="457200"/>
          </a:xfrm>
          <a:prstGeom prst="rect">
            <a:avLst/>
          </a:prstGeom>
          <a:noFill/>
        </p:spPr>
        <p:txBody>
          <a:bodyPr wrap="square" anchor="t">
            <a:spAutoFit/>
          </a:bodyPr>
          <a:lstStyle/>
          <a:p>
            <a:pPr algn="l"/>
            <a:r>
              <a:rPr sz="1800" b="0">
                <a:solidFill>
                  <a:srgbClr val="FFFFFF"/>
                </a:solidFill>
                <a:latin typeface="Calibri"/>
              </a:rPr>
              <a:t>● Cloud SQL, AlloyDB</a:t>
            </a:r>
          </a:p>
        </p:txBody>
      </p:sp>
      <p:sp>
        <p:nvSpPr>
          <p:cNvPr id="16" name="TextBox 15"/>
          <p:cNvSpPr txBox="1"/>
          <p:nvPr/>
        </p:nvSpPr>
        <p:spPr>
          <a:xfrm>
            <a:off x="4389120" y="2834639"/>
            <a:ext cx="3566159" cy="457200"/>
          </a:xfrm>
          <a:prstGeom prst="rect">
            <a:avLst/>
          </a:prstGeom>
          <a:noFill/>
        </p:spPr>
        <p:txBody>
          <a:bodyPr wrap="square" anchor="t">
            <a:spAutoFit/>
          </a:bodyPr>
          <a:lstStyle/>
          <a:p>
            <a:pPr algn="l"/>
            <a:r>
              <a:rPr sz="1800" b="0">
                <a:solidFill>
                  <a:srgbClr val="FFFFFF"/>
                </a:solidFill>
                <a:latin typeface="Calibri"/>
              </a:rPr>
              <a:t>● Firestore, Bigtable</a:t>
            </a:r>
          </a:p>
        </p:txBody>
      </p:sp>
      <p:sp>
        <p:nvSpPr>
          <p:cNvPr id="17" name="TextBox 16"/>
          <p:cNvSpPr txBox="1"/>
          <p:nvPr/>
        </p:nvSpPr>
        <p:spPr>
          <a:xfrm>
            <a:off x="4389120" y="3337560"/>
            <a:ext cx="3566159" cy="457200"/>
          </a:xfrm>
          <a:prstGeom prst="rect">
            <a:avLst/>
          </a:prstGeom>
          <a:noFill/>
        </p:spPr>
        <p:txBody>
          <a:bodyPr wrap="square" anchor="t">
            <a:spAutoFit/>
          </a:bodyPr>
          <a:lstStyle/>
          <a:p>
            <a:pPr algn="l"/>
            <a:r>
              <a:rPr sz="1800" b="0">
                <a:solidFill>
                  <a:srgbClr val="FFFFFF"/>
                </a:solidFill>
                <a:latin typeface="Calibri"/>
              </a:rPr>
              <a:t>● BigQuery</a:t>
            </a:r>
          </a:p>
        </p:txBody>
      </p:sp>
      <p:sp>
        <p:nvSpPr>
          <p:cNvPr id="18" name="TextBox 17"/>
          <p:cNvSpPr txBox="1"/>
          <p:nvPr/>
        </p:nvSpPr>
        <p:spPr>
          <a:xfrm>
            <a:off x="4389120" y="3840480"/>
            <a:ext cx="3566159" cy="457200"/>
          </a:xfrm>
          <a:prstGeom prst="rect">
            <a:avLst/>
          </a:prstGeom>
          <a:noFill/>
        </p:spPr>
        <p:txBody>
          <a:bodyPr wrap="square" anchor="t">
            <a:spAutoFit/>
          </a:bodyPr>
          <a:lstStyle/>
          <a:p>
            <a:pPr algn="l"/>
            <a:r>
              <a:rPr sz="1800" b="0">
                <a:solidFill>
                  <a:srgbClr val="FFFFFF"/>
                </a:solidFill>
                <a:latin typeface="Calibri"/>
              </a:rPr>
              <a:t>● Memorystore</a:t>
            </a:r>
          </a:p>
        </p:txBody>
      </p:sp>
      <p:sp>
        <p:nvSpPr>
          <p:cNvPr id="19" name="TextBox 18"/>
          <p:cNvSpPr txBox="1"/>
          <p:nvPr/>
        </p:nvSpPr>
        <p:spPr>
          <a:xfrm>
            <a:off x="4389120" y="4343400"/>
            <a:ext cx="3566159" cy="457200"/>
          </a:xfrm>
          <a:prstGeom prst="rect">
            <a:avLst/>
          </a:prstGeom>
          <a:noFill/>
        </p:spPr>
        <p:txBody>
          <a:bodyPr wrap="square" anchor="t">
            <a:spAutoFit/>
          </a:bodyPr>
          <a:lstStyle/>
          <a:p>
            <a:pPr algn="l"/>
            <a:r>
              <a:rPr sz="1800" b="0">
                <a:solidFill>
                  <a:srgbClr val="FFFFFF"/>
                </a:solidFill>
                <a:latin typeface="Calibri"/>
              </a:rPr>
              <a:t>● — (coming soon)</a:t>
            </a:r>
          </a:p>
        </p:txBody>
      </p:sp>
      <p:sp>
        <p:nvSpPr>
          <p:cNvPr id="20" name="TextBox 19"/>
          <p:cNvSpPr txBox="1"/>
          <p:nvPr/>
        </p:nvSpPr>
        <p:spPr>
          <a:xfrm>
            <a:off x="438912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21" name="TextBox 20"/>
          <p:cNvSpPr txBox="1"/>
          <p:nvPr/>
        </p:nvSpPr>
        <p:spPr>
          <a:xfrm>
            <a:off x="4389120" y="5349240"/>
            <a:ext cx="3566159" cy="457200"/>
          </a:xfrm>
          <a:prstGeom prst="rect">
            <a:avLst/>
          </a:prstGeom>
          <a:noFill/>
        </p:spPr>
        <p:txBody>
          <a:bodyPr wrap="square" anchor="t">
            <a:spAutoFit/>
          </a:bodyPr>
          <a:lstStyle/>
          <a:p>
            <a:pPr algn="l"/>
            <a:r>
              <a:rPr sz="1800" b="0">
                <a:solidFill>
                  <a:srgbClr val="FFFFFF"/>
                </a:solidFill>
                <a:latin typeface="Calibri"/>
              </a:rPr>
              <a:t>● Cloud Storage</a:t>
            </a:r>
          </a:p>
        </p:txBody>
      </p:sp>
      <p:sp>
        <p:nvSpPr>
          <p:cNvPr id="22" name="Rectangle 21"/>
          <p:cNvSpPr/>
          <p:nvPr/>
        </p:nvSpPr>
        <p:spPr>
          <a:xfrm>
            <a:off x="8138160" y="1554480"/>
            <a:ext cx="3749039" cy="64008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0" y="1600200"/>
            <a:ext cx="3749039" cy="548640"/>
          </a:xfrm>
          <a:prstGeom prst="rect">
            <a:avLst/>
          </a:prstGeom>
          <a:noFill/>
        </p:spPr>
        <p:txBody>
          <a:bodyPr wrap="square" anchor="t">
            <a:spAutoFit/>
          </a:bodyPr>
          <a:lstStyle/>
          <a:p>
            <a:pPr algn="ctr"/>
            <a:r>
              <a:rPr sz="3200" b="1">
                <a:solidFill>
                  <a:srgbClr val="1A1A2E"/>
                </a:solidFill>
                <a:latin typeface="Calibri"/>
              </a:rPr>
              <a:t>Azure</a:t>
            </a:r>
          </a:p>
        </p:txBody>
      </p:sp>
      <p:sp>
        <p:nvSpPr>
          <p:cNvPr id="24" name="TextBox 23"/>
          <p:cNvSpPr txBox="1"/>
          <p:nvPr/>
        </p:nvSpPr>
        <p:spPr>
          <a:xfrm>
            <a:off x="8229600" y="2331720"/>
            <a:ext cx="3566159" cy="457200"/>
          </a:xfrm>
          <a:prstGeom prst="rect">
            <a:avLst/>
          </a:prstGeom>
          <a:noFill/>
        </p:spPr>
        <p:txBody>
          <a:bodyPr wrap="square" anchor="t">
            <a:spAutoFit/>
          </a:bodyPr>
          <a:lstStyle/>
          <a:p>
            <a:pPr algn="l"/>
            <a:r>
              <a:rPr sz="1800" b="0">
                <a:solidFill>
                  <a:srgbClr val="FFFFFF"/>
                </a:solidFill>
                <a:latin typeface="Calibri"/>
              </a:rPr>
              <a:t>● Azure SQL DB</a:t>
            </a:r>
          </a:p>
        </p:txBody>
      </p:sp>
      <p:sp>
        <p:nvSpPr>
          <p:cNvPr id="25" name="TextBox 24"/>
          <p:cNvSpPr txBox="1"/>
          <p:nvPr/>
        </p:nvSpPr>
        <p:spPr>
          <a:xfrm>
            <a:off x="8229600" y="2834639"/>
            <a:ext cx="3566159" cy="457200"/>
          </a:xfrm>
          <a:prstGeom prst="rect">
            <a:avLst/>
          </a:prstGeom>
          <a:noFill/>
        </p:spPr>
        <p:txBody>
          <a:bodyPr wrap="square" anchor="t">
            <a:spAutoFit/>
          </a:bodyPr>
          <a:lstStyle/>
          <a:p>
            <a:pPr algn="l"/>
            <a:r>
              <a:rPr sz="1800" b="0">
                <a:solidFill>
                  <a:srgbClr val="FFFFFF"/>
                </a:solidFill>
                <a:latin typeface="Calibri"/>
              </a:rPr>
              <a:t>● Cosmos DB (shape-shifter)</a:t>
            </a:r>
          </a:p>
        </p:txBody>
      </p:sp>
      <p:sp>
        <p:nvSpPr>
          <p:cNvPr id="26" name="TextBox 25"/>
          <p:cNvSpPr txBox="1"/>
          <p:nvPr/>
        </p:nvSpPr>
        <p:spPr>
          <a:xfrm>
            <a:off x="8229600" y="3337560"/>
            <a:ext cx="3566159" cy="457200"/>
          </a:xfrm>
          <a:prstGeom prst="rect">
            <a:avLst/>
          </a:prstGeom>
          <a:noFill/>
        </p:spPr>
        <p:txBody>
          <a:bodyPr wrap="square" anchor="t">
            <a:spAutoFit/>
          </a:bodyPr>
          <a:lstStyle/>
          <a:p>
            <a:pPr algn="l"/>
            <a:r>
              <a:rPr sz="1800" b="0">
                <a:solidFill>
                  <a:srgbClr val="FFFFFF"/>
                </a:solidFill>
                <a:latin typeface="Calibri"/>
              </a:rPr>
              <a:t>● Synapse Analytics</a:t>
            </a:r>
          </a:p>
        </p:txBody>
      </p:sp>
      <p:sp>
        <p:nvSpPr>
          <p:cNvPr id="27" name="TextBox 26"/>
          <p:cNvSpPr txBox="1"/>
          <p:nvPr/>
        </p:nvSpPr>
        <p:spPr>
          <a:xfrm>
            <a:off x="8229600" y="3840480"/>
            <a:ext cx="3566159" cy="457200"/>
          </a:xfrm>
          <a:prstGeom prst="rect">
            <a:avLst/>
          </a:prstGeom>
          <a:noFill/>
        </p:spPr>
        <p:txBody>
          <a:bodyPr wrap="square" anchor="t">
            <a:spAutoFit/>
          </a:bodyPr>
          <a:lstStyle/>
          <a:p>
            <a:pPr algn="l"/>
            <a:r>
              <a:rPr sz="1800" b="0">
                <a:solidFill>
                  <a:srgbClr val="FFFFFF"/>
                </a:solidFill>
                <a:latin typeface="Calibri"/>
              </a:rPr>
              <a:t>● Azure Cache for Redis</a:t>
            </a:r>
          </a:p>
        </p:txBody>
      </p:sp>
      <p:sp>
        <p:nvSpPr>
          <p:cNvPr id="28" name="TextBox 27"/>
          <p:cNvSpPr txBox="1"/>
          <p:nvPr/>
        </p:nvSpPr>
        <p:spPr>
          <a:xfrm>
            <a:off x="8229600" y="4343400"/>
            <a:ext cx="3566159" cy="457200"/>
          </a:xfrm>
          <a:prstGeom prst="rect">
            <a:avLst/>
          </a:prstGeom>
          <a:noFill/>
        </p:spPr>
        <p:txBody>
          <a:bodyPr wrap="square" anchor="t">
            <a:spAutoFit/>
          </a:bodyPr>
          <a:lstStyle/>
          <a:p>
            <a:pPr algn="l"/>
            <a:r>
              <a:rPr sz="1800" b="0">
                <a:solidFill>
                  <a:srgbClr val="FFFFFF"/>
                </a:solidFill>
                <a:latin typeface="Calibri"/>
              </a:rPr>
              <a:t>● Cosmos DB graph mode</a:t>
            </a:r>
          </a:p>
        </p:txBody>
      </p:sp>
      <p:sp>
        <p:nvSpPr>
          <p:cNvPr id="29" name="TextBox 28"/>
          <p:cNvSpPr txBox="1"/>
          <p:nvPr/>
        </p:nvSpPr>
        <p:spPr>
          <a:xfrm>
            <a:off x="822960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30" name="TextBox 29"/>
          <p:cNvSpPr txBox="1"/>
          <p:nvPr/>
        </p:nvSpPr>
        <p:spPr>
          <a:xfrm>
            <a:off x="8229600" y="5349240"/>
            <a:ext cx="3566159" cy="457200"/>
          </a:xfrm>
          <a:prstGeom prst="rect">
            <a:avLst/>
          </a:prstGeom>
          <a:noFill/>
        </p:spPr>
        <p:txBody>
          <a:bodyPr wrap="square" anchor="t">
            <a:spAutoFit/>
          </a:bodyPr>
          <a:lstStyle/>
          <a:p>
            <a:pPr algn="l"/>
            <a:r>
              <a:rPr sz="1800" b="0">
                <a:solidFill>
                  <a:srgbClr val="FFFFFF"/>
                </a:solidFill>
                <a:latin typeface="Calibri"/>
              </a:rPr>
              <a:t>● Blob Storage</a:t>
            </a:r>
          </a:p>
        </p:txBody>
      </p:sp>
      <p:sp>
        <p:nvSpPr>
          <p:cNvPr id="31" name="TextBox 3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32" name="TextBox 3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18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heat-sheet table comparing AWS, GCP, and Azure services across eight database categories." title="Cheat-sheet table comparing AWS, GCP, and Azure services across eight database c"/>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Cloud DB Cheat Sheet</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600200"/>
            <a:ext cx="11247120" cy="50292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2651760" cy="502920"/>
          </a:xfrm>
          <a:prstGeom prst="rect">
            <a:avLst/>
          </a:prstGeom>
          <a:noFill/>
        </p:spPr>
        <p:txBody>
          <a:bodyPr wrap="square" anchor="t">
            <a:spAutoFit/>
          </a:bodyPr>
          <a:lstStyle/>
          <a:p>
            <a:pPr algn="l"/>
            <a:r>
              <a:rPr sz="2000" b="1">
                <a:solidFill>
                  <a:srgbClr val="1A1A2E"/>
                </a:solidFill>
                <a:latin typeface="Calibri"/>
              </a:rPr>
              <a:t>CATEGORY</a:t>
            </a:r>
          </a:p>
        </p:txBody>
      </p:sp>
      <p:sp>
        <p:nvSpPr>
          <p:cNvPr id="6" name="TextBox 5"/>
          <p:cNvSpPr txBox="1"/>
          <p:nvPr/>
        </p:nvSpPr>
        <p:spPr>
          <a:xfrm>
            <a:off x="3291840" y="1645920"/>
            <a:ext cx="2560320" cy="502920"/>
          </a:xfrm>
          <a:prstGeom prst="rect">
            <a:avLst/>
          </a:prstGeom>
          <a:noFill/>
        </p:spPr>
        <p:txBody>
          <a:bodyPr wrap="square" anchor="t">
            <a:spAutoFit/>
          </a:bodyPr>
          <a:lstStyle/>
          <a:p>
            <a:pPr algn="l"/>
            <a:r>
              <a:rPr sz="2000" b="1">
                <a:solidFill>
                  <a:srgbClr val="1A1A2E"/>
                </a:solidFill>
                <a:latin typeface="Calibri"/>
              </a:rPr>
              <a:t>AWS</a:t>
            </a:r>
          </a:p>
        </p:txBody>
      </p:sp>
      <p:sp>
        <p:nvSpPr>
          <p:cNvPr id="7" name="TextBox 6"/>
          <p:cNvSpPr txBox="1"/>
          <p:nvPr/>
        </p:nvSpPr>
        <p:spPr>
          <a:xfrm>
            <a:off x="5943600" y="1645920"/>
            <a:ext cx="2560320" cy="502920"/>
          </a:xfrm>
          <a:prstGeom prst="rect">
            <a:avLst/>
          </a:prstGeom>
          <a:noFill/>
        </p:spPr>
        <p:txBody>
          <a:bodyPr wrap="square" anchor="t">
            <a:spAutoFit/>
          </a:bodyPr>
          <a:lstStyle/>
          <a:p>
            <a:pPr algn="l"/>
            <a:r>
              <a:rPr sz="2000" b="1">
                <a:solidFill>
                  <a:srgbClr val="1A1A2E"/>
                </a:solidFill>
                <a:latin typeface="Calibri"/>
              </a:rPr>
              <a:t>GCP</a:t>
            </a:r>
          </a:p>
        </p:txBody>
      </p:sp>
      <p:sp>
        <p:nvSpPr>
          <p:cNvPr id="8" name="TextBox 7"/>
          <p:cNvSpPr txBox="1"/>
          <p:nvPr/>
        </p:nvSpPr>
        <p:spPr>
          <a:xfrm>
            <a:off x="8595360" y="1645920"/>
            <a:ext cx="3108960" cy="502920"/>
          </a:xfrm>
          <a:prstGeom prst="rect">
            <a:avLst/>
          </a:prstGeom>
          <a:noFill/>
        </p:spPr>
        <p:txBody>
          <a:bodyPr wrap="square" anchor="t">
            <a:spAutoFit/>
          </a:bodyPr>
          <a:lstStyle/>
          <a:p>
            <a:pPr algn="l"/>
            <a:r>
              <a:rPr sz="2000" b="1">
                <a:solidFill>
                  <a:srgbClr val="1A1A2E"/>
                </a:solidFill>
                <a:latin typeface="Calibri"/>
              </a:rPr>
              <a:t>AZURE</a:t>
            </a:r>
          </a:p>
        </p:txBody>
      </p:sp>
      <p:sp>
        <p:nvSpPr>
          <p:cNvPr id="9" name="TextBox 8"/>
          <p:cNvSpPr txBox="1"/>
          <p:nvPr/>
        </p:nvSpPr>
        <p:spPr>
          <a:xfrm>
            <a:off x="548640" y="2148839"/>
            <a:ext cx="2651760" cy="502920"/>
          </a:xfrm>
          <a:prstGeom prst="rect">
            <a:avLst/>
          </a:prstGeom>
          <a:noFill/>
        </p:spPr>
        <p:txBody>
          <a:bodyPr wrap="square" anchor="t">
            <a:spAutoFit/>
          </a:bodyPr>
          <a:lstStyle/>
          <a:p>
            <a:pPr algn="l"/>
            <a:r>
              <a:rPr sz="2000" b="1">
                <a:solidFill>
                  <a:srgbClr val="FFFFFF"/>
                </a:solidFill>
                <a:latin typeface="Calibri"/>
              </a:rPr>
              <a:t>Relational</a:t>
            </a:r>
          </a:p>
        </p:txBody>
      </p:sp>
      <p:sp>
        <p:nvSpPr>
          <p:cNvPr id="10" name="TextBox 9"/>
          <p:cNvSpPr txBox="1"/>
          <p:nvPr/>
        </p:nvSpPr>
        <p:spPr>
          <a:xfrm>
            <a:off x="3291840" y="2148839"/>
            <a:ext cx="2560320" cy="502920"/>
          </a:xfrm>
          <a:prstGeom prst="rect">
            <a:avLst/>
          </a:prstGeom>
          <a:noFill/>
        </p:spPr>
        <p:txBody>
          <a:bodyPr wrap="square" anchor="t">
            <a:spAutoFit/>
          </a:bodyPr>
          <a:lstStyle/>
          <a:p>
            <a:pPr algn="l"/>
            <a:r>
              <a:rPr sz="2000" b="0">
                <a:solidFill>
                  <a:srgbClr val="FFFFFF"/>
                </a:solidFill>
                <a:latin typeface="Calibri"/>
              </a:rPr>
              <a:t>RDS / Aurora</a:t>
            </a:r>
          </a:p>
        </p:txBody>
      </p:sp>
      <p:sp>
        <p:nvSpPr>
          <p:cNvPr id="11" name="TextBox 10"/>
          <p:cNvSpPr txBox="1"/>
          <p:nvPr/>
        </p:nvSpPr>
        <p:spPr>
          <a:xfrm>
            <a:off x="5943600" y="2148839"/>
            <a:ext cx="2560320" cy="502920"/>
          </a:xfrm>
          <a:prstGeom prst="rect">
            <a:avLst/>
          </a:prstGeom>
          <a:noFill/>
        </p:spPr>
        <p:txBody>
          <a:bodyPr wrap="square" anchor="t">
            <a:spAutoFit/>
          </a:bodyPr>
          <a:lstStyle/>
          <a:p>
            <a:pPr algn="l"/>
            <a:r>
              <a:rPr sz="2000" b="0">
                <a:solidFill>
                  <a:srgbClr val="FFFFFF"/>
                </a:solidFill>
                <a:latin typeface="Calibri"/>
              </a:rPr>
              <a:t>Cloud SQL / AlloyDB</a:t>
            </a:r>
          </a:p>
        </p:txBody>
      </p:sp>
      <p:sp>
        <p:nvSpPr>
          <p:cNvPr id="12" name="TextBox 11"/>
          <p:cNvSpPr txBox="1"/>
          <p:nvPr/>
        </p:nvSpPr>
        <p:spPr>
          <a:xfrm>
            <a:off x="8595360" y="2148839"/>
            <a:ext cx="3108960" cy="502920"/>
          </a:xfrm>
          <a:prstGeom prst="rect">
            <a:avLst/>
          </a:prstGeom>
          <a:noFill/>
        </p:spPr>
        <p:txBody>
          <a:bodyPr wrap="square" anchor="t">
            <a:spAutoFit/>
          </a:bodyPr>
          <a:lstStyle/>
          <a:p>
            <a:pPr algn="l"/>
            <a:r>
              <a:rPr sz="2000" b="0">
                <a:solidFill>
                  <a:srgbClr val="FFFFFF"/>
                </a:solidFill>
                <a:latin typeface="Calibri"/>
              </a:rPr>
              <a:t>Azure SQL DB</a:t>
            </a:r>
          </a:p>
        </p:txBody>
      </p:sp>
      <p:sp>
        <p:nvSpPr>
          <p:cNvPr id="13" name="Rectangle 12"/>
          <p:cNvSpPr/>
          <p:nvPr/>
        </p:nvSpPr>
        <p:spPr>
          <a:xfrm>
            <a:off x="457200" y="260604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51760"/>
            <a:ext cx="2651760" cy="502920"/>
          </a:xfrm>
          <a:prstGeom prst="rect">
            <a:avLst/>
          </a:prstGeom>
          <a:noFill/>
        </p:spPr>
        <p:txBody>
          <a:bodyPr wrap="square" anchor="t">
            <a:spAutoFit/>
          </a:bodyPr>
          <a:lstStyle/>
          <a:p>
            <a:pPr algn="l"/>
            <a:r>
              <a:rPr sz="2000" b="1">
                <a:solidFill>
                  <a:srgbClr val="FFFFFF"/>
                </a:solidFill>
                <a:latin typeface="Calibri"/>
              </a:rPr>
              <a:t>Document/NoSQL</a:t>
            </a:r>
          </a:p>
        </p:txBody>
      </p:sp>
      <p:sp>
        <p:nvSpPr>
          <p:cNvPr id="15" name="TextBox 14"/>
          <p:cNvSpPr txBox="1"/>
          <p:nvPr/>
        </p:nvSpPr>
        <p:spPr>
          <a:xfrm>
            <a:off x="3291840" y="2651760"/>
            <a:ext cx="2560320" cy="502920"/>
          </a:xfrm>
          <a:prstGeom prst="rect">
            <a:avLst/>
          </a:prstGeom>
          <a:noFill/>
        </p:spPr>
        <p:txBody>
          <a:bodyPr wrap="square" anchor="t">
            <a:spAutoFit/>
          </a:bodyPr>
          <a:lstStyle/>
          <a:p>
            <a:pPr algn="l"/>
            <a:r>
              <a:rPr sz="2000" b="0">
                <a:solidFill>
                  <a:srgbClr val="FFFFFF"/>
                </a:solidFill>
                <a:latin typeface="Calibri"/>
              </a:rPr>
              <a:t>DynamoDB / DocDB</a:t>
            </a:r>
          </a:p>
        </p:txBody>
      </p:sp>
      <p:sp>
        <p:nvSpPr>
          <p:cNvPr id="16" name="TextBox 15"/>
          <p:cNvSpPr txBox="1"/>
          <p:nvPr/>
        </p:nvSpPr>
        <p:spPr>
          <a:xfrm>
            <a:off x="5943600" y="2651760"/>
            <a:ext cx="2560320" cy="502920"/>
          </a:xfrm>
          <a:prstGeom prst="rect">
            <a:avLst/>
          </a:prstGeom>
          <a:noFill/>
        </p:spPr>
        <p:txBody>
          <a:bodyPr wrap="square" anchor="t">
            <a:spAutoFit/>
          </a:bodyPr>
          <a:lstStyle/>
          <a:p>
            <a:pPr algn="l"/>
            <a:r>
              <a:rPr sz="2000" b="0">
                <a:solidFill>
                  <a:srgbClr val="FFFFFF"/>
                </a:solidFill>
                <a:latin typeface="Calibri"/>
              </a:rPr>
              <a:t>Firestore / Bigtable</a:t>
            </a:r>
          </a:p>
        </p:txBody>
      </p:sp>
      <p:sp>
        <p:nvSpPr>
          <p:cNvPr id="17" name="TextBox 16"/>
          <p:cNvSpPr txBox="1"/>
          <p:nvPr/>
        </p:nvSpPr>
        <p:spPr>
          <a:xfrm>
            <a:off x="8595360" y="2651760"/>
            <a:ext cx="3108960" cy="502920"/>
          </a:xfrm>
          <a:prstGeom prst="rect">
            <a:avLst/>
          </a:prstGeom>
          <a:noFill/>
        </p:spPr>
        <p:txBody>
          <a:bodyPr wrap="square" anchor="t">
            <a:spAutoFit/>
          </a:bodyPr>
          <a:lstStyle/>
          <a:p>
            <a:pPr algn="l"/>
            <a:r>
              <a:rPr sz="2000" b="0">
                <a:solidFill>
                  <a:srgbClr val="FFFFFF"/>
                </a:solidFill>
                <a:latin typeface="Calibri"/>
              </a:rPr>
              <a:t>Cosmos DB</a:t>
            </a:r>
          </a:p>
        </p:txBody>
      </p:sp>
      <p:sp>
        <p:nvSpPr>
          <p:cNvPr id="18" name="TextBox 17"/>
          <p:cNvSpPr txBox="1"/>
          <p:nvPr/>
        </p:nvSpPr>
        <p:spPr>
          <a:xfrm>
            <a:off x="548640" y="3154680"/>
            <a:ext cx="2651760" cy="502920"/>
          </a:xfrm>
          <a:prstGeom prst="rect">
            <a:avLst/>
          </a:prstGeom>
          <a:noFill/>
        </p:spPr>
        <p:txBody>
          <a:bodyPr wrap="square" anchor="t">
            <a:spAutoFit/>
          </a:bodyPr>
          <a:lstStyle/>
          <a:p>
            <a:pPr algn="l"/>
            <a:r>
              <a:rPr sz="2000" b="1">
                <a:solidFill>
                  <a:srgbClr val="FFFFFF"/>
                </a:solidFill>
                <a:latin typeface="Calibri"/>
              </a:rPr>
              <a:t>Warehouse</a:t>
            </a:r>
          </a:p>
        </p:txBody>
      </p:sp>
      <p:sp>
        <p:nvSpPr>
          <p:cNvPr id="19" name="TextBox 18"/>
          <p:cNvSpPr txBox="1"/>
          <p:nvPr/>
        </p:nvSpPr>
        <p:spPr>
          <a:xfrm>
            <a:off x="3291840" y="3154680"/>
            <a:ext cx="2560320" cy="502920"/>
          </a:xfrm>
          <a:prstGeom prst="rect">
            <a:avLst/>
          </a:prstGeom>
          <a:noFill/>
        </p:spPr>
        <p:txBody>
          <a:bodyPr wrap="square" anchor="t">
            <a:spAutoFit/>
          </a:bodyPr>
          <a:lstStyle/>
          <a:p>
            <a:pPr algn="l"/>
            <a:r>
              <a:rPr sz="2000" b="0">
                <a:solidFill>
                  <a:srgbClr val="FFFFFF"/>
                </a:solidFill>
                <a:latin typeface="Calibri"/>
              </a:rPr>
              <a:t>Redshift / Athena</a:t>
            </a:r>
          </a:p>
        </p:txBody>
      </p:sp>
      <p:sp>
        <p:nvSpPr>
          <p:cNvPr id="20" name="TextBox 19"/>
          <p:cNvSpPr txBox="1"/>
          <p:nvPr/>
        </p:nvSpPr>
        <p:spPr>
          <a:xfrm>
            <a:off x="5943600" y="3154680"/>
            <a:ext cx="2560320" cy="502920"/>
          </a:xfrm>
          <a:prstGeom prst="rect">
            <a:avLst/>
          </a:prstGeom>
          <a:noFill/>
        </p:spPr>
        <p:txBody>
          <a:bodyPr wrap="square" anchor="t">
            <a:spAutoFit/>
          </a:bodyPr>
          <a:lstStyle/>
          <a:p>
            <a:pPr algn="l"/>
            <a:r>
              <a:rPr sz="2000" b="0">
                <a:solidFill>
                  <a:srgbClr val="FFFFFF"/>
                </a:solidFill>
                <a:latin typeface="Calibri"/>
              </a:rPr>
              <a:t>BigQuery</a:t>
            </a:r>
          </a:p>
        </p:txBody>
      </p:sp>
      <p:sp>
        <p:nvSpPr>
          <p:cNvPr id="21" name="TextBox 20"/>
          <p:cNvSpPr txBox="1"/>
          <p:nvPr/>
        </p:nvSpPr>
        <p:spPr>
          <a:xfrm>
            <a:off x="8595360" y="3154680"/>
            <a:ext cx="3108960" cy="502920"/>
          </a:xfrm>
          <a:prstGeom prst="rect">
            <a:avLst/>
          </a:prstGeom>
          <a:noFill/>
        </p:spPr>
        <p:txBody>
          <a:bodyPr wrap="square" anchor="t">
            <a:spAutoFit/>
          </a:bodyPr>
          <a:lstStyle/>
          <a:p>
            <a:pPr algn="l"/>
            <a:r>
              <a:rPr sz="2000" b="0">
                <a:solidFill>
                  <a:srgbClr val="FFFFFF"/>
                </a:solidFill>
                <a:latin typeface="Calibri"/>
              </a:rPr>
              <a:t>Synapse</a:t>
            </a:r>
          </a:p>
        </p:txBody>
      </p:sp>
      <p:sp>
        <p:nvSpPr>
          <p:cNvPr id="22" name="Rectangle 21"/>
          <p:cNvSpPr/>
          <p:nvPr/>
        </p:nvSpPr>
        <p:spPr>
          <a:xfrm>
            <a:off x="457200" y="361188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57600"/>
            <a:ext cx="2651760" cy="502920"/>
          </a:xfrm>
          <a:prstGeom prst="rect">
            <a:avLst/>
          </a:prstGeom>
          <a:noFill/>
        </p:spPr>
        <p:txBody>
          <a:bodyPr wrap="square" anchor="t">
            <a:spAutoFit/>
          </a:bodyPr>
          <a:lstStyle/>
          <a:p>
            <a:pPr algn="l"/>
            <a:r>
              <a:rPr sz="2000" b="1">
                <a:solidFill>
                  <a:srgbClr val="FFFFFF"/>
                </a:solidFill>
                <a:latin typeface="Calibri"/>
              </a:rPr>
              <a:t>Cache</a:t>
            </a:r>
          </a:p>
        </p:txBody>
      </p:sp>
      <p:sp>
        <p:nvSpPr>
          <p:cNvPr id="24" name="TextBox 23"/>
          <p:cNvSpPr txBox="1"/>
          <p:nvPr/>
        </p:nvSpPr>
        <p:spPr>
          <a:xfrm>
            <a:off x="3291840" y="3657600"/>
            <a:ext cx="2560320" cy="502920"/>
          </a:xfrm>
          <a:prstGeom prst="rect">
            <a:avLst/>
          </a:prstGeom>
          <a:noFill/>
        </p:spPr>
        <p:txBody>
          <a:bodyPr wrap="square" anchor="t">
            <a:spAutoFit/>
          </a:bodyPr>
          <a:lstStyle/>
          <a:p>
            <a:pPr algn="l"/>
            <a:r>
              <a:rPr sz="2000" b="0">
                <a:solidFill>
                  <a:srgbClr val="FFFFFF"/>
                </a:solidFill>
                <a:latin typeface="Calibri"/>
              </a:rPr>
              <a:t>ElastiCache</a:t>
            </a:r>
          </a:p>
        </p:txBody>
      </p:sp>
      <p:sp>
        <p:nvSpPr>
          <p:cNvPr id="25" name="TextBox 24"/>
          <p:cNvSpPr txBox="1"/>
          <p:nvPr/>
        </p:nvSpPr>
        <p:spPr>
          <a:xfrm>
            <a:off x="5943600" y="3657600"/>
            <a:ext cx="2560320" cy="502920"/>
          </a:xfrm>
          <a:prstGeom prst="rect">
            <a:avLst/>
          </a:prstGeom>
          <a:noFill/>
        </p:spPr>
        <p:txBody>
          <a:bodyPr wrap="square" anchor="t">
            <a:spAutoFit/>
          </a:bodyPr>
          <a:lstStyle/>
          <a:p>
            <a:pPr algn="l"/>
            <a:r>
              <a:rPr sz="2000" b="0">
                <a:solidFill>
                  <a:srgbClr val="FFFFFF"/>
                </a:solidFill>
                <a:latin typeface="Calibri"/>
              </a:rPr>
              <a:t>Memorystore</a:t>
            </a:r>
          </a:p>
        </p:txBody>
      </p:sp>
      <p:sp>
        <p:nvSpPr>
          <p:cNvPr id="26" name="TextBox 25"/>
          <p:cNvSpPr txBox="1"/>
          <p:nvPr/>
        </p:nvSpPr>
        <p:spPr>
          <a:xfrm>
            <a:off x="8595360" y="3657600"/>
            <a:ext cx="3108960" cy="502920"/>
          </a:xfrm>
          <a:prstGeom prst="rect">
            <a:avLst/>
          </a:prstGeom>
          <a:noFill/>
        </p:spPr>
        <p:txBody>
          <a:bodyPr wrap="square" anchor="t">
            <a:spAutoFit/>
          </a:bodyPr>
          <a:lstStyle/>
          <a:p>
            <a:pPr algn="l"/>
            <a:r>
              <a:rPr sz="2000" b="0">
                <a:solidFill>
                  <a:srgbClr val="FFFFFF"/>
                </a:solidFill>
                <a:latin typeface="Calibri"/>
              </a:rPr>
              <a:t>Cache for Redis</a:t>
            </a:r>
          </a:p>
        </p:txBody>
      </p:sp>
      <p:sp>
        <p:nvSpPr>
          <p:cNvPr id="27" name="TextBox 26"/>
          <p:cNvSpPr txBox="1"/>
          <p:nvPr/>
        </p:nvSpPr>
        <p:spPr>
          <a:xfrm>
            <a:off x="548640" y="4160520"/>
            <a:ext cx="2651760" cy="502920"/>
          </a:xfrm>
          <a:prstGeom prst="rect">
            <a:avLst/>
          </a:prstGeom>
          <a:noFill/>
        </p:spPr>
        <p:txBody>
          <a:bodyPr wrap="square" anchor="t">
            <a:spAutoFit/>
          </a:bodyPr>
          <a:lstStyle/>
          <a:p>
            <a:pPr algn="l"/>
            <a:r>
              <a:rPr sz="2000" b="1">
                <a:solidFill>
                  <a:srgbClr val="FFFFFF"/>
                </a:solidFill>
                <a:latin typeface="Calibri"/>
              </a:rPr>
              <a:t>Graph</a:t>
            </a:r>
          </a:p>
        </p:txBody>
      </p:sp>
      <p:sp>
        <p:nvSpPr>
          <p:cNvPr id="28" name="TextBox 27"/>
          <p:cNvSpPr txBox="1"/>
          <p:nvPr/>
        </p:nvSpPr>
        <p:spPr>
          <a:xfrm>
            <a:off x="3291840" y="4160520"/>
            <a:ext cx="2560320" cy="502920"/>
          </a:xfrm>
          <a:prstGeom prst="rect">
            <a:avLst/>
          </a:prstGeom>
          <a:noFill/>
        </p:spPr>
        <p:txBody>
          <a:bodyPr wrap="square" anchor="t">
            <a:spAutoFit/>
          </a:bodyPr>
          <a:lstStyle/>
          <a:p>
            <a:pPr algn="l"/>
            <a:r>
              <a:rPr sz="2000" b="0">
                <a:solidFill>
                  <a:srgbClr val="FFFFFF"/>
                </a:solidFill>
                <a:latin typeface="Calibri"/>
              </a:rPr>
              <a:t>Neptune</a:t>
            </a:r>
          </a:p>
        </p:txBody>
      </p:sp>
      <p:sp>
        <p:nvSpPr>
          <p:cNvPr id="29" name="TextBox 28"/>
          <p:cNvSpPr txBox="1"/>
          <p:nvPr/>
        </p:nvSpPr>
        <p:spPr>
          <a:xfrm>
            <a:off x="5943600" y="416052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0" name="TextBox 29"/>
          <p:cNvSpPr txBox="1"/>
          <p:nvPr/>
        </p:nvSpPr>
        <p:spPr>
          <a:xfrm>
            <a:off x="8595360" y="4160520"/>
            <a:ext cx="3108960" cy="502920"/>
          </a:xfrm>
          <a:prstGeom prst="rect">
            <a:avLst/>
          </a:prstGeom>
          <a:noFill/>
        </p:spPr>
        <p:txBody>
          <a:bodyPr wrap="square" anchor="t">
            <a:spAutoFit/>
          </a:bodyPr>
          <a:lstStyle/>
          <a:p>
            <a:pPr algn="l"/>
            <a:r>
              <a:rPr sz="2000" b="0">
                <a:solidFill>
                  <a:srgbClr val="FFFFFF"/>
                </a:solidFill>
                <a:latin typeface="Calibri"/>
              </a:rPr>
              <a:t>Cosmos DB graph</a:t>
            </a:r>
          </a:p>
        </p:txBody>
      </p:sp>
      <p:sp>
        <p:nvSpPr>
          <p:cNvPr id="31" name="Rectangle 30"/>
          <p:cNvSpPr/>
          <p:nvPr/>
        </p:nvSpPr>
        <p:spPr>
          <a:xfrm>
            <a:off x="457200" y="461772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663440"/>
            <a:ext cx="2651760" cy="502920"/>
          </a:xfrm>
          <a:prstGeom prst="rect">
            <a:avLst/>
          </a:prstGeom>
          <a:noFill/>
        </p:spPr>
        <p:txBody>
          <a:bodyPr wrap="square" anchor="t">
            <a:spAutoFit/>
          </a:bodyPr>
          <a:lstStyle/>
          <a:p>
            <a:pPr algn="l"/>
            <a:r>
              <a:rPr sz="2000" b="1">
                <a:solidFill>
                  <a:srgbClr val="FFFFFF"/>
                </a:solidFill>
                <a:latin typeface="Calibri"/>
              </a:rPr>
              <a:t>Time-Series</a:t>
            </a:r>
          </a:p>
        </p:txBody>
      </p:sp>
      <p:sp>
        <p:nvSpPr>
          <p:cNvPr id="33" name="TextBox 32"/>
          <p:cNvSpPr txBox="1"/>
          <p:nvPr/>
        </p:nvSpPr>
        <p:spPr>
          <a:xfrm>
            <a:off x="3291840" y="4663440"/>
            <a:ext cx="2560320" cy="502920"/>
          </a:xfrm>
          <a:prstGeom prst="rect">
            <a:avLst/>
          </a:prstGeom>
          <a:noFill/>
        </p:spPr>
        <p:txBody>
          <a:bodyPr wrap="square" anchor="t">
            <a:spAutoFit/>
          </a:bodyPr>
          <a:lstStyle/>
          <a:p>
            <a:pPr algn="l"/>
            <a:r>
              <a:rPr sz="2000" b="0">
                <a:solidFill>
                  <a:srgbClr val="FFFFFF"/>
                </a:solidFill>
                <a:latin typeface="Calibri"/>
              </a:rPr>
              <a:t>Timestream</a:t>
            </a:r>
          </a:p>
        </p:txBody>
      </p:sp>
      <p:sp>
        <p:nvSpPr>
          <p:cNvPr id="34" name="TextBox 33"/>
          <p:cNvSpPr txBox="1"/>
          <p:nvPr/>
        </p:nvSpPr>
        <p:spPr>
          <a:xfrm>
            <a:off x="5943600" y="466344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5" name="TextBox 34"/>
          <p:cNvSpPr txBox="1"/>
          <p:nvPr/>
        </p:nvSpPr>
        <p:spPr>
          <a:xfrm>
            <a:off x="8595360" y="4663440"/>
            <a:ext cx="3108960" cy="502920"/>
          </a:xfrm>
          <a:prstGeom prst="rect">
            <a:avLst/>
          </a:prstGeom>
          <a:noFill/>
        </p:spPr>
        <p:txBody>
          <a:bodyPr wrap="square" anchor="t">
            <a:spAutoFit/>
          </a:bodyPr>
          <a:lstStyle/>
          <a:p>
            <a:pPr algn="l"/>
            <a:r>
              <a:rPr sz="2000" b="0">
                <a:solidFill>
                  <a:srgbClr val="FFFFFF"/>
                </a:solidFill>
                <a:latin typeface="Calibri"/>
              </a:rPr>
              <a:t>—</a:t>
            </a:r>
          </a:p>
        </p:txBody>
      </p:sp>
      <p:sp>
        <p:nvSpPr>
          <p:cNvPr id="36" name="TextBox 35"/>
          <p:cNvSpPr txBox="1"/>
          <p:nvPr/>
        </p:nvSpPr>
        <p:spPr>
          <a:xfrm>
            <a:off x="548640" y="5166360"/>
            <a:ext cx="2651760" cy="502920"/>
          </a:xfrm>
          <a:prstGeom prst="rect">
            <a:avLst/>
          </a:prstGeom>
          <a:noFill/>
        </p:spPr>
        <p:txBody>
          <a:bodyPr wrap="square" anchor="t">
            <a:spAutoFit/>
          </a:bodyPr>
          <a:lstStyle/>
          <a:p>
            <a:pPr algn="l"/>
            <a:r>
              <a:rPr sz="2000" b="1">
                <a:solidFill>
                  <a:srgbClr val="FFFFFF"/>
                </a:solidFill>
                <a:latin typeface="Calibri"/>
              </a:rPr>
              <a:t>Object Storage</a:t>
            </a:r>
          </a:p>
        </p:txBody>
      </p:sp>
      <p:sp>
        <p:nvSpPr>
          <p:cNvPr id="37" name="TextBox 36"/>
          <p:cNvSpPr txBox="1"/>
          <p:nvPr/>
        </p:nvSpPr>
        <p:spPr>
          <a:xfrm>
            <a:off x="3291840" y="5166360"/>
            <a:ext cx="2560320" cy="502920"/>
          </a:xfrm>
          <a:prstGeom prst="rect">
            <a:avLst/>
          </a:prstGeom>
          <a:noFill/>
        </p:spPr>
        <p:txBody>
          <a:bodyPr wrap="square" anchor="t">
            <a:spAutoFit/>
          </a:bodyPr>
          <a:lstStyle/>
          <a:p>
            <a:pPr algn="l"/>
            <a:r>
              <a:rPr sz="2000" b="0">
                <a:solidFill>
                  <a:srgbClr val="FFFFFF"/>
                </a:solidFill>
                <a:latin typeface="Calibri"/>
              </a:rPr>
              <a:t>S3</a:t>
            </a:r>
          </a:p>
        </p:txBody>
      </p:sp>
      <p:sp>
        <p:nvSpPr>
          <p:cNvPr id="38" name="TextBox 37"/>
          <p:cNvSpPr txBox="1"/>
          <p:nvPr/>
        </p:nvSpPr>
        <p:spPr>
          <a:xfrm>
            <a:off x="5943600" y="5166360"/>
            <a:ext cx="2560320" cy="502920"/>
          </a:xfrm>
          <a:prstGeom prst="rect">
            <a:avLst/>
          </a:prstGeom>
          <a:noFill/>
        </p:spPr>
        <p:txBody>
          <a:bodyPr wrap="square" anchor="t">
            <a:spAutoFit/>
          </a:bodyPr>
          <a:lstStyle/>
          <a:p>
            <a:pPr algn="l"/>
            <a:r>
              <a:rPr sz="2000" b="0">
                <a:solidFill>
                  <a:srgbClr val="FFFFFF"/>
                </a:solidFill>
                <a:latin typeface="Calibri"/>
              </a:rPr>
              <a:t>Cloud Storage</a:t>
            </a:r>
          </a:p>
        </p:txBody>
      </p:sp>
      <p:sp>
        <p:nvSpPr>
          <p:cNvPr id="39" name="TextBox 38"/>
          <p:cNvSpPr txBox="1"/>
          <p:nvPr/>
        </p:nvSpPr>
        <p:spPr>
          <a:xfrm>
            <a:off x="8595360" y="5166360"/>
            <a:ext cx="3108960" cy="502920"/>
          </a:xfrm>
          <a:prstGeom prst="rect">
            <a:avLst/>
          </a:prstGeom>
          <a:noFill/>
        </p:spPr>
        <p:txBody>
          <a:bodyPr wrap="square" anchor="t">
            <a:spAutoFit/>
          </a:bodyPr>
          <a:lstStyle/>
          <a:p>
            <a:pPr algn="l"/>
            <a:r>
              <a:rPr sz="2000" b="0">
                <a:solidFill>
                  <a:srgbClr val="FFFFFF"/>
                </a:solidFill>
                <a:latin typeface="Calibri"/>
              </a:rPr>
              <a:t>Blob Storage</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19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wo-column diagram contrasting what the cloud vendor owns (hypervisor, engine, hardware) versus what the customer owns (config, IAM, data, encryption)." title="Two-column diagram contrasting what the cloud vendor owns (hypervisor, engine, 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Shared Responsibility Model</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828800"/>
            <a:ext cx="5577840" cy="4114800"/>
          </a:xfrm>
          <a:prstGeom prst="roundRect">
            <a:avLst/>
          </a:prstGeom>
          <a:solidFill>
            <a:srgbClr val="122A18"/>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65960"/>
            <a:ext cx="5394960" cy="640080"/>
          </a:xfrm>
          <a:prstGeom prst="rect">
            <a:avLst/>
          </a:prstGeom>
          <a:noFill/>
        </p:spPr>
        <p:txBody>
          <a:bodyPr wrap="square" anchor="t">
            <a:spAutoFit/>
          </a:bodyPr>
          <a:lstStyle/>
          <a:p>
            <a:pPr algn="l"/>
            <a:r>
              <a:rPr sz="2400" b="1">
                <a:solidFill>
                  <a:srgbClr val="00FF41"/>
                </a:solidFill>
                <a:latin typeface="Calibri"/>
              </a:rPr>
              <a:t>✓  CLOUD VENDOR OWNS</a:t>
            </a:r>
          </a:p>
        </p:txBody>
      </p:sp>
      <p:sp>
        <p:nvSpPr>
          <p:cNvPr id="6" name="TextBox 5"/>
          <p:cNvSpPr txBox="1"/>
          <p:nvPr/>
        </p:nvSpPr>
        <p:spPr>
          <a:xfrm>
            <a:off x="640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Hypervisor &amp; metal</a:t>
            </a:r>
          </a:p>
          <a:p>
            <a:pPr algn="l">
              <a:lnSpc>
                <a:spcPct val="140000"/>
              </a:lnSpc>
            </a:pPr>
            <a:r>
              <a:rPr sz="2400" b="1">
                <a:solidFill>
                  <a:srgbClr val="00D4FF"/>
                </a:solidFill>
                <a:latin typeface="Calibri"/>
              </a:rPr>
              <a:t>● </a:t>
            </a:r>
            <a:r>
              <a:rPr sz="2400">
                <a:solidFill>
                  <a:srgbClr val="FFFFFF"/>
                </a:solidFill>
                <a:latin typeface="Calibri"/>
              </a:rPr>
              <a:t>DB engine patches</a:t>
            </a:r>
          </a:p>
          <a:p>
            <a:pPr algn="l">
              <a:lnSpc>
                <a:spcPct val="140000"/>
              </a:lnSpc>
            </a:pPr>
            <a:r>
              <a:rPr sz="2400" b="1">
                <a:solidFill>
                  <a:srgbClr val="00D4FF"/>
                </a:solidFill>
                <a:latin typeface="Calibri"/>
              </a:rPr>
              <a:t>● </a:t>
            </a:r>
            <a:r>
              <a:rPr sz="2400">
                <a:solidFill>
                  <a:srgbClr val="FFFFFF"/>
                </a:solidFill>
                <a:latin typeface="Calibri"/>
              </a:rPr>
              <a:t>Physical security</a:t>
            </a:r>
          </a:p>
          <a:p>
            <a:pPr algn="l">
              <a:lnSpc>
                <a:spcPct val="140000"/>
              </a:lnSpc>
            </a:pPr>
            <a:r>
              <a:rPr sz="2400" b="1">
                <a:solidFill>
                  <a:srgbClr val="00D4FF"/>
                </a:solidFill>
                <a:latin typeface="Calibri"/>
              </a:rPr>
              <a:t>● </a:t>
            </a:r>
            <a:r>
              <a:rPr sz="2400">
                <a:solidFill>
                  <a:srgbClr val="FFFFFF"/>
                </a:solidFill>
                <a:latin typeface="Calibri"/>
              </a:rPr>
              <a:t>Underlying network</a:t>
            </a:r>
          </a:p>
        </p:txBody>
      </p:sp>
      <p:sp>
        <p:nvSpPr>
          <p:cNvPr id="7" name="Rounded Rectangle 6"/>
          <p:cNvSpPr/>
          <p:nvPr/>
        </p:nvSpPr>
        <p:spPr>
          <a:xfrm>
            <a:off x="6172200" y="1828800"/>
            <a:ext cx="5577840" cy="4114800"/>
          </a:xfrm>
          <a:prstGeom prst="roundRect">
            <a:avLst/>
          </a:prstGeom>
          <a:solidFill>
            <a:srgbClr val="3A1F14"/>
          </a:solidFill>
          <a:ln w="381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63640" y="1965960"/>
            <a:ext cx="5394960" cy="640080"/>
          </a:xfrm>
          <a:prstGeom prst="rect">
            <a:avLst/>
          </a:prstGeom>
          <a:noFill/>
        </p:spPr>
        <p:txBody>
          <a:bodyPr wrap="square" anchor="t">
            <a:spAutoFit/>
          </a:bodyPr>
          <a:lstStyle/>
          <a:p>
            <a:pPr algn="l"/>
            <a:r>
              <a:rPr sz="2400" b="1">
                <a:solidFill>
                  <a:srgbClr val="FF6B35"/>
                </a:solidFill>
                <a:latin typeface="Calibri"/>
              </a:rPr>
              <a:t>⚠  YOU OWN</a:t>
            </a:r>
          </a:p>
        </p:txBody>
      </p:sp>
      <p:sp>
        <p:nvSpPr>
          <p:cNvPr id="9" name="TextBox 8"/>
          <p:cNvSpPr txBox="1"/>
          <p:nvPr/>
        </p:nvSpPr>
        <p:spPr>
          <a:xfrm>
            <a:off x="6355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Configuration</a:t>
            </a:r>
          </a:p>
          <a:p>
            <a:pPr algn="l">
              <a:lnSpc>
                <a:spcPct val="140000"/>
              </a:lnSpc>
            </a:pPr>
            <a:r>
              <a:rPr sz="2400" b="1">
                <a:solidFill>
                  <a:srgbClr val="00D4FF"/>
                </a:solidFill>
                <a:latin typeface="Calibri"/>
              </a:rPr>
              <a:t>● </a:t>
            </a:r>
            <a:r>
              <a:rPr sz="2400">
                <a:solidFill>
                  <a:srgbClr val="FFFFFF"/>
                </a:solidFill>
                <a:latin typeface="Calibri"/>
              </a:rPr>
              <a:t>Access policies (IAM)</a:t>
            </a:r>
          </a:p>
          <a:p>
            <a:pPr algn="l">
              <a:lnSpc>
                <a:spcPct val="140000"/>
              </a:lnSpc>
            </a:pPr>
            <a:r>
              <a:rPr sz="2400" b="1">
                <a:solidFill>
                  <a:srgbClr val="00D4FF"/>
                </a:solidFill>
                <a:latin typeface="Calibri"/>
              </a:rPr>
              <a:t>● </a:t>
            </a:r>
            <a:r>
              <a:rPr sz="2400">
                <a:solidFill>
                  <a:srgbClr val="FFFFFF"/>
                </a:solidFill>
                <a:latin typeface="Calibri"/>
              </a:rPr>
              <a:t>Data itself</a:t>
            </a:r>
          </a:p>
          <a:p>
            <a:pPr algn="l">
              <a:lnSpc>
                <a:spcPct val="140000"/>
              </a:lnSpc>
            </a:pPr>
            <a:r>
              <a:rPr sz="2400" b="1">
                <a:solidFill>
                  <a:srgbClr val="00D4FF"/>
                </a:solidFill>
                <a:latin typeface="Calibri"/>
              </a:rPr>
              <a:t>● </a:t>
            </a:r>
            <a:r>
              <a:rPr sz="2400">
                <a:solidFill>
                  <a:srgbClr val="FFFFFF"/>
                </a:solidFill>
                <a:latin typeface="Calibri"/>
              </a:rPr>
              <a:t>Encryption choices</a:t>
            </a:r>
          </a:p>
        </p:txBody>
      </p:sp>
      <p:sp>
        <p:nvSpPr>
          <p:cNvPr id="10" name="TextBox 9"/>
          <p:cNvSpPr txBox="1"/>
          <p:nvPr/>
        </p:nvSpPr>
        <p:spPr>
          <a:xfrm>
            <a:off x="457200" y="6035040"/>
            <a:ext cx="11247120" cy="457200"/>
          </a:xfrm>
          <a:prstGeom prst="rect">
            <a:avLst/>
          </a:prstGeom>
          <a:noFill/>
        </p:spPr>
        <p:txBody>
          <a:bodyPr wrap="square" anchor="t">
            <a:spAutoFit/>
          </a:bodyPr>
          <a:lstStyle/>
          <a:p>
            <a:pPr algn="ctr"/>
            <a:r>
              <a:rPr sz="2200" b="1">
                <a:solidFill>
                  <a:srgbClr val="00D4FF"/>
                </a:solidFill>
                <a:latin typeface="Calibri"/>
              </a:rPr>
              <a:t>Almost every cloud DB breach = customer misconfiguration.</a:t>
            </a:r>
          </a:p>
        </p:txBody>
      </p:sp>
      <p:sp>
        <p:nvSpPr>
          <p:cNvPr id="11" name="TextBox 1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2" name="TextBox 1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20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ble of common database ports: MySQL 3306, PostgreSQL 5432, MS SQL 1433, MongoDB 27017, Redis 6379, Elasticsearch 9200, Cassandra 9042." title="Table of common database ports: MySQL 3306, PostgreSQL 5432, MS SQL 1433, MongoD"/>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Common DB Ports — Burn These In</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2286000" cy="548640"/>
          </a:xfrm>
          <a:prstGeom prst="rect">
            <a:avLst/>
          </a:prstGeom>
          <a:noFill/>
        </p:spPr>
        <p:txBody>
          <a:bodyPr wrap="square" anchor="t">
            <a:spAutoFit/>
          </a:bodyPr>
          <a:lstStyle/>
          <a:p>
            <a:pPr algn="r"/>
            <a:r>
              <a:rPr sz="3600" b="1">
                <a:solidFill>
                  <a:srgbClr val="00FF41"/>
                </a:solidFill>
                <a:latin typeface="Calibri"/>
              </a:rPr>
              <a:t>3306</a:t>
            </a:r>
          </a:p>
        </p:txBody>
      </p:sp>
      <p:sp>
        <p:nvSpPr>
          <p:cNvPr id="5" name="TextBox 4"/>
          <p:cNvSpPr txBox="1"/>
          <p:nvPr/>
        </p:nvSpPr>
        <p:spPr>
          <a:xfrm>
            <a:off x="3840480" y="164592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6" name="TextBox 5"/>
          <p:cNvSpPr txBox="1"/>
          <p:nvPr/>
        </p:nvSpPr>
        <p:spPr>
          <a:xfrm>
            <a:off x="4480560" y="1645920"/>
            <a:ext cx="6400800" cy="548640"/>
          </a:xfrm>
          <a:prstGeom prst="rect">
            <a:avLst/>
          </a:prstGeom>
          <a:noFill/>
        </p:spPr>
        <p:txBody>
          <a:bodyPr wrap="square" anchor="t">
            <a:spAutoFit/>
          </a:bodyPr>
          <a:lstStyle/>
          <a:p>
            <a:pPr algn="l"/>
            <a:r>
              <a:rPr sz="3200" b="1">
                <a:solidFill>
                  <a:srgbClr val="FFFFFF"/>
                </a:solidFill>
                <a:latin typeface="Calibri"/>
              </a:rPr>
              <a:t>MySQL / MariaDB</a:t>
            </a:r>
          </a:p>
        </p:txBody>
      </p:sp>
      <p:sp>
        <p:nvSpPr>
          <p:cNvPr id="7" name="TextBox 6"/>
          <p:cNvSpPr txBox="1"/>
          <p:nvPr/>
        </p:nvSpPr>
        <p:spPr>
          <a:xfrm>
            <a:off x="1371600" y="2212848"/>
            <a:ext cx="2286000" cy="548640"/>
          </a:xfrm>
          <a:prstGeom prst="rect">
            <a:avLst/>
          </a:prstGeom>
          <a:noFill/>
        </p:spPr>
        <p:txBody>
          <a:bodyPr wrap="square" anchor="t">
            <a:spAutoFit/>
          </a:bodyPr>
          <a:lstStyle/>
          <a:p>
            <a:pPr algn="r"/>
            <a:r>
              <a:rPr sz="3600" b="1">
                <a:solidFill>
                  <a:srgbClr val="00FF41"/>
                </a:solidFill>
                <a:latin typeface="Calibri"/>
              </a:rPr>
              <a:t>5432</a:t>
            </a:r>
          </a:p>
        </p:txBody>
      </p:sp>
      <p:sp>
        <p:nvSpPr>
          <p:cNvPr id="8" name="TextBox 7"/>
          <p:cNvSpPr txBox="1"/>
          <p:nvPr/>
        </p:nvSpPr>
        <p:spPr>
          <a:xfrm>
            <a:off x="3840480" y="221284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9" name="TextBox 8"/>
          <p:cNvSpPr txBox="1"/>
          <p:nvPr/>
        </p:nvSpPr>
        <p:spPr>
          <a:xfrm>
            <a:off x="4480560" y="2212848"/>
            <a:ext cx="6400800" cy="548640"/>
          </a:xfrm>
          <a:prstGeom prst="rect">
            <a:avLst/>
          </a:prstGeom>
          <a:noFill/>
        </p:spPr>
        <p:txBody>
          <a:bodyPr wrap="square" anchor="t">
            <a:spAutoFit/>
          </a:bodyPr>
          <a:lstStyle/>
          <a:p>
            <a:pPr algn="l"/>
            <a:r>
              <a:rPr sz="3200" b="1">
                <a:solidFill>
                  <a:srgbClr val="FFFFFF"/>
                </a:solidFill>
                <a:latin typeface="Calibri"/>
              </a:rPr>
              <a:t>PostgreSQL</a:t>
            </a:r>
          </a:p>
        </p:txBody>
      </p:sp>
      <p:sp>
        <p:nvSpPr>
          <p:cNvPr id="10" name="TextBox 9"/>
          <p:cNvSpPr txBox="1"/>
          <p:nvPr/>
        </p:nvSpPr>
        <p:spPr>
          <a:xfrm>
            <a:off x="1371600" y="2779776"/>
            <a:ext cx="2286000" cy="548640"/>
          </a:xfrm>
          <a:prstGeom prst="rect">
            <a:avLst/>
          </a:prstGeom>
          <a:noFill/>
        </p:spPr>
        <p:txBody>
          <a:bodyPr wrap="square" anchor="t">
            <a:spAutoFit/>
          </a:bodyPr>
          <a:lstStyle/>
          <a:p>
            <a:pPr algn="r"/>
            <a:r>
              <a:rPr sz="3600" b="1">
                <a:solidFill>
                  <a:srgbClr val="00FF41"/>
                </a:solidFill>
                <a:latin typeface="Calibri"/>
              </a:rPr>
              <a:t>1433</a:t>
            </a:r>
          </a:p>
        </p:txBody>
      </p:sp>
      <p:sp>
        <p:nvSpPr>
          <p:cNvPr id="11" name="TextBox 10"/>
          <p:cNvSpPr txBox="1"/>
          <p:nvPr/>
        </p:nvSpPr>
        <p:spPr>
          <a:xfrm>
            <a:off x="3840480" y="2779776"/>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2" name="TextBox 11"/>
          <p:cNvSpPr txBox="1"/>
          <p:nvPr/>
        </p:nvSpPr>
        <p:spPr>
          <a:xfrm>
            <a:off x="4480560" y="2779776"/>
            <a:ext cx="6400800" cy="548640"/>
          </a:xfrm>
          <a:prstGeom prst="rect">
            <a:avLst/>
          </a:prstGeom>
          <a:noFill/>
        </p:spPr>
        <p:txBody>
          <a:bodyPr wrap="square" anchor="t">
            <a:spAutoFit/>
          </a:bodyPr>
          <a:lstStyle/>
          <a:p>
            <a:pPr algn="l"/>
            <a:r>
              <a:rPr sz="3200" b="1">
                <a:solidFill>
                  <a:srgbClr val="FFFFFF"/>
                </a:solidFill>
                <a:latin typeface="Calibri"/>
              </a:rPr>
              <a:t>Microsoft SQL Server</a:t>
            </a:r>
          </a:p>
        </p:txBody>
      </p:sp>
      <p:sp>
        <p:nvSpPr>
          <p:cNvPr id="13" name="TextBox 12"/>
          <p:cNvSpPr txBox="1"/>
          <p:nvPr/>
        </p:nvSpPr>
        <p:spPr>
          <a:xfrm>
            <a:off x="1371600" y="3346704"/>
            <a:ext cx="2286000" cy="548640"/>
          </a:xfrm>
          <a:prstGeom prst="rect">
            <a:avLst/>
          </a:prstGeom>
          <a:noFill/>
        </p:spPr>
        <p:txBody>
          <a:bodyPr wrap="square" anchor="t">
            <a:spAutoFit/>
          </a:bodyPr>
          <a:lstStyle/>
          <a:p>
            <a:pPr algn="r"/>
            <a:r>
              <a:rPr sz="3600" b="1">
                <a:solidFill>
                  <a:srgbClr val="00FF41"/>
                </a:solidFill>
                <a:latin typeface="Calibri"/>
              </a:rPr>
              <a:t>27017</a:t>
            </a:r>
          </a:p>
        </p:txBody>
      </p:sp>
      <p:sp>
        <p:nvSpPr>
          <p:cNvPr id="14" name="TextBox 13"/>
          <p:cNvSpPr txBox="1"/>
          <p:nvPr/>
        </p:nvSpPr>
        <p:spPr>
          <a:xfrm>
            <a:off x="3840480" y="3346704"/>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5" name="TextBox 14"/>
          <p:cNvSpPr txBox="1"/>
          <p:nvPr/>
        </p:nvSpPr>
        <p:spPr>
          <a:xfrm>
            <a:off x="4480560" y="3346704"/>
            <a:ext cx="6400800" cy="548640"/>
          </a:xfrm>
          <a:prstGeom prst="rect">
            <a:avLst/>
          </a:prstGeom>
          <a:noFill/>
        </p:spPr>
        <p:txBody>
          <a:bodyPr wrap="square" anchor="t">
            <a:spAutoFit/>
          </a:bodyPr>
          <a:lstStyle/>
          <a:p>
            <a:pPr algn="l"/>
            <a:r>
              <a:rPr sz="3200" b="1">
                <a:solidFill>
                  <a:srgbClr val="FFFFFF"/>
                </a:solidFill>
                <a:latin typeface="Calibri"/>
              </a:rPr>
              <a:t>MongoDB</a:t>
            </a:r>
          </a:p>
        </p:txBody>
      </p:sp>
      <p:sp>
        <p:nvSpPr>
          <p:cNvPr id="16" name="TextBox 15"/>
          <p:cNvSpPr txBox="1"/>
          <p:nvPr/>
        </p:nvSpPr>
        <p:spPr>
          <a:xfrm>
            <a:off x="1371600" y="3913632"/>
            <a:ext cx="2286000" cy="548640"/>
          </a:xfrm>
          <a:prstGeom prst="rect">
            <a:avLst/>
          </a:prstGeom>
          <a:noFill/>
        </p:spPr>
        <p:txBody>
          <a:bodyPr wrap="square" anchor="t">
            <a:spAutoFit/>
          </a:bodyPr>
          <a:lstStyle/>
          <a:p>
            <a:pPr algn="r"/>
            <a:r>
              <a:rPr sz="3600" b="1">
                <a:solidFill>
                  <a:srgbClr val="00FF41"/>
                </a:solidFill>
                <a:latin typeface="Calibri"/>
              </a:rPr>
              <a:t>6379</a:t>
            </a:r>
          </a:p>
        </p:txBody>
      </p:sp>
      <p:sp>
        <p:nvSpPr>
          <p:cNvPr id="17" name="TextBox 16"/>
          <p:cNvSpPr txBox="1"/>
          <p:nvPr/>
        </p:nvSpPr>
        <p:spPr>
          <a:xfrm>
            <a:off x="3840480" y="3913632"/>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8" name="TextBox 17"/>
          <p:cNvSpPr txBox="1"/>
          <p:nvPr/>
        </p:nvSpPr>
        <p:spPr>
          <a:xfrm>
            <a:off x="4480560" y="3913632"/>
            <a:ext cx="6400800" cy="548640"/>
          </a:xfrm>
          <a:prstGeom prst="rect">
            <a:avLst/>
          </a:prstGeom>
          <a:noFill/>
        </p:spPr>
        <p:txBody>
          <a:bodyPr wrap="square" anchor="t">
            <a:spAutoFit/>
          </a:bodyPr>
          <a:lstStyle/>
          <a:p>
            <a:pPr algn="l"/>
            <a:r>
              <a:rPr sz="3200" b="1">
                <a:solidFill>
                  <a:srgbClr val="FFFFFF"/>
                </a:solidFill>
                <a:latin typeface="Calibri"/>
              </a:rPr>
              <a:t>Redis</a:t>
            </a:r>
          </a:p>
        </p:txBody>
      </p:sp>
      <p:sp>
        <p:nvSpPr>
          <p:cNvPr id="19" name="TextBox 18"/>
          <p:cNvSpPr txBox="1"/>
          <p:nvPr/>
        </p:nvSpPr>
        <p:spPr>
          <a:xfrm>
            <a:off x="1371600" y="4480560"/>
            <a:ext cx="2286000" cy="548640"/>
          </a:xfrm>
          <a:prstGeom prst="rect">
            <a:avLst/>
          </a:prstGeom>
          <a:noFill/>
        </p:spPr>
        <p:txBody>
          <a:bodyPr wrap="square" anchor="t">
            <a:spAutoFit/>
          </a:bodyPr>
          <a:lstStyle/>
          <a:p>
            <a:pPr algn="r"/>
            <a:r>
              <a:rPr sz="3600" b="1">
                <a:solidFill>
                  <a:srgbClr val="00FF41"/>
                </a:solidFill>
                <a:latin typeface="Calibri"/>
              </a:rPr>
              <a:t>9200</a:t>
            </a:r>
          </a:p>
        </p:txBody>
      </p:sp>
      <p:sp>
        <p:nvSpPr>
          <p:cNvPr id="20" name="TextBox 19"/>
          <p:cNvSpPr txBox="1"/>
          <p:nvPr/>
        </p:nvSpPr>
        <p:spPr>
          <a:xfrm>
            <a:off x="3840480" y="448056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1" name="TextBox 20"/>
          <p:cNvSpPr txBox="1"/>
          <p:nvPr/>
        </p:nvSpPr>
        <p:spPr>
          <a:xfrm>
            <a:off x="4480560" y="4480560"/>
            <a:ext cx="6400800" cy="548640"/>
          </a:xfrm>
          <a:prstGeom prst="rect">
            <a:avLst/>
          </a:prstGeom>
          <a:noFill/>
        </p:spPr>
        <p:txBody>
          <a:bodyPr wrap="square" anchor="t">
            <a:spAutoFit/>
          </a:bodyPr>
          <a:lstStyle/>
          <a:p>
            <a:pPr algn="l"/>
            <a:r>
              <a:rPr sz="3200" b="1">
                <a:solidFill>
                  <a:srgbClr val="FFFFFF"/>
                </a:solidFill>
                <a:latin typeface="Calibri"/>
              </a:rPr>
              <a:t>Elasticsearch</a:t>
            </a:r>
          </a:p>
        </p:txBody>
      </p:sp>
      <p:sp>
        <p:nvSpPr>
          <p:cNvPr id="22" name="TextBox 21"/>
          <p:cNvSpPr txBox="1"/>
          <p:nvPr/>
        </p:nvSpPr>
        <p:spPr>
          <a:xfrm>
            <a:off x="1371600" y="5047488"/>
            <a:ext cx="2286000" cy="548640"/>
          </a:xfrm>
          <a:prstGeom prst="rect">
            <a:avLst/>
          </a:prstGeom>
          <a:noFill/>
        </p:spPr>
        <p:txBody>
          <a:bodyPr wrap="square" anchor="t">
            <a:spAutoFit/>
          </a:bodyPr>
          <a:lstStyle/>
          <a:p>
            <a:pPr algn="r"/>
            <a:r>
              <a:rPr sz="3600" b="1">
                <a:solidFill>
                  <a:srgbClr val="00FF41"/>
                </a:solidFill>
                <a:latin typeface="Calibri"/>
              </a:rPr>
              <a:t>9042</a:t>
            </a:r>
          </a:p>
        </p:txBody>
      </p:sp>
      <p:sp>
        <p:nvSpPr>
          <p:cNvPr id="23" name="TextBox 22"/>
          <p:cNvSpPr txBox="1"/>
          <p:nvPr/>
        </p:nvSpPr>
        <p:spPr>
          <a:xfrm>
            <a:off x="3840480" y="504748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4" name="TextBox 23"/>
          <p:cNvSpPr txBox="1"/>
          <p:nvPr/>
        </p:nvSpPr>
        <p:spPr>
          <a:xfrm>
            <a:off x="4480560" y="5047488"/>
            <a:ext cx="6400800" cy="548640"/>
          </a:xfrm>
          <a:prstGeom prst="rect">
            <a:avLst/>
          </a:prstGeom>
          <a:noFill/>
        </p:spPr>
        <p:txBody>
          <a:bodyPr wrap="square" anchor="t">
            <a:spAutoFit/>
          </a:bodyPr>
          <a:lstStyle/>
          <a:p>
            <a:pPr algn="l"/>
            <a:r>
              <a:rPr sz="3200" b="1">
                <a:solidFill>
                  <a:srgbClr val="FFFFFF"/>
                </a:solidFill>
                <a:latin typeface="Calibri"/>
              </a:rPr>
              <a:t>Cassandra</a:t>
            </a:r>
          </a:p>
        </p:txBody>
      </p:sp>
      <p:sp>
        <p:nvSpPr>
          <p:cNvPr id="25" name="TextBox 24"/>
          <p:cNvSpPr txBox="1"/>
          <p:nvPr/>
        </p:nvSpPr>
        <p:spPr>
          <a:xfrm>
            <a:off x="457200" y="5989320"/>
            <a:ext cx="11247120" cy="365760"/>
          </a:xfrm>
          <a:prstGeom prst="rect">
            <a:avLst/>
          </a:prstGeom>
          <a:noFill/>
        </p:spPr>
        <p:txBody>
          <a:bodyPr wrap="square" anchor="t">
            <a:spAutoFit/>
          </a:bodyPr>
          <a:lstStyle/>
          <a:p>
            <a:pPr algn="ctr"/>
            <a:r>
              <a:rPr sz="2200" b="1">
                <a:solidFill>
                  <a:srgbClr val="FF6B35"/>
                </a:solidFill>
                <a:latin typeface="Calibri"/>
              </a:rPr>
              <a:t>Any of these exposed to the internet = a finding. Every time.</a:t>
            </a:r>
          </a:p>
        </p:txBody>
      </p:sp>
      <p:sp>
        <p:nvSpPr>
          <p:cNvPr id="26" name="TextBox 25"/>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27" name="TextBox 2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21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Markdown files are now a database — the kind an LLM reads from via embeddings and RAG." title="Statement slide: Markdown files are now a database — the kind an LLM reads from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Notes Are a Database Now</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400" b="0">
                <a:solidFill>
                  <a:srgbClr val="FFFFFF"/>
                </a:solidFill>
                <a:latin typeface="Calibri"/>
              </a:rPr>
              <a:t>Markdown files are now</a:t>
            </a:r>
          </a:p>
        </p:txBody>
      </p:sp>
      <p:sp>
        <p:nvSpPr>
          <p:cNvPr id="5" name="TextBox 4"/>
          <p:cNvSpPr txBox="1"/>
          <p:nvPr/>
        </p:nvSpPr>
        <p:spPr>
          <a:xfrm>
            <a:off x="457200" y="2834640"/>
            <a:ext cx="11247120" cy="914400"/>
          </a:xfrm>
          <a:prstGeom prst="rect">
            <a:avLst/>
          </a:prstGeom>
          <a:noFill/>
        </p:spPr>
        <p:txBody>
          <a:bodyPr wrap="square" anchor="t">
            <a:spAutoFit/>
          </a:bodyPr>
          <a:lstStyle/>
          <a:p>
            <a:pPr algn="ctr"/>
            <a:r>
              <a:rPr sz="4400" b="1">
                <a:solidFill>
                  <a:srgbClr val="00FF41"/>
                </a:solidFill>
                <a:latin typeface="Calibri"/>
              </a:rPr>
              <a:t>the database an LLM reads from.</a:t>
            </a:r>
          </a:p>
        </p:txBody>
      </p:sp>
      <p:sp>
        <p:nvSpPr>
          <p:cNvPr id="6" name="TextBox 5"/>
          <p:cNvSpPr txBox="1"/>
          <p:nvPr/>
        </p:nvSpPr>
        <p:spPr>
          <a:xfrm>
            <a:off x="457200" y="4206240"/>
            <a:ext cx="11247120" cy="548640"/>
          </a:xfrm>
          <a:prstGeom prst="rect">
            <a:avLst/>
          </a:prstGeom>
          <a:noFill/>
        </p:spPr>
        <p:txBody>
          <a:bodyPr wrap="square" anchor="t">
            <a:spAutoFit/>
          </a:bodyPr>
          <a:lstStyle/>
          <a:p>
            <a:pPr algn="ctr"/>
            <a:r>
              <a:rPr sz="2400" b="0">
                <a:solidFill>
                  <a:srgbClr val="00D4FF"/>
                </a:solidFill>
                <a:latin typeface="Calibri"/>
              </a:rPr>
              <a:t>Obsidian vaults  •  Wiki exports  •  Meeting notes  •  GitHub docs</a:t>
            </a:r>
          </a:p>
        </p:txBody>
      </p:sp>
      <p:sp>
        <p:nvSpPr>
          <p:cNvPr id="7" name="TextBox 6"/>
          <p:cNvSpPr txBox="1"/>
          <p:nvPr/>
        </p:nvSpPr>
        <p:spPr>
          <a:xfrm>
            <a:off x="457200" y="4937760"/>
            <a:ext cx="11247120" cy="914400"/>
          </a:xfrm>
          <a:prstGeom prst="rect">
            <a:avLst/>
          </a:prstGeom>
          <a:noFill/>
        </p:spPr>
        <p:txBody>
          <a:bodyPr wrap="square" anchor="t">
            <a:spAutoFit/>
          </a:bodyPr>
          <a:lstStyle/>
          <a:p>
            <a:pPr algn="ctr"/>
            <a:r>
              <a:rPr sz="2600" b="0">
                <a:solidFill>
                  <a:srgbClr val="CCCCD6"/>
                </a:solidFill>
                <a:latin typeface="Calibri"/>
              </a:rPr>
              <a:t>Embedded → Vector DB → LLM context → answer to user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22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Pipeline diagram: markdown files → embedder → vector DB → LLM prompt → answer. The trust boundary sits between authors and the embedder." title="Pipeline diagram: markdown files → embedder → vector DB → LLM prompt → answer. T"/>
          <p:cNvSpPr txBox="1"/>
          <p:nvPr/>
        </p:nvSpPr>
        <p:spPr>
          <a:xfrm>
            <a:off x="457200" y="320040"/>
            <a:ext cx="11247120" cy="1005840"/>
          </a:xfrm>
          <a:prstGeom prst="rect">
            <a:avLst/>
          </a:prstGeom>
          <a:noFill/>
        </p:spPr>
        <p:txBody>
          <a:bodyPr wrap="square" anchor="t">
            <a:spAutoFit/>
          </a:bodyPr>
          <a:lstStyle/>
          <a:p>
            <a:pPr algn="l"/>
            <a:r>
              <a:rPr sz="3600" b="1">
                <a:solidFill>
                  <a:srgbClr val="00FF41"/>
                </a:solidFill>
                <a:latin typeface="Calibri"/>
              </a:rPr>
              <a:t>RAG Pipeline — Where's the Trust Boundary?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651760"/>
            <a:ext cx="1920240" cy="640080"/>
          </a:xfrm>
          <a:prstGeom prst="rect">
            <a:avLst/>
          </a:prstGeom>
          <a:noFill/>
        </p:spPr>
        <p:txBody>
          <a:bodyPr wrap="square" anchor="t">
            <a:spAutoFit/>
          </a:bodyPr>
          <a:lstStyle/>
          <a:p>
            <a:pPr algn="ctr"/>
            <a:r>
              <a:rPr sz="2200" b="1">
                <a:solidFill>
                  <a:srgbClr val="00D4FF"/>
                </a:solidFill>
                <a:latin typeface="Calibri"/>
              </a:rPr>
              <a:t>.md files</a:t>
            </a:r>
          </a:p>
        </p:txBody>
      </p:sp>
      <p:sp>
        <p:nvSpPr>
          <p:cNvPr id="6" name="TextBox 5"/>
          <p:cNvSpPr txBox="1"/>
          <p:nvPr/>
        </p:nvSpPr>
        <p:spPr>
          <a:xfrm>
            <a:off x="2395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7" name="Rounded Rectangle 6"/>
          <p:cNvSpPr/>
          <p:nvPr/>
        </p:nvSpPr>
        <p:spPr>
          <a:xfrm>
            <a:off x="2743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2651760"/>
            <a:ext cx="1920240" cy="640080"/>
          </a:xfrm>
          <a:prstGeom prst="rect">
            <a:avLst/>
          </a:prstGeom>
          <a:noFill/>
        </p:spPr>
        <p:txBody>
          <a:bodyPr wrap="square" anchor="t">
            <a:spAutoFit/>
          </a:bodyPr>
          <a:lstStyle/>
          <a:p>
            <a:pPr algn="ctr"/>
            <a:r>
              <a:rPr sz="2200" b="1">
                <a:solidFill>
                  <a:srgbClr val="FFFFFF"/>
                </a:solidFill>
                <a:latin typeface="Calibri"/>
              </a:rPr>
              <a:t>Embedder</a:t>
            </a:r>
          </a:p>
        </p:txBody>
      </p:sp>
      <p:sp>
        <p:nvSpPr>
          <p:cNvPr id="9" name="TextBox 8"/>
          <p:cNvSpPr txBox="1"/>
          <p:nvPr/>
        </p:nvSpPr>
        <p:spPr>
          <a:xfrm>
            <a:off x="4681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0" name="Rounded Rectangle 9"/>
          <p:cNvSpPr/>
          <p:nvPr/>
        </p:nvSpPr>
        <p:spPr>
          <a:xfrm>
            <a:off x="5029200" y="2377440"/>
            <a:ext cx="1920240" cy="1097280"/>
          </a:xfrm>
          <a:prstGeom prst="roundRect">
            <a:avLst/>
          </a:prstGeom>
          <a:solidFill>
            <a:srgbClr val="24243E"/>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2651760"/>
            <a:ext cx="1920240" cy="640080"/>
          </a:xfrm>
          <a:prstGeom prst="rect">
            <a:avLst/>
          </a:prstGeom>
          <a:noFill/>
        </p:spPr>
        <p:txBody>
          <a:bodyPr wrap="square" anchor="t">
            <a:spAutoFit/>
          </a:bodyPr>
          <a:lstStyle/>
          <a:p>
            <a:pPr algn="ctr"/>
            <a:r>
              <a:rPr sz="2200" b="1">
                <a:solidFill>
                  <a:srgbClr val="00FF41"/>
                </a:solidFill>
                <a:latin typeface="Calibri"/>
              </a:rPr>
              <a:t>Vector DB</a:t>
            </a:r>
          </a:p>
        </p:txBody>
      </p:sp>
      <p:sp>
        <p:nvSpPr>
          <p:cNvPr id="12" name="TextBox 11"/>
          <p:cNvSpPr txBox="1"/>
          <p:nvPr/>
        </p:nvSpPr>
        <p:spPr>
          <a:xfrm>
            <a:off x="6967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3" name="Rounded Rectangle 12"/>
          <p:cNvSpPr/>
          <p:nvPr/>
        </p:nvSpPr>
        <p:spPr>
          <a:xfrm>
            <a:off x="7315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2651760"/>
            <a:ext cx="1920240" cy="640080"/>
          </a:xfrm>
          <a:prstGeom prst="rect">
            <a:avLst/>
          </a:prstGeom>
          <a:noFill/>
        </p:spPr>
        <p:txBody>
          <a:bodyPr wrap="square" anchor="t">
            <a:spAutoFit/>
          </a:bodyPr>
          <a:lstStyle/>
          <a:p>
            <a:pPr algn="ctr"/>
            <a:r>
              <a:rPr sz="2200" b="1">
                <a:solidFill>
                  <a:srgbClr val="FFFFFF"/>
                </a:solidFill>
                <a:latin typeface="Calibri"/>
              </a:rPr>
              <a:t>LLM prompt</a:t>
            </a:r>
          </a:p>
        </p:txBody>
      </p:sp>
      <p:sp>
        <p:nvSpPr>
          <p:cNvPr id="15" name="TextBox 14"/>
          <p:cNvSpPr txBox="1"/>
          <p:nvPr/>
        </p:nvSpPr>
        <p:spPr>
          <a:xfrm>
            <a:off x="9253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6" name="Rounded Rectangle 15"/>
          <p:cNvSpPr/>
          <p:nvPr/>
        </p:nvSpPr>
        <p:spPr>
          <a:xfrm>
            <a:off x="9601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651760"/>
            <a:ext cx="1920240" cy="640080"/>
          </a:xfrm>
          <a:prstGeom prst="rect">
            <a:avLst/>
          </a:prstGeom>
          <a:noFill/>
        </p:spPr>
        <p:txBody>
          <a:bodyPr wrap="square" anchor="t">
            <a:spAutoFit/>
          </a:bodyPr>
          <a:lstStyle/>
          <a:p>
            <a:pPr algn="ctr"/>
            <a:r>
              <a:rPr sz="2200" b="1">
                <a:solidFill>
                  <a:srgbClr val="00D4FF"/>
                </a:solidFill>
                <a:latin typeface="Calibri"/>
              </a:rPr>
              <a:t>Answer</a:t>
            </a:r>
          </a:p>
        </p:txBody>
      </p:sp>
      <p:sp>
        <p:nvSpPr>
          <p:cNvPr id="18" name="Rectangle 17"/>
          <p:cNvSpPr/>
          <p:nvPr/>
        </p:nvSpPr>
        <p:spPr>
          <a:xfrm>
            <a:off x="2286000" y="2103120"/>
            <a:ext cx="54864" cy="164592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40480"/>
            <a:ext cx="2743200" cy="457200"/>
          </a:xfrm>
          <a:prstGeom prst="rect">
            <a:avLst/>
          </a:prstGeom>
          <a:noFill/>
        </p:spPr>
        <p:txBody>
          <a:bodyPr wrap="square" anchor="t">
            <a:spAutoFit/>
          </a:bodyPr>
          <a:lstStyle/>
          <a:p>
            <a:pPr algn="ctr"/>
            <a:r>
              <a:rPr sz="1800" b="1">
                <a:solidFill>
                  <a:srgbClr val="FF6B35"/>
                </a:solidFill>
                <a:latin typeface="Calibri"/>
              </a:rPr>
              <a:t>⚠ TRUST BOUNDARY</a:t>
            </a:r>
          </a:p>
        </p:txBody>
      </p:sp>
      <p:sp>
        <p:nvSpPr>
          <p:cNvPr id="20" name="TextBox 19"/>
          <p:cNvSpPr txBox="1"/>
          <p:nvPr/>
        </p:nvSpPr>
        <p:spPr>
          <a:xfrm>
            <a:off x="457200" y="4846320"/>
            <a:ext cx="11247120" cy="1371600"/>
          </a:xfrm>
          <a:prstGeom prst="rect">
            <a:avLst/>
          </a:prstGeom>
          <a:noFill/>
        </p:spPr>
        <p:txBody>
          <a:bodyPr wrap="square" anchor="t">
            <a:spAutoFit/>
          </a:bodyPr>
          <a:lstStyle/>
          <a:p>
            <a:pPr algn="ctr"/>
            <a:r>
              <a:rPr sz="2600" b="1">
                <a:solidFill>
                  <a:srgbClr val="FFFFFF"/>
                </a:solidFill>
                <a:latin typeface="Calibri"/>
              </a:rPr>
              <a:t>If anyone can edit those .md files, anyone can plant</a:t>
            </a:r>
          </a:p>
          <a:p>
            <a:pPr algn="ctr"/>
            <a:r>
              <a:rPr sz="2600" b="1">
                <a:solidFill>
                  <a:srgbClr val="FFFFFF"/>
                </a:solidFill>
                <a:latin typeface="Calibri"/>
              </a:rPr>
              <a:t>content the AI will quote as authoritative.</a:t>
            </a:r>
          </a:p>
        </p:txBody>
      </p:sp>
      <p:sp>
        <p:nvSpPr>
          <p:cNvPr id="21" name="TextBox 2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22" name="TextBox 2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23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keaway slide: Treat markdown like a database — because to the LLM, it is. Apply access control, code review, and diff tracking." title="Takeaway slide: Treat markdown like a database — because to the LLM, it is. Appl"/>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Takeaway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11247120" cy="1371600"/>
          </a:xfrm>
          <a:prstGeom prst="rect">
            <a:avLst/>
          </a:prstGeom>
          <a:noFill/>
        </p:spPr>
        <p:txBody>
          <a:bodyPr wrap="square" anchor="t">
            <a:spAutoFit/>
          </a:bodyPr>
          <a:lstStyle/>
          <a:p>
            <a:pPr algn="ctr"/>
            <a:r>
              <a:rPr sz="5400" b="1">
                <a:solidFill>
                  <a:srgbClr val="00FF41"/>
                </a:solidFill>
                <a:latin typeface="Calibri"/>
              </a:rPr>
              <a:t>Treat markdown like a database.</a:t>
            </a:r>
          </a:p>
        </p:txBody>
      </p:sp>
      <p:sp>
        <p:nvSpPr>
          <p:cNvPr id="5" name="TextBox 4"/>
          <p:cNvSpPr txBox="1"/>
          <p:nvPr/>
        </p:nvSpPr>
        <p:spPr>
          <a:xfrm>
            <a:off x="457200" y="3383280"/>
            <a:ext cx="11247120" cy="914400"/>
          </a:xfrm>
          <a:prstGeom prst="rect">
            <a:avLst/>
          </a:prstGeom>
          <a:noFill/>
        </p:spPr>
        <p:txBody>
          <a:bodyPr wrap="square" anchor="t">
            <a:spAutoFit/>
          </a:bodyPr>
          <a:lstStyle/>
          <a:p>
            <a:pPr algn="ctr"/>
            <a:r>
              <a:rPr sz="4200" b="0">
                <a:solidFill>
                  <a:srgbClr val="FFFFFF"/>
                </a:solidFill>
                <a:latin typeface="Calibri"/>
              </a:rPr>
              <a:t>Because to the LLM, it is.</a:t>
            </a:r>
          </a:p>
        </p:txBody>
      </p:sp>
      <p:sp>
        <p:nvSpPr>
          <p:cNvPr id="6" name="TextBox 5"/>
          <p:cNvSpPr txBox="1"/>
          <p:nvPr/>
        </p:nvSpPr>
        <p:spPr>
          <a:xfrm>
            <a:off x="1828800" y="4572000"/>
            <a:ext cx="8503920" cy="182880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Access control on the docs folder.</a:t>
            </a:r>
          </a:p>
          <a:p>
            <a:pPr algn="l">
              <a:lnSpc>
                <a:spcPct val="140000"/>
              </a:lnSpc>
            </a:pPr>
            <a:r>
              <a:rPr sz="2400" b="1">
                <a:solidFill>
                  <a:srgbClr val="00D4FF"/>
                </a:solidFill>
                <a:latin typeface="Calibri"/>
              </a:rPr>
              <a:t>▶ </a:t>
            </a:r>
            <a:r>
              <a:rPr sz="2400">
                <a:solidFill>
                  <a:srgbClr val="FFFFFF"/>
                </a:solidFill>
                <a:latin typeface="Calibri"/>
              </a:rPr>
              <a:t>Code review on .md changes.</a:t>
            </a:r>
          </a:p>
          <a:p>
            <a:pPr algn="l">
              <a:lnSpc>
                <a:spcPct val="140000"/>
              </a:lnSpc>
            </a:pPr>
            <a:r>
              <a:rPr sz="2400" b="1">
                <a:solidFill>
                  <a:srgbClr val="00D4FF"/>
                </a:solidFill>
                <a:latin typeface="Calibri"/>
              </a:rPr>
              <a:t>▶ </a:t>
            </a:r>
            <a:r>
              <a:rPr sz="2400">
                <a:solidFill>
                  <a:srgbClr val="FFFFFF"/>
                </a:solidFill>
                <a:latin typeface="Calibri"/>
              </a:rPr>
              <a:t>Diff tracking on the wiki.</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24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ection divider: SECURITY. What's actually getting hit in 2026" title="Section divider: SECURITY. What's actually getting hit in 2026"/>
          <p:cNvSpPr txBox="1"/>
          <p:nvPr/>
        </p:nvSpPr>
        <p:spPr>
          <a:xfrm>
            <a:off x="457200" y="2560320"/>
            <a:ext cx="11247120" cy="1645920"/>
          </a:xfrm>
          <a:prstGeom prst="rect">
            <a:avLst/>
          </a:prstGeom>
          <a:noFill/>
        </p:spPr>
        <p:txBody>
          <a:bodyPr wrap="square" anchor="t">
            <a:spAutoFit/>
          </a:bodyPr>
          <a:lstStyle/>
          <a:p>
            <a:pPr algn="ctr"/>
            <a:r>
              <a:rPr sz="9600" b="1">
                <a:solidFill>
                  <a:srgbClr val="00FF41"/>
                </a:solidFill>
                <a:latin typeface="Calibri"/>
              </a:rPr>
              <a:t>SECURITY</a:t>
            </a:r>
          </a:p>
        </p:txBody>
      </p:sp>
      <p:sp>
        <p:nvSpPr>
          <p:cNvPr id="3" name="Rectangle 2"/>
          <p:cNvSpPr/>
          <p:nvPr/>
        </p:nvSpPr>
        <p:spPr>
          <a:xfrm>
            <a:off x="4724704" y="4297680"/>
            <a:ext cx="2743200" cy="9144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0"/>
            <a:ext cx="11247120" cy="731520"/>
          </a:xfrm>
          <a:prstGeom prst="rect">
            <a:avLst/>
          </a:prstGeom>
          <a:noFill/>
        </p:spPr>
        <p:txBody>
          <a:bodyPr wrap="square" anchor="t">
            <a:spAutoFit/>
          </a:bodyPr>
          <a:lstStyle/>
          <a:p>
            <a:pPr algn="ctr"/>
            <a:r>
              <a:rPr sz="3200" b="0">
                <a:solidFill>
                  <a:srgbClr val="FFFFFF"/>
                </a:solidFill>
                <a:latin typeface="Calibri"/>
              </a:rPr>
              <a:t>What's actually getting hit in 2026</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25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 to xkcd #327 'Exploits of a Mom' (Bobby Tables): a mother names her son Robert'); DROP TABLE Students;-- and the school's student table is dropped. URL: https://xkcd.com/327/" title="Reference to xkcd #327 'Exploits of a Mom' (Bobby Tables): a mother names her so"/>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xkcd #327 — Bobby Tables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737360"/>
            <a:ext cx="11247120" cy="3200400"/>
          </a:xfrm>
          <a:prstGeom prst="rect">
            <a:avLst/>
          </a:prstGeom>
          <a:solidFill>
            <a:srgbClr val="24243E"/>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10698480" cy="548640"/>
          </a:xfrm>
          <a:prstGeom prst="rect">
            <a:avLst/>
          </a:prstGeom>
          <a:noFill/>
        </p:spPr>
        <p:txBody>
          <a:bodyPr wrap="square" anchor="t">
            <a:spAutoFit/>
          </a:bodyPr>
          <a:lstStyle/>
          <a:p>
            <a:pPr algn="l"/>
            <a:r>
              <a:rPr sz="2400" b="0">
                <a:solidFill>
                  <a:srgbClr val="FFFFFF"/>
                </a:solidFill>
                <a:latin typeface="Calibri"/>
              </a:rPr>
              <a:t>School:  "Hi, this is your son's school. We're having</a:t>
            </a:r>
          </a:p>
        </p:txBody>
      </p:sp>
      <p:sp>
        <p:nvSpPr>
          <p:cNvPr id="6" name="TextBox 5"/>
          <p:cNvSpPr txBox="1"/>
          <p:nvPr/>
        </p:nvSpPr>
        <p:spPr>
          <a:xfrm>
            <a:off x="731520" y="2514600"/>
            <a:ext cx="10698480" cy="548640"/>
          </a:xfrm>
          <a:prstGeom prst="rect">
            <a:avLst/>
          </a:prstGeom>
          <a:noFill/>
        </p:spPr>
        <p:txBody>
          <a:bodyPr wrap="square" anchor="t">
            <a:spAutoFit/>
          </a:bodyPr>
          <a:lstStyle/>
          <a:p>
            <a:pPr algn="l"/>
            <a:r>
              <a:rPr sz="2400" b="0">
                <a:solidFill>
                  <a:srgbClr val="FFFFFF"/>
                </a:solidFill>
                <a:latin typeface="Calibri"/>
              </a:rPr>
              <a:t>         some computer trouble."</a:t>
            </a:r>
          </a:p>
        </p:txBody>
      </p:sp>
      <p:sp>
        <p:nvSpPr>
          <p:cNvPr id="7" name="TextBox 6"/>
          <p:cNvSpPr txBox="1"/>
          <p:nvPr/>
        </p:nvSpPr>
        <p:spPr>
          <a:xfrm>
            <a:off x="731520" y="3154680"/>
            <a:ext cx="10698480" cy="548640"/>
          </a:xfrm>
          <a:prstGeom prst="rect">
            <a:avLst/>
          </a:prstGeom>
          <a:noFill/>
        </p:spPr>
        <p:txBody>
          <a:bodyPr wrap="square" anchor="t">
            <a:spAutoFit/>
          </a:bodyPr>
          <a:lstStyle/>
          <a:p>
            <a:pPr algn="l"/>
            <a:r>
              <a:rPr sz="2400" b="0">
                <a:solidFill>
                  <a:srgbClr val="FFFFFF"/>
                </a:solidFill>
                <a:latin typeface="Calibri"/>
              </a:rPr>
              <a:t>Mom:     "Oh dear — did he break something?"</a:t>
            </a:r>
          </a:p>
        </p:txBody>
      </p:sp>
      <p:sp>
        <p:nvSpPr>
          <p:cNvPr id="8" name="TextBox 7"/>
          <p:cNvSpPr txBox="1"/>
          <p:nvPr/>
        </p:nvSpPr>
        <p:spPr>
          <a:xfrm>
            <a:off x="731520" y="3794760"/>
            <a:ext cx="10698480" cy="548640"/>
          </a:xfrm>
          <a:prstGeom prst="rect">
            <a:avLst/>
          </a:prstGeom>
          <a:noFill/>
        </p:spPr>
        <p:txBody>
          <a:bodyPr wrap="square" anchor="t">
            <a:spAutoFit/>
          </a:bodyPr>
          <a:lstStyle/>
          <a:p>
            <a:pPr algn="l"/>
            <a:r>
              <a:rPr sz="2400" b="0">
                <a:solidFill>
                  <a:srgbClr val="00FF41"/>
                </a:solidFill>
                <a:latin typeface="Calibri"/>
              </a:rPr>
              <a:t>School:  "Did you really name your son  Robert');</a:t>
            </a:r>
          </a:p>
        </p:txBody>
      </p:sp>
      <p:sp>
        <p:nvSpPr>
          <p:cNvPr id="9" name="TextBox 8"/>
          <p:cNvSpPr txBox="1"/>
          <p:nvPr/>
        </p:nvSpPr>
        <p:spPr>
          <a:xfrm>
            <a:off x="731520" y="4297680"/>
            <a:ext cx="10698480" cy="548640"/>
          </a:xfrm>
          <a:prstGeom prst="rect">
            <a:avLst/>
          </a:prstGeom>
          <a:noFill/>
        </p:spPr>
        <p:txBody>
          <a:bodyPr wrap="square" anchor="t">
            <a:spAutoFit/>
          </a:bodyPr>
          <a:lstStyle/>
          <a:p>
            <a:pPr algn="l"/>
            <a:r>
              <a:rPr sz="2400" b="1">
                <a:solidFill>
                  <a:srgbClr val="FF6B35"/>
                </a:solidFill>
                <a:latin typeface="Calibri"/>
              </a:rPr>
              <a:t>         DROP TABLE Students;--  ?"</a:t>
            </a:r>
          </a:p>
        </p:txBody>
      </p:sp>
      <p:sp>
        <p:nvSpPr>
          <p:cNvPr id="10" name="TextBox 9"/>
          <p:cNvSpPr txBox="1"/>
          <p:nvPr/>
        </p:nvSpPr>
        <p:spPr>
          <a:xfrm>
            <a:off x="457200" y="5212080"/>
            <a:ext cx="11247120" cy="548640"/>
          </a:xfrm>
          <a:prstGeom prst="rect">
            <a:avLst/>
          </a:prstGeom>
          <a:noFill/>
        </p:spPr>
        <p:txBody>
          <a:bodyPr wrap="square" anchor="t">
            <a:spAutoFit/>
          </a:bodyPr>
          <a:lstStyle/>
          <a:p>
            <a:pPr algn="ctr"/>
            <a:r>
              <a:rPr sz="2800" b="1">
                <a:solidFill>
                  <a:srgbClr val="00D4FF"/>
                </a:solidFill>
                <a:latin typeface="Calibri"/>
              </a:rPr>
              <a:t>https://xkcd.com/327/</a:t>
            </a:r>
          </a:p>
        </p:txBody>
      </p:sp>
      <p:sp>
        <p:nvSpPr>
          <p:cNvPr id="11" name="TextBox 10"/>
          <p:cNvSpPr txBox="1"/>
          <p:nvPr/>
        </p:nvSpPr>
        <p:spPr>
          <a:xfrm>
            <a:off x="457200" y="5760720"/>
            <a:ext cx="11247120" cy="457200"/>
          </a:xfrm>
          <a:prstGeom prst="rect">
            <a:avLst/>
          </a:prstGeom>
          <a:noFill/>
        </p:spPr>
        <p:txBody>
          <a:bodyPr wrap="square" anchor="t">
            <a:spAutoFit/>
          </a:bodyPr>
          <a:lstStyle/>
          <a:p>
            <a:pPr algn="ctr"/>
            <a:r>
              <a:rPr sz="2200" b="0">
                <a:solidFill>
                  <a:srgbClr val="CCCCD6"/>
                </a:solidFill>
                <a:latin typeface="Calibri"/>
              </a:rPr>
              <a:t>The mechanism: string concatenation in queries.</a:t>
            </a:r>
          </a:p>
        </p:txBody>
      </p:sp>
      <p:sp>
        <p:nvSpPr>
          <p:cNvPr id="12" name="TextBox 11"/>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3" name="TextBox 12"/>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26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The database attack surface has expanded, not shrunk. SQL injection is largely fixed; eleven newer categories now dominate." title="Statement slide: The database attack surface has expanded, not shrunk. SQL injec"/>
          <p:cNvSpPr txBox="1"/>
          <p:nvPr/>
        </p:nvSpPr>
        <p:spPr>
          <a:xfrm>
            <a:off x="457200" y="2286000"/>
            <a:ext cx="11247120" cy="1371600"/>
          </a:xfrm>
          <a:prstGeom prst="rect">
            <a:avLst/>
          </a:prstGeom>
          <a:noFill/>
        </p:spPr>
        <p:txBody>
          <a:bodyPr wrap="square" anchor="t">
            <a:spAutoFit/>
          </a:bodyPr>
          <a:lstStyle/>
          <a:p>
            <a:pPr algn="ctr"/>
            <a:r>
              <a:rPr sz="5400" b="0">
                <a:solidFill>
                  <a:srgbClr val="FFFFFF"/>
                </a:solidFill>
                <a:latin typeface="Calibri"/>
              </a:rPr>
              <a:t>The attack surface has</a:t>
            </a:r>
          </a:p>
        </p:txBody>
      </p:sp>
      <p:sp>
        <p:nvSpPr>
          <p:cNvPr id="3" name="TextBox 2"/>
          <p:cNvSpPr txBox="1"/>
          <p:nvPr/>
        </p:nvSpPr>
        <p:spPr>
          <a:xfrm>
            <a:off x="457200" y="3200400"/>
            <a:ext cx="11247120" cy="1371600"/>
          </a:xfrm>
          <a:prstGeom prst="rect">
            <a:avLst/>
          </a:prstGeom>
          <a:noFill/>
        </p:spPr>
        <p:txBody>
          <a:bodyPr wrap="square" anchor="t">
            <a:spAutoFit/>
          </a:bodyPr>
          <a:lstStyle/>
          <a:p>
            <a:pPr algn="ctr"/>
            <a:r>
              <a:rPr sz="7200" b="1">
                <a:solidFill>
                  <a:srgbClr val="FF6B35"/>
                </a:solidFill>
                <a:latin typeface="Calibri"/>
              </a:rPr>
              <a:t>EXPANDED, not shrunk.</a:t>
            </a:r>
          </a:p>
        </p:txBody>
      </p:sp>
      <p:sp>
        <p:nvSpPr>
          <p:cNvPr id="4" name="TextBox 3"/>
          <p:cNvSpPr txBox="1"/>
          <p:nvPr/>
        </p:nvSpPr>
        <p:spPr>
          <a:xfrm>
            <a:off x="457200" y="4846320"/>
            <a:ext cx="11247120" cy="548640"/>
          </a:xfrm>
          <a:prstGeom prst="rect">
            <a:avLst/>
          </a:prstGeom>
          <a:noFill/>
        </p:spPr>
        <p:txBody>
          <a:bodyPr wrap="square" anchor="t">
            <a:spAutoFit/>
          </a:bodyPr>
          <a:lstStyle/>
          <a:p>
            <a:pPr algn="ctr"/>
            <a:r>
              <a:rPr sz="2600" b="0">
                <a:solidFill>
                  <a:srgbClr val="00D4FF"/>
                </a:solidFill>
                <a:latin typeface="Calibri"/>
              </a:rPr>
              <a:t>SQL injection was fixed. Eleven new categories took its place.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27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NoSQL Injection</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MongoDB JSON queries + raw user input = SQLi reborn.</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Login bypass: { username: 'alice', password: { $ne: 'x' } }</a:t>
            </a:r>
          </a:p>
          <a:p>
            <a:pPr algn="l">
              <a:lnSpc>
                <a:spcPct val="140000"/>
              </a:lnSpc>
            </a:pPr>
            <a:r>
              <a:rPr sz="2300" b="1">
                <a:solidFill>
                  <a:srgbClr val="00D4FF"/>
                </a:solidFill>
                <a:latin typeface="Calibri"/>
              </a:rPr>
              <a:t>● </a:t>
            </a:r>
            <a:r>
              <a:rPr sz="2300">
                <a:solidFill>
                  <a:srgbClr val="FFFFFF"/>
                </a:solidFill>
                <a:latin typeface="Calibri"/>
              </a:rPr>
              <a:t>$where lets you inject JavaScript straight into the DB.</a:t>
            </a:r>
          </a:p>
          <a:p>
            <a:pPr algn="l">
              <a:lnSpc>
                <a:spcPct val="140000"/>
              </a:lnSpc>
            </a:pPr>
            <a:r>
              <a:rPr sz="2300" b="1">
                <a:solidFill>
                  <a:srgbClr val="00D4FF"/>
                </a:solidFill>
                <a:latin typeface="Calibri"/>
              </a:rPr>
              <a:t>● </a:t>
            </a:r>
            <a:r>
              <a:rPr sz="2300">
                <a:solidFill>
                  <a:srgbClr val="FFFFFF"/>
                </a:solidFill>
                <a:latin typeface="Calibri"/>
              </a:rPr>
              <a:t>Couchbase N1QL is SQL-flavored — classic SQLi patterns apply.</a:t>
            </a:r>
          </a:p>
          <a:p>
            <a:pPr algn="l">
              <a:lnSpc>
                <a:spcPct val="140000"/>
              </a:lnSpc>
            </a:pPr>
            <a:r>
              <a:rPr sz="2300" b="1">
                <a:solidFill>
                  <a:srgbClr val="00D4FF"/>
                </a:solidFill>
                <a:latin typeface="Calibri"/>
              </a:rPr>
              <a:t>● </a:t>
            </a:r>
            <a:r>
              <a:rPr sz="2300">
                <a:solidFill>
                  <a:srgbClr val="FFFFFF"/>
                </a:solidFill>
                <a:latin typeface="Calibri"/>
              </a:rPr>
              <a:t>Principle: ANY interpreter can be injected, not just SQL.</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Top 10 2017: 'Dynamic queries... used directly in the interpreter.'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28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Exposed &amp; Misconfigured Databases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Shodan and Censys are full of databases that should not be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MongoDB bound to 0.0.0.0 with no auth.</a:t>
            </a:r>
          </a:p>
          <a:p>
            <a:pPr algn="l">
              <a:lnSpc>
                <a:spcPct val="140000"/>
              </a:lnSpc>
            </a:pPr>
            <a:r>
              <a:rPr sz="2300" b="1">
                <a:solidFill>
                  <a:srgbClr val="00D4FF"/>
                </a:solidFill>
                <a:latin typeface="Calibri"/>
              </a:rPr>
              <a:t>● </a:t>
            </a:r>
            <a:r>
              <a:rPr sz="2300">
                <a:solidFill>
                  <a:srgbClr val="FFFFFF"/>
                </a:solidFill>
                <a:latin typeface="Calibri"/>
              </a:rPr>
              <a:t>Elasticsearch clusters wide open. Redis with no password.</a:t>
            </a:r>
          </a:p>
          <a:p>
            <a:pPr algn="l">
              <a:lnSpc>
                <a:spcPct val="140000"/>
              </a:lnSpc>
            </a:pPr>
            <a:r>
              <a:rPr sz="2300" b="1">
                <a:solidFill>
                  <a:srgbClr val="00D4FF"/>
                </a:solidFill>
                <a:latin typeface="Calibri"/>
              </a:rPr>
              <a:t>● </a:t>
            </a:r>
            <a:r>
              <a:rPr sz="2300">
                <a:solidFill>
                  <a:srgbClr val="FFFFFF"/>
                </a:solidFill>
                <a:latin typeface="Calibri"/>
              </a:rPr>
              <a:t>Postgres pg_hba.conf set to 'host all all 0.0.0.0/0 trust'.</a:t>
            </a:r>
          </a:p>
          <a:p>
            <a:pPr algn="l">
              <a:lnSpc>
                <a:spcPct val="140000"/>
              </a:lnSpc>
            </a:pPr>
            <a:r>
              <a:rPr sz="2300" b="1">
                <a:solidFill>
                  <a:srgbClr val="00D4FF"/>
                </a:solidFill>
                <a:latin typeface="Calibri"/>
              </a:rPr>
              <a:t>● </a:t>
            </a:r>
            <a:r>
              <a:rPr sz="2300">
                <a:solidFill>
                  <a:srgbClr val="FFFFFF"/>
                </a:solidFill>
                <a:latin typeface="Calibri"/>
              </a:rPr>
              <a:t>Meow attacks (2020): bots wiped thousands of open DBs for fun.</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Action item: find what your org has bound to public interfaces. Today.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29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Cloud Misconfigurations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In cloud, the bug is rarely the engine. It's the policy around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Public S3 buckets full of DB dumps (Accenture, Verizon, etc.).</a:t>
            </a:r>
          </a:p>
          <a:p>
            <a:pPr algn="l">
              <a:lnSpc>
                <a:spcPct val="140000"/>
              </a:lnSpc>
            </a:pPr>
            <a:r>
              <a:rPr sz="2300" b="1">
                <a:solidFill>
                  <a:srgbClr val="00D4FF"/>
                </a:solidFill>
                <a:latin typeface="Calibri"/>
              </a:rPr>
              <a:t>● </a:t>
            </a:r>
            <a:r>
              <a:rPr sz="2300">
                <a:solidFill>
                  <a:srgbClr val="FFFFFF"/>
                </a:solidFill>
                <a:latin typeface="Calibri"/>
              </a:rPr>
              <a:t>Capital One 2019: SSRF tricked a WAF into leaking its IAM creds → S3.</a:t>
            </a:r>
          </a:p>
          <a:p>
            <a:pPr algn="l">
              <a:lnSpc>
                <a:spcPct val="140000"/>
              </a:lnSpc>
            </a:pPr>
            <a:r>
              <a:rPr sz="2300" b="1">
                <a:solidFill>
                  <a:srgbClr val="00D4FF"/>
                </a:solidFill>
                <a:latin typeface="Calibri"/>
              </a:rPr>
              <a:t>● </a:t>
            </a:r>
            <a:r>
              <a:rPr sz="2300">
                <a:solidFill>
                  <a:srgbClr val="FFFFFF"/>
                </a:solidFill>
                <a:latin typeface="Calibri"/>
              </a:rPr>
              <a:t>Lambda with s3:* on * because it 'worked the first time'.</a:t>
            </a:r>
          </a:p>
          <a:p>
            <a:pPr algn="l">
              <a:lnSpc>
                <a:spcPct val="140000"/>
              </a:lnSpc>
            </a:pPr>
            <a:r>
              <a:rPr sz="2300" b="1">
                <a:solidFill>
                  <a:srgbClr val="00D4FF"/>
                </a:solidFill>
                <a:latin typeface="Calibri"/>
              </a:rPr>
              <a:t>● </a:t>
            </a:r>
            <a:r>
              <a:rPr sz="2300">
                <a:solidFill>
                  <a:srgbClr val="FFFFFF"/>
                </a:solidFill>
                <a:latin typeface="Calibri"/>
              </a:rPr>
              <a:t>Security groups: 0.0.0.0/0 on port 5432.</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AWS Admin: 'Get rid of the Root Account, use IAM wherever necessary.'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30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Privilege Escalation: DB → OS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 accounts can become shell access. Three classic moves.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MS SQL: xp_cmdshell — runs shell commands as the DB process.</a:t>
            </a:r>
          </a:p>
          <a:p>
            <a:pPr algn="l">
              <a:lnSpc>
                <a:spcPct val="140000"/>
              </a:lnSpc>
            </a:pPr>
            <a:r>
              <a:rPr sz="2300" b="1">
                <a:solidFill>
                  <a:srgbClr val="00D4FF"/>
                </a:solidFill>
                <a:latin typeface="Calibri"/>
              </a:rPr>
              <a:t>● </a:t>
            </a:r>
            <a:r>
              <a:rPr sz="2300">
                <a:solidFill>
                  <a:srgbClr val="FFFFFF"/>
                </a:solidFill>
                <a:latin typeface="Calibri"/>
              </a:rPr>
              <a:t>PostgreSQL: COPY ... TO PROGRAM — pipes output to a shell.</a:t>
            </a:r>
          </a:p>
          <a:p>
            <a:pPr algn="l">
              <a:lnSpc>
                <a:spcPct val="140000"/>
              </a:lnSpc>
            </a:pPr>
            <a:r>
              <a:rPr sz="2300" b="1">
                <a:solidFill>
                  <a:srgbClr val="00D4FF"/>
                </a:solidFill>
                <a:latin typeface="Calibri"/>
              </a:rPr>
              <a:t>● </a:t>
            </a:r>
            <a:r>
              <a:rPr sz="2300">
                <a:solidFill>
                  <a:srgbClr val="FFFFFF"/>
                </a:solidFill>
                <a:latin typeface="Calibri"/>
              </a:rPr>
              <a:t>MySQL: load a UDF .so file → sys_exec on the OS.</a:t>
            </a:r>
          </a:p>
          <a:p>
            <a:pPr algn="l">
              <a:lnSpc>
                <a:spcPct val="140000"/>
              </a:lnSpc>
            </a:pPr>
            <a:r>
              <a:rPr sz="2300" b="1">
                <a:solidFill>
                  <a:srgbClr val="00D4FF"/>
                </a:solidFill>
                <a:latin typeface="Calibri"/>
              </a:rPr>
              <a:t>● </a:t>
            </a:r>
            <a:r>
              <a:rPr sz="2300">
                <a:solidFill>
                  <a:srgbClr val="FFFFFF"/>
                </a:solidFill>
                <a:latin typeface="Calibri"/>
              </a:rPr>
              <a:t>Pattern: every privileged DB feature is part of the attack surface.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31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Data Lake Security Gaps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Everything ends up in S3 — including things you didn't mean to put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Permissive IAM leaks from compute roles to humans.</a:t>
            </a:r>
          </a:p>
          <a:p>
            <a:pPr algn="l">
              <a:lnSpc>
                <a:spcPct val="140000"/>
              </a:lnSpc>
            </a:pPr>
            <a:r>
              <a:rPr sz="2300" b="1">
                <a:solidFill>
                  <a:srgbClr val="00D4FF"/>
                </a:solidFill>
                <a:latin typeface="Calibri"/>
              </a:rPr>
              <a:t>● </a:t>
            </a:r>
            <a:r>
              <a:rPr sz="2300">
                <a:solidFill>
                  <a:srgbClr val="FFFFFF"/>
                </a:solidFill>
                <a:latin typeface="Calibri"/>
              </a:rPr>
              <a:t>No encryption-at-rest enforcement on bucket keys.</a:t>
            </a:r>
          </a:p>
          <a:p>
            <a:pPr algn="l">
              <a:lnSpc>
                <a:spcPct val="140000"/>
              </a:lnSpc>
            </a:pPr>
            <a:r>
              <a:rPr sz="2300" b="1">
                <a:solidFill>
                  <a:srgbClr val="00D4FF"/>
                </a:solidFill>
                <a:latin typeface="Calibri"/>
              </a:rPr>
              <a:t>● </a:t>
            </a:r>
            <a:r>
              <a:rPr sz="2300">
                <a:solidFill>
                  <a:srgbClr val="FFFFFF"/>
                </a:solidFill>
                <a:latin typeface="Calibri"/>
              </a:rPr>
              <a:t>No write-side validation — anyone can drop poisoned data.</a:t>
            </a:r>
          </a:p>
          <a:p>
            <a:pPr algn="l">
              <a:lnSpc>
                <a:spcPct val="140000"/>
              </a:lnSpc>
            </a:pPr>
            <a:r>
              <a:rPr sz="2300" b="1">
                <a:solidFill>
                  <a:srgbClr val="00D4FF"/>
                </a:solidFill>
                <a:latin typeface="Calibri"/>
              </a:rPr>
              <a:t>● </a:t>
            </a:r>
            <a:r>
              <a:rPr sz="2300">
                <a:solidFill>
                  <a:srgbClr val="FFFFFF"/>
                </a:solidFill>
                <a:latin typeface="Calibri"/>
              </a:rPr>
              <a:t>First question: WHO can write to the lake? WHO can read?</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32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Ransomware Loves Databases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The DB is the thing the business needs back — maximum leverage.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Encrypt the live database.</a:t>
            </a:r>
          </a:p>
          <a:p>
            <a:pPr algn="l">
              <a:lnSpc>
                <a:spcPct val="140000"/>
              </a:lnSpc>
            </a:pPr>
            <a:r>
              <a:rPr sz="2300" b="1">
                <a:solidFill>
                  <a:srgbClr val="00D4FF"/>
                </a:solidFill>
                <a:latin typeface="Calibri"/>
              </a:rPr>
              <a:t>● </a:t>
            </a:r>
            <a:r>
              <a:rPr sz="2300">
                <a:solidFill>
                  <a:srgbClr val="FFFFFF"/>
                </a:solidFill>
                <a:latin typeface="Calibri"/>
              </a:rPr>
              <a:t>Encrypt the BACKUPS (otherwise customer just restores).</a:t>
            </a:r>
          </a:p>
          <a:p>
            <a:pPr algn="l">
              <a:lnSpc>
                <a:spcPct val="140000"/>
              </a:lnSpc>
            </a:pPr>
            <a:r>
              <a:rPr sz="2300" b="1">
                <a:solidFill>
                  <a:srgbClr val="00D4FF"/>
                </a:solidFill>
                <a:latin typeface="Calibri"/>
              </a:rPr>
              <a:t>● </a:t>
            </a:r>
            <a:r>
              <a:rPr sz="2300">
                <a:solidFill>
                  <a:srgbClr val="FFFFFF"/>
                </a:solidFill>
                <a:latin typeface="Calibri"/>
              </a:rPr>
              <a:t>Exfil a copy first — extort with disclosure even if they restore.</a:t>
            </a:r>
          </a:p>
          <a:p>
            <a:pPr algn="l">
              <a:lnSpc>
                <a:spcPct val="140000"/>
              </a:lnSpc>
            </a:pPr>
            <a:r>
              <a:rPr sz="2300" b="1">
                <a:solidFill>
                  <a:srgbClr val="00D4FF"/>
                </a:solidFill>
                <a:latin typeface="Calibri"/>
              </a:rPr>
              <a:t>● </a:t>
            </a:r>
            <a:r>
              <a:rPr sz="2300">
                <a:solidFill>
                  <a:srgbClr val="FFFFFF"/>
                </a:solidFill>
                <a:latin typeface="Calibri"/>
              </a:rPr>
              <a:t>Defense: offline, immutable backups + tested restores.</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WannaCry — patch was out 59 days prior.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33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Credential Attacks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Default creds and leaked connection strings — two old, durable bugs.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Redis: no password by default for years.</a:t>
            </a:r>
          </a:p>
          <a:p>
            <a:pPr algn="l">
              <a:lnSpc>
                <a:spcPct val="140000"/>
              </a:lnSpc>
            </a:pPr>
            <a:r>
              <a:rPr sz="2300" b="1">
                <a:solidFill>
                  <a:srgbClr val="00D4FF"/>
                </a:solidFill>
                <a:latin typeface="Calibri"/>
              </a:rPr>
              <a:t>● </a:t>
            </a:r>
            <a:r>
              <a:rPr sz="2300">
                <a:solidFill>
                  <a:srgbClr val="FFFFFF"/>
                </a:solidFill>
                <a:latin typeface="Calibri"/>
              </a:rPr>
              <a:t>Elastic: no auth in the free tier — also for years.</a:t>
            </a:r>
          </a:p>
          <a:p>
            <a:pPr algn="l">
              <a:lnSpc>
                <a:spcPct val="140000"/>
              </a:lnSpc>
            </a:pPr>
            <a:r>
              <a:rPr sz="2300" b="1">
                <a:solidFill>
                  <a:srgbClr val="00D4FF"/>
                </a:solidFill>
                <a:latin typeface="Calibri"/>
              </a:rPr>
              <a:t>● </a:t>
            </a:r>
            <a:r>
              <a:rPr sz="2300">
                <a:solidFill>
                  <a:srgbClr val="FFFFFF"/>
                </a:solidFill>
                <a:latin typeface="Calibri"/>
              </a:rPr>
              <a:t>Connection strings (postgres://user:pass@host) committed to Git.</a:t>
            </a:r>
          </a:p>
          <a:p>
            <a:pPr algn="l">
              <a:lnSpc>
                <a:spcPct val="140000"/>
              </a:lnSpc>
            </a:pPr>
            <a:r>
              <a:rPr sz="2300" b="1">
                <a:solidFill>
                  <a:srgbClr val="00D4FF"/>
                </a:solidFill>
                <a:latin typeface="Calibri"/>
              </a:rPr>
              <a:t>● </a:t>
            </a:r>
            <a:r>
              <a:rPr sz="2300">
                <a:solidFill>
                  <a:srgbClr val="FFFFFF"/>
                </a:solidFill>
                <a:latin typeface="Calibri"/>
              </a:rPr>
              <a:t>Pre-commit secret scanning — fix this week.</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stolen credentials = preferred vector for organized crime.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34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Supply Chain — The DB Libraries You Trust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Your DB driver came from npm/PyPI/Maven. So did everyone else's.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Malicious npm packages posing as ORMs / drivers.</a:t>
            </a:r>
          </a:p>
          <a:p>
            <a:pPr algn="l">
              <a:lnSpc>
                <a:spcPct val="140000"/>
              </a:lnSpc>
            </a:pPr>
            <a:r>
              <a:rPr sz="2300" b="1">
                <a:solidFill>
                  <a:srgbClr val="00D4FF"/>
                </a:solidFill>
                <a:latin typeface="Calibri"/>
              </a:rPr>
              <a:t>● </a:t>
            </a:r>
            <a:r>
              <a:rPr sz="2300">
                <a:solidFill>
                  <a:srgbClr val="FFFFFF"/>
                </a:solidFill>
                <a:latin typeface="Calibri"/>
              </a:rPr>
              <a:t>Trojanized Docker Hub images for popular databases.</a:t>
            </a:r>
          </a:p>
          <a:p>
            <a:pPr algn="l">
              <a:lnSpc>
                <a:spcPct val="140000"/>
              </a:lnSpc>
            </a:pPr>
            <a:r>
              <a:rPr sz="2300" b="1">
                <a:solidFill>
                  <a:srgbClr val="00D4FF"/>
                </a:solidFill>
                <a:latin typeface="Calibri"/>
              </a:rPr>
              <a:t>● </a:t>
            </a:r>
            <a:r>
              <a:rPr sz="2300">
                <a:solidFill>
                  <a:srgbClr val="FFFFFF"/>
                </a:solidFill>
                <a:latin typeface="Calibri"/>
              </a:rPr>
              <a:t>Compromised PostgreSQL extensions / MySQL plugins.</a:t>
            </a:r>
          </a:p>
          <a:p>
            <a:pPr algn="l">
              <a:lnSpc>
                <a:spcPct val="140000"/>
              </a:lnSpc>
            </a:pPr>
            <a:r>
              <a:rPr sz="2300" b="1">
                <a:solidFill>
                  <a:srgbClr val="00D4FF"/>
                </a:solidFill>
                <a:latin typeface="Calibri"/>
              </a:rPr>
              <a:t>● </a:t>
            </a:r>
            <a:r>
              <a:rPr sz="2300">
                <a:solidFill>
                  <a:srgbClr val="FFFFFF"/>
                </a:solidFill>
                <a:latin typeface="Calibri"/>
              </a:rPr>
              <a:t>Extensions run with DB privileges — usually a lot.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Shostack: 'Threats tend to cluster around trust boundaries.'</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35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RAG / LLM Data Poisoning</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Stored XSS for the AI era. Write into the knowledge base → LLM quotes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Poisoned support article: 'To reset, send your password to...'</a:t>
            </a:r>
          </a:p>
          <a:p>
            <a:pPr algn="l">
              <a:lnSpc>
                <a:spcPct val="140000"/>
              </a:lnSpc>
            </a:pPr>
            <a:r>
              <a:rPr sz="2300" b="1">
                <a:solidFill>
                  <a:srgbClr val="00D4FF"/>
                </a:solidFill>
                <a:latin typeface="Calibri"/>
              </a:rPr>
              <a:t>● </a:t>
            </a:r>
            <a:r>
              <a:rPr sz="2300">
                <a:solidFill>
                  <a:srgbClr val="FFFFFF"/>
                </a:solidFill>
                <a:latin typeface="Calibri"/>
              </a:rPr>
              <a:t>Poisoned internal doc: 'Company policy is to wire transfer to...'</a:t>
            </a:r>
          </a:p>
          <a:p>
            <a:pPr algn="l">
              <a:lnSpc>
                <a:spcPct val="140000"/>
              </a:lnSpc>
            </a:pPr>
            <a:r>
              <a:rPr sz="2300" b="1">
                <a:solidFill>
                  <a:srgbClr val="00D4FF"/>
                </a:solidFill>
                <a:latin typeface="Calibri"/>
              </a:rPr>
              <a:t>● </a:t>
            </a:r>
            <a:r>
              <a:rPr sz="2300">
                <a:solidFill>
                  <a:srgbClr val="FFFFFF"/>
                </a:solidFill>
                <a:latin typeface="Calibri"/>
              </a:rPr>
              <a:t>Prompt injection embedded in retrieved documents.</a:t>
            </a:r>
          </a:p>
          <a:p>
            <a:pPr algn="l">
              <a:lnSpc>
                <a:spcPct val="140000"/>
              </a:lnSpc>
            </a:pPr>
            <a:r>
              <a:rPr sz="2300" b="1">
                <a:solidFill>
                  <a:srgbClr val="00D4FF"/>
                </a:solidFill>
                <a:latin typeface="Calibri"/>
              </a:rPr>
              <a:t>● </a:t>
            </a:r>
            <a:r>
              <a:rPr sz="2300">
                <a:solidFill>
                  <a:srgbClr val="FFFFFF"/>
                </a:solidFill>
                <a:latin typeface="Calibri"/>
              </a:rPr>
              <a:t>Defense: strict write ACLs, provenance tags, human-in-the-loop.</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2017 stored-XSS principle — substitute 'admin' with 'LLM'.</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36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Insider Threats &amp; DB-to-DB Lateral Movement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Databases aren't endpoints. They're nodes in a graph.</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Over-permissioned service accounts. Engineers with prod read.</a:t>
            </a:r>
          </a:p>
          <a:p>
            <a:pPr algn="l">
              <a:lnSpc>
                <a:spcPct val="140000"/>
              </a:lnSpc>
            </a:pPr>
            <a:r>
              <a:rPr sz="2300" b="1">
                <a:solidFill>
                  <a:srgbClr val="00D4FF"/>
                </a:solidFill>
                <a:latin typeface="Calibri"/>
              </a:rPr>
              <a:t>● </a:t>
            </a:r>
            <a:r>
              <a:rPr sz="2300">
                <a:solidFill>
                  <a:srgbClr val="FFFFFF"/>
                </a:solidFill>
                <a:latin typeface="Calibri"/>
              </a:rPr>
              <a:t>DBAs with no audit trail.</a:t>
            </a:r>
          </a:p>
          <a:p>
            <a:pPr algn="l">
              <a:lnSpc>
                <a:spcPct val="140000"/>
              </a:lnSpc>
            </a:pPr>
            <a:r>
              <a:rPr sz="2300" b="1">
                <a:solidFill>
                  <a:srgbClr val="00D4FF"/>
                </a:solidFill>
                <a:latin typeface="Calibri"/>
              </a:rPr>
              <a:t>● </a:t>
            </a:r>
            <a:r>
              <a:rPr sz="2300">
                <a:solidFill>
                  <a:srgbClr val="FFFFFF"/>
                </a:solidFill>
                <a:latin typeface="Calibri"/>
              </a:rPr>
              <a:t>Oracle DB_LINK, SQL Server linked servers, Postgres FDW.</a:t>
            </a:r>
          </a:p>
          <a:p>
            <a:pPr algn="l">
              <a:lnSpc>
                <a:spcPct val="140000"/>
              </a:lnSpc>
            </a:pPr>
            <a:r>
              <a:rPr sz="2300" b="1">
                <a:solidFill>
                  <a:srgbClr val="00D4FF"/>
                </a:solidFill>
                <a:latin typeface="Calibri"/>
              </a:rPr>
              <a:t>● </a:t>
            </a:r>
            <a:r>
              <a:rPr sz="2300">
                <a:solidFill>
                  <a:srgbClr val="FFFFFF"/>
                </a:solidFill>
                <a:latin typeface="Calibri"/>
              </a:rPr>
              <a:t>Stored credentials → compromise A, hop to B, hop to C.</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Web App Hacker's Handbook: poorly protected audit logs = a gold mine.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37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Backup &amp; Snapshot Exposure</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Same data as prod, half the love.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Unencrypted DB backups on shares readable by Domain Users.</a:t>
            </a:r>
          </a:p>
          <a:p>
            <a:pPr algn="l">
              <a:lnSpc>
                <a:spcPct val="140000"/>
              </a:lnSpc>
            </a:pPr>
            <a:r>
              <a:rPr sz="2300" b="1">
                <a:solidFill>
                  <a:srgbClr val="00D4FF"/>
                </a:solidFill>
                <a:latin typeface="Calibri"/>
              </a:rPr>
              <a:t>● </a:t>
            </a:r>
            <a:r>
              <a:rPr sz="2300">
                <a:solidFill>
                  <a:srgbClr val="FFFFFF"/>
                </a:solidFill>
                <a:latin typeface="Calibri"/>
              </a:rPr>
              <a:t>Cloud snapshots shared cross-account, never un-shared.</a:t>
            </a:r>
          </a:p>
          <a:p>
            <a:pPr algn="l">
              <a:lnSpc>
                <a:spcPct val="140000"/>
              </a:lnSpc>
            </a:pPr>
            <a:r>
              <a:rPr sz="2300" b="1">
                <a:solidFill>
                  <a:srgbClr val="00D4FF"/>
                </a:solidFill>
                <a:latin typeface="Calibri"/>
              </a:rPr>
              <a:t>● </a:t>
            </a:r>
            <a:r>
              <a:rPr sz="2300">
                <a:solidFill>
                  <a:srgbClr val="FFFFFF"/>
                </a:solidFill>
                <a:latin typeface="Calibri"/>
              </a:rPr>
              <a:t>Off-site backups to vendors whose posture you never checked.</a:t>
            </a:r>
          </a:p>
          <a:p>
            <a:pPr algn="l">
              <a:lnSpc>
                <a:spcPct val="140000"/>
              </a:lnSpc>
            </a:pPr>
            <a:r>
              <a:rPr sz="2300" b="1">
                <a:solidFill>
                  <a:srgbClr val="00D4FF"/>
                </a:solidFill>
                <a:latin typeface="Calibri"/>
              </a:rPr>
              <a:t>● </a:t>
            </a:r>
            <a:r>
              <a:rPr sz="2300">
                <a:solidFill>
                  <a:srgbClr val="FFFFFF"/>
                </a:solidFill>
                <a:latin typeface="Calibri"/>
              </a:rPr>
              <a:t>Backups are last resort. Apply identify-authN-authZ-audit.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Schneier: identify, authenticate, authorize, audit — same model.</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38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cap of the mental map: definition, ten families, cloud shared responsibility, markdown as a database, and the expanded attack surface." title="Recap of the mental map: definition, ten families, cloud shared responsibility,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Mental Map</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28800"/>
            <a:ext cx="10972800" cy="4114800"/>
          </a:xfrm>
          <a:prstGeom prst="rect">
            <a:avLst/>
          </a:prstGeom>
          <a:noFill/>
        </p:spPr>
        <p:txBody>
          <a:bodyPr wrap="square">
            <a:spAutoFit/>
          </a:bodyPr>
          <a:lstStyle/>
          <a:p>
            <a:pPr algn="l">
              <a:lnSpc>
                <a:spcPct val="155000"/>
              </a:lnSpc>
            </a:pPr>
            <a:r>
              <a:rPr sz="2800" b="1">
                <a:solidFill>
                  <a:srgbClr val="00D4FF"/>
                </a:solidFill>
                <a:latin typeface="Calibri"/>
              </a:rPr>
              <a:t>✓ </a:t>
            </a:r>
            <a:r>
              <a:rPr sz="2800">
                <a:solidFill>
                  <a:srgbClr val="FFFFFF"/>
                </a:solidFill>
                <a:latin typeface="Calibri"/>
              </a:rPr>
              <a:t>A database = organized storage + a way to ask questions.</a:t>
            </a:r>
          </a:p>
          <a:p>
            <a:pPr algn="l">
              <a:lnSpc>
                <a:spcPct val="155000"/>
              </a:lnSpc>
            </a:pPr>
            <a:r>
              <a:rPr sz="2800" b="1">
                <a:solidFill>
                  <a:srgbClr val="00D4FF"/>
                </a:solidFill>
                <a:latin typeface="Calibri"/>
              </a:rPr>
              <a:t>✓ </a:t>
            </a:r>
            <a:r>
              <a:rPr sz="2800">
                <a:solidFill>
                  <a:srgbClr val="FFFFFF"/>
                </a:solidFill>
                <a:latin typeface="Calibri"/>
              </a:rPr>
              <a:t>Ten families, each with its own gotcha.</a:t>
            </a:r>
          </a:p>
          <a:p>
            <a:pPr algn="l">
              <a:lnSpc>
                <a:spcPct val="155000"/>
              </a:lnSpc>
            </a:pPr>
            <a:r>
              <a:rPr sz="2800" b="1">
                <a:solidFill>
                  <a:srgbClr val="00D4FF"/>
                </a:solidFill>
                <a:latin typeface="Calibri"/>
              </a:rPr>
              <a:t>✓ </a:t>
            </a:r>
            <a:r>
              <a:rPr sz="2800">
                <a:solidFill>
                  <a:srgbClr val="FFFFFF"/>
                </a:solidFill>
                <a:latin typeface="Calibri"/>
              </a:rPr>
              <a:t>Cloud = shared responsibility. You own config &amp; data.</a:t>
            </a:r>
          </a:p>
          <a:p>
            <a:pPr algn="l">
              <a:lnSpc>
                <a:spcPct val="155000"/>
              </a:lnSpc>
            </a:pPr>
            <a:r>
              <a:rPr sz="2800" b="1">
                <a:solidFill>
                  <a:srgbClr val="00D4FF"/>
                </a:solidFill>
                <a:latin typeface="Calibri"/>
              </a:rPr>
              <a:t>✓ </a:t>
            </a:r>
            <a:r>
              <a:rPr sz="2800">
                <a:solidFill>
                  <a:srgbClr val="FFFFFF"/>
                </a:solidFill>
                <a:latin typeface="Calibri"/>
              </a:rPr>
              <a:t>Markdown is a database for LLMs. RAG poisoning is real.</a:t>
            </a:r>
          </a:p>
          <a:p>
            <a:pPr algn="l">
              <a:lnSpc>
                <a:spcPct val="155000"/>
              </a:lnSpc>
            </a:pPr>
            <a:r>
              <a:rPr sz="2800" b="1">
                <a:solidFill>
                  <a:srgbClr val="00D4FF"/>
                </a:solidFill>
                <a:latin typeface="Calibri"/>
              </a:rPr>
              <a:t>✓ </a:t>
            </a:r>
            <a:r>
              <a:rPr sz="2800">
                <a:solidFill>
                  <a:srgbClr val="FFFFFF"/>
                </a:solidFill>
                <a:latin typeface="Calibri"/>
              </a:rPr>
              <a:t>SQLi got fixed. The attack surface expanded.</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39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Five concrete next steps: install PostgreSQL, do PortSwigger SQLi labs, browse Shodan/Censys legally, read breach reports, list your org's databases." title="Five concrete next steps: install PostgreSQL, do PortSwigger SQLi labs, browse S"/>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to Do Next Week</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783080"/>
            <a:ext cx="914400" cy="685800"/>
          </a:xfrm>
          <a:prstGeom prst="rect">
            <a:avLst/>
          </a:prstGeom>
          <a:noFill/>
        </p:spPr>
        <p:txBody>
          <a:bodyPr wrap="square" anchor="t">
            <a:spAutoFit/>
          </a:bodyPr>
          <a:lstStyle/>
          <a:p>
            <a:pPr algn="l"/>
            <a:r>
              <a:rPr sz="3600" b="1">
                <a:solidFill>
                  <a:srgbClr val="00FF41"/>
                </a:solidFill>
                <a:latin typeface="Calibri"/>
              </a:rPr>
              <a:t>1.</a:t>
            </a:r>
          </a:p>
        </p:txBody>
      </p:sp>
      <p:sp>
        <p:nvSpPr>
          <p:cNvPr id="5" name="TextBox 4"/>
          <p:cNvSpPr txBox="1"/>
          <p:nvPr/>
        </p:nvSpPr>
        <p:spPr>
          <a:xfrm>
            <a:off x="1554480" y="1828800"/>
            <a:ext cx="10241280" cy="685800"/>
          </a:xfrm>
          <a:prstGeom prst="rect">
            <a:avLst/>
          </a:prstGeom>
          <a:noFill/>
        </p:spPr>
        <p:txBody>
          <a:bodyPr wrap="square" anchor="t">
            <a:spAutoFit/>
          </a:bodyPr>
          <a:lstStyle/>
          <a:p>
            <a:pPr algn="l"/>
            <a:r>
              <a:rPr sz="2600" b="0">
                <a:solidFill>
                  <a:srgbClr val="FFFFFF"/>
                </a:solidFill>
                <a:latin typeface="Calibri"/>
              </a:rPr>
              <a:t>Install PostgreSQL locally. Write a SELECT.</a:t>
            </a:r>
          </a:p>
        </p:txBody>
      </p:sp>
      <p:sp>
        <p:nvSpPr>
          <p:cNvPr id="6" name="TextBox 5"/>
          <p:cNvSpPr txBox="1"/>
          <p:nvPr/>
        </p:nvSpPr>
        <p:spPr>
          <a:xfrm>
            <a:off x="548640" y="2606040"/>
            <a:ext cx="914400" cy="685800"/>
          </a:xfrm>
          <a:prstGeom prst="rect">
            <a:avLst/>
          </a:prstGeom>
          <a:noFill/>
        </p:spPr>
        <p:txBody>
          <a:bodyPr wrap="square" anchor="t">
            <a:spAutoFit/>
          </a:bodyPr>
          <a:lstStyle/>
          <a:p>
            <a:pPr algn="l"/>
            <a:r>
              <a:rPr sz="3600" b="1">
                <a:solidFill>
                  <a:srgbClr val="00FF41"/>
                </a:solidFill>
                <a:latin typeface="Calibri"/>
              </a:rPr>
              <a:t>2.</a:t>
            </a:r>
          </a:p>
        </p:txBody>
      </p:sp>
      <p:sp>
        <p:nvSpPr>
          <p:cNvPr id="7" name="TextBox 6"/>
          <p:cNvSpPr txBox="1"/>
          <p:nvPr/>
        </p:nvSpPr>
        <p:spPr>
          <a:xfrm>
            <a:off x="1554480" y="2651760"/>
            <a:ext cx="10241280" cy="685800"/>
          </a:xfrm>
          <a:prstGeom prst="rect">
            <a:avLst/>
          </a:prstGeom>
          <a:noFill/>
        </p:spPr>
        <p:txBody>
          <a:bodyPr wrap="square" anchor="t">
            <a:spAutoFit/>
          </a:bodyPr>
          <a:lstStyle/>
          <a:p>
            <a:pPr algn="l"/>
            <a:r>
              <a:rPr sz="2600" b="0">
                <a:solidFill>
                  <a:srgbClr val="FFFFFF"/>
                </a:solidFill>
                <a:latin typeface="Calibri"/>
              </a:rPr>
              <a:t>Do the PortSwigger SQL injection labs (free).</a:t>
            </a:r>
          </a:p>
        </p:txBody>
      </p:sp>
      <p:sp>
        <p:nvSpPr>
          <p:cNvPr id="8" name="TextBox 7"/>
          <p:cNvSpPr txBox="1"/>
          <p:nvPr/>
        </p:nvSpPr>
        <p:spPr>
          <a:xfrm>
            <a:off x="548640" y="3429000"/>
            <a:ext cx="914400" cy="685800"/>
          </a:xfrm>
          <a:prstGeom prst="rect">
            <a:avLst/>
          </a:prstGeom>
          <a:noFill/>
        </p:spPr>
        <p:txBody>
          <a:bodyPr wrap="square" anchor="t">
            <a:spAutoFit/>
          </a:bodyPr>
          <a:lstStyle/>
          <a:p>
            <a:pPr algn="l"/>
            <a:r>
              <a:rPr sz="3600" b="1">
                <a:solidFill>
                  <a:srgbClr val="00FF41"/>
                </a:solidFill>
                <a:latin typeface="Calibri"/>
              </a:rPr>
              <a:t>3.</a:t>
            </a:r>
          </a:p>
        </p:txBody>
      </p:sp>
      <p:sp>
        <p:nvSpPr>
          <p:cNvPr id="9" name="TextBox 8"/>
          <p:cNvSpPr txBox="1"/>
          <p:nvPr/>
        </p:nvSpPr>
        <p:spPr>
          <a:xfrm>
            <a:off x="1554480" y="3474720"/>
            <a:ext cx="10241280" cy="685800"/>
          </a:xfrm>
          <a:prstGeom prst="rect">
            <a:avLst/>
          </a:prstGeom>
          <a:noFill/>
        </p:spPr>
        <p:txBody>
          <a:bodyPr wrap="square" anchor="t">
            <a:spAutoFit/>
          </a:bodyPr>
          <a:lstStyle/>
          <a:p>
            <a:pPr algn="l"/>
            <a:r>
              <a:rPr sz="2600" b="0">
                <a:solidFill>
                  <a:srgbClr val="FFFFFF"/>
                </a:solidFill>
                <a:latin typeface="Calibri"/>
              </a:rPr>
              <a:t>Browse Shodan / Censys — only systems you own.</a:t>
            </a:r>
          </a:p>
        </p:txBody>
      </p:sp>
      <p:sp>
        <p:nvSpPr>
          <p:cNvPr id="10" name="TextBox 9"/>
          <p:cNvSpPr txBox="1"/>
          <p:nvPr/>
        </p:nvSpPr>
        <p:spPr>
          <a:xfrm>
            <a:off x="548640" y="4251960"/>
            <a:ext cx="914400" cy="685800"/>
          </a:xfrm>
          <a:prstGeom prst="rect">
            <a:avLst/>
          </a:prstGeom>
          <a:noFill/>
        </p:spPr>
        <p:txBody>
          <a:bodyPr wrap="square" anchor="t">
            <a:spAutoFit/>
          </a:bodyPr>
          <a:lstStyle/>
          <a:p>
            <a:pPr algn="l"/>
            <a:r>
              <a:rPr sz="3600" b="1">
                <a:solidFill>
                  <a:srgbClr val="00FF41"/>
                </a:solidFill>
                <a:latin typeface="Calibri"/>
              </a:rPr>
              <a:t>4.</a:t>
            </a:r>
          </a:p>
        </p:txBody>
      </p:sp>
      <p:sp>
        <p:nvSpPr>
          <p:cNvPr id="11" name="TextBox 10"/>
          <p:cNvSpPr txBox="1"/>
          <p:nvPr/>
        </p:nvSpPr>
        <p:spPr>
          <a:xfrm>
            <a:off x="1554480" y="4297680"/>
            <a:ext cx="10241280" cy="685800"/>
          </a:xfrm>
          <a:prstGeom prst="rect">
            <a:avLst/>
          </a:prstGeom>
          <a:noFill/>
        </p:spPr>
        <p:txBody>
          <a:bodyPr wrap="square" anchor="t">
            <a:spAutoFit/>
          </a:bodyPr>
          <a:lstStyle/>
          <a:p>
            <a:pPr algn="l"/>
            <a:r>
              <a:rPr sz="2600" b="0">
                <a:solidFill>
                  <a:srgbClr val="FFFFFF"/>
                </a:solidFill>
                <a:latin typeface="Calibri"/>
              </a:rPr>
              <a:t>Read a breach report — Capital One, Equifax, MOVEit.</a:t>
            </a:r>
          </a:p>
        </p:txBody>
      </p:sp>
      <p:sp>
        <p:nvSpPr>
          <p:cNvPr id="12" name="TextBox 11"/>
          <p:cNvSpPr txBox="1"/>
          <p:nvPr/>
        </p:nvSpPr>
        <p:spPr>
          <a:xfrm>
            <a:off x="548640" y="5074920"/>
            <a:ext cx="914400" cy="685800"/>
          </a:xfrm>
          <a:prstGeom prst="rect">
            <a:avLst/>
          </a:prstGeom>
          <a:noFill/>
        </p:spPr>
        <p:txBody>
          <a:bodyPr wrap="square" anchor="t">
            <a:spAutoFit/>
          </a:bodyPr>
          <a:lstStyle/>
          <a:p>
            <a:pPr algn="l"/>
            <a:r>
              <a:rPr sz="3600" b="1">
                <a:solidFill>
                  <a:srgbClr val="00FF41"/>
                </a:solidFill>
                <a:latin typeface="Calibri"/>
              </a:rPr>
              <a:t>5.</a:t>
            </a:r>
          </a:p>
        </p:txBody>
      </p:sp>
      <p:sp>
        <p:nvSpPr>
          <p:cNvPr id="13" name="TextBox 12"/>
          <p:cNvSpPr txBox="1"/>
          <p:nvPr/>
        </p:nvSpPr>
        <p:spPr>
          <a:xfrm>
            <a:off x="1554480" y="5120640"/>
            <a:ext cx="10241280" cy="685800"/>
          </a:xfrm>
          <a:prstGeom prst="rect">
            <a:avLst/>
          </a:prstGeom>
          <a:noFill/>
        </p:spPr>
        <p:txBody>
          <a:bodyPr wrap="square" anchor="t">
            <a:spAutoFit/>
          </a:bodyPr>
          <a:lstStyle/>
          <a:p>
            <a:pPr algn="l"/>
            <a:r>
              <a:rPr sz="2600" b="0">
                <a:solidFill>
                  <a:srgbClr val="FFFFFF"/>
                </a:solidFill>
                <a:latin typeface="Calibri"/>
              </a:rPr>
              <a:t>Find out what databases YOUR org actually runs.</a:t>
            </a:r>
          </a:p>
        </p:txBody>
      </p:sp>
      <p:sp>
        <p:nvSpPr>
          <p:cNvPr id="14" name="TextBox 1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15" name="TextBox 1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40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source list: PortSwigger Web Security Academy, SQLBolt, Use The Index Luke, DB-Engines, and the OWASP Top 10." title="Resource list: PortSwigger Web Security Academy, SQLBolt, Use The Index Luke, DB"/>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Resources Worth Bookmarking</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5" name="TextBox 4"/>
          <p:cNvSpPr txBox="1"/>
          <p:nvPr/>
        </p:nvSpPr>
        <p:spPr>
          <a:xfrm>
            <a:off x="1097280" y="1828800"/>
            <a:ext cx="5943600" cy="640080"/>
          </a:xfrm>
          <a:prstGeom prst="rect">
            <a:avLst/>
          </a:prstGeom>
          <a:noFill/>
        </p:spPr>
        <p:txBody>
          <a:bodyPr wrap="square" anchor="t">
            <a:spAutoFit/>
          </a:bodyPr>
          <a:lstStyle/>
          <a:p>
            <a:pPr algn="l"/>
            <a:r>
              <a:rPr sz="2600" b="1">
                <a:solidFill>
                  <a:srgbClr val="FFFFFF"/>
                </a:solidFill>
                <a:latin typeface="Calibri"/>
              </a:rPr>
              <a:t>PortSwigger Web Security Academy</a:t>
            </a:r>
          </a:p>
        </p:txBody>
      </p:sp>
      <p:sp>
        <p:nvSpPr>
          <p:cNvPr id="6" name="TextBox 5"/>
          <p:cNvSpPr txBox="1"/>
          <p:nvPr/>
        </p:nvSpPr>
        <p:spPr>
          <a:xfrm>
            <a:off x="7040880" y="1828800"/>
            <a:ext cx="4937760" cy="640080"/>
          </a:xfrm>
          <a:prstGeom prst="rect">
            <a:avLst/>
          </a:prstGeom>
          <a:noFill/>
        </p:spPr>
        <p:txBody>
          <a:bodyPr wrap="square" anchor="t">
            <a:spAutoFit/>
          </a:bodyPr>
          <a:lstStyle/>
          <a:p>
            <a:pPr algn="l"/>
            <a:r>
              <a:rPr sz="2200" b="0">
                <a:solidFill>
                  <a:srgbClr val="00D4FF"/>
                </a:solidFill>
                <a:latin typeface="Calibri"/>
              </a:rPr>
              <a:t>portswigger.net/web-security</a:t>
            </a:r>
          </a:p>
        </p:txBody>
      </p:sp>
      <p:sp>
        <p:nvSpPr>
          <p:cNvPr id="7" name="TextBox 6"/>
          <p:cNvSpPr txBox="1"/>
          <p:nvPr/>
        </p:nvSpPr>
        <p:spPr>
          <a:xfrm>
            <a:off x="548640" y="260604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8" name="TextBox 7"/>
          <p:cNvSpPr txBox="1"/>
          <p:nvPr/>
        </p:nvSpPr>
        <p:spPr>
          <a:xfrm>
            <a:off x="1097280" y="2606040"/>
            <a:ext cx="5943600" cy="640080"/>
          </a:xfrm>
          <a:prstGeom prst="rect">
            <a:avLst/>
          </a:prstGeom>
          <a:noFill/>
        </p:spPr>
        <p:txBody>
          <a:bodyPr wrap="square" anchor="t">
            <a:spAutoFit/>
          </a:bodyPr>
          <a:lstStyle/>
          <a:p>
            <a:pPr algn="l"/>
            <a:r>
              <a:rPr sz="2600" b="1">
                <a:solidFill>
                  <a:srgbClr val="FFFFFF"/>
                </a:solidFill>
                <a:latin typeface="Calibri"/>
              </a:rPr>
              <a:t>SQLBolt</a:t>
            </a:r>
          </a:p>
        </p:txBody>
      </p:sp>
      <p:sp>
        <p:nvSpPr>
          <p:cNvPr id="9" name="TextBox 8"/>
          <p:cNvSpPr txBox="1"/>
          <p:nvPr/>
        </p:nvSpPr>
        <p:spPr>
          <a:xfrm>
            <a:off x="7040880" y="2606040"/>
            <a:ext cx="4937760" cy="640080"/>
          </a:xfrm>
          <a:prstGeom prst="rect">
            <a:avLst/>
          </a:prstGeom>
          <a:noFill/>
        </p:spPr>
        <p:txBody>
          <a:bodyPr wrap="square" anchor="t">
            <a:spAutoFit/>
          </a:bodyPr>
          <a:lstStyle/>
          <a:p>
            <a:pPr algn="l"/>
            <a:r>
              <a:rPr sz="2200" b="0">
                <a:solidFill>
                  <a:srgbClr val="00D4FF"/>
                </a:solidFill>
                <a:latin typeface="Calibri"/>
              </a:rPr>
              <a:t>sqlbolt.com</a:t>
            </a:r>
          </a:p>
        </p:txBody>
      </p:sp>
      <p:sp>
        <p:nvSpPr>
          <p:cNvPr id="10" name="TextBox 9"/>
          <p:cNvSpPr txBox="1"/>
          <p:nvPr/>
        </p:nvSpPr>
        <p:spPr>
          <a:xfrm>
            <a:off x="548640" y="338328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1" name="TextBox 10"/>
          <p:cNvSpPr txBox="1"/>
          <p:nvPr/>
        </p:nvSpPr>
        <p:spPr>
          <a:xfrm>
            <a:off x="1097280" y="3383280"/>
            <a:ext cx="5943600" cy="640080"/>
          </a:xfrm>
          <a:prstGeom prst="rect">
            <a:avLst/>
          </a:prstGeom>
          <a:noFill/>
        </p:spPr>
        <p:txBody>
          <a:bodyPr wrap="square" anchor="t">
            <a:spAutoFit/>
          </a:bodyPr>
          <a:lstStyle/>
          <a:p>
            <a:pPr algn="l"/>
            <a:r>
              <a:rPr sz="2600" b="1">
                <a:solidFill>
                  <a:srgbClr val="FFFFFF"/>
                </a:solidFill>
                <a:latin typeface="Calibri"/>
              </a:rPr>
              <a:t>Use The Index, Luke</a:t>
            </a:r>
          </a:p>
        </p:txBody>
      </p:sp>
      <p:sp>
        <p:nvSpPr>
          <p:cNvPr id="12" name="TextBox 11"/>
          <p:cNvSpPr txBox="1"/>
          <p:nvPr/>
        </p:nvSpPr>
        <p:spPr>
          <a:xfrm>
            <a:off x="7040880" y="3383280"/>
            <a:ext cx="4937760" cy="640080"/>
          </a:xfrm>
          <a:prstGeom prst="rect">
            <a:avLst/>
          </a:prstGeom>
          <a:noFill/>
        </p:spPr>
        <p:txBody>
          <a:bodyPr wrap="square" anchor="t">
            <a:spAutoFit/>
          </a:bodyPr>
          <a:lstStyle/>
          <a:p>
            <a:pPr algn="l"/>
            <a:r>
              <a:rPr sz="2200" b="0">
                <a:solidFill>
                  <a:srgbClr val="00D4FF"/>
                </a:solidFill>
                <a:latin typeface="Calibri"/>
              </a:rPr>
              <a:t>use-the-index-luke.com</a:t>
            </a:r>
          </a:p>
        </p:txBody>
      </p:sp>
      <p:sp>
        <p:nvSpPr>
          <p:cNvPr id="13" name="TextBox 12"/>
          <p:cNvSpPr txBox="1"/>
          <p:nvPr/>
        </p:nvSpPr>
        <p:spPr>
          <a:xfrm>
            <a:off x="548640" y="416052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4" name="TextBox 13"/>
          <p:cNvSpPr txBox="1"/>
          <p:nvPr/>
        </p:nvSpPr>
        <p:spPr>
          <a:xfrm>
            <a:off x="1097280" y="4160520"/>
            <a:ext cx="5943600" cy="640080"/>
          </a:xfrm>
          <a:prstGeom prst="rect">
            <a:avLst/>
          </a:prstGeom>
          <a:noFill/>
        </p:spPr>
        <p:txBody>
          <a:bodyPr wrap="square" anchor="t">
            <a:spAutoFit/>
          </a:bodyPr>
          <a:lstStyle/>
          <a:p>
            <a:pPr algn="l"/>
            <a:r>
              <a:rPr sz="2600" b="1">
                <a:solidFill>
                  <a:srgbClr val="FFFFFF"/>
                </a:solidFill>
                <a:latin typeface="Calibri"/>
              </a:rPr>
              <a:t>DB-Engines Ranking</a:t>
            </a:r>
          </a:p>
        </p:txBody>
      </p:sp>
      <p:sp>
        <p:nvSpPr>
          <p:cNvPr id="15" name="TextBox 14"/>
          <p:cNvSpPr txBox="1"/>
          <p:nvPr/>
        </p:nvSpPr>
        <p:spPr>
          <a:xfrm>
            <a:off x="7040880" y="4160520"/>
            <a:ext cx="4937760" cy="640080"/>
          </a:xfrm>
          <a:prstGeom prst="rect">
            <a:avLst/>
          </a:prstGeom>
          <a:noFill/>
        </p:spPr>
        <p:txBody>
          <a:bodyPr wrap="square" anchor="t">
            <a:spAutoFit/>
          </a:bodyPr>
          <a:lstStyle/>
          <a:p>
            <a:pPr algn="l"/>
            <a:r>
              <a:rPr sz="2200" b="0">
                <a:solidFill>
                  <a:srgbClr val="00D4FF"/>
                </a:solidFill>
                <a:latin typeface="Calibri"/>
              </a:rPr>
              <a:t>db-engines.com</a:t>
            </a:r>
          </a:p>
        </p:txBody>
      </p:sp>
      <p:sp>
        <p:nvSpPr>
          <p:cNvPr id="16" name="TextBox 15"/>
          <p:cNvSpPr txBox="1"/>
          <p:nvPr/>
        </p:nvSpPr>
        <p:spPr>
          <a:xfrm>
            <a:off x="548640" y="493776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7" name="TextBox 16"/>
          <p:cNvSpPr txBox="1"/>
          <p:nvPr/>
        </p:nvSpPr>
        <p:spPr>
          <a:xfrm>
            <a:off x="1097280" y="4937760"/>
            <a:ext cx="5943600" cy="640080"/>
          </a:xfrm>
          <a:prstGeom prst="rect">
            <a:avLst/>
          </a:prstGeom>
          <a:noFill/>
        </p:spPr>
        <p:txBody>
          <a:bodyPr wrap="square" anchor="t">
            <a:spAutoFit/>
          </a:bodyPr>
          <a:lstStyle/>
          <a:p>
            <a:pPr algn="l"/>
            <a:r>
              <a:rPr sz="2600" b="1">
                <a:solidFill>
                  <a:srgbClr val="FFFFFF"/>
                </a:solidFill>
                <a:latin typeface="Calibri"/>
              </a:rPr>
              <a:t>OWASP Top 10</a:t>
            </a:r>
          </a:p>
        </p:txBody>
      </p:sp>
      <p:sp>
        <p:nvSpPr>
          <p:cNvPr id="18" name="TextBox 17"/>
          <p:cNvSpPr txBox="1"/>
          <p:nvPr/>
        </p:nvSpPr>
        <p:spPr>
          <a:xfrm>
            <a:off x="7040880" y="4937760"/>
            <a:ext cx="4937760" cy="640080"/>
          </a:xfrm>
          <a:prstGeom prst="rect">
            <a:avLst/>
          </a:prstGeom>
          <a:noFill/>
        </p:spPr>
        <p:txBody>
          <a:bodyPr wrap="square" anchor="t">
            <a:spAutoFit/>
          </a:bodyPr>
          <a:lstStyle/>
          <a:p>
            <a:pPr algn="l"/>
            <a:r>
              <a:rPr sz="2200" b="0">
                <a:solidFill>
                  <a:srgbClr val="00D4FF"/>
                </a:solidFill>
                <a:latin typeface="Calibri"/>
              </a:rPr>
              <a:t>owasp.org/Top10/</a:t>
            </a:r>
          </a:p>
        </p:txBody>
      </p:sp>
      <p:sp>
        <p:nvSpPr>
          <p:cNvPr id="19" name="TextBox 18"/>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20" name="TextBox 19"/>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41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losing slide: Databases are where the money is. Literally. Now you know where to look. Ronin 48." title="Closing slide: Databases are where the money is. Literally. Now you know where t"/>
          <p:cNvSpPr txBox="1"/>
          <p:nvPr/>
        </p:nvSpPr>
        <p:spPr>
          <a:xfrm>
            <a:off x="457200" y="1371600"/>
            <a:ext cx="11247120" cy="1371600"/>
          </a:xfrm>
          <a:prstGeom prst="rect">
            <a:avLst/>
          </a:prstGeom>
          <a:noFill/>
        </p:spPr>
        <p:txBody>
          <a:bodyPr wrap="square" anchor="t">
            <a:spAutoFit/>
          </a:bodyPr>
          <a:lstStyle/>
          <a:p>
            <a:pPr algn="ctr"/>
            <a:r>
              <a:rPr sz="5800" b="1">
                <a:solidFill>
                  <a:srgbClr val="FFFFFF"/>
                </a:solidFill>
                <a:latin typeface="Calibri"/>
              </a:rPr>
              <a:t>Databases are where</a:t>
            </a:r>
          </a:p>
        </p:txBody>
      </p:sp>
      <p:sp>
        <p:nvSpPr>
          <p:cNvPr id="3" name="TextBox 2"/>
          <p:cNvSpPr txBox="1"/>
          <p:nvPr/>
        </p:nvSpPr>
        <p:spPr>
          <a:xfrm>
            <a:off x="457200" y="2377440"/>
            <a:ext cx="11247120" cy="1371600"/>
          </a:xfrm>
          <a:prstGeom prst="rect">
            <a:avLst/>
          </a:prstGeom>
          <a:noFill/>
        </p:spPr>
        <p:txBody>
          <a:bodyPr wrap="square" anchor="t">
            <a:spAutoFit/>
          </a:bodyPr>
          <a:lstStyle/>
          <a:p>
            <a:pPr algn="ctr"/>
            <a:r>
              <a:rPr sz="5800" b="1">
                <a:solidFill>
                  <a:srgbClr val="00FF41"/>
                </a:solidFill>
                <a:latin typeface="Calibri"/>
              </a:rPr>
              <a:t>the money is. Literally.</a:t>
            </a:r>
          </a:p>
        </p:txBody>
      </p:sp>
      <p:sp>
        <p:nvSpPr>
          <p:cNvPr id="4" name="Rectangle 3"/>
          <p:cNvSpPr/>
          <p:nvPr/>
        </p:nvSpPr>
        <p:spPr>
          <a:xfrm>
            <a:off x="4724704" y="4023360"/>
            <a:ext cx="27432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297680"/>
            <a:ext cx="11247120" cy="914400"/>
          </a:xfrm>
          <a:prstGeom prst="rect">
            <a:avLst/>
          </a:prstGeom>
          <a:noFill/>
        </p:spPr>
        <p:txBody>
          <a:bodyPr wrap="square" anchor="t">
            <a:spAutoFit/>
          </a:bodyPr>
          <a:lstStyle/>
          <a:p>
            <a:pPr algn="ctr"/>
            <a:r>
              <a:rPr sz="4200" b="0">
                <a:solidFill>
                  <a:srgbClr val="00D4FF"/>
                </a:solidFill>
                <a:latin typeface="Calibri"/>
              </a:rPr>
              <a:t>Now you know where to look.</a:t>
            </a:r>
          </a:p>
        </p:txBody>
      </p:sp>
      <p:sp>
        <p:nvSpPr>
          <p:cNvPr id="6" name="TextBox 5"/>
          <p:cNvSpPr txBox="1"/>
          <p:nvPr/>
        </p:nvSpPr>
        <p:spPr>
          <a:xfrm>
            <a:off x="457200" y="5669280"/>
            <a:ext cx="11247120" cy="548640"/>
          </a:xfrm>
          <a:prstGeom prst="rect">
            <a:avLst/>
          </a:prstGeom>
          <a:noFill/>
        </p:spPr>
        <p:txBody>
          <a:bodyPr wrap="square" anchor="t">
            <a:spAutoFit/>
          </a:bodyPr>
          <a:lstStyle/>
          <a:p>
            <a:pPr algn="ctr"/>
            <a:r>
              <a:rPr sz="2800" b="1">
                <a:solidFill>
                  <a:srgbClr val="CCCCD6"/>
                </a:solidFill>
                <a:latin typeface="Calibri"/>
              </a:rPr>
              <a:t>RONIN 48</a:t>
            </a:r>
          </a:p>
        </p:txBody>
      </p:sp>
      <p:sp>
        <p:nvSpPr>
          <p:cNvPr id="7" name="TextBox 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42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Questions and answers slide." title="Questions and answers slide."/>
          <p:cNvSpPr txBox="1"/>
          <p:nvPr/>
        </p:nvSpPr>
        <p:spPr>
          <a:xfrm>
            <a:off x="457200" y="2286000"/>
            <a:ext cx="11247120" cy="1828800"/>
          </a:xfrm>
          <a:prstGeom prst="rect">
            <a:avLst/>
          </a:prstGeom>
          <a:noFill/>
        </p:spPr>
        <p:txBody>
          <a:bodyPr wrap="square" anchor="t">
            <a:spAutoFit/>
          </a:bodyPr>
          <a:lstStyle/>
          <a:p>
            <a:pPr algn="ctr"/>
            <a:r>
              <a:rPr sz="18000" b="1">
                <a:solidFill>
                  <a:srgbClr val="00FF41"/>
                </a:solidFill>
                <a:latin typeface="Calibri"/>
              </a:rPr>
              <a:t>Q &amp; A</a:t>
            </a:r>
          </a:p>
        </p:txBody>
      </p:sp>
      <p:sp>
        <p:nvSpPr>
          <p:cNvPr id="3" name="TextBox 2"/>
          <p:cNvSpPr txBox="1"/>
          <p:nvPr/>
        </p:nvSpPr>
        <p:spPr>
          <a:xfrm>
            <a:off x="457200" y="4754880"/>
            <a:ext cx="11247120" cy="548640"/>
          </a:xfrm>
          <a:prstGeom prst="rect">
            <a:avLst/>
          </a:prstGeom>
          <a:noFill/>
        </p:spPr>
        <p:txBody>
          <a:bodyPr wrap="square" anchor="t">
            <a:spAutoFit/>
          </a:bodyPr>
          <a:lstStyle/>
          <a:p>
            <a:pPr algn="ctr"/>
            <a:r>
              <a:rPr sz="3600" b="0">
                <a:solidFill>
                  <a:srgbClr val="FFFFFF"/>
                </a:solidFill>
                <a:latin typeface="Calibri"/>
              </a:rPr>
              <a:t>Hit me.</a:t>
            </a:r>
          </a:p>
        </p:txBody>
      </p:sp>
      <p:sp>
        <p:nvSpPr>
          <p:cNvPr id="4" name="TextBox 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References — Books Cited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5" name="TextBox 4"/>
          <p:cNvSpPr txBox="1"/>
          <p:nvPr/>
        </p:nvSpPr>
        <p:spPr>
          <a:xfrm>
            <a:off x="777240" y="1664208"/>
            <a:ext cx="10972800" cy="320040"/>
          </a:xfrm>
          <a:prstGeom prst="rect">
            <a:avLst/>
          </a:prstGeom>
          <a:noFill/>
        </p:spPr>
        <p:txBody>
          <a:bodyPr wrap="square" anchor="t">
            <a:spAutoFit/>
          </a:bodyPr>
          <a:lstStyle/>
          <a:p>
            <a:pPr algn="l"/>
            <a:r>
              <a:rPr sz="1600" b="0">
                <a:solidFill>
                  <a:srgbClr val="FFFFFF"/>
                </a:solidFill>
                <a:latin typeface="Calibri"/>
              </a:rPr>
              <a:t>Beaulieu, A. — Learning SQL, 2nd Edition (O'Reilly)</a:t>
            </a:r>
          </a:p>
        </p:txBody>
      </p:sp>
      <p:sp>
        <p:nvSpPr>
          <p:cNvPr id="6" name="TextBox 5"/>
          <p:cNvSpPr txBox="1"/>
          <p:nvPr/>
        </p:nvSpPr>
        <p:spPr>
          <a:xfrm>
            <a:off x="457200" y="200253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7" name="TextBox 6"/>
          <p:cNvSpPr txBox="1"/>
          <p:nvPr/>
        </p:nvSpPr>
        <p:spPr>
          <a:xfrm>
            <a:off x="777240" y="1975104"/>
            <a:ext cx="10972800" cy="320040"/>
          </a:xfrm>
          <a:prstGeom prst="rect">
            <a:avLst/>
          </a:prstGeom>
          <a:noFill/>
        </p:spPr>
        <p:txBody>
          <a:bodyPr wrap="square" anchor="t">
            <a:spAutoFit/>
          </a:bodyPr>
          <a:lstStyle/>
          <a:p>
            <a:pPr algn="l"/>
            <a:r>
              <a:rPr sz="1600" b="0">
                <a:solidFill>
                  <a:srgbClr val="FFFFFF"/>
                </a:solidFill>
                <a:latin typeface="Calibri"/>
              </a:rPr>
              <a:t>Clarke, J. et al. — SQL Injection Attacks and Defense (Syngress)</a:t>
            </a:r>
          </a:p>
        </p:txBody>
      </p:sp>
      <p:sp>
        <p:nvSpPr>
          <p:cNvPr id="8" name="TextBox 7"/>
          <p:cNvSpPr txBox="1"/>
          <p:nvPr/>
        </p:nvSpPr>
        <p:spPr>
          <a:xfrm>
            <a:off x="457200" y="231343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9" name="TextBox 8"/>
          <p:cNvSpPr txBox="1"/>
          <p:nvPr/>
        </p:nvSpPr>
        <p:spPr>
          <a:xfrm>
            <a:off x="777240" y="2286000"/>
            <a:ext cx="10972800" cy="320040"/>
          </a:xfrm>
          <a:prstGeom prst="rect">
            <a:avLst/>
          </a:prstGeom>
          <a:noFill/>
        </p:spPr>
        <p:txBody>
          <a:bodyPr wrap="square" anchor="t">
            <a:spAutoFit/>
          </a:bodyPr>
          <a:lstStyle/>
          <a:p>
            <a:pPr algn="l"/>
            <a:r>
              <a:rPr sz="1600" b="0">
                <a:solidFill>
                  <a:srgbClr val="FFFFFF"/>
                </a:solidFill>
                <a:latin typeface="Calibri"/>
              </a:rPr>
              <a:t>Crowther, P. — Concise Guide to Databases (Springer, 2013)</a:t>
            </a:r>
          </a:p>
        </p:txBody>
      </p:sp>
      <p:sp>
        <p:nvSpPr>
          <p:cNvPr id="10" name="TextBox 9"/>
          <p:cNvSpPr txBox="1"/>
          <p:nvPr/>
        </p:nvSpPr>
        <p:spPr>
          <a:xfrm>
            <a:off x="457200" y="262432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1" name="TextBox 10"/>
          <p:cNvSpPr txBox="1"/>
          <p:nvPr/>
        </p:nvSpPr>
        <p:spPr>
          <a:xfrm>
            <a:off x="777240" y="2596896"/>
            <a:ext cx="10972800" cy="320040"/>
          </a:xfrm>
          <a:prstGeom prst="rect">
            <a:avLst/>
          </a:prstGeom>
          <a:noFill/>
        </p:spPr>
        <p:txBody>
          <a:bodyPr wrap="square" anchor="t">
            <a:spAutoFit/>
          </a:bodyPr>
          <a:lstStyle/>
          <a:p>
            <a:pPr algn="l"/>
            <a:r>
              <a:rPr sz="1600" b="0">
                <a:solidFill>
                  <a:srgbClr val="FFFFFF"/>
                </a:solidFill>
                <a:latin typeface="Calibri"/>
              </a:rPr>
              <a:t>DeBarros, A. — Practical SQL (No Starch Press)</a:t>
            </a:r>
          </a:p>
        </p:txBody>
      </p:sp>
      <p:sp>
        <p:nvSpPr>
          <p:cNvPr id="12" name="TextBox 11"/>
          <p:cNvSpPr txBox="1"/>
          <p:nvPr/>
        </p:nvSpPr>
        <p:spPr>
          <a:xfrm>
            <a:off x="457200" y="293522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3" name="TextBox 12"/>
          <p:cNvSpPr txBox="1"/>
          <p:nvPr/>
        </p:nvSpPr>
        <p:spPr>
          <a:xfrm>
            <a:off x="777240" y="2907792"/>
            <a:ext cx="10972800" cy="320040"/>
          </a:xfrm>
          <a:prstGeom prst="rect">
            <a:avLst/>
          </a:prstGeom>
          <a:noFill/>
        </p:spPr>
        <p:txBody>
          <a:bodyPr wrap="square" anchor="t">
            <a:spAutoFit/>
          </a:bodyPr>
          <a:lstStyle/>
          <a:p>
            <a:pPr algn="l"/>
            <a:r>
              <a:rPr sz="1600" b="0">
                <a:solidFill>
                  <a:srgbClr val="FFFFFF"/>
                </a:solidFill>
                <a:latin typeface="Calibri"/>
              </a:rPr>
              <a:t>Diogenes &amp; Ozkaya — Cybersecurity Attack and Defense Strategies (Packt)</a:t>
            </a:r>
          </a:p>
        </p:txBody>
      </p:sp>
      <p:sp>
        <p:nvSpPr>
          <p:cNvPr id="14" name="TextBox 13"/>
          <p:cNvSpPr txBox="1"/>
          <p:nvPr/>
        </p:nvSpPr>
        <p:spPr>
          <a:xfrm>
            <a:off x="457200" y="324612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5" name="TextBox 14"/>
          <p:cNvSpPr txBox="1"/>
          <p:nvPr/>
        </p:nvSpPr>
        <p:spPr>
          <a:xfrm>
            <a:off x="777240" y="3218688"/>
            <a:ext cx="10972800" cy="320040"/>
          </a:xfrm>
          <a:prstGeom prst="rect">
            <a:avLst/>
          </a:prstGeom>
          <a:noFill/>
        </p:spPr>
        <p:txBody>
          <a:bodyPr wrap="square" anchor="t">
            <a:spAutoFit/>
          </a:bodyPr>
          <a:lstStyle/>
          <a:p>
            <a:pPr algn="l"/>
            <a:r>
              <a:rPr sz="1600" b="0">
                <a:solidFill>
                  <a:srgbClr val="FFFFFF"/>
                </a:solidFill>
                <a:latin typeface="Calibri"/>
              </a:rPr>
              <a:t>Janca, T. — Alice and Bob Learn Application Security (Wiley)</a:t>
            </a:r>
          </a:p>
        </p:txBody>
      </p:sp>
      <p:sp>
        <p:nvSpPr>
          <p:cNvPr id="16" name="TextBox 15"/>
          <p:cNvSpPr txBox="1"/>
          <p:nvPr/>
        </p:nvSpPr>
        <p:spPr>
          <a:xfrm>
            <a:off x="457200" y="355701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7" name="TextBox 16"/>
          <p:cNvSpPr txBox="1"/>
          <p:nvPr/>
        </p:nvSpPr>
        <p:spPr>
          <a:xfrm>
            <a:off x="777240" y="3529584"/>
            <a:ext cx="10972800" cy="320040"/>
          </a:xfrm>
          <a:prstGeom prst="rect">
            <a:avLst/>
          </a:prstGeom>
          <a:noFill/>
        </p:spPr>
        <p:txBody>
          <a:bodyPr wrap="square" anchor="t">
            <a:spAutoFit/>
          </a:bodyPr>
          <a:lstStyle/>
          <a:p>
            <a:pPr algn="l"/>
            <a:r>
              <a:rPr sz="1600" b="0">
                <a:solidFill>
                  <a:srgbClr val="FFFFFF"/>
                </a:solidFill>
                <a:latin typeface="Calibri"/>
              </a:rPr>
              <a:t>Mishra &amp; Singh — PostgreSQL Development Essentials (Packt)</a:t>
            </a:r>
          </a:p>
        </p:txBody>
      </p:sp>
      <p:sp>
        <p:nvSpPr>
          <p:cNvPr id="18" name="TextBox 17"/>
          <p:cNvSpPr txBox="1"/>
          <p:nvPr/>
        </p:nvSpPr>
        <p:spPr>
          <a:xfrm>
            <a:off x="457200" y="386791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9" name="TextBox 18"/>
          <p:cNvSpPr txBox="1"/>
          <p:nvPr/>
        </p:nvSpPr>
        <p:spPr>
          <a:xfrm>
            <a:off x="777240" y="3840480"/>
            <a:ext cx="10972800" cy="320040"/>
          </a:xfrm>
          <a:prstGeom prst="rect">
            <a:avLst/>
          </a:prstGeom>
          <a:noFill/>
        </p:spPr>
        <p:txBody>
          <a:bodyPr wrap="square" anchor="t">
            <a:spAutoFit/>
          </a:bodyPr>
          <a:lstStyle/>
          <a:p>
            <a:pPr algn="l"/>
            <a:r>
              <a:rPr sz="1600" b="0">
                <a:solidFill>
                  <a:srgbClr val="FFFFFF"/>
                </a:solidFill>
                <a:latin typeface="Calibri"/>
              </a:rPr>
              <a:t>MongoDB Cookbook (Packt)  •  10gen — Top 5 NoSQL Considerations</a:t>
            </a:r>
          </a:p>
        </p:txBody>
      </p:sp>
      <p:sp>
        <p:nvSpPr>
          <p:cNvPr id="20" name="TextBox 19"/>
          <p:cNvSpPr txBox="1"/>
          <p:nvPr/>
        </p:nvSpPr>
        <p:spPr>
          <a:xfrm>
            <a:off x="457200" y="417880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1" name="TextBox 20"/>
          <p:cNvSpPr txBox="1"/>
          <p:nvPr/>
        </p:nvSpPr>
        <p:spPr>
          <a:xfrm>
            <a:off x="777240" y="4151376"/>
            <a:ext cx="10972800" cy="320040"/>
          </a:xfrm>
          <a:prstGeom prst="rect">
            <a:avLst/>
          </a:prstGeom>
          <a:noFill/>
        </p:spPr>
        <p:txBody>
          <a:bodyPr wrap="square" anchor="t">
            <a:spAutoFit/>
          </a:bodyPr>
          <a:lstStyle/>
          <a:p>
            <a:pPr algn="l"/>
            <a:r>
              <a:rPr sz="1600" b="0">
                <a:solidFill>
                  <a:srgbClr val="FFFFFF"/>
                </a:solidFill>
                <a:latin typeface="Calibri"/>
              </a:rPr>
              <a:t>OWASP Top 10 — 2017 Edition</a:t>
            </a:r>
          </a:p>
        </p:txBody>
      </p:sp>
      <p:sp>
        <p:nvSpPr>
          <p:cNvPr id="22" name="TextBox 21"/>
          <p:cNvSpPr txBox="1"/>
          <p:nvPr/>
        </p:nvSpPr>
        <p:spPr>
          <a:xfrm>
            <a:off x="457200" y="448970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3" name="TextBox 22"/>
          <p:cNvSpPr txBox="1"/>
          <p:nvPr/>
        </p:nvSpPr>
        <p:spPr>
          <a:xfrm>
            <a:off x="777240" y="4462272"/>
            <a:ext cx="10972800" cy="320040"/>
          </a:xfrm>
          <a:prstGeom prst="rect">
            <a:avLst/>
          </a:prstGeom>
          <a:noFill/>
        </p:spPr>
        <p:txBody>
          <a:bodyPr wrap="square" anchor="t">
            <a:spAutoFit/>
          </a:bodyPr>
          <a:lstStyle/>
          <a:p>
            <a:pPr algn="l"/>
            <a:r>
              <a:rPr sz="1600" b="0">
                <a:solidFill>
                  <a:srgbClr val="FFFFFF"/>
                </a:solidFill>
                <a:latin typeface="Calibri"/>
              </a:rPr>
              <a:t>Sharma, M. — Cosmos DB for MongoDB Developers (Apress, 2018)</a:t>
            </a:r>
          </a:p>
        </p:txBody>
      </p:sp>
      <p:sp>
        <p:nvSpPr>
          <p:cNvPr id="24" name="TextBox 23"/>
          <p:cNvSpPr txBox="1"/>
          <p:nvPr/>
        </p:nvSpPr>
        <p:spPr>
          <a:xfrm>
            <a:off x="457200" y="480060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5" name="TextBox 24"/>
          <p:cNvSpPr txBox="1"/>
          <p:nvPr/>
        </p:nvSpPr>
        <p:spPr>
          <a:xfrm>
            <a:off x="777240" y="4773168"/>
            <a:ext cx="10972800" cy="320040"/>
          </a:xfrm>
          <a:prstGeom prst="rect">
            <a:avLst/>
          </a:prstGeom>
          <a:noFill/>
        </p:spPr>
        <p:txBody>
          <a:bodyPr wrap="square" anchor="t">
            <a:spAutoFit/>
          </a:bodyPr>
          <a:lstStyle/>
          <a:p>
            <a:pPr algn="l"/>
            <a:r>
              <a:rPr sz="1600" b="0">
                <a:solidFill>
                  <a:srgbClr val="FFFFFF"/>
                </a:solidFill>
                <a:latin typeface="Calibri"/>
              </a:rPr>
              <a:t>Schneier, B. — Secrets and Lies (Wiley)</a:t>
            </a:r>
          </a:p>
        </p:txBody>
      </p:sp>
      <p:sp>
        <p:nvSpPr>
          <p:cNvPr id="26" name="TextBox 25"/>
          <p:cNvSpPr txBox="1"/>
          <p:nvPr/>
        </p:nvSpPr>
        <p:spPr>
          <a:xfrm>
            <a:off x="457200" y="511149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7" name="TextBox 26"/>
          <p:cNvSpPr txBox="1"/>
          <p:nvPr/>
        </p:nvSpPr>
        <p:spPr>
          <a:xfrm>
            <a:off x="777240" y="5084064"/>
            <a:ext cx="10972800" cy="320040"/>
          </a:xfrm>
          <a:prstGeom prst="rect">
            <a:avLst/>
          </a:prstGeom>
          <a:noFill/>
        </p:spPr>
        <p:txBody>
          <a:bodyPr wrap="square" anchor="t">
            <a:spAutoFit/>
          </a:bodyPr>
          <a:lstStyle/>
          <a:p>
            <a:pPr algn="l"/>
            <a:r>
              <a:rPr sz="1600" b="0">
                <a:solidFill>
                  <a:srgbClr val="FFFFFF"/>
                </a:solidFill>
                <a:latin typeface="Calibri"/>
              </a:rPr>
              <a:t>Stuttard &amp; Pinto — Web Application Hacker's Handbook, 2nd Ed.</a:t>
            </a:r>
          </a:p>
        </p:txBody>
      </p:sp>
      <p:sp>
        <p:nvSpPr>
          <p:cNvPr id="28" name="TextBox 27"/>
          <p:cNvSpPr txBox="1"/>
          <p:nvPr/>
        </p:nvSpPr>
        <p:spPr>
          <a:xfrm>
            <a:off x="457200" y="542239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9" name="TextBox 28"/>
          <p:cNvSpPr txBox="1"/>
          <p:nvPr/>
        </p:nvSpPr>
        <p:spPr>
          <a:xfrm>
            <a:off x="777240" y="5394959"/>
            <a:ext cx="10972800" cy="320040"/>
          </a:xfrm>
          <a:prstGeom prst="rect">
            <a:avLst/>
          </a:prstGeom>
          <a:noFill/>
        </p:spPr>
        <p:txBody>
          <a:bodyPr wrap="square" anchor="t">
            <a:spAutoFit/>
          </a:bodyPr>
          <a:lstStyle/>
          <a:p>
            <a:pPr algn="l"/>
            <a:r>
              <a:rPr sz="1600" b="0">
                <a:solidFill>
                  <a:srgbClr val="FFFFFF"/>
                </a:solidFill>
                <a:latin typeface="Calibri"/>
              </a:rPr>
              <a:t>Shostack, A. — Threat Modeling: Designing for Security (Wiley)</a:t>
            </a:r>
          </a:p>
        </p:txBody>
      </p:sp>
      <p:sp>
        <p:nvSpPr>
          <p:cNvPr id="30" name="TextBox 29"/>
          <p:cNvSpPr txBox="1"/>
          <p:nvPr/>
        </p:nvSpPr>
        <p:spPr>
          <a:xfrm>
            <a:off x="457200" y="573328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1" name="TextBox 30"/>
          <p:cNvSpPr txBox="1"/>
          <p:nvPr/>
        </p:nvSpPr>
        <p:spPr>
          <a:xfrm>
            <a:off x="777240" y="5705855"/>
            <a:ext cx="10972800" cy="320040"/>
          </a:xfrm>
          <a:prstGeom prst="rect">
            <a:avLst/>
          </a:prstGeom>
          <a:noFill/>
        </p:spPr>
        <p:txBody>
          <a:bodyPr wrap="square" anchor="t">
            <a:spAutoFit/>
          </a:bodyPr>
          <a:lstStyle/>
          <a:p>
            <a:pPr algn="l"/>
            <a:r>
              <a:rPr sz="1600" b="0">
                <a:solidFill>
                  <a:srgbClr val="FFFFFF"/>
                </a:solidFill>
                <a:latin typeface="Calibri"/>
              </a:rPr>
              <a:t>AWS Administration: The Definitive Guide (Packt)</a:t>
            </a:r>
          </a:p>
        </p:txBody>
      </p:sp>
      <p:sp>
        <p:nvSpPr>
          <p:cNvPr id="32" name="TextBox 31"/>
          <p:cNvSpPr txBox="1"/>
          <p:nvPr/>
        </p:nvSpPr>
        <p:spPr>
          <a:xfrm>
            <a:off x="457200" y="604418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3" name="TextBox 32"/>
          <p:cNvSpPr txBox="1"/>
          <p:nvPr/>
        </p:nvSpPr>
        <p:spPr>
          <a:xfrm>
            <a:off x="777240" y="6016752"/>
            <a:ext cx="10972800" cy="320040"/>
          </a:xfrm>
          <a:prstGeom prst="rect">
            <a:avLst/>
          </a:prstGeom>
          <a:noFill/>
        </p:spPr>
        <p:txBody>
          <a:bodyPr wrap="square" anchor="t">
            <a:spAutoFit/>
          </a:bodyPr>
          <a:lstStyle/>
          <a:p>
            <a:pPr algn="l"/>
            <a:r>
              <a:rPr sz="1600" b="0">
                <a:solidFill>
                  <a:srgbClr val="FFFFFF"/>
                </a:solidFill>
                <a:latin typeface="Calibri"/>
              </a:rPr>
              <a:t>Fundamentals of Azure, 2nd Edition (Microsoft Press)</a:t>
            </a:r>
          </a:p>
        </p:txBody>
      </p:sp>
      <p:sp>
        <p:nvSpPr>
          <p:cNvPr id="34" name="TextBox 3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Databases for Hackers</a:t>
            </a:r>
          </a:p>
        </p:txBody>
      </p:sp>
      <p:sp>
        <p:nvSpPr>
          <p:cNvPr id="35" name="TextBox 3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