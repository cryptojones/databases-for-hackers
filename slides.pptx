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notesMasters/notesMaster1.xml" ContentType="application/vnd.openxmlformats-officedocument.presentationml.notesMaster+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30.xml" ContentType="application/vnd.openxmlformats-officedocument.presentationml.slide+xml"/>
  <Override PartName="/ppt/slides/slide33.xml" ContentType="application/vnd.openxmlformats-officedocument.presentationml.slide+xml"/>
  <Override PartName="/ppt/slides/slide25.xml" ContentType="application/vnd.openxmlformats-officedocument.presentationml.slide+xml"/>
  <Override PartName="/ppt/slides/slide10.xml" ContentType="application/vnd.openxmlformats-officedocument.presentationml.slide+xml"/>
  <Override PartName="/ppt/slides/slide36.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34.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31.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35.xml" ContentType="application/vnd.openxmlformats-officedocument.presentationml.slide+xml"/>
  <Override PartName="/ppt/slides/slide26.xml" ContentType="application/vnd.openxmlformats-officedocument.presentationml.slide+xml"/>
  <Override PartName="/ppt/slides/slide40.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21.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10.xml" ContentType="application/vnd.openxmlformats-officedocument.presentationml.notesSlide+xml"/>
  <Override PartName="/ppt/notesSlides/notesSlide37.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38.xml" ContentType="application/vnd.openxmlformats-officedocument.presentationml.notesSlide+xml"/>
  <Override PartName="/ppt/notesSlides/notesSlide27.xml" ContentType="application/vnd.openxmlformats-officedocument.presentationml.notesSlide+xml"/>
  <Override PartName="/ppt/notesSlides/notesSlide40.xml" ContentType="application/vnd.openxmlformats-officedocument.presentationml.notesSlide+xml"/>
  <Override PartName="/ppt/notesSlides/notesSlide29.xml" ContentType="application/vnd.openxmlformats-officedocument.presentationml.notesSlide+xml"/>
  <Override PartName="/ppt/notesSlides/notesSlide14.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5.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9.xml" ContentType="application/vnd.openxmlformats-officedocument.presentationml.notesSlide+xml"/>
  <Override PartName="/ppt/notesSlides/notesSlide15.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39.xml" ContentType="application/vnd.openxmlformats-officedocument.presentationml.notesSlide+xml"/>
  <Override PartName="/ppt/notesSlides/notesSlide45.xml" ContentType="application/vnd.openxmlformats-officedocument.presentationml.notes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22.xml" ContentType="application/vnd.openxmlformats-officedocument.presentationml.notesSlide+xml"/>
  <Override PartName="/ppt/notesSlides/notesSlide1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7D68741-070C-4AE3-AD19-11384171AC7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Img"/>
          </p:nvPr>
        </p:nvSpPr>
        <p:spPr>
          <a:xfrm>
            <a:off x="1143000" y="685800"/>
            <a:ext cx="4571640" cy="3428640"/>
          </a:xfrm>
          <a:prstGeom prst="rect">
            <a:avLst/>
          </a:prstGeom>
          <a:ln w="0">
            <a:noFill/>
          </a:ln>
        </p:spPr>
      </p:sp>
      <p:sp>
        <p:nvSpPr>
          <p:cNvPr id="67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Welcome. This is a 45-minute talk for new security analysts. No computer-science background required. There's a script, slides, and a recording — nothing to memorize.</a:t>
            </a:r>
            <a:endParaRPr lang="en-US" sz="2000" b="0" u="none" strike="noStrike">
              <a:solidFill>
                <a:srgbClr val="000000"/>
              </a:solidFill>
              <a:effectLst/>
              <a:uFillTx/>
              <a:latin typeface="Arial"/>
            </a:endParaRPr>
          </a:p>
        </p:txBody>
      </p:sp>
      <p:sp>
        <p:nvSpPr>
          <p:cNvPr id="674"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BE1352F-AE15-4FB6-9A2D-D4F624A0138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Img"/>
          </p:nvPr>
        </p:nvSpPr>
        <p:spPr>
          <a:xfrm>
            <a:off x="1143000" y="685800"/>
            <a:ext cx="4571640" cy="3428640"/>
          </a:xfrm>
          <a:prstGeom prst="rect">
            <a:avLst/>
          </a:prstGeom>
          <a:ln w="0">
            <a:noFill/>
          </a:ln>
        </p:spPr>
      </p:sp>
      <p:sp>
        <p:nvSpPr>
          <p:cNvPr id="67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Introduce yourself. Aaron K. Clark, Ronin 48. Brief pause, let the audience settle.</a:t>
            </a:r>
            <a:endParaRPr lang="en-US" sz="2000" b="0" u="none" strike="noStrike">
              <a:solidFill>
                <a:srgbClr val="000000"/>
              </a:solidFill>
              <a:effectLst/>
              <a:uFillTx/>
              <a:latin typeface="Arial"/>
            </a:endParaRPr>
          </a:p>
        </p:txBody>
      </p:sp>
      <p:sp>
        <p:nvSpPr>
          <p:cNvPr id="677"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0EEF7A2-6551-4F71-83DA-1861A6CB79E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Img"/>
          </p:nvPr>
        </p:nvSpPr>
        <p:spPr>
          <a:xfrm>
            <a:off x="1143000" y="685800"/>
            <a:ext cx="4571640" cy="3428640"/>
          </a:xfrm>
          <a:prstGeom prst="rect">
            <a:avLst/>
          </a:prstGeom>
          <a:ln w="0">
            <a:noFill/>
          </a:ln>
        </p:spPr>
      </p:sp>
      <p:sp>
        <p:nvSpPr>
          <p:cNvPr id="67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Equifax, Capital One, MOVEit, SolarWinds, T-Mobile, LinkedIn, OPM, Marriott — every one of those breaches ended at a database. Attackers care about data, not architecture diagrams. </a:t>
            </a:r>
            <a:br>
              <a:rPr sz="2000"/>
            </a:br>
            <a:br>
              <a:rPr sz="2000"/>
            </a:br>
            <a:r>
              <a:rPr lang="en-US" sz="2000" b="0" u="none" strike="noStrike">
                <a:solidFill>
                  <a:srgbClr val="000000"/>
                </a:solidFill>
                <a:effectLst/>
                <a:uFillTx/>
                <a:latin typeface="Arial"/>
              </a:rPr>
              <a:t>* Except where it didn’t</a:t>
            </a:r>
            <a:endParaRPr lang="en-US" sz="2000" b="0" u="none" strike="noStrike">
              <a:solidFill>
                <a:srgbClr val="000000"/>
              </a:solidFill>
              <a:effectLst/>
              <a:uFillTx/>
              <a:latin typeface="Arial"/>
            </a:endParaRPr>
          </a:p>
        </p:txBody>
      </p:sp>
      <p:sp>
        <p:nvSpPr>
          <p:cNvPr id="680"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C63972C-0984-4E8A-A148-C8688852C7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Img"/>
          </p:nvPr>
        </p:nvSpPr>
        <p:spPr>
          <a:xfrm>
            <a:off x="1143000" y="685800"/>
            <a:ext cx="4571640" cy="3428640"/>
          </a:xfrm>
          <a:prstGeom prst="rect">
            <a:avLst/>
          </a:prstGeom>
          <a:ln w="0">
            <a:noFill/>
          </a:ln>
        </p:spPr>
      </p:sp>
      <p:sp>
        <p:nvSpPr>
          <p:cNvPr id="68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Attackers don't care about your beautiful SPA or your microservices diagram. They care about the data — the crown jewels — because that's what converts into money, leverage, or headlines.</a:t>
            </a:r>
            <a:endParaRPr lang="en-US" sz="2000" b="0" u="none" strike="noStrike">
              <a:solidFill>
                <a:srgbClr val="000000"/>
              </a:solidFill>
              <a:effectLst/>
              <a:uFillTx/>
              <a:latin typeface="Arial"/>
            </a:endParaRPr>
          </a:p>
        </p:txBody>
      </p:sp>
      <p:sp>
        <p:nvSpPr>
          <p:cNvPr id="683"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CA42F3E-B692-43D2-8F9A-E2F0F74411C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Img"/>
          </p:nvPr>
        </p:nvSpPr>
        <p:spPr>
          <a:xfrm>
            <a:off x="1143000" y="685800"/>
            <a:ext cx="4571640" cy="3428640"/>
          </a:xfrm>
          <a:prstGeom prst="rect">
            <a:avLst/>
          </a:prstGeom>
          <a:ln w="0">
            <a:noFill/>
          </a:ln>
        </p:spPr>
      </p:sp>
      <p:sp>
        <p:nvSpPr>
          <p:cNvPr id="68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Strip the jargon: organized storage plus a query language. If you've used Ctrl-F in Excel, you've used a database. Real databases add scale, speed, concurrency, and a formal query language.</a:t>
            </a:r>
            <a:endParaRPr lang="en-US" sz="2000" b="0" u="none" strike="noStrike">
              <a:solidFill>
                <a:srgbClr val="000000"/>
              </a:solidFill>
              <a:effectLst/>
              <a:uFillTx/>
              <a:latin typeface="Arial"/>
            </a:endParaRPr>
          </a:p>
        </p:txBody>
      </p:sp>
      <p:sp>
        <p:nvSpPr>
          <p:cNvPr id="686"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3085B2-6AD0-4680-B019-05D1B1CA1C7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Img"/>
          </p:nvPr>
        </p:nvSpPr>
        <p:spPr>
          <a:xfrm>
            <a:off x="1143000" y="685800"/>
            <a:ext cx="4571640" cy="3428640"/>
          </a:xfrm>
          <a:prstGeom prst="rect">
            <a:avLst/>
          </a:prstGeom>
          <a:ln w="0">
            <a:noFill/>
          </a:ln>
        </p:spPr>
      </p:sp>
      <p:sp>
        <p:nvSpPr>
          <p:cNvPr id="68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Memorize these six words and you can hold a real conversation with a DBA. Table is a tab, row is a record, column is an attribute, query is a question, schema is the shape, index is the bookmark. CRUD covers every action: create, read, update, delete.</a:t>
            </a:r>
            <a:endParaRPr lang="en-US" sz="2000" b="0" u="none" strike="noStrike">
              <a:solidFill>
                <a:srgbClr val="000000"/>
              </a:solidFill>
              <a:effectLst/>
              <a:uFillTx/>
              <a:latin typeface="Arial"/>
            </a:endParaRPr>
          </a:p>
        </p:txBody>
      </p:sp>
      <p:sp>
        <p:nvSpPr>
          <p:cNvPr id="689"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9D71965-AC47-4220-99FB-2E0429DD71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Img"/>
          </p:nvPr>
        </p:nvSpPr>
        <p:spPr>
          <a:xfrm>
            <a:off x="1143000" y="685800"/>
            <a:ext cx="4571640" cy="3428640"/>
          </a:xfrm>
          <a:prstGeom prst="rect">
            <a:avLst/>
          </a:prstGeom>
          <a:ln w="0">
            <a:noFill/>
          </a:ln>
        </p:spPr>
      </p:sp>
      <p:sp>
        <p:nvSpPr>
          <p:cNvPr id="69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weird thing you'll see in a real environment is a fossil from one of these eras. Knowing which era something comes from is a real superpower in incident response and pentesting.</a:t>
            </a:r>
            <a:endParaRPr lang="en-US" sz="2000" b="0" u="none" strike="noStrike">
              <a:solidFill>
                <a:srgbClr val="000000"/>
              </a:solidFill>
              <a:effectLst/>
              <a:uFillTx/>
              <a:latin typeface="Arial"/>
            </a:endParaRPr>
          </a:p>
        </p:txBody>
      </p:sp>
      <p:sp>
        <p:nvSpPr>
          <p:cNvPr id="692"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6F4F706-402B-4506-8469-0C9D97D42C1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Img"/>
          </p:nvPr>
        </p:nvSpPr>
        <p:spPr>
          <a:xfrm>
            <a:off x="1143000" y="685800"/>
            <a:ext cx="4571640" cy="3428640"/>
          </a:xfrm>
          <a:prstGeom prst="rect">
            <a:avLst/>
          </a:prstGeom>
          <a:ln w="0">
            <a:noFill/>
          </a:ln>
        </p:spPr>
      </p:sp>
      <p:sp>
        <p:nvSpPr>
          <p:cNvPr id="69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Ten families you'll meet in the wild. For each: what it stores, what it's for, key products, and the security gotcha.</a:t>
            </a:r>
            <a:endParaRPr lang="en-US" sz="2000" b="0" u="none" strike="noStrike">
              <a:solidFill>
                <a:srgbClr val="000000"/>
              </a:solidFill>
              <a:effectLst/>
              <a:uFillTx/>
              <a:latin typeface="Arial"/>
            </a:endParaRPr>
          </a:p>
        </p:txBody>
      </p:sp>
      <p:sp>
        <p:nvSpPr>
          <p:cNvPr id="695"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B219C9-ED69-4663-B568-C458999B688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Img"/>
          </p:nvPr>
        </p:nvSpPr>
        <p:spPr>
          <a:xfrm>
            <a:off x="1143000" y="685800"/>
            <a:ext cx="4571640" cy="3428640"/>
          </a:xfrm>
          <a:prstGeom prst="rect">
            <a:avLst/>
          </a:prstGeom>
          <a:ln w="0">
            <a:noFill/>
          </a:ln>
        </p:spPr>
      </p:sp>
      <p:sp>
        <p:nvSpPr>
          <p:cNvPr id="69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1: Relational / SQL. Products include PostgreSQL  •  MySQL/MariaDB  •  SQL Server  •  Oracle. Clear relationships, consistency required — finance, regulated data. Security gotcha: SQL injection when developers concatenate user input into queries.</a:t>
            </a:r>
            <a:endParaRPr lang="en-US" sz="2000" b="0" u="none" strike="noStrike">
              <a:solidFill>
                <a:srgbClr val="000000"/>
              </a:solidFill>
              <a:effectLst/>
              <a:uFillTx/>
              <a:latin typeface="Arial"/>
            </a:endParaRPr>
          </a:p>
        </p:txBody>
      </p:sp>
      <p:sp>
        <p:nvSpPr>
          <p:cNvPr id="698"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F47FC2-2234-49D1-B8B2-6A98C648062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1143000" y="685800"/>
            <a:ext cx="4571640" cy="3428640"/>
          </a:xfrm>
          <a:prstGeom prst="rect">
            <a:avLst/>
          </a:prstGeom>
          <a:ln w="0">
            <a:noFill/>
          </a:ln>
        </p:spPr>
      </p:sp>
      <p:sp>
        <p:nvSpPr>
          <p:cNvPr id="70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2: Document Stores. Products include MongoDB  •  Couchbase  •  Firestore. Naturally nested data; the shape changes over time. Security gotcha: NoSQL injection via query operators ($ne, $gt, $where). Default no-auth.</a:t>
            </a:r>
            <a:endParaRPr lang="en-US" sz="2000" b="0" u="none" strike="noStrike">
              <a:solidFill>
                <a:srgbClr val="000000"/>
              </a:solidFill>
              <a:effectLst/>
              <a:uFillTx/>
              <a:latin typeface="Arial"/>
            </a:endParaRPr>
          </a:p>
        </p:txBody>
      </p:sp>
      <p:sp>
        <p:nvSpPr>
          <p:cNvPr id="701"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722488-A93E-41A1-8FBC-E82B81520A8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Img"/>
          </p:nvPr>
        </p:nvSpPr>
        <p:spPr>
          <a:xfrm>
            <a:off x="1143000" y="685800"/>
            <a:ext cx="4571640" cy="3428640"/>
          </a:xfrm>
          <a:prstGeom prst="rect">
            <a:avLst/>
          </a:prstGeom>
          <a:ln w="0">
            <a:noFill/>
          </a:ln>
        </p:spPr>
      </p:sp>
      <p:sp>
        <p:nvSpPr>
          <p:cNvPr id="70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3: Key-Value Stores. Products include Redis  •  Memcached  •  DynamoDB. Caches, session stores, rate limiters, leaderboards. Security gotcha: Default no-auth Redis + CONFIG SET → writing SSH keys to disk.</a:t>
            </a:r>
            <a:endParaRPr lang="en-US" sz="2000" b="0" u="none" strike="noStrike">
              <a:solidFill>
                <a:srgbClr val="000000"/>
              </a:solidFill>
              <a:effectLst/>
              <a:uFillTx/>
              <a:latin typeface="Arial"/>
            </a:endParaRPr>
          </a:p>
        </p:txBody>
      </p:sp>
      <p:sp>
        <p:nvSpPr>
          <p:cNvPr id="704"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0A296E8-F0D1-499F-9EDD-8D848FA8A7C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Img"/>
          </p:nvPr>
        </p:nvSpPr>
        <p:spPr>
          <a:xfrm>
            <a:off x="1143000" y="685800"/>
            <a:ext cx="4571640" cy="3428640"/>
          </a:xfrm>
          <a:prstGeom prst="rect">
            <a:avLst/>
          </a:prstGeom>
          <a:ln w="0">
            <a:noFill/>
          </a:ln>
        </p:spPr>
      </p:sp>
      <p:sp>
        <p:nvSpPr>
          <p:cNvPr id="70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4: Column-Family. Products include Apache Cassandra  •  HBase  •  ScyllaDB. Massive scale across many machines; no complex joins needed. Security gotcha: Clusters trust each other on gossip ports — mgmt network = root.</a:t>
            </a:r>
            <a:endParaRPr lang="en-US" sz="2000" b="0" u="none" strike="noStrike">
              <a:solidFill>
                <a:srgbClr val="000000"/>
              </a:solidFill>
              <a:effectLst/>
              <a:uFillTx/>
              <a:latin typeface="Arial"/>
            </a:endParaRPr>
          </a:p>
        </p:txBody>
      </p:sp>
      <p:sp>
        <p:nvSpPr>
          <p:cNvPr id="707"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7A863D0-B30E-4FEC-9A1D-B82090AD8A4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1143000" y="685800"/>
            <a:ext cx="4571640" cy="3428640"/>
          </a:xfrm>
          <a:prstGeom prst="rect">
            <a:avLst/>
          </a:prstGeom>
          <a:ln w="0">
            <a:noFill/>
          </a:ln>
        </p:spPr>
      </p:sp>
      <p:sp>
        <p:nvSpPr>
          <p:cNvPr id="70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5: Graph Databases. Products include Neo4j  •  Amazon Neptune  •  ArangoDB. Social networks, fraud detection, IAM analysis (e.g. BloodHound). Security gotcha: Query languages like Cypher are injectable too. NoSQLi isn't just Mongo.</a:t>
            </a:r>
            <a:endParaRPr lang="en-US" sz="2000" b="0" u="none" strike="noStrike">
              <a:solidFill>
                <a:srgbClr val="000000"/>
              </a:solidFill>
              <a:effectLst/>
              <a:uFillTx/>
              <a:latin typeface="Arial"/>
            </a:endParaRPr>
          </a:p>
        </p:txBody>
      </p:sp>
      <p:sp>
        <p:nvSpPr>
          <p:cNvPr id="710"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DAECD6E-E4FB-4F3A-B4B8-D918A888D73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1143000" y="685800"/>
            <a:ext cx="4571640" cy="3428640"/>
          </a:xfrm>
          <a:prstGeom prst="rect">
            <a:avLst/>
          </a:prstGeom>
          <a:ln w="0">
            <a:noFill/>
          </a:ln>
        </p:spPr>
      </p:sp>
      <p:sp>
        <p:nvSpPr>
          <p:cNvPr id="71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6: Search Engines. Products include Elasticsearch  •  OpenSearch  •  Solr. Log search, SIEM backbones, e-commerce site search. Security gotcha: No built-in auth historically — billions of records exposed on Shodan.</a:t>
            </a:r>
            <a:endParaRPr lang="en-US" sz="2000" b="0" u="none" strike="noStrike">
              <a:solidFill>
                <a:srgbClr val="000000"/>
              </a:solidFill>
              <a:effectLst/>
              <a:uFillTx/>
              <a:latin typeface="Arial"/>
            </a:endParaRPr>
          </a:p>
        </p:txBody>
      </p:sp>
      <p:sp>
        <p:nvSpPr>
          <p:cNvPr id="713"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65A6C1-FC86-46A8-B12C-80D3769A1EA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1143000" y="685800"/>
            <a:ext cx="4571640" cy="3428640"/>
          </a:xfrm>
          <a:prstGeom prst="rect">
            <a:avLst/>
          </a:prstGeom>
          <a:ln w="0">
            <a:noFill/>
          </a:ln>
        </p:spPr>
      </p:sp>
      <p:sp>
        <p:nvSpPr>
          <p:cNvPr id="71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7: Time-Series. Products include InfluxDB  •  TimescaleDB  •  Prometheus. Metrics, observability, IoT telemetry. Security gotcha: Usually inside the perimeter, often unauthenticated.</a:t>
            </a:r>
            <a:endParaRPr lang="en-US" sz="2000" b="0" u="none" strike="noStrike">
              <a:solidFill>
                <a:srgbClr val="000000"/>
              </a:solidFill>
              <a:effectLst/>
              <a:uFillTx/>
              <a:latin typeface="Arial"/>
            </a:endParaRPr>
          </a:p>
        </p:txBody>
      </p:sp>
      <p:sp>
        <p:nvSpPr>
          <p:cNvPr id="716"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4500C33-800C-43BF-A9C0-CDCEEC11A37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1143000" y="685800"/>
            <a:ext cx="4571640" cy="3428640"/>
          </a:xfrm>
          <a:prstGeom prst="rect">
            <a:avLst/>
          </a:prstGeom>
          <a:ln w="0">
            <a:noFill/>
          </a:ln>
        </p:spPr>
      </p:sp>
      <p:sp>
        <p:nvSpPr>
          <p:cNvPr id="71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8: Vector Databases. Products include Pinecone  •  Milvus  •  Weaviate  •  pgvector. RAG, recommendation engines, semantic search. Security gotcha: Data poisoning — sneak in a doc, the LLM quotes it as truth.</a:t>
            </a:r>
            <a:endParaRPr lang="en-US" sz="2000" b="0" u="none" strike="noStrike">
              <a:solidFill>
                <a:srgbClr val="000000"/>
              </a:solidFill>
              <a:effectLst/>
              <a:uFillTx/>
              <a:latin typeface="Arial"/>
            </a:endParaRPr>
          </a:p>
        </p:txBody>
      </p:sp>
      <p:sp>
        <p:nvSpPr>
          <p:cNvPr id="719"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87CBBC2-49BC-4CE4-9F20-2C89647A441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1143000" y="685800"/>
            <a:ext cx="4571640" cy="3428640"/>
          </a:xfrm>
          <a:prstGeom prst="rect">
            <a:avLst/>
          </a:prstGeom>
          <a:ln w="0">
            <a:noFill/>
          </a:ln>
        </p:spPr>
      </p:sp>
      <p:sp>
        <p:nvSpPr>
          <p:cNvPr id="72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9: Embedded / Edge. Products include SQLite  •  DuckDB  •  LevelDB. In-app storage — browsers, phones, every modern airplane. Security gotcha: DB is a file — attack is 'steal the file'. Mobile pentest world.</a:t>
            </a:r>
            <a:endParaRPr lang="en-US" sz="2000" b="0" u="none" strike="noStrike">
              <a:solidFill>
                <a:srgbClr val="000000"/>
              </a:solidFill>
              <a:effectLst/>
              <a:uFillTx/>
              <a:latin typeface="Arial"/>
            </a:endParaRPr>
          </a:p>
        </p:txBody>
      </p:sp>
      <p:sp>
        <p:nvSpPr>
          <p:cNvPr id="722"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C818390-E5FA-4DE9-8805-1540285BAD5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1143000" y="685800"/>
            <a:ext cx="4571640" cy="3428640"/>
          </a:xfrm>
          <a:prstGeom prst="rect">
            <a:avLst/>
          </a:prstGeom>
          <a:ln w="0">
            <a:noFill/>
          </a:ln>
        </p:spPr>
      </p:sp>
      <p:sp>
        <p:nvSpPr>
          <p:cNvPr id="72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Family 10: Data Lakes / Lakehouses. Products include S3 + Athena  •  Delta Lake  •  Iceberg  •  Snowflake. Schema-on-read instead of schema-on-write. Dump now, query later. Security gotcha: Giant S3 pools + permissive IAM, no encryption-at-rest enforcement.</a:t>
            </a:r>
            <a:endParaRPr lang="en-US" sz="2000" b="0" u="none" strike="noStrike">
              <a:solidFill>
                <a:srgbClr val="000000"/>
              </a:solidFill>
              <a:effectLst/>
              <a:uFillTx/>
              <a:latin typeface="Arial"/>
            </a:endParaRPr>
          </a:p>
        </p:txBody>
      </p:sp>
      <p:sp>
        <p:nvSpPr>
          <p:cNvPr id="725"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2482BD9-25C3-445B-A76A-5B58C179018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1143000" y="685800"/>
            <a:ext cx="4571640" cy="3428640"/>
          </a:xfrm>
          <a:prstGeom prst="rect">
            <a:avLst/>
          </a:prstGeom>
          <a:ln w="0">
            <a:noFill/>
          </a:ln>
        </p:spPr>
      </p:sp>
      <p:sp>
        <p:nvSpPr>
          <p:cNvPr id="72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Know the cloud vendor names — that's how databases appear in alerts, IAM policies, and incident response. AWS RDS/Aurora, GCP Cloud SQL, Azure SQL. Document side: DynamoDB, Firestore, Cosmos DB.</a:t>
            </a:r>
            <a:endParaRPr lang="en-US" sz="2000" b="0" u="none" strike="noStrike">
              <a:solidFill>
                <a:srgbClr val="000000"/>
              </a:solidFill>
              <a:effectLst/>
              <a:uFillTx/>
              <a:latin typeface="Arial"/>
            </a:endParaRPr>
          </a:p>
        </p:txBody>
      </p:sp>
      <p:sp>
        <p:nvSpPr>
          <p:cNvPr id="728"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51E937-AB40-4E5E-BC61-E8434BCF803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1143000" y="685800"/>
            <a:ext cx="4571640" cy="3428640"/>
          </a:xfrm>
          <a:prstGeom prst="rect">
            <a:avLst/>
          </a:prstGeom>
          <a:ln w="0">
            <a:noFill/>
          </a:ln>
        </p:spPr>
      </p:sp>
      <p:sp>
        <p:nvSpPr>
          <p:cNvPr id="73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Side-by-side table. Memorize the row labels — those are the categories. The vendor columns rotate with the market.</a:t>
            </a:r>
            <a:endParaRPr lang="en-US" sz="2000" b="0" u="none" strike="noStrike">
              <a:solidFill>
                <a:srgbClr val="000000"/>
              </a:solidFill>
              <a:effectLst/>
              <a:uFillTx/>
              <a:latin typeface="Arial"/>
            </a:endParaRPr>
          </a:p>
        </p:txBody>
      </p:sp>
      <p:sp>
        <p:nvSpPr>
          <p:cNvPr id="731"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14DDBB-53E0-469E-B433-5D45616EC05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1143000" y="685800"/>
            <a:ext cx="4571640" cy="3428640"/>
          </a:xfrm>
          <a:prstGeom prst="rect">
            <a:avLst/>
          </a:prstGeom>
          <a:ln w="0">
            <a:noFill/>
          </a:ln>
        </p:spPr>
      </p:sp>
      <p:sp>
        <p:nvSpPr>
          <p:cNvPr id="73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Cloud vendor patches hypervisor and engine. You own config, IAM, and the data. Almost every cloud DB breach is a customer-side misconfiguration — public S3, wide security group, snapshot shared to wrong account.</a:t>
            </a:r>
            <a:endParaRPr lang="en-US" sz="2000" b="0" u="none" strike="noStrike">
              <a:solidFill>
                <a:srgbClr val="000000"/>
              </a:solidFill>
              <a:effectLst/>
              <a:uFillTx/>
              <a:latin typeface="Arial"/>
            </a:endParaRPr>
          </a:p>
        </p:txBody>
      </p:sp>
      <p:sp>
        <p:nvSpPr>
          <p:cNvPr id="734"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C78ED2F-D546-4142-950D-3EC2423A67D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1143000" y="685800"/>
            <a:ext cx="4571640" cy="3428640"/>
          </a:xfrm>
          <a:prstGeom prst="rect">
            <a:avLst/>
          </a:prstGeom>
          <a:ln w="0">
            <a:noFill/>
          </a:ln>
        </p:spPr>
      </p:sp>
      <p:sp>
        <p:nvSpPr>
          <p:cNvPr id="73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SOC analysts use these every day. Pentesters scan for them every day. If you see any of these exposed to the internet in a real environment, that's a finding.</a:t>
            </a:r>
            <a:endParaRPr lang="en-US" sz="2000" b="0" u="none" strike="noStrike">
              <a:solidFill>
                <a:srgbClr val="000000"/>
              </a:solidFill>
              <a:effectLst/>
              <a:uFillTx/>
              <a:latin typeface="Arial"/>
            </a:endParaRPr>
          </a:p>
        </p:txBody>
      </p:sp>
      <p:sp>
        <p:nvSpPr>
          <p:cNvPr id="737"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75702B6-EEA3-480B-92CD-409423D7B15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1143000" y="685800"/>
            <a:ext cx="4571640" cy="3428640"/>
          </a:xfrm>
          <a:prstGeom prst="rect">
            <a:avLst/>
          </a:prstGeom>
          <a:ln w="0">
            <a:noFill/>
          </a:ln>
        </p:spPr>
      </p:sp>
      <p:sp>
        <p:nvSpPr>
          <p:cNvPr id="73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Markdown files are a database now — literally. Folder of .md files → embedder → vector DB → LLM prompt. This pattern is called RAG.</a:t>
            </a:r>
            <a:endParaRPr lang="en-US" sz="2000" b="0" u="none" strike="noStrike">
              <a:solidFill>
                <a:srgbClr val="000000"/>
              </a:solidFill>
              <a:effectLst/>
              <a:uFillTx/>
              <a:latin typeface="Arial"/>
            </a:endParaRPr>
          </a:p>
        </p:txBody>
      </p:sp>
      <p:sp>
        <p:nvSpPr>
          <p:cNvPr id="740" name="PlaceHolder 3"/>
          <p:cNvSpPr>
            <a:spLocks noGrp="1"/>
          </p:cNvSpPr>
          <p:nvPr>
            <p:ph type="sldNum" idx="5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909F91F-7AF8-429D-8850-C5E25E78AF2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1143000" y="685800"/>
            <a:ext cx="4571640" cy="3428640"/>
          </a:xfrm>
          <a:prstGeom prst="rect">
            <a:avLst/>
          </a:prstGeom>
          <a:ln w="0">
            <a:noFill/>
          </a:ln>
        </p:spPr>
      </p:sp>
      <p:sp>
        <p:nvSpPr>
          <p:cNvPr id="74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Trust boundary is between whoever writes markdown and the embedder. Anyone who can edit those files can plant content the LLM will quote.</a:t>
            </a:r>
            <a:endParaRPr lang="en-US" sz="2000" b="0" u="none" strike="noStrike">
              <a:solidFill>
                <a:srgbClr val="000000"/>
              </a:solidFill>
              <a:effectLst/>
              <a:uFillTx/>
              <a:latin typeface="Arial"/>
            </a:endParaRPr>
          </a:p>
        </p:txBody>
      </p:sp>
      <p:sp>
        <p:nvSpPr>
          <p:cNvPr id="743" name="PlaceHolder 3"/>
          <p:cNvSpPr>
            <a:spLocks noGrp="1"/>
          </p:cNvSpPr>
          <p:nvPr>
            <p:ph type="sldNum" idx="6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BBBC146-01C7-4455-8D7A-6D9B6423C13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1143000" y="685800"/>
            <a:ext cx="4571640" cy="3428640"/>
          </a:xfrm>
          <a:prstGeom prst="rect">
            <a:avLst/>
          </a:prstGeom>
          <a:ln w="0">
            <a:noFill/>
          </a:ln>
        </p:spPr>
      </p:sp>
      <p:sp>
        <p:nvSpPr>
          <p:cNvPr id="74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If your org is doing any kind of internal AI assistant, the markdown files feeding it are infrastructure. Treat them like infrastructure.</a:t>
            </a:r>
            <a:endParaRPr lang="en-US" sz="2000" b="0" u="none" strike="noStrike">
              <a:solidFill>
                <a:srgbClr val="000000"/>
              </a:solidFill>
              <a:effectLst/>
              <a:uFillTx/>
              <a:latin typeface="Arial"/>
            </a:endParaRPr>
          </a:p>
        </p:txBody>
      </p:sp>
      <p:sp>
        <p:nvSpPr>
          <p:cNvPr id="746" name="PlaceHolder 3"/>
          <p:cNvSpPr>
            <a:spLocks noGrp="1"/>
          </p:cNvSpPr>
          <p:nvPr>
            <p:ph type="sldNum" idx="6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99AB81-F463-4ECE-BADF-3EC60FDF437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1143000" y="685800"/>
            <a:ext cx="4571640" cy="3428640"/>
          </a:xfrm>
          <a:prstGeom prst="rect">
            <a:avLst/>
          </a:prstGeom>
          <a:ln w="0">
            <a:noFill/>
          </a:ln>
        </p:spPr>
      </p:sp>
      <p:sp>
        <p:nvSpPr>
          <p:cNvPr id="74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Section divider: SECURITY — What's actually getting hit in 2026</a:t>
            </a:r>
            <a:endParaRPr lang="en-US" sz="2000" b="0" u="none" strike="noStrike">
              <a:solidFill>
                <a:srgbClr val="000000"/>
              </a:solidFill>
              <a:effectLst/>
              <a:uFillTx/>
              <a:latin typeface="Arial"/>
            </a:endParaRPr>
          </a:p>
        </p:txBody>
      </p:sp>
      <p:sp>
        <p:nvSpPr>
          <p:cNvPr id="749" name="PlaceHolder 3"/>
          <p:cNvSpPr>
            <a:spLocks noGrp="1"/>
          </p:cNvSpPr>
          <p:nvPr>
            <p:ph type="sldNum" idx="6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BCBBF95-5D12-476F-9F77-4EC9F8DC0B4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1143000" y="685800"/>
            <a:ext cx="4571640" cy="3428640"/>
          </a:xfrm>
          <a:prstGeom prst="rect">
            <a:avLst/>
          </a:prstGeom>
          <a:ln w="0">
            <a:noFill/>
          </a:ln>
        </p:spPr>
      </p:sp>
      <p:sp>
        <p:nvSpPr>
          <p:cNvPr id="75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most famous database attack of all time. xkcd #327. Mom names her kid Robert'); DROP TABLE Students;-- and the school's database disappears because someone built a query by gluing strings. Fix is parameterized queries.</a:t>
            </a:r>
            <a:endParaRPr lang="en-US" sz="2000" b="0" u="none" strike="noStrike">
              <a:solidFill>
                <a:srgbClr val="000000"/>
              </a:solidFill>
              <a:effectLst/>
              <a:uFillTx/>
              <a:latin typeface="Arial"/>
            </a:endParaRPr>
          </a:p>
        </p:txBody>
      </p:sp>
      <p:sp>
        <p:nvSpPr>
          <p:cNvPr id="752" name="PlaceHolder 3"/>
          <p:cNvSpPr>
            <a:spLocks noGrp="1"/>
          </p:cNvSpPr>
          <p:nvPr>
            <p:ph type="sldNum" idx="6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1F060F0-AA9B-4352-A15A-0DD56FCDB42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1143000" y="685800"/>
            <a:ext cx="4571640" cy="3428640"/>
          </a:xfrm>
          <a:prstGeom prst="rect">
            <a:avLst/>
          </a:prstGeom>
          <a:ln w="0">
            <a:noFill/>
          </a:ln>
        </p:spPr>
      </p:sp>
      <p:sp>
        <p:nvSpPr>
          <p:cNvPr id="75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SQL injection is a success story — parameterized queries fixed it. But the attack surface didn't shrink, it expanded into new shapes.</a:t>
            </a:r>
            <a:endParaRPr lang="en-US" sz="2000" b="0" u="none" strike="noStrike">
              <a:solidFill>
                <a:srgbClr val="000000"/>
              </a:solidFill>
              <a:effectLst/>
              <a:uFillTx/>
              <a:latin typeface="Arial"/>
            </a:endParaRPr>
          </a:p>
        </p:txBody>
      </p:sp>
      <p:sp>
        <p:nvSpPr>
          <p:cNvPr id="755" name="PlaceHolder 3"/>
          <p:cNvSpPr>
            <a:spLocks noGrp="1"/>
          </p:cNvSpPr>
          <p:nvPr>
            <p:ph type="sldNum" idx="6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1F2106A-BDF7-46A1-8E10-09CAA59042B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1143000" y="685800"/>
            <a:ext cx="4571640" cy="3428640"/>
          </a:xfrm>
          <a:prstGeom prst="rect">
            <a:avLst/>
          </a:prstGeom>
          <a:ln w="0">
            <a:noFill/>
          </a:ln>
        </p:spPr>
      </p:sp>
      <p:sp>
        <p:nvSpPr>
          <p:cNvPr id="75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NoSQL Injection. MongoDB JSON queries + raw user input = SQLi reborn.  Login bypass: { username: 'alice', password: { $ne: 'x' } }  $where lets you inject JavaScript straight into the DB.  Couchbase N1QL is SQL-flavored — classic SQLi patterns apply.  Principle: ANY interpreter can be injected, not just SQL.</a:t>
            </a:r>
            <a:endParaRPr lang="en-US" sz="2000" b="0" u="none" strike="noStrike">
              <a:solidFill>
                <a:srgbClr val="000000"/>
              </a:solidFill>
              <a:effectLst/>
              <a:uFillTx/>
              <a:latin typeface="Arial"/>
            </a:endParaRPr>
          </a:p>
        </p:txBody>
      </p:sp>
      <p:sp>
        <p:nvSpPr>
          <p:cNvPr id="758" name="PlaceHolder 3"/>
          <p:cNvSpPr>
            <a:spLocks noGrp="1"/>
          </p:cNvSpPr>
          <p:nvPr>
            <p:ph type="sldNum" idx="6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413CF6D-E3CC-4C91-BB61-857F039D5C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1143000" y="685800"/>
            <a:ext cx="4571640" cy="3428640"/>
          </a:xfrm>
          <a:prstGeom prst="rect">
            <a:avLst/>
          </a:prstGeom>
          <a:ln w="0">
            <a:noFill/>
          </a:ln>
        </p:spPr>
      </p:sp>
      <p:sp>
        <p:nvSpPr>
          <p:cNvPr id="76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Exposed &amp; Misconfigured Databases. Shodan and Censys are full of databases that should not be there.  MongoDB bound to 0.0.0.0 with no auth.  Elasticsearch clusters wide open. Redis with no password.  Postgres pg_hba.conf set to 'host all all 0.0.0.0/0 trust'.  Meow attacks (2020): bots wiped thousands of open DBs for fun.</a:t>
            </a:r>
            <a:endParaRPr lang="en-US" sz="2000" b="0" u="none" strike="noStrike">
              <a:solidFill>
                <a:srgbClr val="000000"/>
              </a:solidFill>
              <a:effectLst/>
              <a:uFillTx/>
              <a:latin typeface="Arial"/>
            </a:endParaRPr>
          </a:p>
        </p:txBody>
      </p:sp>
      <p:sp>
        <p:nvSpPr>
          <p:cNvPr id="761" name="PlaceHolder 3"/>
          <p:cNvSpPr>
            <a:spLocks noGrp="1"/>
          </p:cNvSpPr>
          <p:nvPr>
            <p:ph type="sldNum" idx="6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F14A9EA-BC2F-44A5-A1B7-D0C477DE50F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1143000" y="685800"/>
            <a:ext cx="4571640" cy="3428640"/>
          </a:xfrm>
          <a:prstGeom prst="rect">
            <a:avLst/>
          </a:prstGeom>
          <a:ln w="0">
            <a:noFill/>
          </a:ln>
        </p:spPr>
      </p:sp>
      <p:sp>
        <p:nvSpPr>
          <p:cNvPr id="76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Cloud Misconfigurations. In cloud, the bug is rarely the engine. It's the policy around it.  Public S3 buckets full of DB dumps (Accenture, Verizon, etc.).  Capital One 2019: SSRF tricked a WAF into leaking its IAM creds → S3.  Lambda with s3:* on * because it 'worked the first time'.  Security groups: 0.0.0.0/0 on port 5432.</a:t>
            </a:r>
            <a:endParaRPr lang="en-US" sz="2000" b="0" u="none" strike="noStrike">
              <a:solidFill>
                <a:srgbClr val="000000"/>
              </a:solidFill>
              <a:effectLst/>
              <a:uFillTx/>
              <a:latin typeface="Arial"/>
            </a:endParaRPr>
          </a:p>
        </p:txBody>
      </p:sp>
      <p:sp>
        <p:nvSpPr>
          <p:cNvPr id="764" name="PlaceHolder 3"/>
          <p:cNvSpPr>
            <a:spLocks noGrp="1"/>
          </p:cNvSpPr>
          <p:nvPr>
            <p:ph type="sldNum" idx="6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4CBB130-6887-4D3E-91E0-9561BD97F97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1143000" y="685800"/>
            <a:ext cx="4571640" cy="3428640"/>
          </a:xfrm>
          <a:prstGeom prst="rect">
            <a:avLst/>
          </a:prstGeom>
          <a:ln w="0">
            <a:noFill/>
          </a:ln>
        </p:spPr>
      </p:sp>
      <p:sp>
        <p:nvSpPr>
          <p:cNvPr id="76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Privilege Escalation: DB → OS. Database accounts can become shell access. Three classic moves.  MS SQL: xp_cmdshell — runs shell commands as the DB process.  PostgreSQL: COPY ... TO PROGRAM — pipes output to a shell.  MySQL: load a UDF .so file → sys_exec on the OS.  Pattern: every privileged DB feature is part of the attack surface.</a:t>
            </a:r>
            <a:endParaRPr lang="en-US" sz="2000" b="0" u="none" strike="noStrike">
              <a:solidFill>
                <a:srgbClr val="000000"/>
              </a:solidFill>
              <a:effectLst/>
              <a:uFillTx/>
              <a:latin typeface="Arial"/>
            </a:endParaRPr>
          </a:p>
        </p:txBody>
      </p:sp>
      <p:sp>
        <p:nvSpPr>
          <p:cNvPr id="767" name="PlaceHolder 3"/>
          <p:cNvSpPr>
            <a:spLocks noGrp="1"/>
          </p:cNvSpPr>
          <p:nvPr>
            <p:ph type="sldNum" idx="6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D053435-AB42-4381-A58A-2176026FB65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1143000" y="685800"/>
            <a:ext cx="4571640" cy="3428640"/>
          </a:xfrm>
          <a:prstGeom prst="rect">
            <a:avLst/>
          </a:prstGeom>
          <a:ln w="0">
            <a:noFill/>
          </a:ln>
        </p:spPr>
      </p:sp>
      <p:sp>
        <p:nvSpPr>
          <p:cNvPr id="76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Data Lake Security Gaps. Everything ends up in S3 — including things you didn't mean to put there.  Permissive IAM leaks from compute roles to humans.  No encryption-at-rest enforcement on bucket keys.  No write-side validation — anyone can drop poisoned data.  First question: WHO can write to the lake? WHO can read?</a:t>
            </a:r>
            <a:endParaRPr lang="en-US" sz="2000" b="0" u="none" strike="noStrike">
              <a:solidFill>
                <a:srgbClr val="000000"/>
              </a:solidFill>
              <a:effectLst/>
              <a:uFillTx/>
              <a:latin typeface="Arial"/>
            </a:endParaRPr>
          </a:p>
        </p:txBody>
      </p:sp>
      <p:sp>
        <p:nvSpPr>
          <p:cNvPr id="770" name="PlaceHolder 3"/>
          <p:cNvSpPr>
            <a:spLocks noGrp="1"/>
          </p:cNvSpPr>
          <p:nvPr>
            <p:ph type="sldNum" idx="6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CC1B3C1-4D54-435F-911C-D4ABC6AE5B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1143000" y="685800"/>
            <a:ext cx="4571640" cy="3428640"/>
          </a:xfrm>
          <a:prstGeom prst="rect">
            <a:avLst/>
          </a:prstGeom>
          <a:ln w="0">
            <a:noFill/>
          </a:ln>
        </p:spPr>
      </p:sp>
      <p:sp>
        <p:nvSpPr>
          <p:cNvPr id="77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Ransomware Loves Databases. The DB is the thing the business needs back — maximum leverage.  Encrypt the live database.  Encrypt the BACKUPS (otherwise customer just restores).  Exfil a copy first — extort with disclosure even if they restore.  Defense: offline, immutable backups + tested restores.</a:t>
            </a:r>
            <a:endParaRPr lang="en-US" sz="2000" b="0" u="none" strike="noStrike">
              <a:solidFill>
                <a:srgbClr val="000000"/>
              </a:solidFill>
              <a:effectLst/>
              <a:uFillTx/>
              <a:latin typeface="Arial"/>
            </a:endParaRPr>
          </a:p>
        </p:txBody>
      </p:sp>
      <p:sp>
        <p:nvSpPr>
          <p:cNvPr id="773" name="PlaceHolder 3"/>
          <p:cNvSpPr>
            <a:spLocks noGrp="1"/>
          </p:cNvSpPr>
          <p:nvPr>
            <p:ph type="sldNum" idx="7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FE2354-ED73-459D-BC3D-9F3FC30FDD8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1143000" y="685800"/>
            <a:ext cx="4571640" cy="3428640"/>
          </a:xfrm>
          <a:prstGeom prst="rect">
            <a:avLst/>
          </a:prstGeom>
          <a:ln w="0">
            <a:noFill/>
          </a:ln>
        </p:spPr>
      </p:sp>
      <p:sp>
        <p:nvSpPr>
          <p:cNvPr id="77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Credential Attacks. Default creds and leaked connection strings — two old, durable bugs.  Redis: no password by default for years.  Elastic: no auth in the free tier — also for years.  Connection strings (postgres://user:pass@host) committed to Git.  Pre-commit secret scanning — fix this week.</a:t>
            </a:r>
            <a:endParaRPr lang="en-US" sz="2000" b="0" u="none" strike="noStrike">
              <a:solidFill>
                <a:srgbClr val="000000"/>
              </a:solidFill>
              <a:effectLst/>
              <a:uFillTx/>
              <a:latin typeface="Arial"/>
            </a:endParaRPr>
          </a:p>
        </p:txBody>
      </p:sp>
      <p:sp>
        <p:nvSpPr>
          <p:cNvPr id="776" name="PlaceHolder 3"/>
          <p:cNvSpPr>
            <a:spLocks noGrp="1"/>
          </p:cNvSpPr>
          <p:nvPr>
            <p:ph type="sldNum" idx="7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B317AD9-5830-4F78-839E-A4E2738C77F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1143000" y="685800"/>
            <a:ext cx="4571640" cy="3428640"/>
          </a:xfrm>
          <a:prstGeom prst="rect">
            <a:avLst/>
          </a:prstGeom>
          <a:ln w="0">
            <a:noFill/>
          </a:ln>
        </p:spPr>
      </p:sp>
      <p:sp>
        <p:nvSpPr>
          <p:cNvPr id="77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Supply Chain — The DB Libraries You Trust. Your DB driver came from npm/PyPI/Maven. So did everyone else's.  Malicious npm packages posing as ORMs / drivers.  Trojanized Docker Hub images for popular databases.  Compromised PostgreSQL extensions / MySQL plugins.  Extensions run with DB privileges — usually a lot.</a:t>
            </a:r>
            <a:endParaRPr lang="en-US" sz="2000" b="0" u="none" strike="noStrike">
              <a:solidFill>
                <a:srgbClr val="000000"/>
              </a:solidFill>
              <a:effectLst/>
              <a:uFillTx/>
              <a:latin typeface="Arial"/>
            </a:endParaRPr>
          </a:p>
        </p:txBody>
      </p:sp>
      <p:sp>
        <p:nvSpPr>
          <p:cNvPr id="779" name="PlaceHolder 3"/>
          <p:cNvSpPr>
            <a:spLocks noGrp="1"/>
          </p:cNvSpPr>
          <p:nvPr>
            <p:ph type="sldNum" idx="7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4FD9980-AF43-4E65-B484-98B1E2AD727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1143000" y="685800"/>
            <a:ext cx="4571640" cy="3428640"/>
          </a:xfrm>
          <a:prstGeom prst="rect">
            <a:avLst/>
          </a:prstGeom>
          <a:ln w="0">
            <a:noFill/>
          </a:ln>
        </p:spPr>
      </p:sp>
      <p:sp>
        <p:nvSpPr>
          <p:cNvPr id="78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RAG / LLM Data Poisoning. Stored XSS for the AI era. Write into the knowledge base → LLM quotes it.  Poisoned support article: 'To reset, send your password to...'  Poisoned internal doc: 'Company policy is to wire transfer to...'  Prompt injection embedded in retrieved documents.  Defense: strict write ACLs, provenance tags, human-in-the-loop.</a:t>
            </a:r>
            <a:endParaRPr lang="en-US" sz="2000" b="0" u="none" strike="noStrike">
              <a:solidFill>
                <a:srgbClr val="000000"/>
              </a:solidFill>
              <a:effectLst/>
              <a:uFillTx/>
              <a:latin typeface="Arial"/>
            </a:endParaRPr>
          </a:p>
        </p:txBody>
      </p:sp>
      <p:sp>
        <p:nvSpPr>
          <p:cNvPr id="782" name="PlaceHolder 3"/>
          <p:cNvSpPr>
            <a:spLocks noGrp="1"/>
          </p:cNvSpPr>
          <p:nvPr>
            <p:ph type="sldNum" idx="7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413E76A-4F00-4D84-A61A-5BDDF63D751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1143000" y="685800"/>
            <a:ext cx="4571640" cy="3428640"/>
          </a:xfrm>
          <a:prstGeom prst="rect">
            <a:avLst/>
          </a:prstGeom>
          <a:ln w="0">
            <a:noFill/>
          </a:ln>
        </p:spPr>
      </p:sp>
      <p:sp>
        <p:nvSpPr>
          <p:cNvPr id="78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Insider Threats &amp; DB-to-DB Lateral Movement. Databases aren't endpoints. They're nodes in a graph.  Over-permissioned service accounts. Engineers with prod read.  DBAs with no audit trail.  Oracle DB_LINK, SQL Server linked servers, Postgres FDW.  Stored credentials → compromise A, hop to B, hop to C.</a:t>
            </a:r>
            <a:endParaRPr lang="en-US" sz="2000" b="0" u="none" strike="noStrike">
              <a:solidFill>
                <a:srgbClr val="000000"/>
              </a:solidFill>
              <a:effectLst/>
              <a:uFillTx/>
              <a:latin typeface="Arial"/>
            </a:endParaRPr>
          </a:p>
        </p:txBody>
      </p:sp>
      <p:sp>
        <p:nvSpPr>
          <p:cNvPr id="785" name="PlaceHolder 3"/>
          <p:cNvSpPr>
            <a:spLocks noGrp="1"/>
          </p:cNvSpPr>
          <p:nvPr>
            <p:ph type="sldNum" idx="7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D5ACF6D-C176-4605-9956-196272BAC8D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1143000" y="685800"/>
            <a:ext cx="4571640" cy="3428640"/>
          </a:xfrm>
          <a:prstGeom prst="rect">
            <a:avLst/>
          </a:prstGeom>
          <a:ln w="0">
            <a:noFill/>
          </a:ln>
        </p:spPr>
      </p:sp>
      <p:sp>
        <p:nvSpPr>
          <p:cNvPr id="78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&amp; Snapshot Exposure. Same data as prod, half the love.  Unencrypted DB backups on shares readable by Domain Users.  Cloud snapshots shared cross-account, never un-shared.  Off-site backups to vendors whose posture you never checked.  Backups are last resort. Apply identify-authN-authZ-audit.</a:t>
            </a:r>
            <a:endParaRPr lang="en-US" sz="2000" b="0" u="none" strike="noStrike">
              <a:solidFill>
                <a:srgbClr val="000000"/>
              </a:solidFill>
              <a:effectLst/>
              <a:uFillTx/>
              <a:latin typeface="Arial"/>
            </a:endParaRPr>
          </a:p>
        </p:txBody>
      </p:sp>
      <p:sp>
        <p:nvSpPr>
          <p:cNvPr id="788" name="PlaceHolder 3"/>
          <p:cNvSpPr>
            <a:spLocks noGrp="1"/>
          </p:cNvSpPr>
          <p:nvPr>
            <p:ph type="sldNum" idx="7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2D936D3-ADB3-4A6A-AB7C-E4D68629B4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1143000" y="685800"/>
            <a:ext cx="4571640" cy="3428640"/>
          </a:xfrm>
          <a:prstGeom prst="rect">
            <a:avLst/>
          </a:prstGeom>
          <a:ln w="0">
            <a:noFill/>
          </a:ln>
        </p:spPr>
      </p:sp>
      <p:sp>
        <p:nvSpPr>
          <p:cNvPr id="79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Recap. Database is storage + questions. Ten families. Cloud is shared responsibility. Markdown is a database for LLMs. SQLi got fixed but the surface expanded.</a:t>
            </a:r>
            <a:endParaRPr lang="en-US" sz="2000" b="0" u="none" strike="noStrike">
              <a:solidFill>
                <a:srgbClr val="000000"/>
              </a:solidFill>
              <a:effectLst/>
              <a:uFillTx/>
              <a:latin typeface="Arial"/>
            </a:endParaRPr>
          </a:p>
        </p:txBody>
      </p:sp>
      <p:sp>
        <p:nvSpPr>
          <p:cNvPr id="791" name="PlaceHolder 3"/>
          <p:cNvSpPr>
            <a:spLocks noGrp="1"/>
          </p:cNvSpPr>
          <p:nvPr>
            <p:ph type="sldNum" idx="7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EB4DE6A-D90B-4591-B0D1-ADF241B22F0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1143000" y="685800"/>
            <a:ext cx="4571640" cy="3428640"/>
          </a:xfrm>
          <a:prstGeom prst="rect">
            <a:avLst/>
          </a:prstGeom>
          <a:ln w="0">
            <a:noFill/>
          </a:ln>
        </p:spPr>
      </p:sp>
      <p:sp>
        <p:nvSpPr>
          <p:cNvPr id="79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Five concrete next-week actions. Install Postgres. PortSwigger labs. Browse Shodan legally. Read a breach report. List your org's DBs.</a:t>
            </a:r>
            <a:endParaRPr lang="en-US" sz="2000" b="0" u="none" strike="noStrike">
              <a:solidFill>
                <a:srgbClr val="000000"/>
              </a:solidFill>
              <a:effectLst/>
              <a:uFillTx/>
              <a:latin typeface="Arial"/>
            </a:endParaRPr>
          </a:p>
        </p:txBody>
      </p:sp>
      <p:sp>
        <p:nvSpPr>
          <p:cNvPr id="794" name="PlaceHolder 3"/>
          <p:cNvSpPr>
            <a:spLocks noGrp="1"/>
          </p:cNvSpPr>
          <p:nvPr>
            <p:ph type="sldNum" idx="7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A7A93D3-EDA2-4325-92C2-C804C842FBB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1143000" y="685800"/>
            <a:ext cx="4571640" cy="3428640"/>
          </a:xfrm>
          <a:prstGeom prst="rect">
            <a:avLst/>
          </a:prstGeom>
          <a:ln w="0">
            <a:noFill/>
          </a:ln>
        </p:spPr>
      </p:sp>
      <p:sp>
        <p:nvSpPr>
          <p:cNvPr id="79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PortSwigger for SQLi labs. SQLBolt for learning SQL. Use The Index, Luke for deep DB internals. DB-Engines for popularity rankings. OWASP Top 10 for the canonical web vuln list.</a:t>
            </a:r>
            <a:endParaRPr lang="en-US" sz="2000" b="0" u="none" strike="noStrike">
              <a:solidFill>
                <a:srgbClr val="000000"/>
              </a:solidFill>
              <a:effectLst/>
              <a:uFillTx/>
              <a:latin typeface="Arial"/>
            </a:endParaRPr>
          </a:p>
        </p:txBody>
      </p:sp>
      <p:sp>
        <p:nvSpPr>
          <p:cNvPr id="797" name="PlaceHolder 3"/>
          <p:cNvSpPr>
            <a:spLocks noGrp="1"/>
          </p:cNvSpPr>
          <p:nvPr>
            <p:ph type="sldNum" idx="7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00B38DE-DF95-42F1-98E6-6B22CD48F3F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1143000" y="685800"/>
            <a:ext cx="4571640" cy="3428640"/>
          </a:xfrm>
          <a:prstGeom prst="rect">
            <a:avLst/>
          </a:prstGeom>
          <a:ln w="0">
            <a:noFill/>
          </a:ln>
        </p:spPr>
      </p:sp>
      <p:sp>
        <p:nvSpPr>
          <p:cNvPr id="79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Closing. Willie Sutton said he robbed banks because that's where the money was. In 2026, the money is in databases.</a:t>
            </a:r>
            <a:endParaRPr lang="en-US" sz="2000" b="0" u="none" strike="noStrike">
              <a:solidFill>
                <a:srgbClr val="000000"/>
              </a:solidFill>
              <a:effectLst/>
              <a:uFillTx/>
              <a:latin typeface="Arial"/>
            </a:endParaRPr>
          </a:p>
        </p:txBody>
      </p:sp>
      <p:sp>
        <p:nvSpPr>
          <p:cNvPr id="800" name="PlaceHolder 3"/>
          <p:cNvSpPr>
            <a:spLocks noGrp="1"/>
          </p:cNvSpPr>
          <p:nvPr>
            <p:ph type="sldNum" idx="7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3537C0A-B6AD-43BC-9712-4F7C5B98A24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1143000" y="685800"/>
            <a:ext cx="4571640" cy="3428640"/>
          </a:xfrm>
          <a:prstGeom prst="rect">
            <a:avLst/>
          </a:prstGeom>
          <a:ln w="0">
            <a:noFill/>
          </a:ln>
        </p:spPr>
      </p:sp>
      <p:sp>
        <p:nvSpPr>
          <p:cNvPr id="80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All books cited throughout the talk. Worth picking any of these up — they're the durable references.</a:t>
            </a:r>
            <a:endParaRPr lang="en-US" sz="2000" b="0" u="none" strike="noStrike">
              <a:solidFill>
                <a:srgbClr val="000000"/>
              </a:solidFill>
              <a:effectLst/>
              <a:uFillTx/>
              <a:latin typeface="Arial"/>
            </a:endParaRPr>
          </a:p>
        </p:txBody>
      </p:sp>
      <p:sp>
        <p:nvSpPr>
          <p:cNvPr id="803" name="PlaceHolder 3"/>
          <p:cNvSpPr>
            <a:spLocks noGrp="1"/>
          </p:cNvSpPr>
          <p:nvPr>
            <p:ph type="sldNum" idx="8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7F3B69F-F765-4B16-A63E-7C87CA6FB7C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1143000" y="685800"/>
            <a:ext cx="4571640" cy="3428640"/>
          </a:xfrm>
          <a:prstGeom prst="rect">
            <a:avLst/>
          </a:prstGeom>
          <a:ln w="0">
            <a:noFill/>
          </a:ln>
        </p:spPr>
      </p:sp>
      <p:sp>
        <p:nvSpPr>
          <p:cNvPr id="80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 the floor for five minutes of questions.</a:t>
            </a:r>
            <a:endParaRPr lang="en-US" sz="2000" b="0" u="none" strike="noStrike">
              <a:solidFill>
                <a:srgbClr val="000000"/>
              </a:solidFill>
              <a:effectLst/>
              <a:uFillTx/>
              <a:latin typeface="Arial"/>
            </a:endParaRPr>
          </a:p>
        </p:txBody>
      </p:sp>
      <p:sp>
        <p:nvSpPr>
          <p:cNvPr id="806" name="PlaceHolder 3"/>
          <p:cNvSpPr>
            <a:spLocks noGrp="1"/>
          </p:cNvSpPr>
          <p:nvPr>
            <p:ph type="sldNum" idx="8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A9EFEC3-B900-46E9-BB49-EC29641DEE9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457F1F4-BBD6-452C-8ADB-1AA8D707A4E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3152F58-772C-4B56-A91A-FF0DF293E66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1D5D44B-8F25-4232-A3AB-6DD794CB798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EA8692A-667E-4307-A8C8-4CB3F9B3B8D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037269C-A5F5-4C3C-96D3-E136C7AF3F1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684BFB3-9243-47D8-80C6-1ABFDC64E4AE}"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73C5852-CA9B-46D5-8837-AFC5D07FDE1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48851FB-3E8F-4394-B220-DA477E3E93D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DB7C714-D336-47DC-880C-4337074E09A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F94C652-D21B-4E2A-8F57-28FEC59E44B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E337B5A-8161-474B-983B-CB7F5964406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9.xml"/><Relationship Id="rId7"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7" name="TextBox 1" descr="Title slide: Databases for Hackers — A Ronin 48 stand-up talk." title="Title slide: Databases for Hackers — A Ronin 48 stand-up talk."/>
          <p:cNvSpPr/>
          <p:nvPr/>
        </p:nvSpPr>
        <p:spPr>
          <a:xfrm>
            <a:off x="457200" y="210312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400" b="1" u="none" strike="noStrike">
                <a:solidFill>
                  <a:srgbClr val="00FF41"/>
                </a:solidFill>
                <a:effectLst/>
                <a:uFillTx/>
                <a:latin typeface="Calibri"/>
              </a:rPr>
              <a:t>DATABASES</a:t>
            </a:r>
            <a:endParaRPr lang="en-US" sz="8400" b="0" u="none" strike="noStrike">
              <a:solidFill>
                <a:srgbClr val="FFFFFF"/>
              </a:solidFill>
              <a:effectLst/>
              <a:uFillTx/>
              <a:latin typeface="Arial"/>
            </a:endParaRPr>
          </a:p>
        </p:txBody>
      </p:sp>
      <p:sp>
        <p:nvSpPr>
          <p:cNvPr id="68" name="TextBox 2"/>
          <p:cNvSpPr/>
          <p:nvPr/>
        </p:nvSpPr>
        <p:spPr>
          <a:xfrm>
            <a:off x="457200" y="3108960"/>
            <a:ext cx="11246760" cy="10047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6000" b="1" u="none" strike="noStrike">
                <a:solidFill>
                  <a:srgbClr val="FFFFFF"/>
                </a:solidFill>
                <a:effectLst/>
                <a:uFillTx/>
                <a:latin typeface="Calibri"/>
              </a:rPr>
              <a:t>for Hackers</a:t>
            </a:r>
            <a:endParaRPr lang="en-US" sz="6000" b="0" u="none" strike="noStrike">
              <a:solidFill>
                <a:srgbClr val="FFFFFF"/>
              </a:solidFill>
              <a:effectLst/>
              <a:uFillTx/>
              <a:latin typeface="Arial"/>
            </a:endParaRPr>
          </a:p>
        </p:txBody>
      </p:sp>
      <p:sp>
        <p:nvSpPr>
          <p:cNvPr id="69" name="Rectangle 3"/>
          <p:cNvSpPr/>
          <p:nvPr/>
        </p:nvSpPr>
        <p:spPr>
          <a:xfrm>
            <a:off x="5181840" y="4297680"/>
            <a:ext cx="1828440" cy="72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70" name="TextBox 4"/>
          <p:cNvSpPr/>
          <p:nvPr/>
        </p:nvSpPr>
        <p:spPr>
          <a:xfrm>
            <a:off x="457200" y="4480560"/>
            <a:ext cx="11246760" cy="577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0" u="none" strike="noStrike">
                <a:solidFill>
                  <a:srgbClr val="00D4FF"/>
                </a:solidFill>
                <a:effectLst/>
                <a:uFillTx/>
                <a:latin typeface="Calibri"/>
              </a:rPr>
              <a:t>Stand-Up Talk by CryptoJones</a:t>
            </a:r>
            <a:endParaRPr lang="en-US" sz="3200" b="0" u="none" strike="noStrike">
              <a:solidFill>
                <a:srgbClr val="FFFFFF"/>
              </a:solidFill>
              <a:effectLst/>
              <a:uFillTx/>
              <a:latin typeface="Arial"/>
            </a:endParaRPr>
          </a:p>
        </p:txBody>
      </p:sp>
      <p:sp>
        <p:nvSpPr>
          <p:cNvPr id="71" name="TextBox 5"/>
          <p:cNvSpPr/>
          <p:nvPr/>
        </p:nvSpPr>
        <p:spPr>
          <a:xfrm>
            <a:off x="457200" y="5120640"/>
            <a:ext cx="11246760" cy="5166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0" u="none" strike="noStrike">
                <a:solidFill>
                  <a:srgbClr val="CCCCD6"/>
                </a:solidFill>
                <a:effectLst/>
                <a:uFillTx/>
                <a:latin typeface="Calibri"/>
                <a:ea typeface="Arial Unicode MS"/>
              </a:rPr>
              <a:t>45 minutes</a:t>
            </a:r>
            <a:r>
              <a:rPr lang="en-US" sz="2800" b="1" u="none" strike="noStrike">
                <a:solidFill>
                  <a:srgbClr val="00FF41"/>
                </a:solidFill>
                <a:effectLst/>
                <a:uFillTx/>
                <a:latin typeface="Calibri"/>
                <a:ea typeface="Arial Unicode MS"/>
              </a:rPr>
              <a:t>*</a:t>
            </a:r>
            <a:r>
              <a:rPr lang="en-US" sz="2400" b="0" u="none" strike="noStrike">
                <a:solidFill>
                  <a:srgbClr val="CCCCD6"/>
                </a:solidFill>
                <a:effectLst/>
                <a:uFillTx/>
                <a:latin typeface="Calibri"/>
              </a:rPr>
              <a:t>  •  No degree required</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72" name="TextBox 1"/>
          <p:cNvSpPr/>
          <p:nvPr/>
        </p:nvSpPr>
        <p:spPr>
          <a:xfrm>
            <a:off x="-1143000" y="2057400"/>
            <a:ext cx="944532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1" u="none" strike="noStrike">
                <a:solidFill>
                  <a:srgbClr val="00FF41"/>
                </a:solidFill>
                <a:effectLst/>
                <a:uFillTx/>
                <a:latin typeface="Calibri"/>
              </a:rPr>
              <a:t>Aaron K. Clark</a:t>
            </a:r>
            <a:endParaRPr lang="en-US" sz="5400" b="0" u="none" strike="noStrike">
              <a:solidFill>
                <a:srgbClr val="FFFFFF"/>
              </a:solidFill>
              <a:effectLst/>
              <a:uFillTx/>
              <a:latin typeface="Arial"/>
            </a:endParaRPr>
          </a:p>
        </p:txBody>
      </p:sp>
      <p:sp>
        <p:nvSpPr>
          <p:cNvPr id="73" name="TextBox 2"/>
          <p:cNvSpPr/>
          <p:nvPr/>
        </p:nvSpPr>
        <p:spPr>
          <a:xfrm>
            <a:off x="-758520" y="3018600"/>
            <a:ext cx="9445320" cy="639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0" u="none" strike="noStrike">
                <a:solidFill>
                  <a:srgbClr val="FFFFFF"/>
                </a:solidFill>
                <a:effectLst/>
                <a:uFillTx/>
                <a:latin typeface="Calibri"/>
              </a:rPr>
              <a:t>Graduate Student, Eastern University*</a:t>
            </a:r>
            <a:endParaRPr lang="en-US" sz="3600" b="0" u="none" strike="noStrike">
              <a:solidFill>
                <a:srgbClr val="FFFFFF"/>
              </a:solidFill>
              <a:effectLst/>
              <a:uFillTx/>
              <a:latin typeface="Arial"/>
            </a:endParaRPr>
          </a:p>
        </p:txBody>
      </p:sp>
      <p:pic>
        <p:nvPicPr>
          <p:cNvPr id="74" name=""/>
          <p:cNvPicPr/>
          <p:nvPr/>
        </p:nvPicPr>
        <p:blipFill>
          <a:blip r:embed="rId1"/>
          <a:stretch/>
        </p:blipFill>
        <p:spPr>
          <a:xfrm>
            <a:off x="228600" y="6172200"/>
            <a:ext cx="457200" cy="457200"/>
          </a:xfrm>
          <a:prstGeom prst="rect">
            <a:avLst/>
          </a:prstGeom>
          <a:noFill/>
          <a:ln w="0">
            <a:noFill/>
          </a:ln>
        </p:spPr>
      </p:pic>
      <p:pic>
        <p:nvPicPr>
          <p:cNvPr id="75" name=""/>
          <p:cNvPicPr/>
          <p:nvPr/>
        </p:nvPicPr>
        <p:blipFill>
          <a:blip r:embed="rId2"/>
          <a:stretch/>
        </p:blipFill>
        <p:spPr>
          <a:xfrm>
            <a:off x="228600" y="228600"/>
            <a:ext cx="1371600" cy="1371600"/>
          </a:xfrm>
          <a:prstGeom prst="rect">
            <a:avLst/>
          </a:prstGeom>
          <a:noFill/>
          <a:ln w="0">
            <a:noFill/>
          </a:ln>
        </p:spPr>
      </p:pic>
      <p:pic>
        <p:nvPicPr>
          <p:cNvPr id="76" name=""/>
          <p:cNvPicPr/>
          <p:nvPr/>
        </p:nvPicPr>
        <p:blipFill>
          <a:blip r:embed="rId3"/>
          <a:stretch/>
        </p:blipFill>
        <p:spPr>
          <a:xfrm>
            <a:off x="9372600" y="228600"/>
            <a:ext cx="2514600" cy="914400"/>
          </a:xfrm>
          <a:prstGeom prst="rect">
            <a:avLst/>
          </a:prstGeom>
          <a:noFill/>
          <a:ln w="0">
            <a:noFill/>
          </a:ln>
        </p:spPr>
      </p:pic>
      <p:sp>
        <p:nvSpPr>
          <p:cNvPr id="77" name=""/>
          <p:cNvSpPr txBox="1"/>
          <p:nvPr/>
        </p:nvSpPr>
        <p:spPr>
          <a:xfrm>
            <a:off x="768240" y="6208200"/>
            <a:ext cx="3346560" cy="411120"/>
          </a:xfrm>
          <a:prstGeom prst="rect">
            <a:avLst/>
          </a:prstGeom>
          <a:noFill/>
          <a:ln w="0">
            <a:noFill/>
          </a:ln>
        </p:spPr>
        <p:txBody>
          <a:bodyPr lIns="90000" tIns="45000" rIns="90000" bIns="45000" anchor="t">
            <a:spAutoFit/>
          </a:bodyPr>
          <a:p>
            <a:r>
              <a:rPr lang="en-US" sz="2400" b="0" u="none" strike="noStrike">
                <a:solidFill>
                  <a:srgbClr val="FFFFFF"/>
                </a:solidFill>
                <a:effectLst/>
                <a:uFillTx/>
                <a:latin typeface="Calibri"/>
              </a:rPr>
              <a:t>github.com/CryptoJones</a:t>
            </a:r>
            <a:endParaRPr lang="en-US" sz="2400" b="0" u="none" strike="noStrike">
              <a:solidFill>
                <a:srgbClr val="FFFFFF"/>
              </a:solidFill>
              <a:effectLst/>
              <a:uFillTx/>
              <a:latin typeface="Arial"/>
            </a:endParaRPr>
          </a:p>
        </p:txBody>
      </p:sp>
      <p:pic>
        <p:nvPicPr>
          <p:cNvPr id="78" name=""/>
          <p:cNvPicPr/>
          <p:nvPr/>
        </p:nvPicPr>
        <p:blipFill>
          <a:blip r:embed="rId4"/>
          <a:stretch/>
        </p:blipFill>
        <p:spPr>
          <a:xfrm>
            <a:off x="7086600" y="6172200"/>
            <a:ext cx="399960" cy="457200"/>
          </a:xfrm>
          <a:prstGeom prst="rect">
            <a:avLst/>
          </a:prstGeom>
          <a:noFill/>
          <a:ln w="0">
            <a:noFill/>
          </a:ln>
        </p:spPr>
      </p:pic>
      <p:sp>
        <p:nvSpPr>
          <p:cNvPr id="79" name=""/>
          <p:cNvSpPr txBox="1"/>
          <p:nvPr/>
        </p:nvSpPr>
        <p:spPr>
          <a:xfrm>
            <a:off x="7590240" y="6208200"/>
            <a:ext cx="4224960" cy="395280"/>
          </a:xfrm>
          <a:prstGeom prst="rect">
            <a:avLst/>
          </a:prstGeom>
          <a:noFill/>
          <a:ln w="0">
            <a:noFill/>
          </a:ln>
        </p:spPr>
        <p:txBody>
          <a:bodyPr lIns="90000" tIns="45000" rIns="90000" bIns="45000" anchor="t">
            <a:spAutoFit/>
          </a:bodyPr>
          <a:p>
            <a:r>
              <a:rPr lang="en-US" sz="2400" b="0" u="none" strike="noStrike">
                <a:solidFill>
                  <a:srgbClr val="FFFFFF"/>
                </a:solidFill>
                <a:effectLst/>
                <a:uFillTx/>
                <a:latin typeface="Calibri"/>
              </a:rPr>
              <a:t>CryptoJones@infosec.exchange</a:t>
            </a:r>
            <a:endParaRPr lang="en-US" sz="2400" b="0" u="none" strike="noStrike">
              <a:solidFill>
                <a:srgbClr val="FFFFFF"/>
              </a:solidFill>
              <a:effectLst/>
              <a:uFillTx/>
              <a:latin typeface="Arial"/>
            </a:endParaRPr>
          </a:p>
        </p:txBody>
      </p:sp>
      <p:sp>
        <p:nvSpPr>
          <p:cNvPr id="80" name="TextBox 45"/>
          <p:cNvSpPr/>
          <p:nvPr/>
        </p:nvSpPr>
        <p:spPr>
          <a:xfrm>
            <a:off x="-457200" y="3704400"/>
            <a:ext cx="8458200" cy="6390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1" u="none" strike="noStrike">
                <a:solidFill>
                  <a:srgbClr val="00FF41"/>
                </a:solidFill>
                <a:effectLst/>
                <a:uFillTx/>
                <a:latin typeface="Calibri"/>
              </a:rPr>
              <a:t>cryptojones@owasp.org</a:t>
            </a:r>
            <a:endParaRPr lang="en-US" sz="3600" b="0" u="none" strike="noStrike">
              <a:solidFill>
                <a:srgbClr val="FFFFFF"/>
              </a:solidFill>
              <a:effectLst/>
              <a:uFillTx/>
              <a:latin typeface="Arial"/>
            </a:endParaRPr>
          </a:p>
        </p:txBody>
      </p:sp>
      <p:pic>
        <p:nvPicPr>
          <p:cNvPr id="81" name=""/>
          <p:cNvPicPr/>
          <p:nvPr/>
        </p:nvPicPr>
        <p:blipFill>
          <a:blip r:embed="rId5"/>
          <a:stretch/>
        </p:blipFill>
        <p:spPr>
          <a:xfrm>
            <a:off x="8458200" y="2057400"/>
            <a:ext cx="3200400" cy="29718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2" name="TextBox 1" descr="Headline slide: Every breach you have ever read about ends at a database." title="Headline slide: Every breach you have ever read about ends at a database."/>
          <p:cNvSpPr/>
          <p:nvPr/>
        </p:nvSpPr>
        <p:spPr>
          <a:xfrm>
            <a:off x="457200" y="1828800"/>
            <a:ext cx="11246760" cy="1828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600" b="1" u="none" strike="noStrike">
                <a:solidFill>
                  <a:srgbClr val="FFFFFF"/>
                </a:solidFill>
                <a:effectLst/>
                <a:uFillTx/>
                <a:latin typeface="Calibri"/>
              </a:rPr>
              <a:t>Every breach you have ever</a:t>
            </a:r>
            <a:endParaRPr lang="en-US" sz="5600" b="0" u="none" strike="noStrike">
              <a:solidFill>
                <a:srgbClr val="FFFFFF"/>
              </a:solidFill>
              <a:effectLst/>
              <a:uFillTx/>
              <a:latin typeface="Arial"/>
            </a:endParaRPr>
          </a:p>
        </p:txBody>
      </p:sp>
      <p:sp>
        <p:nvSpPr>
          <p:cNvPr id="83" name="TextBox 2"/>
          <p:cNvSpPr/>
          <p:nvPr/>
        </p:nvSpPr>
        <p:spPr>
          <a:xfrm>
            <a:off x="457200" y="2834640"/>
            <a:ext cx="11246760" cy="18284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600" b="1" u="none" strike="noStrike">
                <a:solidFill>
                  <a:srgbClr val="FFFFFF"/>
                </a:solidFill>
                <a:effectLst/>
                <a:uFillTx/>
                <a:latin typeface="Calibri"/>
              </a:rPr>
              <a:t>read about ends at a</a:t>
            </a:r>
            <a:endParaRPr lang="en-US" sz="5600" b="0" u="none" strike="noStrike">
              <a:solidFill>
                <a:srgbClr val="FFFFFF"/>
              </a:solidFill>
              <a:effectLst/>
              <a:uFillTx/>
              <a:latin typeface="Arial"/>
            </a:endParaRPr>
          </a:p>
        </p:txBody>
      </p:sp>
      <p:sp>
        <p:nvSpPr>
          <p:cNvPr id="84" name="TextBox 3"/>
          <p:cNvSpPr/>
          <p:nvPr/>
        </p:nvSpPr>
        <p:spPr>
          <a:xfrm>
            <a:off x="457200" y="3840480"/>
            <a:ext cx="11246760" cy="13705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8400" b="1" u="none" strike="noStrike">
                <a:solidFill>
                  <a:srgbClr val="00FF41"/>
                </a:solidFill>
                <a:effectLst/>
                <a:uFillTx/>
                <a:latin typeface="Calibri"/>
              </a:rPr>
              <a:t>DATABASE*</a:t>
            </a:r>
            <a:endParaRPr lang="en-US" sz="8400" b="0" u="none" strike="noStrike">
              <a:solidFill>
                <a:srgbClr val="FFFFFF"/>
              </a:solidFill>
              <a:effectLst/>
              <a:uFillTx/>
              <a:latin typeface="Arial"/>
            </a:endParaRPr>
          </a:p>
        </p:txBody>
      </p:sp>
      <p:sp>
        <p:nvSpPr>
          <p:cNvPr id="85"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86"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7" name="TextBox 1" descr="A stylized vault icon next to four bullets explaining that attackers target the data, not the surrounding application or infrastructure." title="A stylized vault icon next to four bullets explaining that attackers target the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The Crown Jewels</a:t>
            </a:r>
            <a:endParaRPr lang="en-US" sz="4200" b="0" u="none" strike="noStrike">
              <a:solidFill>
                <a:srgbClr val="FFFFFF"/>
              </a:solidFill>
              <a:effectLst/>
              <a:uFillTx/>
              <a:latin typeface="Arial"/>
            </a:endParaRPr>
          </a:p>
        </p:txBody>
      </p:sp>
      <p:sp>
        <p:nvSpPr>
          <p:cNvPr id="88"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89" name="Rounded Rectangle 3"/>
          <p:cNvSpPr/>
          <p:nvPr/>
        </p:nvSpPr>
        <p:spPr>
          <a:xfrm>
            <a:off x="1371600" y="1828800"/>
            <a:ext cx="4114440" cy="3840120"/>
          </a:xfrm>
          <a:prstGeom prst="roundRect">
            <a:avLst>
              <a:gd name="adj" fmla="val 16667"/>
            </a:avLst>
          </a:prstGeom>
          <a:solidFill>
            <a:srgbClr val="2A2A44"/>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0" name="Oval 4"/>
          <p:cNvSpPr/>
          <p:nvPr/>
        </p:nvSpPr>
        <p:spPr>
          <a:xfrm>
            <a:off x="2971800" y="3291840"/>
            <a:ext cx="914040" cy="914040"/>
          </a:xfrm>
          <a:prstGeom prst="ellipse">
            <a:avLst/>
          </a:prstGeom>
          <a:solidFill>
            <a:srgbClr val="00FF41"/>
          </a:solidFill>
          <a:ln>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TextBox 5"/>
          <p:cNvSpPr/>
          <p:nvPr/>
        </p:nvSpPr>
        <p:spPr>
          <a:xfrm>
            <a:off x="1371600" y="5577840"/>
            <a:ext cx="411444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1" u="none" strike="noStrike">
                <a:solidFill>
                  <a:srgbClr val="00FF41"/>
                </a:solidFill>
                <a:effectLst/>
                <a:uFillTx/>
                <a:latin typeface="Calibri"/>
              </a:rPr>
              <a:t>DATA  VAULT</a:t>
            </a:r>
            <a:endParaRPr lang="en-US" sz="2400" b="0" u="none" strike="noStrike">
              <a:solidFill>
                <a:srgbClr val="FFFFFF"/>
              </a:solidFill>
              <a:effectLst/>
              <a:uFillTx/>
              <a:latin typeface="Arial"/>
            </a:endParaRPr>
          </a:p>
        </p:txBody>
      </p:sp>
      <p:sp>
        <p:nvSpPr>
          <p:cNvPr id="92" name="TextBox 6"/>
          <p:cNvSpPr/>
          <p:nvPr/>
        </p:nvSpPr>
        <p:spPr>
          <a:xfrm>
            <a:off x="5943600" y="2011680"/>
            <a:ext cx="5943240" cy="384012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Not your single-page app.</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Not your firewall.</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Not your microservices.</a:t>
            </a:r>
            <a:endParaRPr lang="en-US" sz="3000" b="0" u="none" strike="noStrike">
              <a:solidFill>
                <a:srgbClr val="FFFFFF"/>
              </a:solidFill>
              <a:effectLst/>
              <a:uFillTx/>
              <a:latin typeface="Arial"/>
            </a:endParaRPr>
          </a:p>
          <a:p>
            <a:pPr defTabSz="457200">
              <a:lnSpc>
                <a:spcPct val="140000"/>
              </a:lnSpc>
            </a:pPr>
            <a:r>
              <a:rPr lang="en-US" sz="3000" b="1" u="none" strike="noStrike">
                <a:solidFill>
                  <a:srgbClr val="00D4FF"/>
                </a:solidFill>
                <a:effectLst/>
                <a:uFillTx/>
                <a:latin typeface="Calibri"/>
              </a:rPr>
              <a:t>▶ </a:t>
            </a:r>
            <a:r>
              <a:rPr lang="en-US" sz="3000" b="0" u="none" strike="noStrike">
                <a:solidFill>
                  <a:srgbClr val="FFFFFF"/>
                </a:solidFill>
                <a:effectLst/>
                <a:uFillTx/>
                <a:latin typeface="Calibri"/>
              </a:rPr>
              <a:t>THE DATA. Always the data.</a:t>
            </a:r>
            <a:endParaRPr lang="en-US" sz="3000" b="0" u="none" strike="noStrike">
              <a:solidFill>
                <a:srgbClr val="FFFFFF"/>
              </a:solidFill>
              <a:effectLst/>
              <a:uFillTx/>
              <a:latin typeface="Arial"/>
            </a:endParaRPr>
          </a:p>
        </p:txBody>
      </p:sp>
      <p:sp>
        <p:nvSpPr>
          <p:cNvPr id="9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9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95" name="TextBox 1" descr="Definition slide: A database is organized storage plus a way to ask questions, illustrated with filing-cabinet and Excel analogies." title="Definition slide: A database is organized storage plus a way to ask questions, i"/>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What Is a Database?</a:t>
            </a:r>
            <a:endParaRPr lang="en-US" sz="4200" b="0" u="none" strike="noStrike">
              <a:solidFill>
                <a:srgbClr val="FFFFFF"/>
              </a:solidFill>
              <a:effectLst/>
              <a:uFillTx/>
              <a:latin typeface="Arial"/>
            </a:endParaRPr>
          </a:p>
        </p:txBody>
      </p:sp>
      <p:sp>
        <p:nvSpPr>
          <p:cNvPr id="9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97" name="TextBox 3"/>
          <p:cNvSpPr/>
          <p:nvPr/>
        </p:nvSpPr>
        <p:spPr>
          <a:xfrm>
            <a:off x="457200" y="20116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000" b="1" u="none" strike="noStrike">
                <a:solidFill>
                  <a:srgbClr val="FFFFFF"/>
                </a:solidFill>
                <a:effectLst/>
                <a:uFillTx/>
                <a:latin typeface="Calibri"/>
              </a:rPr>
              <a:t>Organized storage  +  a way to ask questions.</a:t>
            </a:r>
            <a:endParaRPr lang="en-US" sz="4000" b="0" u="none" strike="noStrike">
              <a:solidFill>
                <a:srgbClr val="FFFFFF"/>
              </a:solidFill>
              <a:effectLst/>
              <a:uFillTx/>
              <a:latin typeface="Arial"/>
            </a:endParaRPr>
          </a:p>
        </p:txBody>
      </p:sp>
      <p:sp>
        <p:nvSpPr>
          <p:cNvPr id="98" name="TextBox 4"/>
          <p:cNvSpPr/>
          <p:nvPr/>
        </p:nvSpPr>
        <p:spPr>
          <a:xfrm>
            <a:off x="457200" y="292608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00D4FF"/>
                </a:solidFill>
                <a:effectLst/>
                <a:uFillTx/>
                <a:latin typeface="Calibri"/>
              </a:rPr>
              <a:t>That's it. Everything else is detail.</a:t>
            </a:r>
            <a:endParaRPr lang="en-US" sz="2600" b="0" u="none" strike="noStrike">
              <a:solidFill>
                <a:srgbClr val="FFFFFF"/>
              </a:solidFill>
              <a:effectLst/>
              <a:uFillTx/>
              <a:latin typeface="Arial"/>
            </a:endParaRPr>
          </a:p>
        </p:txBody>
      </p:sp>
      <p:sp>
        <p:nvSpPr>
          <p:cNvPr id="99" name="TextBox 5"/>
          <p:cNvSpPr/>
          <p:nvPr/>
        </p:nvSpPr>
        <p:spPr>
          <a:xfrm>
            <a:off x="914400" y="3931920"/>
            <a:ext cx="10332360" cy="2285640"/>
          </a:xfrm>
          <a:prstGeom prst="rect">
            <a:avLst/>
          </a:prstGeom>
          <a:noFill/>
          <a:ln w="0">
            <a:noFill/>
          </a:ln>
        </p:spPr>
        <p:style>
          <a:lnRef idx="0"/>
          <a:fillRef idx="0"/>
          <a:effectRef idx="0"/>
          <a:fontRef idx="minor"/>
        </p:style>
        <p:txBody>
          <a:bodyPr lIns="90000" tIns="45000" rIns="90000" bIns="45000" anchor="t">
            <a:spAutoFit/>
          </a:bodyPr>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Filing cabinet  =  storage  +  your eyeballs as query.</a:t>
            </a:r>
            <a:endParaRPr lang="en-US" sz="2600" b="0" u="none" strike="noStrike">
              <a:solidFill>
                <a:srgbClr val="FFFFFF"/>
              </a:solidFill>
              <a:effectLst/>
              <a:uFillTx/>
              <a:latin typeface="Arial"/>
            </a:endParaRPr>
          </a:p>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Excel + Ctrl-F  =  storage  +  find-and-replace as query.</a:t>
            </a:r>
            <a:endParaRPr lang="en-US" sz="2600" b="0" u="none" strike="noStrike">
              <a:solidFill>
                <a:srgbClr val="FFFFFF"/>
              </a:solidFill>
              <a:effectLst/>
              <a:uFillTx/>
              <a:latin typeface="Arial"/>
            </a:endParaRPr>
          </a:p>
          <a:p>
            <a:pPr defTabSz="457200">
              <a:lnSpc>
                <a:spcPct val="150000"/>
              </a:lnSpc>
            </a:pPr>
            <a:r>
              <a:rPr lang="en-US" sz="2600" b="1" u="none" strike="noStrike">
                <a:solidFill>
                  <a:srgbClr val="00D4FF"/>
                </a:solidFill>
                <a:effectLst/>
                <a:uFillTx/>
                <a:latin typeface="Calibri"/>
              </a:rPr>
              <a:t>▶ </a:t>
            </a:r>
            <a:r>
              <a:rPr lang="en-US" sz="2600" b="0" u="none" strike="noStrike">
                <a:solidFill>
                  <a:srgbClr val="FFFFFF"/>
                </a:solidFill>
                <a:effectLst/>
                <a:uFillTx/>
                <a:latin typeface="Calibri"/>
              </a:rPr>
              <a:t>Real DB adds:  scale, speed, concurrency, a formal language.</a:t>
            </a:r>
            <a:endParaRPr lang="en-US" sz="2600" b="0" u="none" strike="noStrike">
              <a:solidFill>
                <a:srgbClr val="FFFFFF"/>
              </a:solidFill>
              <a:effectLst/>
              <a:uFillTx/>
              <a:latin typeface="Arial"/>
            </a:endParaRPr>
          </a:p>
        </p:txBody>
      </p:sp>
      <p:sp>
        <p:nvSpPr>
          <p:cNvPr id="100"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101"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02" name="TextBox 1" descr="Vocabulary slide listing six core database terms: table, row, column, query, schema, index — plus the CRUD verbs." title="Vocabulary slide listing six core database terms: table, row, column, query, sch"/>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The Six Words You Need</a:t>
            </a:r>
            <a:endParaRPr lang="en-US" sz="4200" b="0" u="none" strike="noStrike">
              <a:solidFill>
                <a:srgbClr val="FFFFFF"/>
              </a:solidFill>
              <a:effectLst/>
              <a:uFillTx/>
              <a:latin typeface="Arial"/>
            </a:endParaRPr>
          </a:p>
        </p:txBody>
      </p:sp>
      <p:sp>
        <p:nvSpPr>
          <p:cNvPr id="103"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04" name="TextBox 3"/>
          <p:cNvSpPr/>
          <p:nvPr/>
        </p:nvSpPr>
        <p:spPr>
          <a:xfrm>
            <a:off x="731520" y="169164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TABLE</a:t>
            </a:r>
            <a:endParaRPr lang="en-US" sz="3200" b="0" u="none" strike="noStrike">
              <a:solidFill>
                <a:srgbClr val="FFFFFF"/>
              </a:solidFill>
              <a:effectLst/>
              <a:uFillTx/>
              <a:latin typeface="Arial"/>
            </a:endParaRPr>
          </a:p>
        </p:txBody>
      </p:sp>
      <p:sp>
        <p:nvSpPr>
          <p:cNvPr id="105" name="TextBox 4"/>
          <p:cNvSpPr/>
          <p:nvPr/>
        </p:nvSpPr>
        <p:spPr>
          <a:xfrm>
            <a:off x="3931920" y="169164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06" name="TextBox 5"/>
          <p:cNvSpPr/>
          <p:nvPr/>
        </p:nvSpPr>
        <p:spPr>
          <a:xfrm>
            <a:off x="4480560" y="169164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a spreadsheet tab</a:t>
            </a:r>
            <a:endParaRPr lang="en-US" sz="2800" b="0" u="none" strike="noStrike">
              <a:solidFill>
                <a:srgbClr val="FFFFFF"/>
              </a:solidFill>
              <a:effectLst/>
              <a:uFillTx/>
              <a:latin typeface="Arial"/>
            </a:endParaRPr>
          </a:p>
        </p:txBody>
      </p:sp>
      <p:sp>
        <p:nvSpPr>
          <p:cNvPr id="107" name="TextBox 6"/>
          <p:cNvSpPr/>
          <p:nvPr/>
        </p:nvSpPr>
        <p:spPr>
          <a:xfrm>
            <a:off x="731520" y="240480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ROW</a:t>
            </a:r>
            <a:endParaRPr lang="en-US" sz="3200" b="0" u="none" strike="noStrike">
              <a:solidFill>
                <a:srgbClr val="FFFFFF"/>
              </a:solidFill>
              <a:effectLst/>
              <a:uFillTx/>
              <a:latin typeface="Arial"/>
            </a:endParaRPr>
          </a:p>
        </p:txBody>
      </p:sp>
      <p:sp>
        <p:nvSpPr>
          <p:cNvPr id="108" name="TextBox 7"/>
          <p:cNvSpPr/>
          <p:nvPr/>
        </p:nvSpPr>
        <p:spPr>
          <a:xfrm>
            <a:off x="3931920" y="240480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09" name="TextBox 8"/>
          <p:cNvSpPr/>
          <p:nvPr/>
        </p:nvSpPr>
        <p:spPr>
          <a:xfrm>
            <a:off x="4480560" y="240480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one record (one customer, one alert)</a:t>
            </a:r>
            <a:endParaRPr lang="en-US" sz="2800" b="0" u="none" strike="noStrike">
              <a:solidFill>
                <a:srgbClr val="FFFFFF"/>
              </a:solidFill>
              <a:effectLst/>
              <a:uFillTx/>
              <a:latin typeface="Arial"/>
            </a:endParaRPr>
          </a:p>
        </p:txBody>
      </p:sp>
      <p:sp>
        <p:nvSpPr>
          <p:cNvPr id="110" name="TextBox 9"/>
          <p:cNvSpPr/>
          <p:nvPr/>
        </p:nvSpPr>
        <p:spPr>
          <a:xfrm>
            <a:off x="731520" y="311796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COLUMN</a:t>
            </a:r>
            <a:endParaRPr lang="en-US" sz="3200" b="0" u="none" strike="noStrike">
              <a:solidFill>
                <a:srgbClr val="FFFFFF"/>
              </a:solidFill>
              <a:effectLst/>
              <a:uFillTx/>
              <a:latin typeface="Arial"/>
            </a:endParaRPr>
          </a:p>
        </p:txBody>
      </p:sp>
      <p:sp>
        <p:nvSpPr>
          <p:cNvPr id="111" name="TextBox 10"/>
          <p:cNvSpPr/>
          <p:nvPr/>
        </p:nvSpPr>
        <p:spPr>
          <a:xfrm>
            <a:off x="3931920" y="311796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2" name="TextBox 11"/>
          <p:cNvSpPr/>
          <p:nvPr/>
        </p:nvSpPr>
        <p:spPr>
          <a:xfrm>
            <a:off x="4480560" y="311796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one attribute (email, IP, total)</a:t>
            </a:r>
            <a:endParaRPr lang="en-US" sz="2800" b="0" u="none" strike="noStrike">
              <a:solidFill>
                <a:srgbClr val="FFFFFF"/>
              </a:solidFill>
              <a:effectLst/>
              <a:uFillTx/>
              <a:latin typeface="Arial"/>
            </a:endParaRPr>
          </a:p>
        </p:txBody>
      </p:sp>
      <p:sp>
        <p:nvSpPr>
          <p:cNvPr id="113" name="TextBox 12"/>
          <p:cNvSpPr/>
          <p:nvPr/>
        </p:nvSpPr>
        <p:spPr>
          <a:xfrm>
            <a:off x="731520" y="383148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QUERY</a:t>
            </a:r>
            <a:endParaRPr lang="en-US" sz="3200" b="0" u="none" strike="noStrike">
              <a:solidFill>
                <a:srgbClr val="FFFFFF"/>
              </a:solidFill>
              <a:effectLst/>
              <a:uFillTx/>
              <a:latin typeface="Arial"/>
            </a:endParaRPr>
          </a:p>
        </p:txBody>
      </p:sp>
      <p:sp>
        <p:nvSpPr>
          <p:cNvPr id="114" name="TextBox 13"/>
          <p:cNvSpPr/>
          <p:nvPr/>
        </p:nvSpPr>
        <p:spPr>
          <a:xfrm>
            <a:off x="3931920" y="383148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5" name="TextBox 14"/>
          <p:cNvSpPr/>
          <p:nvPr/>
        </p:nvSpPr>
        <p:spPr>
          <a:xfrm>
            <a:off x="4480560" y="383148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the question you're asking</a:t>
            </a:r>
            <a:endParaRPr lang="en-US" sz="2800" b="0" u="none" strike="noStrike">
              <a:solidFill>
                <a:srgbClr val="FFFFFF"/>
              </a:solidFill>
              <a:effectLst/>
              <a:uFillTx/>
              <a:latin typeface="Arial"/>
            </a:endParaRPr>
          </a:p>
        </p:txBody>
      </p:sp>
      <p:sp>
        <p:nvSpPr>
          <p:cNvPr id="116" name="TextBox 15"/>
          <p:cNvSpPr/>
          <p:nvPr/>
        </p:nvSpPr>
        <p:spPr>
          <a:xfrm>
            <a:off x="731520" y="454464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SCHEMA</a:t>
            </a:r>
            <a:endParaRPr lang="en-US" sz="3200" b="0" u="none" strike="noStrike">
              <a:solidFill>
                <a:srgbClr val="FFFFFF"/>
              </a:solidFill>
              <a:effectLst/>
              <a:uFillTx/>
              <a:latin typeface="Arial"/>
            </a:endParaRPr>
          </a:p>
        </p:txBody>
      </p:sp>
      <p:sp>
        <p:nvSpPr>
          <p:cNvPr id="117" name="TextBox 16"/>
          <p:cNvSpPr/>
          <p:nvPr/>
        </p:nvSpPr>
        <p:spPr>
          <a:xfrm>
            <a:off x="3931920" y="454464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18" name="TextBox 17"/>
          <p:cNvSpPr/>
          <p:nvPr/>
        </p:nvSpPr>
        <p:spPr>
          <a:xfrm>
            <a:off x="4480560" y="454464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the shape of the data</a:t>
            </a:r>
            <a:endParaRPr lang="en-US" sz="2800" b="0" u="none" strike="noStrike">
              <a:solidFill>
                <a:srgbClr val="FFFFFF"/>
              </a:solidFill>
              <a:effectLst/>
              <a:uFillTx/>
              <a:latin typeface="Arial"/>
            </a:endParaRPr>
          </a:p>
        </p:txBody>
      </p:sp>
      <p:sp>
        <p:nvSpPr>
          <p:cNvPr id="119" name="TextBox 18"/>
          <p:cNvSpPr/>
          <p:nvPr/>
        </p:nvSpPr>
        <p:spPr>
          <a:xfrm>
            <a:off x="731520" y="5257800"/>
            <a:ext cx="32000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00FF41"/>
                </a:solidFill>
                <a:effectLst/>
                <a:uFillTx/>
                <a:latin typeface="Calibri"/>
              </a:rPr>
              <a:t>INDEX</a:t>
            </a:r>
            <a:endParaRPr lang="en-US" sz="3200" b="0" u="none" strike="noStrike">
              <a:solidFill>
                <a:srgbClr val="FFFFFF"/>
              </a:solidFill>
              <a:effectLst/>
              <a:uFillTx/>
              <a:latin typeface="Arial"/>
            </a:endParaRPr>
          </a:p>
        </p:txBody>
      </p:sp>
      <p:sp>
        <p:nvSpPr>
          <p:cNvPr id="120" name="TextBox 19"/>
          <p:cNvSpPr/>
          <p:nvPr/>
        </p:nvSpPr>
        <p:spPr>
          <a:xfrm>
            <a:off x="3931920" y="5257800"/>
            <a:ext cx="45684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121" name="TextBox 20"/>
          <p:cNvSpPr/>
          <p:nvPr/>
        </p:nvSpPr>
        <p:spPr>
          <a:xfrm>
            <a:off x="4480560" y="5257800"/>
            <a:ext cx="7314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FFFFFF"/>
                </a:solidFill>
                <a:effectLst/>
                <a:uFillTx/>
                <a:latin typeface="Calibri"/>
              </a:rPr>
              <a:t>the bookmark that makes lookups fast</a:t>
            </a:r>
            <a:endParaRPr lang="en-US" sz="2800" b="0" u="none" strike="noStrike">
              <a:solidFill>
                <a:srgbClr val="FFFFFF"/>
              </a:solidFill>
              <a:effectLst/>
              <a:uFillTx/>
              <a:latin typeface="Arial"/>
            </a:endParaRPr>
          </a:p>
        </p:txBody>
      </p:sp>
      <p:sp>
        <p:nvSpPr>
          <p:cNvPr id="122" name="TextBox 21"/>
          <p:cNvSpPr/>
          <p:nvPr/>
        </p:nvSpPr>
        <p:spPr>
          <a:xfrm>
            <a:off x="457200" y="598932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1" u="none" strike="noStrike">
                <a:solidFill>
                  <a:srgbClr val="FF6B35"/>
                </a:solidFill>
                <a:effectLst/>
                <a:uFillTx/>
                <a:latin typeface="Calibri"/>
              </a:rPr>
              <a:t>+  CRUD  =  Create  •  Read  •  Update  •  Delete</a:t>
            </a:r>
            <a:endParaRPr lang="en-US" sz="2600" b="0" u="none" strike="noStrike">
              <a:solidFill>
                <a:srgbClr val="FFFFFF"/>
              </a:solidFill>
              <a:effectLst/>
              <a:uFillTx/>
              <a:latin typeface="Arial"/>
            </a:endParaRPr>
          </a:p>
        </p:txBody>
      </p:sp>
      <p:sp>
        <p:nvSpPr>
          <p:cNvPr id="123" name="TextBox 2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124" name="TextBox 2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25" name="TextBox 1" descr="Timeline of database eras from 1960s flat files to 2020s vector databases, each annotated with its security implication." title="Timeline of database eras from 1960s flat files to 2020s vector databases, each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History Tour — Fossils You'll See in Prod</a:t>
            </a:r>
            <a:endParaRPr lang="en-US" sz="4200" b="0" u="none" strike="noStrike">
              <a:solidFill>
                <a:srgbClr val="FFFFFF"/>
              </a:solidFill>
              <a:effectLst/>
              <a:uFillTx/>
              <a:latin typeface="Arial"/>
            </a:endParaRPr>
          </a:p>
        </p:txBody>
      </p:sp>
      <p:sp>
        <p:nvSpPr>
          <p:cNvPr id="12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27" name="TextBox 3"/>
          <p:cNvSpPr/>
          <p:nvPr/>
        </p:nvSpPr>
        <p:spPr>
          <a:xfrm>
            <a:off x="457200" y="16002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1960s</a:t>
            </a:r>
            <a:endParaRPr lang="en-US" sz="2200" b="0" u="none" strike="noStrike">
              <a:solidFill>
                <a:srgbClr val="FFFFFF"/>
              </a:solidFill>
              <a:effectLst/>
              <a:uFillTx/>
              <a:latin typeface="Arial"/>
            </a:endParaRPr>
          </a:p>
        </p:txBody>
      </p:sp>
      <p:sp>
        <p:nvSpPr>
          <p:cNvPr id="128" name="TextBox 4"/>
          <p:cNvSpPr/>
          <p:nvPr/>
        </p:nvSpPr>
        <p:spPr>
          <a:xfrm>
            <a:off x="2286000" y="16002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Flat files</a:t>
            </a:r>
            <a:endParaRPr lang="en-US" sz="2200" b="0" u="none" strike="noStrike">
              <a:solidFill>
                <a:srgbClr val="FFFFFF"/>
              </a:solidFill>
              <a:effectLst/>
              <a:uFillTx/>
              <a:latin typeface="Arial"/>
            </a:endParaRPr>
          </a:p>
        </p:txBody>
      </p:sp>
      <p:sp>
        <p:nvSpPr>
          <p:cNvPr id="129" name="TextBox 5"/>
          <p:cNvSpPr/>
          <p:nvPr/>
        </p:nvSpPr>
        <p:spPr>
          <a:xfrm>
            <a:off x="5943600" y="16002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0" name="TextBox 6"/>
          <p:cNvSpPr/>
          <p:nvPr/>
        </p:nvSpPr>
        <p:spPr>
          <a:xfrm>
            <a:off x="6309360" y="16002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filesystem perms = only access control</a:t>
            </a:r>
            <a:endParaRPr lang="en-US" sz="2000" b="0" u="none" strike="noStrike">
              <a:solidFill>
                <a:srgbClr val="FFFFFF"/>
              </a:solidFill>
              <a:effectLst/>
              <a:uFillTx/>
              <a:latin typeface="Arial"/>
            </a:endParaRPr>
          </a:p>
        </p:txBody>
      </p:sp>
      <p:sp>
        <p:nvSpPr>
          <p:cNvPr id="131" name="TextBox 7"/>
          <p:cNvSpPr/>
          <p:nvPr/>
        </p:nvSpPr>
        <p:spPr>
          <a:xfrm>
            <a:off x="457200" y="21121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Late 1960s</a:t>
            </a:r>
            <a:endParaRPr lang="en-US" sz="2200" b="0" u="none" strike="noStrike">
              <a:solidFill>
                <a:srgbClr val="FFFFFF"/>
              </a:solidFill>
              <a:effectLst/>
              <a:uFillTx/>
              <a:latin typeface="Arial"/>
            </a:endParaRPr>
          </a:p>
        </p:txBody>
      </p:sp>
      <p:sp>
        <p:nvSpPr>
          <p:cNvPr id="132" name="TextBox 8"/>
          <p:cNvSpPr/>
          <p:nvPr/>
        </p:nvSpPr>
        <p:spPr>
          <a:xfrm>
            <a:off x="2286000" y="21121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Hierarchical (IMS)</a:t>
            </a:r>
            <a:endParaRPr lang="en-US" sz="2200" b="0" u="none" strike="noStrike">
              <a:solidFill>
                <a:srgbClr val="FFFFFF"/>
              </a:solidFill>
              <a:effectLst/>
              <a:uFillTx/>
              <a:latin typeface="Arial"/>
            </a:endParaRPr>
          </a:p>
        </p:txBody>
      </p:sp>
      <p:sp>
        <p:nvSpPr>
          <p:cNvPr id="133" name="TextBox 9"/>
          <p:cNvSpPr/>
          <p:nvPr/>
        </p:nvSpPr>
        <p:spPr>
          <a:xfrm>
            <a:off x="5943600" y="21121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4" name="TextBox 10"/>
          <p:cNvSpPr/>
          <p:nvPr/>
        </p:nvSpPr>
        <p:spPr>
          <a:xfrm>
            <a:off x="6309360" y="21121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mainframe-era, physical threat model</a:t>
            </a:r>
            <a:endParaRPr lang="en-US" sz="2000" b="0" u="none" strike="noStrike">
              <a:solidFill>
                <a:srgbClr val="FFFFFF"/>
              </a:solidFill>
              <a:effectLst/>
              <a:uFillTx/>
              <a:latin typeface="Arial"/>
            </a:endParaRPr>
          </a:p>
        </p:txBody>
      </p:sp>
      <p:sp>
        <p:nvSpPr>
          <p:cNvPr id="135" name="TextBox 11"/>
          <p:cNvSpPr/>
          <p:nvPr/>
        </p:nvSpPr>
        <p:spPr>
          <a:xfrm>
            <a:off x="457200" y="26244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1970s</a:t>
            </a:r>
            <a:endParaRPr lang="en-US" sz="2200" b="0" u="none" strike="noStrike">
              <a:solidFill>
                <a:srgbClr val="FFFFFF"/>
              </a:solidFill>
              <a:effectLst/>
              <a:uFillTx/>
              <a:latin typeface="Arial"/>
            </a:endParaRPr>
          </a:p>
        </p:txBody>
      </p:sp>
      <p:sp>
        <p:nvSpPr>
          <p:cNvPr id="136" name="TextBox 12"/>
          <p:cNvSpPr/>
          <p:nvPr/>
        </p:nvSpPr>
        <p:spPr>
          <a:xfrm>
            <a:off x="2286000" y="26244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Network / CODASYL</a:t>
            </a:r>
            <a:endParaRPr lang="en-US" sz="2200" b="0" u="none" strike="noStrike">
              <a:solidFill>
                <a:srgbClr val="FFFFFF"/>
              </a:solidFill>
              <a:effectLst/>
              <a:uFillTx/>
              <a:latin typeface="Arial"/>
            </a:endParaRPr>
          </a:p>
        </p:txBody>
      </p:sp>
      <p:sp>
        <p:nvSpPr>
          <p:cNvPr id="137" name="TextBox 13"/>
          <p:cNvSpPr/>
          <p:nvPr/>
        </p:nvSpPr>
        <p:spPr>
          <a:xfrm>
            <a:off x="5943600" y="26244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38" name="TextBox 14"/>
          <p:cNvSpPr/>
          <p:nvPr/>
        </p:nvSpPr>
        <p:spPr>
          <a:xfrm>
            <a:off x="6309360" y="26244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still humming in your bank's back office</a:t>
            </a:r>
            <a:endParaRPr lang="en-US" sz="2000" b="0" u="none" strike="noStrike">
              <a:solidFill>
                <a:srgbClr val="FFFFFF"/>
              </a:solidFill>
              <a:effectLst/>
              <a:uFillTx/>
              <a:latin typeface="Arial"/>
            </a:endParaRPr>
          </a:p>
        </p:txBody>
      </p:sp>
      <p:sp>
        <p:nvSpPr>
          <p:cNvPr id="139" name="TextBox 15"/>
          <p:cNvSpPr/>
          <p:nvPr/>
        </p:nvSpPr>
        <p:spPr>
          <a:xfrm>
            <a:off x="457200" y="31363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1970</a:t>
            </a:r>
            <a:endParaRPr lang="en-US" sz="2200" b="0" u="none" strike="noStrike">
              <a:solidFill>
                <a:srgbClr val="FFFFFF"/>
              </a:solidFill>
              <a:effectLst/>
              <a:uFillTx/>
              <a:latin typeface="Arial"/>
            </a:endParaRPr>
          </a:p>
        </p:txBody>
      </p:sp>
      <p:sp>
        <p:nvSpPr>
          <p:cNvPr id="140" name="TextBox 16"/>
          <p:cNvSpPr/>
          <p:nvPr/>
        </p:nvSpPr>
        <p:spPr>
          <a:xfrm>
            <a:off x="2286000" y="31363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Codd's relational</a:t>
            </a:r>
            <a:endParaRPr lang="en-US" sz="2200" b="0" u="none" strike="noStrike">
              <a:solidFill>
                <a:srgbClr val="FFFFFF"/>
              </a:solidFill>
              <a:effectLst/>
              <a:uFillTx/>
              <a:latin typeface="Arial"/>
            </a:endParaRPr>
          </a:p>
        </p:txBody>
      </p:sp>
      <p:sp>
        <p:nvSpPr>
          <p:cNvPr id="141" name="TextBox 17"/>
          <p:cNvSpPr/>
          <p:nvPr/>
        </p:nvSpPr>
        <p:spPr>
          <a:xfrm>
            <a:off x="5943600" y="31363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42" name="TextBox 18"/>
          <p:cNvSpPr/>
          <p:nvPr/>
        </p:nvSpPr>
        <p:spPr>
          <a:xfrm>
            <a:off x="6309360" y="31363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GRANT, roles — access control inside DB</a:t>
            </a:r>
            <a:endParaRPr lang="en-US" sz="2000" b="0" u="none" strike="noStrike">
              <a:solidFill>
                <a:srgbClr val="FFFFFF"/>
              </a:solidFill>
              <a:effectLst/>
              <a:uFillTx/>
              <a:latin typeface="Arial"/>
            </a:endParaRPr>
          </a:p>
        </p:txBody>
      </p:sp>
      <p:sp>
        <p:nvSpPr>
          <p:cNvPr id="143" name="TextBox 19"/>
          <p:cNvSpPr/>
          <p:nvPr/>
        </p:nvSpPr>
        <p:spPr>
          <a:xfrm>
            <a:off x="457200" y="364860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1980s</a:t>
            </a:r>
            <a:endParaRPr lang="en-US" sz="2200" b="0" u="none" strike="noStrike">
              <a:solidFill>
                <a:srgbClr val="FFFFFF"/>
              </a:solidFill>
              <a:effectLst/>
              <a:uFillTx/>
              <a:latin typeface="Arial"/>
            </a:endParaRPr>
          </a:p>
        </p:txBody>
      </p:sp>
      <p:sp>
        <p:nvSpPr>
          <p:cNvPr id="144" name="TextBox 20"/>
          <p:cNvSpPr/>
          <p:nvPr/>
        </p:nvSpPr>
        <p:spPr>
          <a:xfrm>
            <a:off x="2286000" y="364860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Oracle, DB2, SQL Svr</a:t>
            </a:r>
            <a:endParaRPr lang="en-US" sz="2200" b="0" u="none" strike="noStrike">
              <a:solidFill>
                <a:srgbClr val="FFFFFF"/>
              </a:solidFill>
              <a:effectLst/>
              <a:uFillTx/>
              <a:latin typeface="Arial"/>
            </a:endParaRPr>
          </a:p>
        </p:txBody>
      </p:sp>
      <p:sp>
        <p:nvSpPr>
          <p:cNvPr id="145" name="TextBox 21"/>
          <p:cNvSpPr/>
          <p:nvPr/>
        </p:nvSpPr>
        <p:spPr>
          <a:xfrm>
            <a:off x="5943600" y="364860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46" name="TextBox 22"/>
          <p:cNvSpPr/>
          <p:nvPr/>
        </p:nvSpPr>
        <p:spPr>
          <a:xfrm>
            <a:off x="6309360" y="364860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databases get networked → authN problem</a:t>
            </a:r>
            <a:endParaRPr lang="en-US" sz="2000" b="0" u="none" strike="noStrike">
              <a:solidFill>
                <a:srgbClr val="FFFFFF"/>
              </a:solidFill>
              <a:effectLst/>
              <a:uFillTx/>
              <a:latin typeface="Arial"/>
            </a:endParaRPr>
          </a:p>
        </p:txBody>
      </p:sp>
      <p:sp>
        <p:nvSpPr>
          <p:cNvPr id="147" name="TextBox 23"/>
          <p:cNvSpPr/>
          <p:nvPr/>
        </p:nvSpPr>
        <p:spPr>
          <a:xfrm>
            <a:off x="457200" y="41605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1990s</a:t>
            </a:r>
            <a:endParaRPr lang="en-US" sz="2200" b="0" u="none" strike="noStrike">
              <a:solidFill>
                <a:srgbClr val="FFFFFF"/>
              </a:solidFill>
              <a:effectLst/>
              <a:uFillTx/>
              <a:latin typeface="Arial"/>
            </a:endParaRPr>
          </a:p>
        </p:txBody>
      </p:sp>
      <p:sp>
        <p:nvSpPr>
          <p:cNvPr id="148" name="TextBox 24"/>
          <p:cNvSpPr/>
          <p:nvPr/>
        </p:nvSpPr>
        <p:spPr>
          <a:xfrm>
            <a:off x="2286000" y="41605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Client-server, OSS</a:t>
            </a:r>
            <a:endParaRPr lang="en-US" sz="2200" b="0" u="none" strike="noStrike">
              <a:solidFill>
                <a:srgbClr val="FFFFFF"/>
              </a:solidFill>
              <a:effectLst/>
              <a:uFillTx/>
              <a:latin typeface="Arial"/>
            </a:endParaRPr>
          </a:p>
        </p:txBody>
      </p:sp>
      <p:sp>
        <p:nvSpPr>
          <p:cNvPr id="149" name="TextBox 25"/>
          <p:cNvSpPr/>
          <p:nvPr/>
        </p:nvSpPr>
        <p:spPr>
          <a:xfrm>
            <a:off x="5943600" y="41605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0" name="TextBox 26"/>
          <p:cNvSpPr/>
          <p:nvPr/>
        </p:nvSpPr>
        <p:spPr>
          <a:xfrm>
            <a:off x="6309360" y="41605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SQL injection becomes a thing</a:t>
            </a:r>
            <a:endParaRPr lang="en-US" sz="2000" b="0" u="none" strike="noStrike">
              <a:solidFill>
                <a:srgbClr val="FFFFFF"/>
              </a:solidFill>
              <a:effectLst/>
              <a:uFillTx/>
              <a:latin typeface="Arial"/>
            </a:endParaRPr>
          </a:p>
        </p:txBody>
      </p:sp>
      <p:sp>
        <p:nvSpPr>
          <p:cNvPr id="151" name="TextBox 27"/>
          <p:cNvSpPr/>
          <p:nvPr/>
        </p:nvSpPr>
        <p:spPr>
          <a:xfrm>
            <a:off x="457200" y="467244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2000s</a:t>
            </a:r>
            <a:endParaRPr lang="en-US" sz="2200" b="0" u="none" strike="noStrike">
              <a:solidFill>
                <a:srgbClr val="FFFFFF"/>
              </a:solidFill>
              <a:effectLst/>
              <a:uFillTx/>
              <a:latin typeface="Arial"/>
            </a:endParaRPr>
          </a:p>
        </p:txBody>
      </p:sp>
      <p:sp>
        <p:nvSpPr>
          <p:cNvPr id="152" name="TextBox 28"/>
          <p:cNvSpPr/>
          <p:nvPr/>
        </p:nvSpPr>
        <p:spPr>
          <a:xfrm>
            <a:off x="2286000" y="467244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NoSQL boom</a:t>
            </a:r>
            <a:endParaRPr lang="en-US" sz="2200" b="0" u="none" strike="noStrike">
              <a:solidFill>
                <a:srgbClr val="FFFFFF"/>
              </a:solidFill>
              <a:effectLst/>
              <a:uFillTx/>
              <a:latin typeface="Arial"/>
            </a:endParaRPr>
          </a:p>
        </p:txBody>
      </p:sp>
      <p:sp>
        <p:nvSpPr>
          <p:cNvPr id="153" name="TextBox 29"/>
          <p:cNvSpPr/>
          <p:nvPr/>
        </p:nvSpPr>
        <p:spPr>
          <a:xfrm>
            <a:off x="5943600" y="467244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4" name="TextBox 30"/>
          <p:cNvSpPr/>
          <p:nvPr/>
        </p:nvSpPr>
        <p:spPr>
          <a:xfrm>
            <a:off x="6309360" y="467244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"discarded the foundation" — incl. security</a:t>
            </a:r>
            <a:endParaRPr lang="en-US" sz="2000" b="0" u="none" strike="noStrike">
              <a:solidFill>
                <a:srgbClr val="FFFFFF"/>
              </a:solidFill>
              <a:effectLst/>
              <a:uFillTx/>
              <a:latin typeface="Arial"/>
            </a:endParaRPr>
          </a:p>
        </p:txBody>
      </p:sp>
      <p:sp>
        <p:nvSpPr>
          <p:cNvPr id="155" name="TextBox 31"/>
          <p:cNvSpPr/>
          <p:nvPr/>
        </p:nvSpPr>
        <p:spPr>
          <a:xfrm>
            <a:off x="457200" y="518472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2010s</a:t>
            </a:r>
            <a:endParaRPr lang="en-US" sz="2200" b="0" u="none" strike="noStrike">
              <a:solidFill>
                <a:srgbClr val="FFFFFF"/>
              </a:solidFill>
              <a:effectLst/>
              <a:uFillTx/>
              <a:latin typeface="Arial"/>
            </a:endParaRPr>
          </a:p>
        </p:txBody>
      </p:sp>
      <p:sp>
        <p:nvSpPr>
          <p:cNvPr id="156" name="TextBox 32"/>
          <p:cNvSpPr/>
          <p:nvPr/>
        </p:nvSpPr>
        <p:spPr>
          <a:xfrm>
            <a:off x="2286000" y="518472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Cloud / NewSQL</a:t>
            </a:r>
            <a:endParaRPr lang="en-US" sz="2200" b="0" u="none" strike="noStrike">
              <a:solidFill>
                <a:srgbClr val="FFFFFF"/>
              </a:solidFill>
              <a:effectLst/>
              <a:uFillTx/>
              <a:latin typeface="Arial"/>
            </a:endParaRPr>
          </a:p>
        </p:txBody>
      </p:sp>
      <p:sp>
        <p:nvSpPr>
          <p:cNvPr id="157" name="TextBox 33"/>
          <p:cNvSpPr/>
          <p:nvPr/>
        </p:nvSpPr>
        <p:spPr>
          <a:xfrm>
            <a:off x="5943600" y="518472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58" name="TextBox 34"/>
          <p:cNvSpPr/>
          <p:nvPr/>
        </p:nvSpPr>
        <p:spPr>
          <a:xfrm>
            <a:off x="6309360" y="518472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shared-responsibility, customer misconfigs</a:t>
            </a:r>
            <a:endParaRPr lang="en-US" sz="2000" b="0" u="none" strike="noStrike">
              <a:solidFill>
                <a:srgbClr val="FFFFFF"/>
              </a:solidFill>
              <a:effectLst/>
              <a:uFillTx/>
              <a:latin typeface="Arial"/>
            </a:endParaRPr>
          </a:p>
        </p:txBody>
      </p:sp>
      <p:sp>
        <p:nvSpPr>
          <p:cNvPr id="159" name="TextBox 35"/>
          <p:cNvSpPr/>
          <p:nvPr/>
        </p:nvSpPr>
        <p:spPr>
          <a:xfrm>
            <a:off x="457200" y="5696640"/>
            <a:ext cx="18284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D4FF"/>
                </a:solidFill>
                <a:effectLst/>
                <a:uFillTx/>
                <a:latin typeface="Calibri"/>
              </a:rPr>
              <a:t>2020s</a:t>
            </a:r>
            <a:endParaRPr lang="en-US" sz="2200" b="0" u="none" strike="noStrike">
              <a:solidFill>
                <a:srgbClr val="FFFFFF"/>
              </a:solidFill>
              <a:effectLst/>
              <a:uFillTx/>
              <a:latin typeface="Arial"/>
            </a:endParaRPr>
          </a:p>
        </p:txBody>
      </p:sp>
      <p:sp>
        <p:nvSpPr>
          <p:cNvPr id="160" name="TextBox 36"/>
          <p:cNvSpPr/>
          <p:nvPr/>
        </p:nvSpPr>
        <p:spPr>
          <a:xfrm>
            <a:off x="2286000" y="5696640"/>
            <a:ext cx="36572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Vector / serverless</a:t>
            </a:r>
            <a:endParaRPr lang="en-US" sz="2200" b="0" u="none" strike="noStrike">
              <a:solidFill>
                <a:srgbClr val="FFFFFF"/>
              </a:solidFill>
              <a:effectLst/>
              <a:uFillTx/>
              <a:latin typeface="Arial"/>
            </a:endParaRPr>
          </a:p>
        </p:txBody>
      </p:sp>
      <p:sp>
        <p:nvSpPr>
          <p:cNvPr id="161" name="TextBox 37"/>
          <p:cNvSpPr/>
          <p:nvPr/>
        </p:nvSpPr>
        <p:spPr>
          <a:xfrm>
            <a:off x="5943600" y="5696640"/>
            <a:ext cx="3654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6B35"/>
                </a:solidFill>
                <a:effectLst/>
                <a:uFillTx/>
                <a:latin typeface="Calibri"/>
              </a:rPr>
              <a:t>▶</a:t>
            </a:r>
            <a:endParaRPr lang="en-US" sz="2000" b="0" u="none" strike="noStrike">
              <a:solidFill>
                <a:srgbClr val="FFFFFF"/>
              </a:solidFill>
              <a:effectLst/>
              <a:uFillTx/>
              <a:latin typeface="Arial"/>
            </a:endParaRPr>
          </a:p>
        </p:txBody>
      </p:sp>
      <p:sp>
        <p:nvSpPr>
          <p:cNvPr id="162" name="TextBox 38"/>
          <p:cNvSpPr/>
          <p:nvPr/>
        </p:nvSpPr>
        <p:spPr>
          <a:xfrm>
            <a:off x="6309360" y="5696640"/>
            <a:ext cx="57603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CCCCD6"/>
                </a:solidFill>
                <a:effectLst/>
                <a:uFillTx/>
                <a:latin typeface="Calibri"/>
              </a:rPr>
              <a:t>data poisoning, prompt injection</a:t>
            </a:r>
            <a:endParaRPr lang="en-US" sz="2000" b="0" u="none" strike="noStrike">
              <a:solidFill>
                <a:srgbClr val="FFFFFF"/>
              </a:solidFill>
              <a:effectLst/>
              <a:uFillTx/>
              <a:latin typeface="Arial"/>
            </a:endParaRPr>
          </a:p>
        </p:txBody>
      </p:sp>
      <p:sp>
        <p:nvSpPr>
          <p:cNvPr id="163" name="TextBox 39"/>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164" name="TextBox 40"/>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65" name="TextBox 1" descr="Grid of the ten database families with example products: relational, document, key-value, column-family, graph, search, time-series, vector, embedded, and data lake." title="Grid of the ten database families with example products: relational, document, k"/>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Ten Families of Database</a:t>
            </a:r>
            <a:endParaRPr lang="en-US" sz="4200" b="0" u="none" strike="noStrike">
              <a:solidFill>
                <a:srgbClr val="FFFFFF"/>
              </a:solidFill>
              <a:effectLst/>
              <a:uFillTx/>
              <a:latin typeface="Arial"/>
            </a:endParaRPr>
          </a:p>
        </p:txBody>
      </p:sp>
      <p:sp>
        <p:nvSpPr>
          <p:cNvPr id="16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167" name="Rounded Rectangle 3"/>
          <p:cNvSpPr/>
          <p:nvPr/>
        </p:nvSpPr>
        <p:spPr>
          <a:xfrm>
            <a:off x="548640" y="169164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8" name="TextBox 4"/>
          <p:cNvSpPr/>
          <p:nvPr/>
        </p:nvSpPr>
        <p:spPr>
          <a:xfrm>
            <a:off x="685800" y="178308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1.</a:t>
            </a:r>
            <a:endParaRPr lang="en-US" sz="2200" b="0" u="none" strike="noStrike">
              <a:solidFill>
                <a:srgbClr val="FFFFFF"/>
              </a:solidFill>
              <a:effectLst/>
              <a:uFillTx/>
              <a:latin typeface="Arial"/>
            </a:endParaRPr>
          </a:p>
        </p:txBody>
      </p:sp>
      <p:sp>
        <p:nvSpPr>
          <p:cNvPr id="169" name="TextBox 5"/>
          <p:cNvSpPr/>
          <p:nvPr/>
        </p:nvSpPr>
        <p:spPr>
          <a:xfrm>
            <a:off x="1737360" y="1783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Relational</a:t>
            </a:r>
            <a:endParaRPr lang="en-US" sz="2200" b="0" u="none" strike="noStrike">
              <a:solidFill>
                <a:srgbClr val="FFFFFF"/>
              </a:solidFill>
              <a:effectLst/>
              <a:uFillTx/>
              <a:latin typeface="Arial"/>
            </a:endParaRPr>
          </a:p>
        </p:txBody>
      </p:sp>
      <p:sp>
        <p:nvSpPr>
          <p:cNvPr id="170" name="TextBox 6"/>
          <p:cNvSpPr/>
          <p:nvPr/>
        </p:nvSpPr>
        <p:spPr>
          <a:xfrm>
            <a:off x="1737360" y="21488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SQL  •  PostgreSQL, MySQL</a:t>
            </a:r>
            <a:endParaRPr lang="en-US" sz="1800" b="0" u="none" strike="noStrike">
              <a:solidFill>
                <a:srgbClr val="FFFFFF"/>
              </a:solidFill>
              <a:effectLst/>
              <a:uFillTx/>
              <a:latin typeface="Arial"/>
            </a:endParaRPr>
          </a:p>
        </p:txBody>
      </p:sp>
      <p:sp>
        <p:nvSpPr>
          <p:cNvPr id="171" name="Rounded Rectangle 7"/>
          <p:cNvSpPr/>
          <p:nvPr/>
        </p:nvSpPr>
        <p:spPr>
          <a:xfrm>
            <a:off x="6217920" y="169164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2" name="TextBox 8"/>
          <p:cNvSpPr/>
          <p:nvPr/>
        </p:nvSpPr>
        <p:spPr>
          <a:xfrm>
            <a:off x="6355080" y="178308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2.</a:t>
            </a:r>
            <a:endParaRPr lang="en-US" sz="2200" b="0" u="none" strike="noStrike">
              <a:solidFill>
                <a:srgbClr val="FFFFFF"/>
              </a:solidFill>
              <a:effectLst/>
              <a:uFillTx/>
              <a:latin typeface="Arial"/>
            </a:endParaRPr>
          </a:p>
        </p:txBody>
      </p:sp>
      <p:sp>
        <p:nvSpPr>
          <p:cNvPr id="173" name="TextBox 9"/>
          <p:cNvSpPr/>
          <p:nvPr/>
        </p:nvSpPr>
        <p:spPr>
          <a:xfrm>
            <a:off x="7406640" y="1783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Document</a:t>
            </a:r>
            <a:endParaRPr lang="en-US" sz="2200" b="0" u="none" strike="noStrike">
              <a:solidFill>
                <a:srgbClr val="FFFFFF"/>
              </a:solidFill>
              <a:effectLst/>
              <a:uFillTx/>
              <a:latin typeface="Arial"/>
            </a:endParaRPr>
          </a:p>
        </p:txBody>
      </p:sp>
      <p:sp>
        <p:nvSpPr>
          <p:cNvPr id="174" name="TextBox 10"/>
          <p:cNvSpPr/>
          <p:nvPr/>
        </p:nvSpPr>
        <p:spPr>
          <a:xfrm>
            <a:off x="7406640" y="21488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JSON  •  MongoDB, Firestore</a:t>
            </a:r>
            <a:endParaRPr lang="en-US" sz="1800" b="0" u="none" strike="noStrike">
              <a:solidFill>
                <a:srgbClr val="FFFFFF"/>
              </a:solidFill>
              <a:effectLst/>
              <a:uFillTx/>
              <a:latin typeface="Arial"/>
            </a:endParaRPr>
          </a:p>
        </p:txBody>
      </p:sp>
      <p:sp>
        <p:nvSpPr>
          <p:cNvPr id="175" name="Rounded Rectangle 11"/>
          <p:cNvSpPr/>
          <p:nvPr/>
        </p:nvSpPr>
        <p:spPr>
          <a:xfrm>
            <a:off x="548640" y="265176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6" name="TextBox 12"/>
          <p:cNvSpPr/>
          <p:nvPr/>
        </p:nvSpPr>
        <p:spPr>
          <a:xfrm>
            <a:off x="685800" y="274320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3.</a:t>
            </a:r>
            <a:endParaRPr lang="en-US" sz="2200" b="0" u="none" strike="noStrike">
              <a:solidFill>
                <a:srgbClr val="FFFFFF"/>
              </a:solidFill>
              <a:effectLst/>
              <a:uFillTx/>
              <a:latin typeface="Arial"/>
            </a:endParaRPr>
          </a:p>
        </p:txBody>
      </p:sp>
      <p:sp>
        <p:nvSpPr>
          <p:cNvPr id="177" name="TextBox 13"/>
          <p:cNvSpPr/>
          <p:nvPr/>
        </p:nvSpPr>
        <p:spPr>
          <a:xfrm>
            <a:off x="1737360" y="2743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Key-Value</a:t>
            </a:r>
            <a:endParaRPr lang="en-US" sz="2200" b="0" u="none" strike="noStrike">
              <a:solidFill>
                <a:srgbClr val="FFFFFF"/>
              </a:solidFill>
              <a:effectLst/>
              <a:uFillTx/>
              <a:latin typeface="Arial"/>
            </a:endParaRPr>
          </a:p>
        </p:txBody>
      </p:sp>
      <p:sp>
        <p:nvSpPr>
          <p:cNvPr id="178" name="TextBox 14"/>
          <p:cNvSpPr/>
          <p:nvPr/>
        </p:nvSpPr>
        <p:spPr>
          <a:xfrm>
            <a:off x="1737360" y="31089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dictionary  •  Redis, DynamoDB</a:t>
            </a:r>
            <a:endParaRPr lang="en-US" sz="1800" b="0" u="none" strike="noStrike">
              <a:solidFill>
                <a:srgbClr val="FFFFFF"/>
              </a:solidFill>
              <a:effectLst/>
              <a:uFillTx/>
              <a:latin typeface="Arial"/>
            </a:endParaRPr>
          </a:p>
        </p:txBody>
      </p:sp>
      <p:sp>
        <p:nvSpPr>
          <p:cNvPr id="179" name="Rounded Rectangle 15"/>
          <p:cNvSpPr/>
          <p:nvPr/>
        </p:nvSpPr>
        <p:spPr>
          <a:xfrm>
            <a:off x="6217920" y="265176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0" name="TextBox 16"/>
          <p:cNvSpPr/>
          <p:nvPr/>
        </p:nvSpPr>
        <p:spPr>
          <a:xfrm>
            <a:off x="6355080" y="274320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4.</a:t>
            </a:r>
            <a:endParaRPr lang="en-US" sz="2200" b="0" u="none" strike="noStrike">
              <a:solidFill>
                <a:srgbClr val="FFFFFF"/>
              </a:solidFill>
              <a:effectLst/>
              <a:uFillTx/>
              <a:latin typeface="Arial"/>
            </a:endParaRPr>
          </a:p>
        </p:txBody>
      </p:sp>
      <p:sp>
        <p:nvSpPr>
          <p:cNvPr id="181" name="TextBox 17"/>
          <p:cNvSpPr/>
          <p:nvPr/>
        </p:nvSpPr>
        <p:spPr>
          <a:xfrm>
            <a:off x="7406640" y="2743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Column-Family</a:t>
            </a:r>
            <a:endParaRPr lang="en-US" sz="2200" b="0" u="none" strike="noStrike">
              <a:solidFill>
                <a:srgbClr val="FFFFFF"/>
              </a:solidFill>
              <a:effectLst/>
              <a:uFillTx/>
              <a:latin typeface="Arial"/>
            </a:endParaRPr>
          </a:p>
        </p:txBody>
      </p:sp>
      <p:sp>
        <p:nvSpPr>
          <p:cNvPr id="182" name="TextBox 18"/>
          <p:cNvSpPr/>
          <p:nvPr/>
        </p:nvSpPr>
        <p:spPr>
          <a:xfrm>
            <a:off x="7406640" y="31089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wide-column  •  Cassandra, HBase</a:t>
            </a:r>
            <a:endParaRPr lang="en-US" sz="1800" b="0" u="none" strike="noStrike">
              <a:solidFill>
                <a:srgbClr val="FFFFFF"/>
              </a:solidFill>
              <a:effectLst/>
              <a:uFillTx/>
              <a:latin typeface="Arial"/>
            </a:endParaRPr>
          </a:p>
        </p:txBody>
      </p:sp>
      <p:sp>
        <p:nvSpPr>
          <p:cNvPr id="183" name="Rounded Rectangle 19"/>
          <p:cNvSpPr/>
          <p:nvPr/>
        </p:nvSpPr>
        <p:spPr>
          <a:xfrm>
            <a:off x="548640" y="361188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 name="TextBox 20"/>
          <p:cNvSpPr/>
          <p:nvPr/>
        </p:nvSpPr>
        <p:spPr>
          <a:xfrm>
            <a:off x="685800" y="370332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5.</a:t>
            </a:r>
            <a:endParaRPr lang="en-US" sz="2200" b="0" u="none" strike="noStrike">
              <a:solidFill>
                <a:srgbClr val="FFFFFF"/>
              </a:solidFill>
              <a:effectLst/>
              <a:uFillTx/>
              <a:latin typeface="Arial"/>
            </a:endParaRPr>
          </a:p>
        </p:txBody>
      </p:sp>
      <p:sp>
        <p:nvSpPr>
          <p:cNvPr id="185" name="TextBox 21"/>
          <p:cNvSpPr/>
          <p:nvPr/>
        </p:nvSpPr>
        <p:spPr>
          <a:xfrm>
            <a:off x="1737360" y="3703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Graph</a:t>
            </a:r>
            <a:endParaRPr lang="en-US" sz="2200" b="0" u="none" strike="noStrike">
              <a:solidFill>
                <a:srgbClr val="FFFFFF"/>
              </a:solidFill>
              <a:effectLst/>
              <a:uFillTx/>
              <a:latin typeface="Arial"/>
            </a:endParaRPr>
          </a:p>
        </p:txBody>
      </p:sp>
      <p:sp>
        <p:nvSpPr>
          <p:cNvPr id="186" name="TextBox 22"/>
          <p:cNvSpPr/>
          <p:nvPr/>
        </p:nvSpPr>
        <p:spPr>
          <a:xfrm>
            <a:off x="1737360" y="4069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nodes+edges  •  Neo4j, Neptune</a:t>
            </a:r>
            <a:endParaRPr lang="en-US" sz="1800" b="0" u="none" strike="noStrike">
              <a:solidFill>
                <a:srgbClr val="FFFFFF"/>
              </a:solidFill>
              <a:effectLst/>
              <a:uFillTx/>
              <a:latin typeface="Arial"/>
            </a:endParaRPr>
          </a:p>
        </p:txBody>
      </p:sp>
      <p:sp>
        <p:nvSpPr>
          <p:cNvPr id="187" name="Rounded Rectangle 23"/>
          <p:cNvSpPr/>
          <p:nvPr/>
        </p:nvSpPr>
        <p:spPr>
          <a:xfrm>
            <a:off x="6217920" y="361188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8" name="TextBox 24"/>
          <p:cNvSpPr/>
          <p:nvPr/>
        </p:nvSpPr>
        <p:spPr>
          <a:xfrm>
            <a:off x="6355080" y="370332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6.</a:t>
            </a:r>
            <a:endParaRPr lang="en-US" sz="2200" b="0" u="none" strike="noStrike">
              <a:solidFill>
                <a:srgbClr val="FFFFFF"/>
              </a:solidFill>
              <a:effectLst/>
              <a:uFillTx/>
              <a:latin typeface="Arial"/>
            </a:endParaRPr>
          </a:p>
        </p:txBody>
      </p:sp>
      <p:sp>
        <p:nvSpPr>
          <p:cNvPr id="189" name="TextBox 25"/>
          <p:cNvSpPr/>
          <p:nvPr/>
        </p:nvSpPr>
        <p:spPr>
          <a:xfrm>
            <a:off x="7406640" y="3703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Search</a:t>
            </a:r>
            <a:endParaRPr lang="en-US" sz="2200" b="0" u="none" strike="noStrike">
              <a:solidFill>
                <a:srgbClr val="FFFFFF"/>
              </a:solidFill>
              <a:effectLst/>
              <a:uFillTx/>
              <a:latin typeface="Arial"/>
            </a:endParaRPr>
          </a:p>
        </p:txBody>
      </p:sp>
      <p:sp>
        <p:nvSpPr>
          <p:cNvPr id="190" name="TextBox 26"/>
          <p:cNvSpPr/>
          <p:nvPr/>
        </p:nvSpPr>
        <p:spPr>
          <a:xfrm>
            <a:off x="7406640" y="406908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full-text  •  Elastic, OpenSearch</a:t>
            </a:r>
            <a:endParaRPr lang="en-US" sz="1800" b="0" u="none" strike="noStrike">
              <a:solidFill>
                <a:srgbClr val="FFFFFF"/>
              </a:solidFill>
              <a:effectLst/>
              <a:uFillTx/>
              <a:latin typeface="Arial"/>
            </a:endParaRPr>
          </a:p>
        </p:txBody>
      </p:sp>
      <p:sp>
        <p:nvSpPr>
          <p:cNvPr id="191" name="Rounded Rectangle 27"/>
          <p:cNvSpPr/>
          <p:nvPr/>
        </p:nvSpPr>
        <p:spPr>
          <a:xfrm>
            <a:off x="548640" y="457200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2" name="TextBox 28"/>
          <p:cNvSpPr/>
          <p:nvPr/>
        </p:nvSpPr>
        <p:spPr>
          <a:xfrm>
            <a:off x="685800" y="466344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7.</a:t>
            </a:r>
            <a:endParaRPr lang="en-US" sz="2200" b="0" u="none" strike="noStrike">
              <a:solidFill>
                <a:srgbClr val="FFFFFF"/>
              </a:solidFill>
              <a:effectLst/>
              <a:uFillTx/>
              <a:latin typeface="Arial"/>
            </a:endParaRPr>
          </a:p>
        </p:txBody>
      </p:sp>
      <p:sp>
        <p:nvSpPr>
          <p:cNvPr id="193" name="TextBox 29"/>
          <p:cNvSpPr/>
          <p:nvPr/>
        </p:nvSpPr>
        <p:spPr>
          <a:xfrm>
            <a:off x="1737360" y="46634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Time-Series</a:t>
            </a:r>
            <a:endParaRPr lang="en-US" sz="2200" b="0" u="none" strike="noStrike">
              <a:solidFill>
                <a:srgbClr val="FFFFFF"/>
              </a:solidFill>
              <a:effectLst/>
              <a:uFillTx/>
              <a:latin typeface="Arial"/>
            </a:endParaRPr>
          </a:p>
        </p:txBody>
      </p:sp>
      <p:sp>
        <p:nvSpPr>
          <p:cNvPr id="194" name="TextBox 30"/>
          <p:cNvSpPr/>
          <p:nvPr/>
        </p:nvSpPr>
        <p:spPr>
          <a:xfrm>
            <a:off x="1737360" y="5029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metrics  •  Influx, Prometheus</a:t>
            </a:r>
            <a:endParaRPr lang="en-US" sz="1800" b="0" u="none" strike="noStrike">
              <a:solidFill>
                <a:srgbClr val="FFFFFF"/>
              </a:solidFill>
              <a:effectLst/>
              <a:uFillTx/>
              <a:latin typeface="Arial"/>
            </a:endParaRPr>
          </a:p>
        </p:txBody>
      </p:sp>
      <p:sp>
        <p:nvSpPr>
          <p:cNvPr id="195" name="Rounded Rectangle 31"/>
          <p:cNvSpPr/>
          <p:nvPr/>
        </p:nvSpPr>
        <p:spPr>
          <a:xfrm>
            <a:off x="6217920" y="457200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6" name="TextBox 32"/>
          <p:cNvSpPr/>
          <p:nvPr/>
        </p:nvSpPr>
        <p:spPr>
          <a:xfrm>
            <a:off x="6355080" y="466344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8.</a:t>
            </a:r>
            <a:endParaRPr lang="en-US" sz="2200" b="0" u="none" strike="noStrike">
              <a:solidFill>
                <a:srgbClr val="FFFFFF"/>
              </a:solidFill>
              <a:effectLst/>
              <a:uFillTx/>
              <a:latin typeface="Arial"/>
            </a:endParaRPr>
          </a:p>
        </p:txBody>
      </p:sp>
      <p:sp>
        <p:nvSpPr>
          <p:cNvPr id="197" name="TextBox 33"/>
          <p:cNvSpPr/>
          <p:nvPr/>
        </p:nvSpPr>
        <p:spPr>
          <a:xfrm>
            <a:off x="7406640" y="466344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Vector</a:t>
            </a:r>
            <a:endParaRPr lang="en-US" sz="2200" b="0" u="none" strike="noStrike">
              <a:solidFill>
                <a:srgbClr val="FFFFFF"/>
              </a:solidFill>
              <a:effectLst/>
              <a:uFillTx/>
              <a:latin typeface="Arial"/>
            </a:endParaRPr>
          </a:p>
        </p:txBody>
      </p:sp>
      <p:sp>
        <p:nvSpPr>
          <p:cNvPr id="198" name="TextBox 34"/>
          <p:cNvSpPr/>
          <p:nvPr/>
        </p:nvSpPr>
        <p:spPr>
          <a:xfrm>
            <a:off x="7406640" y="502920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embeddings  •  Pinecone, pgvector</a:t>
            </a:r>
            <a:endParaRPr lang="en-US" sz="1800" b="0" u="none" strike="noStrike">
              <a:solidFill>
                <a:srgbClr val="FFFFFF"/>
              </a:solidFill>
              <a:effectLst/>
              <a:uFillTx/>
              <a:latin typeface="Arial"/>
            </a:endParaRPr>
          </a:p>
        </p:txBody>
      </p:sp>
      <p:sp>
        <p:nvSpPr>
          <p:cNvPr id="199" name="Rounded Rectangle 35"/>
          <p:cNvSpPr/>
          <p:nvPr/>
        </p:nvSpPr>
        <p:spPr>
          <a:xfrm>
            <a:off x="548640" y="553212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0" name="TextBox 36"/>
          <p:cNvSpPr/>
          <p:nvPr/>
        </p:nvSpPr>
        <p:spPr>
          <a:xfrm>
            <a:off x="685800" y="562356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9.</a:t>
            </a:r>
            <a:endParaRPr lang="en-US" sz="2200" b="0" u="none" strike="noStrike">
              <a:solidFill>
                <a:srgbClr val="FFFFFF"/>
              </a:solidFill>
              <a:effectLst/>
              <a:uFillTx/>
              <a:latin typeface="Arial"/>
            </a:endParaRPr>
          </a:p>
        </p:txBody>
      </p:sp>
      <p:sp>
        <p:nvSpPr>
          <p:cNvPr id="201" name="TextBox 37"/>
          <p:cNvSpPr/>
          <p:nvPr/>
        </p:nvSpPr>
        <p:spPr>
          <a:xfrm>
            <a:off x="1737360" y="56235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Embedded/Edge</a:t>
            </a:r>
            <a:endParaRPr lang="en-US" sz="2200" b="0" u="none" strike="noStrike">
              <a:solidFill>
                <a:srgbClr val="FFFFFF"/>
              </a:solidFill>
              <a:effectLst/>
              <a:uFillTx/>
              <a:latin typeface="Arial"/>
            </a:endParaRPr>
          </a:p>
        </p:txBody>
      </p:sp>
      <p:sp>
        <p:nvSpPr>
          <p:cNvPr id="202" name="TextBox 38"/>
          <p:cNvSpPr/>
          <p:nvPr/>
        </p:nvSpPr>
        <p:spPr>
          <a:xfrm>
            <a:off x="1737360" y="5989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in-app  •  SQLite, DuckDB</a:t>
            </a:r>
            <a:endParaRPr lang="en-US" sz="1800" b="0" u="none" strike="noStrike">
              <a:solidFill>
                <a:srgbClr val="FFFFFF"/>
              </a:solidFill>
              <a:effectLst/>
              <a:uFillTx/>
              <a:latin typeface="Arial"/>
            </a:endParaRPr>
          </a:p>
        </p:txBody>
      </p:sp>
      <p:sp>
        <p:nvSpPr>
          <p:cNvPr id="203" name="Rounded Rectangle 39"/>
          <p:cNvSpPr/>
          <p:nvPr/>
        </p:nvSpPr>
        <p:spPr>
          <a:xfrm>
            <a:off x="6217920" y="5532120"/>
            <a:ext cx="5577480" cy="914040"/>
          </a:xfrm>
          <a:prstGeom prst="roundRect">
            <a:avLst>
              <a:gd name="adj" fmla="val 16667"/>
            </a:avLst>
          </a:prstGeom>
          <a:solidFill>
            <a:srgbClr val="24243E"/>
          </a:solidFill>
          <a:ln w="1905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4" name="TextBox 40"/>
          <p:cNvSpPr/>
          <p:nvPr/>
        </p:nvSpPr>
        <p:spPr>
          <a:xfrm>
            <a:off x="6355080" y="5623560"/>
            <a:ext cx="10969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00FF41"/>
                </a:solidFill>
                <a:effectLst/>
                <a:uFillTx/>
                <a:latin typeface="Calibri"/>
              </a:rPr>
              <a:t>◆ 10.</a:t>
            </a:r>
            <a:endParaRPr lang="en-US" sz="2200" b="0" u="none" strike="noStrike">
              <a:solidFill>
                <a:srgbClr val="FFFFFF"/>
              </a:solidFill>
              <a:effectLst/>
              <a:uFillTx/>
              <a:latin typeface="Arial"/>
            </a:endParaRPr>
          </a:p>
        </p:txBody>
      </p:sp>
      <p:sp>
        <p:nvSpPr>
          <p:cNvPr id="205" name="TextBox 41"/>
          <p:cNvSpPr/>
          <p:nvPr/>
        </p:nvSpPr>
        <p:spPr>
          <a:xfrm>
            <a:off x="7406640" y="562356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1" u="none" strike="noStrike">
                <a:solidFill>
                  <a:srgbClr val="FFFFFF"/>
                </a:solidFill>
                <a:effectLst/>
                <a:uFillTx/>
                <a:latin typeface="Calibri"/>
              </a:rPr>
              <a:t>Data Lake</a:t>
            </a:r>
            <a:endParaRPr lang="en-US" sz="2200" b="0" u="none" strike="noStrike">
              <a:solidFill>
                <a:srgbClr val="FFFFFF"/>
              </a:solidFill>
              <a:effectLst/>
              <a:uFillTx/>
              <a:latin typeface="Arial"/>
            </a:endParaRPr>
          </a:p>
        </p:txBody>
      </p:sp>
      <p:sp>
        <p:nvSpPr>
          <p:cNvPr id="206" name="TextBox 42"/>
          <p:cNvSpPr/>
          <p:nvPr/>
        </p:nvSpPr>
        <p:spPr>
          <a:xfrm>
            <a:off x="7406640" y="5989320"/>
            <a:ext cx="429732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CCCCD6"/>
                </a:solidFill>
                <a:effectLst/>
                <a:uFillTx/>
                <a:latin typeface="Calibri"/>
              </a:rPr>
              <a:t>schema-on-read  •  S3+Athena, Iceberg</a:t>
            </a:r>
            <a:endParaRPr lang="en-US" sz="1800" b="0" u="none" strike="noStrike">
              <a:solidFill>
                <a:srgbClr val="FFFFFF"/>
              </a:solidFill>
              <a:effectLst/>
              <a:uFillTx/>
              <a:latin typeface="Arial"/>
            </a:endParaRPr>
          </a:p>
        </p:txBody>
      </p:sp>
      <p:sp>
        <p:nvSpPr>
          <p:cNvPr id="207" name="TextBox 4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208" name="TextBox 44"/>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09" name="Oval 1" descr="Family card #1: Relational / SQL. Products: PostgreSQL  •  MySQL/MariaDB  •  SQL Server  •  Oracle. Use case: Clear relationships, consistency required — finance, regulated data.. Security gotcha: SQL injection when developers concatenate user input into queries.." title="Family card #1: Relational / SQL. Products: PostgreSQL  •  MySQL/MariaDB  •  SQL"/>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0"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1</a:t>
            </a:r>
            <a:endParaRPr lang="en-US" sz="4400" b="0" u="none" strike="noStrike">
              <a:solidFill>
                <a:srgbClr val="FFFFFF"/>
              </a:solidFill>
              <a:effectLst/>
              <a:uFillTx/>
              <a:latin typeface="Arial"/>
            </a:endParaRPr>
          </a:p>
        </p:txBody>
      </p:sp>
      <p:sp>
        <p:nvSpPr>
          <p:cNvPr id="211"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Relational / SQL</a:t>
            </a:r>
            <a:endParaRPr lang="en-US" sz="4600" b="0" u="none" strike="noStrike">
              <a:solidFill>
                <a:srgbClr val="FFFFFF"/>
              </a:solidFill>
              <a:effectLst/>
              <a:uFillTx/>
              <a:latin typeface="Arial"/>
            </a:endParaRPr>
          </a:p>
        </p:txBody>
      </p:sp>
      <p:sp>
        <p:nvSpPr>
          <p:cNvPr id="212"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13"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PRODUCTS</a:t>
            </a:r>
            <a:endParaRPr lang="en-US" sz="2000" b="0" u="none" strike="noStrike">
              <a:solidFill>
                <a:srgbClr val="FFFFFF"/>
              </a:solidFill>
              <a:effectLst/>
              <a:uFillTx/>
              <a:latin typeface="Arial"/>
            </a:endParaRPr>
          </a:p>
        </p:txBody>
      </p:sp>
      <p:sp>
        <p:nvSpPr>
          <p:cNvPr id="214"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PostgreSQL  •  MySQL/MariaDB  •  SQL Server  •  Oracle</a:t>
            </a:r>
            <a:endParaRPr lang="en-US" sz="2800" b="0" u="none" strike="noStrike">
              <a:solidFill>
                <a:srgbClr val="FFFFFF"/>
              </a:solidFill>
              <a:effectLst/>
              <a:uFillTx/>
              <a:latin typeface="Arial"/>
            </a:endParaRPr>
          </a:p>
        </p:txBody>
      </p:sp>
      <p:sp>
        <p:nvSpPr>
          <p:cNvPr id="215"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USE WHEN</a:t>
            </a:r>
            <a:endParaRPr lang="en-US" sz="2000" b="0" u="none" strike="noStrike">
              <a:solidFill>
                <a:srgbClr val="FFFFFF"/>
              </a:solidFill>
              <a:effectLst/>
              <a:uFillTx/>
              <a:latin typeface="Arial"/>
            </a:endParaRPr>
          </a:p>
        </p:txBody>
      </p:sp>
      <p:sp>
        <p:nvSpPr>
          <p:cNvPr id="216"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Clear relationships, consistency required — finance, regulated data.</a:t>
            </a:r>
            <a:endParaRPr lang="en-US" sz="2400" b="0" u="none" strike="noStrike">
              <a:solidFill>
                <a:srgbClr val="FFFFFF"/>
              </a:solidFill>
              <a:effectLst/>
              <a:uFillTx/>
              <a:latin typeface="Arial"/>
            </a:endParaRPr>
          </a:p>
        </p:txBody>
      </p:sp>
      <p:sp>
        <p:nvSpPr>
          <p:cNvPr id="217"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8"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SECURITY GOTCHA</a:t>
            </a:r>
            <a:endParaRPr lang="en-US" sz="2000" b="0" u="none" strike="noStrike">
              <a:solidFill>
                <a:srgbClr val="FFFFFF"/>
              </a:solidFill>
              <a:effectLst/>
              <a:uFillTx/>
              <a:latin typeface="Arial"/>
            </a:endParaRPr>
          </a:p>
        </p:txBody>
      </p:sp>
      <p:sp>
        <p:nvSpPr>
          <p:cNvPr id="219"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SQL injection when developers concatenate user input into queries.</a:t>
            </a:r>
            <a:endParaRPr lang="en-US" sz="2400" b="0" u="none" strike="noStrike">
              <a:solidFill>
                <a:srgbClr val="FFFFFF"/>
              </a:solidFill>
              <a:effectLst/>
              <a:uFillTx/>
              <a:latin typeface="Arial"/>
            </a:endParaRPr>
          </a:p>
        </p:txBody>
      </p:sp>
      <p:sp>
        <p:nvSpPr>
          <p:cNvPr id="220"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221"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22" name="Oval 1" descr="Family card #2: Document Stores. Products: MongoDB  •  Couchbase  •  Firestore. Use case: Naturally nested data; the shape changes over time.. Security gotcha: NoSQL injection via query operators ($ne, $gt, $where). Default no-auth.." title="Family card #2: Document Stores. Products: MongoDB  •  Couchbase  •  Firestore.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3"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2</a:t>
            </a:r>
            <a:endParaRPr lang="en-US" sz="4400" b="0" u="none" strike="noStrike">
              <a:solidFill>
                <a:srgbClr val="FFFFFF"/>
              </a:solidFill>
              <a:effectLst/>
              <a:uFillTx/>
              <a:latin typeface="Arial"/>
            </a:endParaRPr>
          </a:p>
        </p:txBody>
      </p:sp>
      <p:sp>
        <p:nvSpPr>
          <p:cNvPr id="224"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Document Stores</a:t>
            </a:r>
            <a:endParaRPr lang="en-US" sz="4600" b="0" u="none" strike="noStrike">
              <a:solidFill>
                <a:srgbClr val="FFFFFF"/>
              </a:solidFill>
              <a:effectLst/>
              <a:uFillTx/>
              <a:latin typeface="Arial"/>
            </a:endParaRPr>
          </a:p>
        </p:txBody>
      </p:sp>
      <p:sp>
        <p:nvSpPr>
          <p:cNvPr id="225"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26"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PRODUCTS</a:t>
            </a:r>
            <a:endParaRPr lang="en-US" sz="2000" b="0" u="none" strike="noStrike">
              <a:solidFill>
                <a:srgbClr val="FFFFFF"/>
              </a:solidFill>
              <a:effectLst/>
              <a:uFillTx/>
              <a:latin typeface="Arial"/>
            </a:endParaRPr>
          </a:p>
        </p:txBody>
      </p:sp>
      <p:sp>
        <p:nvSpPr>
          <p:cNvPr id="227"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MongoDB  •  Couchbase  •  Firestore</a:t>
            </a:r>
            <a:endParaRPr lang="en-US" sz="2800" b="0" u="none" strike="noStrike">
              <a:solidFill>
                <a:srgbClr val="FFFFFF"/>
              </a:solidFill>
              <a:effectLst/>
              <a:uFillTx/>
              <a:latin typeface="Arial"/>
            </a:endParaRPr>
          </a:p>
        </p:txBody>
      </p:sp>
      <p:sp>
        <p:nvSpPr>
          <p:cNvPr id="228"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USE WHEN</a:t>
            </a:r>
            <a:endParaRPr lang="en-US" sz="2000" b="0" u="none" strike="noStrike">
              <a:solidFill>
                <a:srgbClr val="FFFFFF"/>
              </a:solidFill>
              <a:effectLst/>
              <a:uFillTx/>
              <a:latin typeface="Arial"/>
            </a:endParaRPr>
          </a:p>
        </p:txBody>
      </p:sp>
      <p:sp>
        <p:nvSpPr>
          <p:cNvPr id="229"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Naturally nested data; the shape changes over time.</a:t>
            </a:r>
            <a:endParaRPr lang="en-US" sz="2400" b="0" u="none" strike="noStrike">
              <a:solidFill>
                <a:srgbClr val="FFFFFF"/>
              </a:solidFill>
              <a:effectLst/>
              <a:uFillTx/>
              <a:latin typeface="Arial"/>
            </a:endParaRPr>
          </a:p>
        </p:txBody>
      </p:sp>
      <p:sp>
        <p:nvSpPr>
          <p:cNvPr id="230"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1"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SECURITY GOTCHA</a:t>
            </a:r>
            <a:endParaRPr lang="en-US" sz="2000" b="0" u="none" strike="noStrike">
              <a:solidFill>
                <a:srgbClr val="FFFFFF"/>
              </a:solidFill>
              <a:effectLst/>
              <a:uFillTx/>
              <a:latin typeface="Arial"/>
            </a:endParaRPr>
          </a:p>
        </p:txBody>
      </p:sp>
      <p:sp>
        <p:nvSpPr>
          <p:cNvPr id="232"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NoSQL injection via query operators ($ne, $gt, $where). Default no-auth.</a:t>
            </a:r>
            <a:endParaRPr lang="en-US" sz="2400" b="0" u="none" strike="noStrike">
              <a:solidFill>
                <a:srgbClr val="FFFFFF"/>
              </a:solidFill>
              <a:effectLst/>
              <a:uFillTx/>
              <a:latin typeface="Arial"/>
            </a:endParaRPr>
          </a:p>
        </p:txBody>
      </p:sp>
      <p:sp>
        <p:nvSpPr>
          <p:cNvPr id="233"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234"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35" name="Oval 1" descr="Family card #3: Key-Value Stores. Products: Redis  •  Memcached  •  DynamoDB. Use case: Caches, session stores, rate limiters, leaderboards.. Security gotcha: Default no-auth Redis + CONFIG SET → writing SSH keys to disk.." title="Family card #3: Key-Value Stores. Products: Redis  •  Memcached  •  DynamoDB. Us"/>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6"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3</a:t>
            </a:r>
            <a:endParaRPr lang="en-US" sz="4400" b="0" u="none" strike="noStrike">
              <a:solidFill>
                <a:srgbClr val="FFFFFF"/>
              </a:solidFill>
              <a:effectLst/>
              <a:uFillTx/>
              <a:latin typeface="Arial"/>
            </a:endParaRPr>
          </a:p>
        </p:txBody>
      </p:sp>
      <p:sp>
        <p:nvSpPr>
          <p:cNvPr id="237"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Key-Value Stores</a:t>
            </a:r>
            <a:endParaRPr lang="en-US" sz="4600" b="0" u="none" strike="noStrike">
              <a:solidFill>
                <a:srgbClr val="FFFFFF"/>
              </a:solidFill>
              <a:effectLst/>
              <a:uFillTx/>
              <a:latin typeface="Arial"/>
            </a:endParaRPr>
          </a:p>
        </p:txBody>
      </p:sp>
      <p:sp>
        <p:nvSpPr>
          <p:cNvPr id="238"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39"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PRODUCTS</a:t>
            </a:r>
            <a:endParaRPr lang="en-US" sz="2000" b="0" u="none" strike="noStrike">
              <a:solidFill>
                <a:srgbClr val="FFFFFF"/>
              </a:solidFill>
              <a:effectLst/>
              <a:uFillTx/>
              <a:latin typeface="Arial"/>
            </a:endParaRPr>
          </a:p>
        </p:txBody>
      </p:sp>
      <p:sp>
        <p:nvSpPr>
          <p:cNvPr id="240"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Redis  •  Memcached  •  DynamoDB</a:t>
            </a:r>
            <a:endParaRPr lang="en-US" sz="2800" b="0" u="none" strike="noStrike">
              <a:solidFill>
                <a:srgbClr val="FFFFFF"/>
              </a:solidFill>
              <a:effectLst/>
              <a:uFillTx/>
              <a:latin typeface="Arial"/>
            </a:endParaRPr>
          </a:p>
        </p:txBody>
      </p:sp>
      <p:sp>
        <p:nvSpPr>
          <p:cNvPr id="241"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USE WHEN</a:t>
            </a:r>
            <a:endParaRPr lang="en-US" sz="2000" b="0" u="none" strike="noStrike">
              <a:solidFill>
                <a:srgbClr val="FFFFFF"/>
              </a:solidFill>
              <a:effectLst/>
              <a:uFillTx/>
              <a:latin typeface="Arial"/>
            </a:endParaRPr>
          </a:p>
        </p:txBody>
      </p:sp>
      <p:sp>
        <p:nvSpPr>
          <p:cNvPr id="242"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Caches, session stores, rate limiters, leaderboards.</a:t>
            </a:r>
            <a:endParaRPr lang="en-US" sz="2400" b="0" u="none" strike="noStrike">
              <a:solidFill>
                <a:srgbClr val="FFFFFF"/>
              </a:solidFill>
              <a:effectLst/>
              <a:uFillTx/>
              <a:latin typeface="Arial"/>
            </a:endParaRPr>
          </a:p>
        </p:txBody>
      </p:sp>
      <p:sp>
        <p:nvSpPr>
          <p:cNvPr id="243"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4"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SECURITY GOTCHA</a:t>
            </a:r>
            <a:endParaRPr lang="en-US" sz="2000" b="0" u="none" strike="noStrike">
              <a:solidFill>
                <a:srgbClr val="FFFFFF"/>
              </a:solidFill>
              <a:effectLst/>
              <a:uFillTx/>
              <a:latin typeface="Arial"/>
            </a:endParaRPr>
          </a:p>
        </p:txBody>
      </p:sp>
      <p:sp>
        <p:nvSpPr>
          <p:cNvPr id="245"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Default no-auth Redis + CONFIG SET → writing SSH keys to disk.</a:t>
            </a:r>
            <a:endParaRPr lang="en-US" sz="2400" b="0" u="none" strike="noStrike">
              <a:solidFill>
                <a:srgbClr val="FFFFFF"/>
              </a:solidFill>
              <a:effectLst/>
              <a:uFillTx/>
              <a:latin typeface="Arial"/>
            </a:endParaRPr>
          </a:p>
        </p:txBody>
      </p:sp>
      <p:sp>
        <p:nvSpPr>
          <p:cNvPr id="246"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247"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48" name="Oval 1" descr="Family card #4: Column-Family. Products: Apache Cassandra  •  HBase  •  ScyllaDB. Use case: Massive scale across many machines; no complex joins needed.. Security gotcha: Clusters trust each other on gossip ports — mgmt network = root.." title="Family card #4: Column-Family. Products: Apache Cassandra  •  HBase  •  ScyllaDB"/>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9"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4</a:t>
            </a:r>
            <a:endParaRPr lang="en-US" sz="4400" b="0" u="none" strike="noStrike">
              <a:solidFill>
                <a:srgbClr val="FFFFFF"/>
              </a:solidFill>
              <a:effectLst/>
              <a:uFillTx/>
              <a:latin typeface="Arial"/>
            </a:endParaRPr>
          </a:p>
        </p:txBody>
      </p:sp>
      <p:sp>
        <p:nvSpPr>
          <p:cNvPr id="250"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Column-Family</a:t>
            </a:r>
            <a:endParaRPr lang="en-US" sz="4600" b="0" u="none" strike="noStrike">
              <a:solidFill>
                <a:srgbClr val="FFFFFF"/>
              </a:solidFill>
              <a:effectLst/>
              <a:uFillTx/>
              <a:latin typeface="Arial"/>
            </a:endParaRPr>
          </a:p>
        </p:txBody>
      </p:sp>
      <p:sp>
        <p:nvSpPr>
          <p:cNvPr id="251"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52"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PRODUCTS</a:t>
            </a:r>
            <a:endParaRPr lang="en-US" sz="2000" b="0" u="none" strike="noStrike">
              <a:solidFill>
                <a:srgbClr val="FFFFFF"/>
              </a:solidFill>
              <a:effectLst/>
              <a:uFillTx/>
              <a:latin typeface="Arial"/>
            </a:endParaRPr>
          </a:p>
        </p:txBody>
      </p:sp>
      <p:sp>
        <p:nvSpPr>
          <p:cNvPr id="253"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Apache Cassandra  •  HBase  •  ScyllaDB</a:t>
            </a:r>
            <a:endParaRPr lang="en-US" sz="2800" b="0" u="none" strike="noStrike">
              <a:solidFill>
                <a:srgbClr val="FFFFFF"/>
              </a:solidFill>
              <a:effectLst/>
              <a:uFillTx/>
              <a:latin typeface="Arial"/>
            </a:endParaRPr>
          </a:p>
        </p:txBody>
      </p:sp>
      <p:sp>
        <p:nvSpPr>
          <p:cNvPr id="254"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USE WHEN</a:t>
            </a:r>
            <a:endParaRPr lang="en-US" sz="2000" b="0" u="none" strike="noStrike">
              <a:solidFill>
                <a:srgbClr val="FFFFFF"/>
              </a:solidFill>
              <a:effectLst/>
              <a:uFillTx/>
              <a:latin typeface="Arial"/>
            </a:endParaRPr>
          </a:p>
        </p:txBody>
      </p:sp>
      <p:sp>
        <p:nvSpPr>
          <p:cNvPr id="255"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Massive scale across many machines; no complex joins needed.</a:t>
            </a:r>
            <a:endParaRPr lang="en-US" sz="2400" b="0" u="none" strike="noStrike">
              <a:solidFill>
                <a:srgbClr val="FFFFFF"/>
              </a:solidFill>
              <a:effectLst/>
              <a:uFillTx/>
              <a:latin typeface="Arial"/>
            </a:endParaRPr>
          </a:p>
        </p:txBody>
      </p:sp>
      <p:sp>
        <p:nvSpPr>
          <p:cNvPr id="256"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7"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SECURITY GOTCHA</a:t>
            </a:r>
            <a:endParaRPr lang="en-US" sz="2000" b="0" u="none" strike="noStrike">
              <a:solidFill>
                <a:srgbClr val="FFFFFF"/>
              </a:solidFill>
              <a:effectLst/>
              <a:uFillTx/>
              <a:latin typeface="Arial"/>
            </a:endParaRPr>
          </a:p>
        </p:txBody>
      </p:sp>
      <p:sp>
        <p:nvSpPr>
          <p:cNvPr id="258"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Clusters trust each other on gossip ports — mgmt network = root.</a:t>
            </a:r>
            <a:endParaRPr lang="en-US" sz="2400" b="0" u="none" strike="noStrike">
              <a:solidFill>
                <a:srgbClr val="FFFFFF"/>
              </a:solidFill>
              <a:effectLst/>
              <a:uFillTx/>
              <a:latin typeface="Arial"/>
            </a:endParaRPr>
          </a:p>
        </p:txBody>
      </p:sp>
      <p:sp>
        <p:nvSpPr>
          <p:cNvPr id="259"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260"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61" name="Oval 1" descr="Family card #5: Graph Databases. Products: Neo4j  •  Amazon Neptune  •  ArangoDB. Use case: Social networks, fraud detection, IAM analysis (e.g. BloodHound).. Security gotcha: Query languages like Cypher are injectable too. NoSQLi isn't just Mongo.." title="Family card #5: Graph Databases. Products: Neo4j  •  Amazon Neptune  •  ArangoDB"/>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2"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5</a:t>
            </a:r>
            <a:endParaRPr lang="en-US" sz="4400" b="0" u="none" strike="noStrike">
              <a:solidFill>
                <a:srgbClr val="FFFFFF"/>
              </a:solidFill>
              <a:effectLst/>
              <a:uFillTx/>
              <a:latin typeface="Arial"/>
            </a:endParaRPr>
          </a:p>
        </p:txBody>
      </p:sp>
      <p:sp>
        <p:nvSpPr>
          <p:cNvPr id="263"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Graph Databases</a:t>
            </a:r>
            <a:endParaRPr lang="en-US" sz="4600" b="0" u="none" strike="noStrike">
              <a:solidFill>
                <a:srgbClr val="FFFFFF"/>
              </a:solidFill>
              <a:effectLst/>
              <a:uFillTx/>
              <a:latin typeface="Arial"/>
            </a:endParaRPr>
          </a:p>
        </p:txBody>
      </p:sp>
      <p:sp>
        <p:nvSpPr>
          <p:cNvPr id="264"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65"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PRODUCTS</a:t>
            </a:r>
            <a:endParaRPr lang="en-US" sz="2000" b="0" u="none" strike="noStrike">
              <a:solidFill>
                <a:srgbClr val="FFFFFF"/>
              </a:solidFill>
              <a:effectLst/>
              <a:uFillTx/>
              <a:latin typeface="Arial"/>
            </a:endParaRPr>
          </a:p>
        </p:txBody>
      </p:sp>
      <p:sp>
        <p:nvSpPr>
          <p:cNvPr id="266"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Neo4j  •  Amazon Neptune  •  ArangoDB</a:t>
            </a:r>
            <a:endParaRPr lang="en-US" sz="2800" b="0" u="none" strike="noStrike">
              <a:solidFill>
                <a:srgbClr val="FFFFFF"/>
              </a:solidFill>
              <a:effectLst/>
              <a:uFillTx/>
              <a:latin typeface="Arial"/>
            </a:endParaRPr>
          </a:p>
        </p:txBody>
      </p:sp>
      <p:sp>
        <p:nvSpPr>
          <p:cNvPr id="267"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USE WHEN</a:t>
            </a:r>
            <a:endParaRPr lang="en-US" sz="2000" b="0" u="none" strike="noStrike">
              <a:solidFill>
                <a:srgbClr val="FFFFFF"/>
              </a:solidFill>
              <a:effectLst/>
              <a:uFillTx/>
              <a:latin typeface="Arial"/>
            </a:endParaRPr>
          </a:p>
        </p:txBody>
      </p:sp>
      <p:sp>
        <p:nvSpPr>
          <p:cNvPr id="268"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Social networks, fraud detection, IAM analysis (e.g. BloodHound).</a:t>
            </a:r>
            <a:endParaRPr lang="en-US" sz="2400" b="0" u="none" strike="noStrike">
              <a:solidFill>
                <a:srgbClr val="FFFFFF"/>
              </a:solidFill>
              <a:effectLst/>
              <a:uFillTx/>
              <a:latin typeface="Arial"/>
            </a:endParaRPr>
          </a:p>
        </p:txBody>
      </p:sp>
      <p:sp>
        <p:nvSpPr>
          <p:cNvPr id="269"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0"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SECURITY GOTCHA</a:t>
            </a:r>
            <a:endParaRPr lang="en-US" sz="2000" b="0" u="none" strike="noStrike">
              <a:solidFill>
                <a:srgbClr val="FFFFFF"/>
              </a:solidFill>
              <a:effectLst/>
              <a:uFillTx/>
              <a:latin typeface="Arial"/>
            </a:endParaRPr>
          </a:p>
        </p:txBody>
      </p:sp>
      <p:sp>
        <p:nvSpPr>
          <p:cNvPr id="271"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Query languages like Cypher are injectable too. NoSQLi isn't just Mongo.</a:t>
            </a:r>
            <a:endParaRPr lang="en-US" sz="2400" b="0" u="none" strike="noStrike">
              <a:solidFill>
                <a:srgbClr val="FFFFFF"/>
              </a:solidFill>
              <a:effectLst/>
              <a:uFillTx/>
              <a:latin typeface="Arial"/>
            </a:endParaRPr>
          </a:p>
        </p:txBody>
      </p:sp>
      <p:sp>
        <p:nvSpPr>
          <p:cNvPr id="272"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273"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74" name="Oval 1" descr="Family card #6: Search Engines. Products: Elasticsearch  •  OpenSearch  •  Solr. Use case: Log search, SIEM backbones, e-commerce site search.. Security gotcha: No built-in auth historically — billions of records exposed on Shodan.." title="Family card #6: Search Engines. Products: Elasticsearch  •  OpenSearch  •  Solr."/>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5"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6</a:t>
            </a:r>
            <a:endParaRPr lang="en-US" sz="4400" b="0" u="none" strike="noStrike">
              <a:solidFill>
                <a:srgbClr val="FFFFFF"/>
              </a:solidFill>
              <a:effectLst/>
              <a:uFillTx/>
              <a:latin typeface="Arial"/>
            </a:endParaRPr>
          </a:p>
        </p:txBody>
      </p:sp>
      <p:sp>
        <p:nvSpPr>
          <p:cNvPr id="276"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Search Engines</a:t>
            </a:r>
            <a:endParaRPr lang="en-US" sz="4600" b="0" u="none" strike="noStrike">
              <a:solidFill>
                <a:srgbClr val="FFFFFF"/>
              </a:solidFill>
              <a:effectLst/>
              <a:uFillTx/>
              <a:latin typeface="Arial"/>
            </a:endParaRPr>
          </a:p>
        </p:txBody>
      </p:sp>
      <p:sp>
        <p:nvSpPr>
          <p:cNvPr id="277"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78"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PRODUCTS</a:t>
            </a:r>
            <a:endParaRPr lang="en-US" sz="2000" b="0" u="none" strike="noStrike">
              <a:solidFill>
                <a:srgbClr val="FFFFFF"/>
              </a:solidFill>
              <a:effectLst/>
              <a:uFillTx/>
              <a:latin typeface="Arial"/>
            </a:endParaRPr>
          </a:p>
        </p:txBody>
      </p:sp>
      <p:sp>
        <p:nvSpPr>
          <p:cNvPr id="279" name="TextBox 6"/>
          <p:cNvSpPr/>
          <p:nvPr/>
        </p:nvSpPr>
        <p:spPr>
          <a:xfrm>
            <a:off x="457200" y="2103120"/>
            <a:ext cx="11246760" cy="517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ea typeface="Arial Unicode MS"/>
              </a:rPr>
              <a:t>Elasticsearch  •  OpenSearch  •  Solr </a:t>
            </a:r>
            <a:endParaRPr lang="en-US" sz="2800" b="0" u="none" strike="noStrike">
              <a:solidFill>
                <a:srgbClr val="FFFFFF"/>
              </a:solidFill>
              <a:effectLst/>
              <a:uFillTx/>
              <a:latin typeface="Arial"/>
            </a:endParaRPr>
          </a:p>
        </p:txBody>
      </p:sp>
      <p:sp>
        <p:nvSpPr>
          <p:cNvPr id="280"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USE WHEN</a:t>
            </a:r>
            <a:endParaRPr lang="en-US" sz="2000" b="0" u="none" strike="noStrike">
              <a:solidFill>
                <a:srgbClr val="FFFFFF"/>
              </a:solidFill>
              <a:effectLst/>
              <a:uFillTx/>
              <a:latin typeface="Arial"/>
            </a:endParaRPr>
          </a:p>
        </p:txBody>
      </p:sp>
      <p:sp>
        <p:nvSpPr>
          <p:cNvPr id="281"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Log search, SIEM backbones, e-commerce site search.</a:t>
            </a:r>
            <a:endParaRPr lang="en-US" sz="2400" b="0" u="none" strike="noStrike">
              <a:solidFill>
                <a:srgbClr val="FFFFFF"/>
              </a:solidFill>
              <a:effectLst/>
              <a:uFillTx/>
              <a:latin typeface="Arial"/>
            </a:endParaRPr>
          </a:p>
        </p:txBody>
      </p:sp>
      <p:sp>
        <p:nvSpPr>
          <p:cNvPr id="282"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3"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SECURITY GOTCHA</a:t>
            </a:r>
            <a:endParaRPr lang="en-US" sz="2000" b="0" u="none" strike="noStrike">
              <a:solidFill>
                <a:srgbClr val="FFFFFF"/>
              </a:solidFill>
              <a:effectLst/>
              <a:uFillTx/>
              <a:latin typeface="Arial"/>
            </a:endParaRPr>
          </a:p>
        </p:txBody>
      </p:sp>
      <p:sp>
        <p:nvSpPr>
          <p:cNvPr id="284"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No built-in auth historically — billions of records exposed on Shodan.</a:t>
            </a:r>
            <a:endParaRPr lang="en-US" sz="2400" b="0" u="none" strike="noStrike">
              <a:solidFill>
                <a:srgbClr val="FFFFFF"/>
              </a:solidFill>
              <a:effectLst/>
              <a:uFillTx/>
              <a:latin typeface="Arial"/>
            </a:endParaRPr>
          </a:p>
        </p:txBody>
      </p:sp>
      <p:sp>
        <p:nvSpPr>
          <p:cNvPr id="285"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286"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287" name="Oval 1" descr="Family card #7: Time-Series. Products: InfluxDB  •  TimescaleDB  •  Prometheus. Use case: Metrics, observability, IoT telemetry.. Security gotcha: Usually inside the perimeter, often unauthenticated.." title="Family card #7: Time-Series. Products: InfluxDB  •  TimescaleDB  •  Prometheus.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8"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7</a:t>
            </a:r>
            <a:endParaRPr lang="en-US" sz="4400" b="0" u="none" strike="noStrike">
              <a:solidFill>
                <a:srgbClr val="FFFFFF"/>
              </a:solidFill>
              <a:effectLst/>
              <a:uFillTx/>
              <a:latin typeface="Arial"/>
            </a:endParaRPr>
          </a:p>
        </p:txBody>
      </p:sp>
      <p:sp>
        <p:nvSpPr>
          <p:cNvPr id="289"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Time-Series</a:t>
            </a:r>
            <a:endParaRPr lang="en-US" sz="4600" b="0" u="none" strike="noStrike">
              <a:solidFill>
                <a:srgbClr val="FFFFFF"/>
              </a:solidFill>
              <a:effectLst/>
              <a:uFillTx/>
              <a:latin typeface="Arial"/>
            </a:endParaRPr>
          </a:p>
        </p:txBody>
      </p:sp>
      <p:sp>
        <p:nvSpPr>
          <p:cNvPr id="290"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291"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PRODUCTS</a:t>
            </a:r>
            <a:endParaRPr lang="en-US" sz="2000" b="0" u="none" strike="noStrike">
              <a:solidFill>
                <a:srgbClr val="FFFFFF"/>
              </a:solidFill>
              <a:effectLst/>
              <a:uFillTx/>
              <a:latin typeface="Arial"/>
            </a:endParaRPr>
          </a:p>
        </p:txBody>
      </p:sp>
      <p:sp>
        <p:nvSpPr>
          <p:cNvPr id="292"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InfluxDB  •  TimescaleDB  •  Prometheus</a:t>
            </a:r>
            <a:endParaRPr lang="en-US" sz="2800" b="0" u="none" strike="noStrike">
              <a:solidFill>
                <a:srgbClr val="FFFFFF"/>
              </a:solidFill>
              <a:effectLst/>
              <a:uFillTx/>
              <a:latin typeface="Arial"/>
            </a:endParaRPr>
          </a:p>
        </p:txBody>
      </p:sp>
      <p:sp>
        <p:nvSpPr>
          <p:cNvPr id="293"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USE WHEN</a:t>
            </a:r>
            <a:endParaRPr lang="en-US" sz="2000" b="0" u="none" strike="noStrike">
              <a:solidFill>
                <a:srgbClr val="FFFFFF"/>
              </a:solidFill>
              <a:effectLst/>
              <a:uFillTx/>
              <a:latin typeface="Arial"/>
            </a:endParaRPr>
          </a:p>
        </p:txBody>
      </p:sp>
      <p:sp>
        <p:nvSpPr>
          <p:cNvPr id="294"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Metrics, observability, IoT telemetry.</a:t>
            </a:r>
            <a:endParaRPr lang="en-US" sz="2400" b="0" u="none" strike="noStrike">
              <a:solidFill>
                <a:srgbClr val="FFFFFF"/>
              </a:solidFill>
              <a:effectLst/>
              <a:uFillTx/>
              <a:latin typeface="Arial"/>
            </a:endParaRPr>
          </a:p>
        </p:txBody>
      </p:sp>
      <p:sp>
        <p:nvSpPr>
          <p:cNvPr id="295"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6"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SECURITY GOTCHA</a:t>
            </a:r>
            <a:endParaRPr lang="en-US" sz="2000" b="0" u="none" strike="noStrike">
              <a:solidFill>
                <a:srgbClr val="FFFFFF"/>
              </a:solidFill>
              <a:effectLst/>
              <a:uFillTx/>
              <a:latin typeface="Arial"/>
            </a:endParaRPr>
          </a:p>
        </p:txBody>
      </p:sp>
      <p:sp>
        <p:nvSpPr>
          <p:cNvPr id="297"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Usually inside the perimeter, often unauthenticated.</a:t>
            </a:r>
            <a:endParaRPr lang="en-US" sz="2400" b="0" u="none" strike="noStrike">
              <a:solidFill>
                <a:srgbClr val="FFFFFF"/>
              </a:solidFill>
              <a:effectLst/>
              <a:uFillTx/>
              <a:latin typeface="Arial"/>
            </a:endParaRPr>
          </a:p>
        </p:txBody>
      </p:sp>
      <p:sp>
        <p:nvSpPr>
          <p:cNvPr id="298"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299"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00" name="Oval 1" descr="Family card #8: Vector Databases. Products: Pinecone  •  Milvus  •  Weaviate  •  pgvector. Use case: RAG, recommendation engines, semantic search.. Security gotcha: Data poisoning — sneak in a doc, the LLM quotes it as truth.." title="Family card #8: Vector Databases. Products: Pinecone  •  Milvus  •  Weaviate  •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1"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8</a:t>
            </a:r>
            <a:endParaRPr lang="en-US" sz="4400" b="0" u="none" strike="noStrike">
              <a:solidFill>
                <a:srgbClr val="FFFFFF"/>
              </a:solidFill>
              <a:effectLst/>
              <a:uFillTx/>
              <a:latin typeface="Arial"/>
            </a:endParaRPr>
          </a:p>
        </p:txBody>
      </p:sp>
      <p:sp>
        <p:nvSpPr>
          <p:cNvPr id="302"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Vector Databases</a:t>
            </a:r>
            <a:endParaRPr lang="en-US" sz="4600" b="0" u="none" strike="noStrike">
              <a:solidFill>
                <a:srgbClr val="FFFFFF"/>
              </a:solidFill>
              <a:effectLst/>
              <a:uFillTx/>
              <a:latin typeface="Arial"/>
            </a:endParaRPr>
          </a:p>
        </p:txBody>
      </p:sp>
      <p:sp>
        <p:nvSpPr>
          <p:cNvPr id="303"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04"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PRODUCTS</a:t>
            </a:r>
            <a:endParaRPr lang="en-US" sz="2000" b="0" u="none" strike="noStrike">
              <a:solidFill>
                <a:srgbClr val="FFFFFF"/>
              </a:solidFill>
              <a:effectLst/>
              <a:uFillTx/>
              <a:latin typeface="Arial"/>
            </a:endParaRPr>
          </a:p>
        </p:txBody>
      </p:sp>
      <p:sp>
        <p:nvSpPr>
          <p:cNvPr id="305"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Pinecone  •  Milvus  •  Weaviate  •  pgvector</a:t>
            </a:r>
            <a:endParaRPr lang="en-US" sz="2800" b="0" u="none" strike="noStrike">
              <a:solidFill>
                <a:srgbClr val="FFFFFF"/>
              </a:solidFill>
              <a:effectLst/>
              <a:uFillTx/>
              <a:latin typeface="Arial"/>
            </a:endParaRPr>
          </a:p>
        </p:txBody>
      </p:sp>
      <p:sp>
        <p:nvSpPr>
          <p:cNvPr id="306"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USE WHEN</a:t>
            </a:r>
            <a:endParaRPr lang="en-US" sz="2000" b="0" u="none" strike="noStrike">
              <a:solidFill>
                <a:srgbClr val="FFFFFF"/>
              </a:solidFill>
              <a:effectLst/>
              <a:uFillTx/>
              <a:latin typeface="Arial"/>
            </a:endParaRPr>
          </a:p>
        </p:txBody>
      </p:sp>
      <p:sp>
        <p:nvSpPr>
          <p:cNvPr id="307"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RAG, recommendation engines, semantic search.</a:t>
            </a:r>
            <a:endParaRPr lang="en-US" sz="2400" b="0" u="none" strike="noStrike">
              <a:solidFill>
                <a:srgbClr val="FFFFFF"/>
              </a:solidFill>
              <a:effectLst/>
              <a:uFillTx/>
              <a:latin typeface="Arial"/>
            </a:endParaRPr>
          </a:p>
        </p:txBody>
      </p:sp>
      <p:sp>
        <p:nvSpPr>
          <p:cNvPr id="308"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9"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SECURITY GOTCHA</a:t>
            </a:r>
            <a:endParaRPr lang="en-US" sz="2000" b="0" u="none" strike="noStrike">
              <a:solidFill>
                <a:srgbClr val="FFFFFF"/>
              </a:solidFill>
              <a:effectLst/>
              <a:uFillTx/>
              <a:latin typeface="Arial"/>
            </a:endParaRPr>
          </a:p>
        </p:txBody>
      </p:sp>
      <p:sp>
        <p:nvSpPr>
          <p:cNvPr id="310"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Data poisoning — sneak in a doc, the LLM quotes it as truth.</a:t>
            </a:r>
            <a:endParaRPr lang="en-US" sz="2400" b="0" u="none" strike="noStrike">
              <a:solidFill>
                <a:srgbClr val="FFFFFF"/>
              </a:solidFill>
              <a:effectLst/>
              <a:uFillTx/>
              <a:latin typeface="Arial"/>
            </a:endParaRPr>
          </a:p>
        </p:txBody>
      </p:sp>
      <p:sp>
        <p:nvSpPr>
          <p:cNvPr id="311"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312"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13" name="Oval 1" descr="Family card #9: Embedded / Edge. Products: SQLite  •  DuckDB  •  LevelDB. Use case: In-app storage — browsers, phones, every modern airplane.. Security gotcha: DB is a file — attack is 'steal the file'. Mobile pentest world.." title="Family card #9: Embedded / Edge. Products: SQLite  •  DuckDB  •  LevelDB. Use ca"/>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4"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9</a:t>
            </a:r>
            <a:endParaRPr lang="en-US" sz="4400" b="0" u="none" strike="noStrike">
              <a:solidFill>
                <a:srgbClr val="FFFFFF"/>
              </a:solidFill>
              <a:effectLst/>
              <a:uFillTx/>
              <a:latin typeface="Arial"/>
            </a:endParaRPr>
          </a:p>
        </p:txBody>
      </p:sp>
      <p:sp>
        <p:nvSpPr>
          <p:cNvPr id="315"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Embedded / Edge</a:t>
            </a:r>
            <a:endParaRPr lang="en-US" sz="4600" b="0" u="none" strike="noStrike">
              <a:solidFill>
                <a:srgbClr val="FFFFFF"/>
              </a:solidFill>
              <a:effectLst/>
              <a:uFillTx/>
              <a:latin typeface="Arial"/>
            </a:endParaRPr>
          </a:p>
        </p:txBody>
      </p:sp>
      <p:sp>
        <p:nvSpPr>
          <p:cNvPr id="316"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17"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PRODUCTS</a:t>
            </a:r>
            <a:endParaRPr lang="en-US" sz="2000" b="0" u="none" strike="noStrike">
              <a:solidFill>
                <a:srgbClr val="FFFFFF"/>
              </a:solidFill>
              <a:effectLst/>
              <a:uFillTx/>
              <a:latin typeface="Arial"/>
            </a:endParaRPr>
          </a:p>
        </p:txBody>
      </p:sp>
      <p:sp>
        <p:nvSpPr>
          <p:cNvPr id="318"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SQLite  •  DuckDB  •  LevelDB</a:t>
            </a:r>
            <a:endParaRPr lang="en-US" sz="2800" b="0" u="none" strike="noStrike">
              <a:solidFill>
                <a:srgbClr val="FFFFFF"/>
              </a:solidFill>
              <a:effectLst/>
              <a:uFillTx/>
              <a:latin typeface="Arial"/>
            </a:endParaRPr>
          </a:p>
        </p:txBody>
      </p:sp>
      <p:sp>
        <p:nvSpPr>
          <p:cNvPr id="319"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USE WHEN</a:t>
            </a:r>
            <a:endParaRPr lang="en-US" sz="2000" b="0" u="none" strike="noStrike">
              <a:solidFill>
                <a:srgbClr val="FFFFFF"/>
              </a:solidFill>
              <a:effectLst/>
              <a:uFillTx/>
              <a:latin typeface="Arial"/>
            </a:endParaRPr>
          </a:p>
        </p:txBody>
      </p:sp>
      <p:sp>
        <p:nvSpPr>
          <p:cNvPr id="320"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In-app storage — browsers, phones, every modern airplane.</a:t>
            </a:r>
            <a:endParaRPr lang="en-US" sz="2400" b="0" u="none" strike="noStrike">
              <a:solidFill>
                <a:srgbClr val="FFFFFF"/>
              </a:solidFill>
              <a:effectLst/>
              <a:uFillTx/>
              <a:latin typeface="Arial"/>
            </a:endParaRPr>
          </a:p>
        </p:txBody>
      </p:sp>
      <p:sp>
        <p:nvSpPr>
          <p:cNvPr id="321"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2"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SECURITY GOTCHA</a:t>
            </a:r>
            <a:endParaRPr lang="en-US" sz="2000" b="0" u="none" strike="noStrike">
              <a:solidFill>
                <a:srgbClr val="FFFFFF"/>
              </a:solidFill>
              <a:effectLst/>
              <a:uFillTx/>
              <a:latin typeface="Arial"/>
            </a:endParaRPr>
          </a:p>
        </p:txBody>
      </p:sp>
      <p:sp>
        <p:nvSpPr>
          <p:cNvPr id="323"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DB is a file — attack is 'steal the file'. Mobile pentest world.</a:t>
            </a:r>
            <a:endParaRPr lang="en-US" sz="2400" b="0" u="none" strike="noStrike">
              <a:solidFill>
                <a:srgbClr val="FFFFFF"/>
              </a:solidFill>
              <a:effectLst/>
              <a:uFillTx/>
              <a:latin typeface="Arial"/>
            </a:endParaRPr>
          </a:p>
        </p:txBody>
      </p:sp>
      <p:sp>
        <p:nvSpPr>
          <p:cNvPr id="324"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325"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26" name="Oval 1" descr="Family card #10: Data Lakes / Lakehouses. Products: S3 + Athena  •  Delta Lake  •  Iceberg  •  Snowflake. Use case: Schema-on-read instead of schema-on-write. Dump now, query later.. Security gotcha: Giant S3 pools + permissive IAM, no encryption-at-rest enforcement.." title="Family card #10: Data Lakes / Lakehouses. Products: S3 + Athena  •  Delta Lake  "/>
          <p:cNvSpPr/>
          <p:nvPr/>
        </p:nvSpPr>
        <p:spPr>
          <a:xfrm>
            <a:off x="457200" y="365760"/>
            <a:ext cx="1096920" cy="1096920"/>
          </a:xfrm>
          <a:prstGeom prst="ellipse">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7" name="TextBox 2"/>
          <p:cNvSpPr/>
          <p:nvPr/>
        </p:nvSpPr>
        <p:spPr>
          <a:xfrm>
            <a:off x="457200" y="502920"/>
            <a:ext cx="1096920" cy="868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1A1A2E"/>
                </a:solidFill>
                <a:effectLst/>
                <a:uFillTx/>
                <a:latin typeface="Calibri"/>
              </a:rPr>
              <a:t>10</a:t>
            </a:r>
            <a:endParaRPr lang="en-US" sz="4400" b="0" u="none" strike="noStrike">
              <a:solidFill>
                <a:srgbClr val="FFFFFF"/>
              </a:solidFill>
              <a:effectLst/>
              <a:uFillTx/>
              <a:latin typeface="Arial"/>
            </a:endParaRPr>
          </a:p>
        </p:txBody>
      </p:sp>
      <p:sp>
        <p:nvSpPr>
          <p:cNvPr id="328" name="TextBox 3"/>
          <p:cNvSpPr/>
          <p:nvPr/>
        </p:nvSpPr>
        <p:spPr>
          <a:xfrm>
            <a:off x="1737360" y="411480"/>
            <a:ext cx="1005804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600" b="1" u="none" strike="noStrike">
                <a:solidFill>
                  <a:srgbClr val="00FF41"/>
                </a:solidFill>
                <a:effectLst/>
                <a:uFillTx/>
                <a:latin typeface="Calibri"/>
              </a:rPr>
              <a:t>Data Lakes / Lakehouses</a:t>
            </a:r>
            <a:endParaRPr lang="en-US" sz="4600" b="0" u="none" strike="noStrike">
              <a:solidFill>
                <a:srgbClr val="FFFFFF"/>
              </a:solidFill>
              <a:effectLst/>
              <a:uFillTx/>
              <a:latin typeface="Arial"/>
            </a:endParaRPr>
          </a:p>
        </p:txBody>
      </p:sp>
      <p:sp>
        <p:nvSpPr>
          <p:cNvPr id="329" name="Rectangle 4"/>
          <p:cNvSpPr/>
          <p:nvPr/>
        </p:nvSpPr>
        <p:spPr>
          <a:xfrm>
            <a:off x="457200" y="146304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30" name="TextBox 5"/>
          <p:cNvSpPr/>
          <p:nvPr/>
        </p:nvSpPr>
        <p:spPr>
          <a:xfrm>
            <a:off x="457200" y="169164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PRODUCTS</a:t>
            </a:r>
            <a:endParaRPr lang="en-US" sz="2000" b="0" u="none" strike="noStrike">
              <a:solidFill>
                <a:srgbClr val="FFFFFF"/>
              </a:solidFill>
              <a:effectLst/>
              <a:uFillTx/>
              <a:latin typeface="Arial"/>
            </a:endParaRPr>
          </a:p>
        </p:txBody>
      </p:sp>
      <p:sp>
        <p:nvSpPr>
          <p:cNvPr id="331" name="TextBox 6"/>
          <p:cNvSpPr/>
          <p:nvPr/>
        </p:nvSpPr>
        <p:spPr>
          <a:xfrm>
            <a:off x="457200" y="2103120"/>
            <a:ext cx="1124676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1" u="none" strike="noStrike">
                <a:solidFill>
                  <a:srgbClr val="FFFFFF"/>
                </a:solidFill>
                <a:effectLst/>
                <a:uFillTx/>
                <a:latin typeface="Calibri"/>
              </a:rPr>
              <a:t>S3 + Athena  •  Delta Lake  •  Iceberg  •  Snowflake</a:t>
            </a:r>
            <a:endParaRPr lang="en-US" sz="2800" b="0" u="none" strike="noStrike">
              <a:solidFill>
                <a:srgbClr val="FFFFFF"/>
              </a:solidFill>
              <a:effectLst/>
              <a:uFillTx/>
              <a:latin typeface="Arial"/>
            </a:endParaRPr>
          </a:p>
        </p:txBody>
      </p:sp>
      <p:sp>
        <p:nvSpPr>
          <p:cNvPr id="332" name="TextBox 7"/>
          <p:cNvSpPr/>
          <p:nvPr/>
        </p:nvSpPr>
        <p:spPr>
          <a:xfrm>
            <a:off x="457200" y="2926080"/>
            <a:ext cx="320004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00D4FF"/>
                </a:solidFill>
                <a:effectLst/>
                <a:uFillTx/>
                <a:latin typeface="Calibri"/>
              </a:rPr>
              <a:t>USE WHEN</a:t>
            </a:r>
            <a:endParaRPr lang="en-US" sz="2000" b="0" u="none" strike="noStrike">
              <a:solidFill>
                <a:srgbClr val="FFFFFF"/>
              </a:solidFill>
              <a:effectLst/>
              <a:uFillTx/>
              <a:latin typeface="Arial"/>
            </a:endParaRPr>
          </a:p>
        </p:txBody>
      </p:sp>
      <p:sp>
        <p:nvSpPr>
          <p:cNvPr id="333" name="TextBox 8"/>
          <p:cNvSpPr/>
          <p:nvPr/>
        </p:nvSpPr>
        <p:spPr>
          <a:xfrm>
            <a:off x="457200" y="3337560"/>
            <a:ext cx="1124676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Schema-on-read instead of schema-on-write. Dump now, query later.</a:t>
            </a:r>
            <a:endParaRPr lang="en-US" sz="2400" b="0" u="none" strike="noStrike">
              <a:solidFill>
                <a:srgbClr val="FFFFFF"/>
              </a:solidFill>
              <a:effectLst/>
              <a:uFillTx/>
              <a:latin typeface="Arial"/>
            </a:endParaRPr>
          </a:p>
        </p:txBody>
      </p:sp>
      <p:sp>
        <p:nvSpPr>
          <p:cNvPr id="334" name="Rounded Rectangle 9"/>
          <p:cNvSpPr/>
          <p:nvPr/>
        </p:nvSpPr>
        <p:spPr>
          <a:xfrm>
            <a:off x="457200" y="4572000"/>
            <a:ext cx="11246760" cy="1554120"/>
          </a:xfrm>
          <a:prstGeom prst="roundRect">
            <a:avLst>
              <a:gd name="adj" fmla="val 16667"/>
            </a:avLst>
          </a:prstGeom>
          <a:solidFill>
            <a:srgbClr val="3A1F14"/>
          </a:solidFill>
          <a:ln w="3175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5" name="TextBox 10"/>
          <p:cNvSpPr/>
          <p:nvPr/>
        </p:nvSpPr>
        <p:spPr>
          <a:xfrm>
            <a:off x="685800" y="4681800"/>
            <a:ext cx="1078956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6B35"/>
                </a:solidFill>
                <a:effectLst/>
                <a:uFillTx/>
                <a:latin typeface="Calibri"/>
              </a:rPr>
              <a:t>⚠  SECURITY GOTCHA</a:t>
            </a:r>
            <a:endParaRPr lang="en-US" sz="2000" b="0" u="none" strike="noStrike">
              <a:solidFill>
                <a:srgbClr val="FFFFFF"/>
              </a:solidFill>
              <a:effectLst/>
              <a:uFillTx/>
              <a:latin typeface="Arial"/>
            </a:endParaRPr>
          </a:p>
        </p:txBody>
      </p:sp>
      <p:sp>
        <p:nvSpPr>
          <p:cNvPr id="336" name="TextBox 11"/>
          <p:cNvSpPr/>
          <p:nvPr/>
        </p:nvSpPr>
        <p:spPr>
          <a:xfrm>
            <a:off x="685800" y="5120640"/>
            <a:ext cx="107895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Giant S3 pools + permissive IAM, no encryption-at-rest enforcement.</a:t>
            </a:r>
            <a:endParaRPr lang="en-US" sz="2400" b="0" u="none" strike="noStrike">
              <a:solidFill>
                <a:srgbClr val="FFFFFF"/>
              </a:solidFill>
              <a:effectLst/>
              <a:uFillTx/>
              <a:latin typeface="Arial"/>
            </a:endParaRPr>
          </a:p>
        </p:txBody>
      </p:sp>
      <p:sp>
        <p:nvSpPr>
          <p:cNvPr id="337" name="TextBox 12"/>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338" name="TextBox 13"/>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39" name="TextBox 1" descr="Three-column comparison of database services across AWS, GCP, and Azure: relational, document, warehouse, cache, graph, time-series, and object storage." title="Three-column comparison of database services across AWS, GCP, and Azure: relatio"/>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Cloud DB Services — The Lay of the Land</a:t>
            </a:r>
            <a:endParaRPr lang="en-US" sz="4200" b="0" u="none" strike="noStrike">
              <a:solidFill>
                <a:srgbClr val="FFFFFF"/>
              </a:solidFill>
              <a:effectLst/>
              <a:uFillTx/>
              <a:latin typeface="Arial"/>
            </a:endParaRPr>
          </a:p>
        </p:txBody>
      </p:sp>
      <p:sp>
        <p:nvSpPr>
          <p:cNvPr id="340"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41" name="Rectangle 3"/>
          <p:cNvSpPr/>
          <p:nvPr/>
        </p:nvSpPr>
        <p:spPr>
          <a:xfrm>
            <a:off x="457200" y="1554480"/>
            <a:ext cx="3748680" cy="63972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2" name="TextBox 4"/>
          <p:cNvSpPr/>
          <p:nvPr/>
        </p:nvSpPr>
        <p:spPr>
          <a:xfrm>
            <a:off x="45720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AWS</a:t>
            </a:r>
            <a:endParaRPr lang="en-US" sz="3200" b="0" u="none" strike="noStrike">
              <a:solidFill>
                <a:srgbClr val="FFFFFF"/>
              </a:solidFill>
              <a:effectLst/>
              <a:uFillTx/>
              <a:latin typeface="Arial"/>
            </a:endParaRPr>
          </a:p>
        </p:txBody>
      </p:sp>
      <p:sp>
        <p:nvSpPr>
          <p:cNvPr id="343" name="TextBox 5"/>
          <p:cNvSpPr/>
          <p:nvPr/>
        </p:nvSpPr>
        <p:spPr>
          <a:xfrm>
            <a:off x="54864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RDS, Aurora</a:t>
            </a:r>
            <a:endParaRPr lang="en-US" sz="1800" b="0" u="none" strike="noStrike">
              <a:solidFill>
                <a:srgbClr val="FFFFFF"/>
              </a:solidFill>
              <a:effectLst/>
              <a:uFillTx/>
              <a:latin typeface="Arial"/>
            </a:endParaRPr>
          </a:p>
        </p:txBody>
      </p:sp>
      <p:sp>
        <p:nvSpPr>
          <p:cNvPr id="344" name="TextBox 6"/>
          <p:cNvSpPr/>
          <p:nvPr/>
        </p:nvSpPr>
        <p:spPr>
          <a:xfrm>
            <a:off x="54864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DynamoDB, DocumentDB</a:t>
            </a:r>
            <a:endParaRPr lang="en-US" sz="1800" b="0" u="none" strike="noStrike">
              <a:solidFill>
                <a:srgbClr val="FFFFFF"/>
              </a:solidFill>
              <a:effectLst/>
              <a:uFillTx/>
              <a:latin typeface="Arial"/>
            </a:endParaRPr>
          </a:p>
        </p:txBody>
      </p:sp>
      <p:sp>
        <p:nvSpPr>
          <p:cNvPr id="345" name="TextBox 7"/>
          <p:cNvSpPr/>
          <p:nvPr/>
        </p:nvSpPr>
        <p:spPr>
          <a:xfrm>
            <a:off x="54864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Redshift, S3 + Athena</a:t>
            </a:r>
            <a:endParaRPr lang="en-US" sz="1800" b="0" u="none" strike="noStrike">
              <a:solidFill>
                <a:srgbClr val="FFFFFF"/>
              </a:solidFill>
              <a:effectLst/>
              <a:uFillTx/>
              <a:latin typeface="Arial"/>
            </a:endParaRPr>
          </a:p>
        </p:txBody>
      </p:sp>
      <p:sp>
        <p:nvSpPr>
          <p:cNvPr id="346" name="TextBox 8"/>
          <p:cNvSpPr/>
          <p:nvPr/>
        </p:nvSpPr>
        <p:spPr>
          <a:xfrm>
            <a:off x="54864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ElastiCache</a:t>
            </a:r>
            <a:endParaRPr lang="en-US" sz="1800" b="0" u="none" strike="noStrike">
              <a:solidFill>
                <a:srgbClr val="FFFFFF"/>
              </a:solidFill>
              <a:effectLst/>
              <a:uFillTx/>
              <a:latin typeface="Arial"/>
            </a:endParaRPr>
          </a:p>
        </p:txBody>
      </p:sp>
      <p:sp>
        <p:nvSpPr>
          <p:cNvPr id="347" name="TextBox 9"/>
          <p:cNvSpPr/>
          <p:nvPr/>
        </p:nvSpPr>
        <p:spPr>
          <a:xfrm>
            <a:off x="54864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Neptune (graph)</a:t>
            </a:r>
            <a:endParaRPr lang="en-US" sz="1800" b="0" u="none" strike="noStrike">
              <a:solidFill>
                <a:srgbClr val="FFFFFF"/>
              </a:solidFill>
              <a:effectLst/>
              <a:uFillTx/>
              <a:latin typeface="Arial"/>
            </a:endParaRPr>
          </a:p>
        </p:txBody>
      </p:sp>
      <p:sp>
        <p:nvSpPr>
          <p:cNvPr id="348" name="TextBox 10"/>
          <p:cNvSpPr/>
          <p:nvPr/>
        </p:nvSpPr>
        <p:spPr>
          <a:xfrm>
            <a:off x="54864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Timestream</a:t>
            </a:r>
            <a:endParaRPr lang="en-US" sz="1800" b="0" u="none" strike="noStrike">
              <a:solidFill>
                <a:srgbClr val="FFFFFF"/>
              </a:solidFill>
              <a:effectLst/>
              <a:uFillTx/>
              <a:latin typeface="Arial"/>
            </a:endParaRPr>
          </a:p>
        </p:txBody>
      </p:sp>
      <p:sp>
        <p:nvSpPr>
          <p:cNvPr id="349" name="TextBox 11"/>
          <p:cNvSpPr/>
          <p:nvPr/>
        </p:nvSpPr>
        <p:spPr>
          <a:xfrm>
            <a:off x="54864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S3 (object store)</a:t>
            </a:r>
            <a:endParaRPr lang="en-US" sz="1800" b="0" u="none" strike="noStrike">
              <a:solidFill>
                <a:srgbClr val="FFFFFF"/>
              </a:solidFill>
              <a:effectLst/>
              <a:uFillTx/>
              <a:latin typeface="Arial"/>
            </a:endParaRPr>
          </a:p>
        </p:txBody>
      </p:sp>
      <p:sp>
        <p:nvSpPr>
          <p:cNvPr id="350" name="Rectangle 12"/>
          <p:cNvSpPr/>
          <p:nvPr/>
        </p:nvSpPr>
        <p:spPr>
          <a:xfrm>
            <a:off x="4297680" y="1554480"/>
            <a:ext cx="3748680" cy="639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1" name="TextBox 13"/>
          <p:cNvSpPr/>
          <p:nvPr/>
        </p:nvSpPr>
        <p:spPr>
          <a:xfrm>
            <a:off x="429768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GCP</a:t>
            </a:r>
            <a:endParaRPr lang="en-US" sz="3200" b="0" u="none" strike="noStrike">
              <a:solidFill>
                <a:srgbClr val="FFFFFF"/>
              </a:solidFill>
              <a:effectLst/>
              <a:uFillTx/>
              <a:latin typeface="Arial"/>
            </a:endParaRPr>
          </a:p>
        </p:txBody>
      </p:sp>
      <p:sp>
        <p:nvSpPr>
          <p:cNvPr id="352" name="TextBox 14"/>
          <p:cNvSpPr/>
          <p:nvPr/>
        </p:nvSpPr>
        <p:spPr>
          <a:xfrm>
            <a:off x="438912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Cloud SQL, AlloyDB</a:t>
            </a:r>
            <a:endParaRPr lang="en-US" sz="1800" b="0" u="none" strike="noStrike">
              <a:solidFill>
                <a:srgbClr val="FFFFFF"/>
              </a:solidFill>
              <a:effectLst/>
              <a:uFillTx/>
              <a:latin typeface="Arial"/>
            </a:endParaRPr>
          </a:p>
        </p:txBody>
      </p:sp>
      <p:sp>
        <p:nvSpPr>
          <p:cNvPr id="353" name="TextBox 15"/>
          <p:cNvSpPr/>
          <p:nvPr/>
        </p:nvSpPr>
        <p:spPr>
          <a:xfrm>
            <a:off x="438912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Firestore, Bigtable</a:t>
            </a:r>
            <a:endParaRPr lang="en-US" sz="1800" b="0" u="none" strike="noStrike">
              <a:solidFill>
                <a:srgbClr val="FFFFFF"/>
              </a:solidFill>
              <a:effectLst/>
              <a:uFillTx/>
              <a:latin typeface="Arial"/>
            </a:endParaRPr>
          </a:p>
        </p:txBody>
      </p:sp>
      <p:sp>
        <p:nvSpPr>
          <p:cNvPr id="354" name="TextBox 16"/>
          <p:cNvSpPr/>
          <p:nvPr/>
        </p:nvSpPr>
        <p:spPr>
          <a:xfrm>
            <a:off x="438912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BigQuery</a:t>
            </a:r>
            <a:endParaRPr lang="en-US" sz="1800" b="0" u="none" strike="noStrike">
              <a:solidFill>
                <a:srgbClr val="FFFFFF"/>
              </a:solidFill>
              <a:effectLst/>
              <a:uFillTx/>
              <a:latin typeface="Arial"/>
            </a:endParaRPr>
          </a:p>
        </p:txBody>
      </p:sp>
      <p:sp>
        <p:nvSpPr>
          <p:cNvPr id="355" name="TextBox 17"/>
          <p:cNvSpPr/>
          <p:nvPr/>
        </p:nvSpPr>
        <p:spPr>
          <a:xfrm>
            <a:off x="438912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Memorystore</a:t>
            </a:r>
            <a:endParaRPr lang="en-US" sz="1800" b="0" u="none" strike="noStrike">
              <a:solidFill>
                <a:srgbClr val="FFFFFF"/>
              </a:solidFill>
              <a:effectLst/>
              <a:uFillTx/>
              <a:latin typeface="Arial"/>
            </a:endParaRPr>
          </a:p>
        </p:txBody>
      </p:sp>
      <p:sp>
        <p:nvSpPr>
          <p:cNvPr id="356" name="TextBox 18"/>
          <p:cNvSpPr/>
          <p:nvPr/>
        </p:nvSpPr>
        <p:spPr>
          <a:xfrm>
            <a:off x="438912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(coming soon)</a:t>
            </a:r>
            <a:endParaRPr lang="en-US" sz="1800" b="0" u="none" strike="noStrike">
              <a:solidFill>
                <a:srgbClr val="FFFFFF"/>
              </a:solidFill>
              <a:effectLst/>
              <a:uFillTx/>
              <a:latin typeface="Arial"/>
            </a:endParaRPr>
          </a:p>
        </p:txBody>
      </p:sp>
      <p:sp>
        <p:nvSpPr>
          <p:cNvPr id="357" name="TextBox 19"/>
          <p:cNvSpPr/>
          <p:nvPr/>
        </p:nvSpPr>
        <p:spPr>
          <a:xfrm>
            <a:off x="438912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(BYO)</a:t>
            </a:r>
            <a:endParaRPr lang="en-US" sz="1800" b="0" u="none" strike="noStrike">
              <a:solidFill>
                <a:srgbClr val="FFFFFF"/>
              </a:solidFill>
              <a:effectLst/>
              <a:uFillTx/>
              <a:latin typeface="Arial"/>
            </a:endParaRPr>
          </a:p>
        </p:txBody>
      </p:sp>
      <p:sp>
        <p:nvSpPr>
          <p:cNvPr id="358" name="TextBox 20"/>
          <p:cNvSpPr/>
          <p:nvPr/>
        </p:nvSpPr>
        <p:spPr>
          <a:xfrm>
            <a:off x="438912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Cloud Storage</a:t>
            </a:r>
            <a:endParaRPr lang="en-US" sz="1800" b="0" u="none" strike="noStrike">
              <a:solidFill>
                <a:srgbClr val="FFFFFF"/>
              </a:solidFill>
              <a:effectLst/>
              <a:uFillTx/>
              <a:latin typeface="Arial"/>
            </a:endParaRPr>
          </a:p>
        </p:txBody>
      </p:sp>
      <p:sp>
        <p:nvSpPr>
          <p:cNvPr id="359" name="Rectangle 21"/>
          <p:cNvSpPr/>
          <p:nvPr/>
        </p:nvSpPr>
        <p:spPr>
          <a:xfrm>
            <a:off x="8138160" y="1554480"/>
            <a:ext cx="3748680" cy="63972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0" name="TextBox 22"/>
          <p:cNvSpPr/>
          <p:nvPr/>
        </p:nvSpPr>
        <p:spPr>
          <a:xfrm>
            <a:off x="8138160" y="1600200"/>
            <a:ext cx="374868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1" u="none" strike="noStrike">
                <a:solidFill>
                  <a:srgbClr val="1A1A2E"/>
                </a:solidFill>
                <a:effectLst/>
                <a:uFillTx/>
                <a:latin typeface="Calibri"/>
              </a:rPr>
              <a:t>Azure</a:t>
            </a:r>
            <a:endParaRPr lang="en-US" sz="3200" b="0" u="none" strike="noStrike">
              <a:solidFill>
                <a:srgbClr val="FFFFFF"/>
              </a:solidFill>
              <a:effectLst/>
              <a:uFillTx/>
              <a:latin typeface="Arial"/>
            </a:endParaRPr>
          </a:p>
        </p:txBody>
      </p:sp>
      <p:sp>
        <p:nvSpPr>
          <p:cNvPr id="361" name="TextBox 23"/>
          <p:cNvSpPr/>
          <p:nvPr/>
        </p:nvSpPr>
        <p:spPr>
          <a:xfrm>
            <a:off x="8229600" y="23317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Azure SQL DB</a:t>
            </a:r>
            <a:endParaRPr lang="en-US" sz="1800" b="0" u="none" strike="noStrike">
              <a:solidFill>
                <a:srgbClr val="FFFFFF"/>
              </a:solidFill>
              <a:effectLst/>
              <a:uFillTx/>
              <a:latin typeface="Arial"/>
            </a:endParaRPr>
          </a:p>
        </p:txBody>
      </p:sp>
      <p:sp>
        <p:nvSpPr>
          <p:cNvPr id="362" name="TextBox 24"/>
          <p:cNvSpPr/>
          <p:nvPr/>
        </p:nvSpPr>
        <p:spPr>
          <a:xfrm>
            <a:off x="8229600" y="28346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Cosmos DB (shape-shifter)</a:t>
            </a:r>
            <a:endParaRPr lang="en-US" sz="1800" b="0" u="none" strike="noStrike">
              <a:solidFill>
                <a:srgbClr val="FFFFFF"/>
              </a:solidFill>
              <a:effectLst/>
              <a:uFillTx/>
              <a:latin typeface="Arial"/>
            </a:endParaRPr>
          </a:p>
        </p:txBody>
      </p:sp>
      <p:sp>
        <p:nvSpPr>
          <p:cNvPr id="363" name="TextBox 25"/>
          <p:cNvSpPr/>
          <p:nvPr/>
        </p:nvSpPr>
        <p:spPr>
          <a:xfrm>
            <a:off x="8229600" y="333756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Synapse Analytics</a:t>
            </a:r>
            <a:endParaRPr lang="en-US" sz="1800" b="0" u="none" strike="noStrike">
              <a:solidFill>
                <a:srgbClr val="FFFFFF"/>
              </a:solidFill>
              <a:effectLst/>
              <a:uFillTx/>
              <a:latin typeface="Arial"/>
            </a:endParaRPr>
          </a:p>
        </p:txBody>
      </p:sp>
      <p:sp>
        <p:nvSpPr>
          <p:cNvPr id="364" name="TextBox 26"/>
          <p:cNvSpPr/>
          <p:nvPr/>
        </p:nvSpPr>
        <p:spPr>
          <a:xfrm>
            <a:off x="8229600" y="384048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Azure Cache for Redis</a:t>
            </a:r>
            <a:endParaRPr lang="en-US" sz="1800" b="0" u="none" strike="noStrike">
              <a:solidFill>
                <a:srgbClr val="FFFFFF"/>
              </a:solidFill>
              <a:effectLst/>
              <a:uFillTx/>
              <a:latin typeface="Arial"/>
            </a:endParaRPr>
          </a:p>
        </p:txBody>
      </p:sp>
      <p:sp>
        <p:nvSpPr>
          <p:cNvPr id="365" name="TextBox 27"/>
          <p:cNvSpPr/>
          <p:nvPr/>
        </p:nvSpPr>
        <p:spPr>
          <a:xfrm>
            <a:off x="8229600" y="434340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Cosmos DB graph mode</a:t>
            </a:r>
            <a:endParaRPr lang="en-US" sz="1800" b="0" u="none" strike="noStrike">
              <a:solidFill>
                <a:srgbClr val="FFFFFF"/>
              </a:solidFill>
              <a:effectLst/>
              <a:uFillTx/>
              <a:latin typeface="Arial"/>
            </a:endParaRPr>
          </a:p>
        </p:txBody>
      </p:sp>
      <p:sp>
        <p:nvSpPr>
          <p:cNvPr id="366" name="TextBox 28"/>
          <p:cNvSpPr/>
          <p:nvPr/>
        </p:nvSpPr>
        <p:spPr>
          <a:xfrm>
            <a:off x="8229600" y="484632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 (BYO)</a:t>
            </a:r>
            <a:endParaRPr lang="en-US" sz="1800" b="0" u="none" strike="noStrike">
              <a:solidFill>
                <a:srgbClr val="FFFFFF"/>
              </a:solidFill>
              <a:effectLst/>
              <a:uFillTx/>
              <a:latin typeface="Arial"/>
            </a:endParaRPr>
          </a:p>
        </p:txBody>
      </p:sp>
      <p:sp>
        <p:nvSpPr>
          <p:cNvPr id="367" name="TextBox 29"/>
          <p:cNvSpPr/>
          <p:nvPr/>
        </p:nvSpPr>
        <p:spPr>
          <a:xfrm>
            <a:off x="8229600" y="5349240"/>
            <a:ext cx="356580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FFFFFF"/>
                </a:solidFill>
                <a:effectLst/>
                <a:uFillTx/>
                <a:latin typeface="Calibri"/>
              </a:rPr>
              <a:t>● Blob Storage</a:t>
            </a:r>
            <a:endParaRPr lang="en-US" sz="1800" b="0" u="none" strike="noStrike">
              <a:solidFill>
                <a:srgbClr val="FFFFFF"/>
              </a:solidFill>
              <a:effectLst/>
              <a:uFillTx/>
              <a:latin typeface="Arial"/>
            </a:endParaRPr>
          </a:p>
        </p:txBody>
      </p:sp>
      <p:sp>
        <p:nvSpPr>
          <p:cNvPr id="368" name="TextBox 3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369" name="TextBox 3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370" name="TextBox 1" descr="Cheat-sheet table comparing AWS, GCP, and Azure services across eight database categories." title="Cheat-sheet table comparing AWS, GCP, and Azure services across eight database c"/>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Cloud DB Cheat Sheet</a:t>
            </a:r>
            <a:endParaRPr lang="en-US" sz="3800" b="0" u="none" strike="noStrike">
              <a:solidFill>
                <a:srgbClr val="FFFFFF"/>
              </a:solidFill>
              <a:effectLst/>
              <a:uFillTx/>
              <a:latin typeface="Arial"/>
            </a:endParaRPr>
          </a:p>
        </p:txBody>
      </p:sp>
      <p:sp>
        <p:nvSpPr>
          <p:cNvPr id="37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372" name="Rectangle 3"/>
          <p:cNvSpPr/>
          <p:nvPr/>
        </p:nvSpPr>
        <p:spPr>
          <a:xfrm>
            <a:off x="457200" y="1600200"/>
            <a:ext cx="11246760" cy="5025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3" name="TextBox 4"/>
          <p:cNvSpPr/>
          <p:nvPr/>
        </p:nvSpPr>
        <p:spPr>
          <a:xfrm>
            <a:off x="548640" y="164592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CATEGORY</a:t>
            </a:r>
            <a:endParaRPr lang="en-US" sz="2000" b="0" u="none" strike="noStrike">
              <a:solidFill>
                <a:srgbClr val="FFFFFF"/>
              </a:solidFill>
              <a:effectLst/>
              <a:uFillTx/>
              <a:latin typeface="Arial"/>
            </a:endParaRPr>
          </a:p>
        </p:txBody>
      </p:sp>
      <p:sp>
        <p:nvSpPr>
          <p:cNvPr id="374" name="TextBox 5"/>
          <p:cNvSpPr/>
          <p:nvPr/>
        </p:nvSpPr>
        <p:spPr>
          <a:xfrm>
            <a:off x="3291840" y="16459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AWS</a:t>
            </a:r>
            <a:endParaRPr lang="en-US" sz="2000" b="0" u="none" strike="noStrike">
              <a:solidFill>
                <a:srgbClr val="FFFFFF"/>
              </a:solidFill>
              <a:effectLst/>
              <a:uFillTx/>
              <a:latin typeface="Arial"/>
            </a:endParaRPr>
          </a:p>
        </p:txBody>
      </p:sp>
      <p:sp>
        <p:nvSpPr>
          <p:cNvPr id="375" name="TextBox 6"/>
          <p:cNvSpPr/>
          <p:nvPr/>
        </p:nvSpPr>
        <p:spPr>
          <a:xfrm>
            <a:off x="5943600" y="16459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GCP</a:t>
            </a:r>
            <a:endParaRPr lang="en-US" sz="2000" b="0" u="none" strike="noStrike">
              <a:solidFill>
                <a:srgbClr val="FFFFFF"/>
              </a:solidFill>
              <a:effectLst/>
              <a:uFillTx/>
              <a:latin typeface="Arial"/>
            </a:endParaRPr>
          </a:p>
        </p:txBody>
      </p:sp>
      <p:sp>
        <p:nvSpPr>
          <p:cNvPr id="376" name="TextBox 7"/>
          <p:cNvSpPr/>
          <p:nvPr/>
        </p:nvSpPr>
        <p:spPr>
          <a:xfrm>
            <a:off x="8595360" y="164592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1A1A2E"/>
                </a:solidFill>
                <a:effectLst/>
                <a:uFillTx/>
                <a:latin typeface="Calibri"/>
              </a:rPr>
              <a:t>AZURE</a:t>
            </a:r>
            <a:endParaRPr lang="en-US" sz="2000" b="0" u="none" strike="noStrike">
              <a:solidFill>
                <a:srgbClr val="FFFFFF"/>
              </a:solidFill>
              <a:effectLst/>
              <a:uFillTx/>
              <a:latin typeface="Arial"/>
            </a:endParaRPr>
          </a:p>
        </p:txBody>
      </p:sp>
      <p:sp>
        <p:nvSpPr>
          <p:cNvPr id="377" name="TextBox 8"/>
          <p:cNvSpPr/>
          <p:nvPr/>
        </p:nvSpPr>
        <p:spPr>
          <a:xfrm>
            <a:off x="548640" y="214884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Relational</a:t>
            </a:r>
            <a:endParaRPr lang="en-US" sz="2000" b="0" u="none" strike="noStrike">
              <a:solidFill>
                <a:srgbClr val="FFFFFF"/>
              </a:solidFill>
              <a:effectLst/>
              <a:uFillTx/>
              <a:latin typeface="Arial"/>
            </a:endParaRPr>
          </a:p>
        </p:txBody>
      </p:sp>
      <p:sp>
        <p:nvSpPr>
          <p:cNvPr id="378" name="TextBox 9"/>
          <p:cNvSpPr/>
          <p:nvPr/>
        </p:nvSpPr>
        <p:spPr>
          <a:xfrm>
            <a:off x="3291840" y="21488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RDS / Aurora</a:t>
            </a:r>
            <a:endParaRPr lang="en-US" sz="2000" b="0" u="none" strike="noStrike">
              <a:solidFill>
                <a:srgbClr val="FFFFFF"/>
              </a:solidFill>
              <a:effectLst/>
              <a:uFillTx/>
              <a:latin typeface="Arial"/>
            </a:endParaRPr>
          </a:p>
        </p:txBody>
      </p:sp>
      <p:sp>
        <p:nvSpPr>
          <p:cNvPr id="379" name="TextBox 10"/>
          <p:cNvSpPr/>
          <p:nvPr/>
        </p:nvSpPr>
        <p:spPr>
          <a:xfrm>
            <a:off x="5943600" y="21488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Cloud SQL / AlloyDB</a:t>
            </a:r>
            <a:endParaRPr lang="en-US" sz="2000" b="0" u="none" strike="noStrike">
              <a:solidFill>
                <a:srgbClr val="FFFFFF"/>
              </a:solidFill>
              <a:effectLst/>
              <a:uFillTx/>
              <a:latin typeface="Arial"/>
            </a:endParaRPr>
          </a:p>
        </p:txBody>
      </p:sp>
      <p:sp>
        <p:nvSpPr>
          <p:cNvPr id="380" name="TextBox 11"/>
          <p:cNvSpPr/>
          <p:nvPr/>
        </p:nvSpPr>
        <p:spPr>
          <a:xfrm>
            <a:off x="8595360" y="214884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Azure SQL DB</a:t>
            </a:r>
            <a:endParaRPr lang="en-US" sz="2000" b="0" u="none" strike="noStrike">
              <a:solidFill>
                <a:srgbClr val="FFFFFF"/>
              </a:solidFill>
              <a:effectLst/>
              <a:uFillTx/>
              <a:latin typeface="Arial"/>
            </a:endParaRPr>
          </a:p>
        </p:txBody>
      </p:sp>
      <p:sp>
        <p:nvSpPr>
          <p:cNvPr id="381" name="Rectangle 12"/>
          <p:cNvSpPr/>
          <p:nvPr/>
        </p:nvSpPr>
        <p:spPr>
          <a:xfrm>
            <a:off x="457200" y="260604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82" name="TextBox 13"/>
          <p:cNvSpPr/>
          <p:nvPr/>
        </p:nvSpPr>
        <p:spPr>
          <a:xfrm>
            <a:off x="548640" y="265176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Document/NoSQL</a:t>
            </a:r>
            <a:endParaRPr lang="en-US" sz="2000" b="0" u="none" strike="noStrike">
              <a:solidFill>
                <a:srgbClr val="FFFFFF"/>
              </a:solidFill>
              <a:effectLst/>
              <a:uFillTx/>
              <a:latin typeface="Arial"/>
            </a:endParaRPr>
          </a:p>
        </p:txBody>
      </p:sp>
      <p:sp>
        <p:nvSpPr>
          <p:cNvPr id="383" name="TextBox 14"/>
          <p:cNvSpPr/>
          <p:nvPr/>
        </p:nvSpPr>
        <p:spPr>
          <a:xfrm>
            <a:off x="3291840" y="26517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DynamoDB / DocDB</a:t>
            </a:r>
            <a:endParaRPr lang="en-US" sz="2000" b="0" u="none" strike="noStrike">
              <a:solidFill>
                <a:srgbClr val="FFFFFF"/>
              </a:solidFill>
              <a:effectLst/>
              <a:uFillTx/>
              <a:latin typeface="Arial"/>
            </a:endParaRPr>
          </a:p>
        </p:txBody>
      </p:sp>
      <p:sp>
        <p:nvSpPr>
          <p:cNvPr id="384" name="TextBox 15"/>
          <p:cNvSpPr/>
          <p:nvPr/>
        </p:nvSpPr>
        <p:spPr>
          <a:xfrm>
            <a:off x="5943600" y="26517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Firestore / Bigtable</a:t>
            </a:r>
            <a:endParaRPr lang="en-US" sz="2000" b="0" u="none" strike="noStrike">
              <a:solidFill>
                <a:srgbClr val="FFFFFF"/>
              </a:solidFill>
              <a:effectLst/>
              <a:uFillTx/>
              <a:latin typeface="Arial"/>
            </a:endParaRPr>
          </a:p>
        </p:txBody>
      </p:sp>
      <p:sp>
        <p:nvSpPr>
          <p:cNvPr id="385" name="TextBox 16"/>
          <p:cNvSpPr/>
          <p:nvPr/>
        </p:nvSpPr>
        <p:spPr>
          <a:xfrm>
            <a:off x="8595360" y="265176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Cosmos DB</a:t>
            </a:r>
            <a:endParaRPr lang="en-US" sz="2000" b="0" u="none" strike="noStrike">
              <a:solidFill>
                <a:srgbClr val="FFFFFF"/>
              </a:solidFill>
              <a:effectLst/>
              <a:uFillTx/>
              <a:latin typeface="Arial"/>
            </a:endParaRPr>
          </a:p>
        </p:txBody>
      </p:sp>
      <p:sp>
        <p:nvSpPr>
          <p:cNvPr id="386" name="TextBox 17"/>
          <p:cNvSpPr/>
          <p:nvPr/>
        </p:nvSpPr>
        <p:spPr>
          <a:xfrm>
            <a:off x="548640" y="315468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Warehouse</a:t>
            </a:r>
            <a:endParaRPr lang="en-US" sz="2000" b="0" u="none" strike="noStrike">
              <a:solidFill>
                <a:srgbClr val="FFFFFF"/>
              </a:solidFill>
              <a:effectLst/>
              <a:uFillTx/>
              <a:latin typeface="Arial"/>
            </a:endParaRPr>
          </a:p>
        </p:txBody>
      </p:sp>
      <p:sp>
        <p:nvSpPr>
          <p:cNvPr id="387" name="TextBox 18"/>
          <p:cNvSpPr/>
          <p:nvPr/>
        </p:nvSpPr>
        <p:spPr>
          <a:xfrm>
            <a:off x="3291840" y="315468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Redshift / Athena</a:t>
            </a:r>
            <a:endParaRPr lang="en-US" sz="2000" b="0" u="none" strike="noStrike">
              <a:solidFill>
                <a:srgbClr val="FFFFFF"/>
              </a:solidFill>
              <a:effectLst/>
              <a:uFillTx/>
              <a:latin typeface="Arial"/>
            </a:endParaRPr>
          </a:p>
        </p:txBody>
      </p:sp>
      <p:sp>
        <p:nvSpPr>
          <p:cNvPr id="388" name="TextBox 19"/>
          <p:cNvSpPr/>
          <p:nvPr/>
        </p:nvSpPr>
        <p:spPr>
          <a:xfrm>
            <a:off x="5943600" y="315468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BigQuery</a:t>
            </a:r>
            <a:endParaRPr lang="en-US" sz="2000" b="0" u="none" strike="noStrike">
              <a:solidFill>
                <a:srgbClr val="FFFFFF"/>
              </a:solidFill>
              <a:effectLst/>
              <a:uFillTx/>
              <a:latin typeface="Arial"/>
            </a:endParaRPr>
          </a:p>
        </p:txBody>
      </p:sp>
      <p:sp>
        <p:nvSpPr>
          <p:cNvPr id="389" name="TextBox 20"/>
          <p:cNvSpPr/>
          <p:nvPr/>
        </p:nvSpPr>
        <p:spPr>
          <a:xfrm>
            <a:off x="8595360" y="315468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Synapse</a:t>
            </a:r>
            <a:endParaRPr lang="en-US" sz="2000" b="0" u="none" strike="noStrike">
              <a:solidFill>
                <a:srgbClr val="FFFFFF"/>
              </a:solidFill>
              <a:effectLst/>
              <a:uFillTx/>
              <a:latin typeface="Arial"/>
            </a:endParaRPr>
          </a:p>
        </p:txBody>
      </p:sp>
      <p:sp>
        <p:nvSpPr>
          <p:cNvPr id="390" name="Rectangle 21"/>
          <p:cNvSpPr/>
          <p:nvPr/>
        </p:nvSpPr>
        <p:spPr>
          <a:xfrm>
            <a:off x="457200" y="361188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1" name="TextBox 22"/>
          <p:cNvSpPr/>
          <p:nvPr/>
        </p:nvSpPr>
        <p:spPr>
          <a:xfrm>
            <a:off x="548640" y="365760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Cache</a:t>
            </a:r>
            <a:endParaRPr lang="en-US" sz="2000" b="0" u="none" strike="noStrike">
              <a:solidFill>
                <a:srgbClr val="FFFFFF"/>
              </a:solidFill>
              <a:effectLst/>
              <a:uFillTx/>
              <a:latin typeface="Arial"/>
            </a:endParaRPr>
          </a:p>
        </p:txBody>
      </p:sp>
      <p:sp>
        <p:nvSpPr>
          <p:cNvPr id="392" name="TextBox 23"/>
          <p:cNvSpPr/>
          <p:nvPr/>
        </p:nvSpPr>
        <p:spPr>
          <a:xfrm>
            <a:off x="3291840" y="365760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ElastiCache</a:t>
            </a:r>
            <a:endParaRPr lang="en-US" sz="2000" b="0" u="none" strike="noStrike">
              <a:solidFill>
                <a:srgbClr val="FFFFFF"/>
              </a:solidFill>
              <a:effectLst/>
              <a:uFillTx/>
              <a:latin typeface="Arial"/>
            </a:endParaRPr>
          </a:p>
        </p:txBody>
      </p:sp>
      <p:sp>
        <p:nvSpPr>
          <p:cNvPr id="393" name="TextBox 24"/>
          <p:cNvSpPr/>
          <p:nvPr/>
        </p:nvSpPr>
        <p:spPr>
          <a:xfrm>
            <a:off x="5943600" y="365760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Memorystore</a:t>
            </a:r>
            <a:endParaRPr lang="en-US" sz="2000" b="0" u="none" strike="noStrike">
              <a:solidFill>
                <a:srgbClr val="FFFFFF"/>
              </a:solidFill>
              <a:effectLst/>
              <a:uFillTx/>
              <a:latin typeface="Arial"/>
            </a:endParaRPr>
          </a:p>
        </p:txBody>
      </p:sp>
      <p:sp>
        <p:nvSpPr>
          <p:cNvPr id="394" name="TextBox 25"/>
          <p:cNvSpPr/>
          <p:nvPr/>
        </p:nvSpPr>
        <p:spPr>
          <a:xfrm>
            <a:off x="8595360" y="365760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Cache for Redis</a:t>
            </a:r>
            <a:endParaRPr lang="en-US" sz="2000" b="0" u="none" strike="noStrike">
              <a:solidFill>
                <a:srgbClr val="FFFFFF"/>
              </a:solidFill>
              <a:effectLst/>
              <a:uFillTx/>
              <a:latin typeface="Arial"/>
            </a:endParaRPr>
          </a:p>
        </p:txBody>
      </p:sp>
      <p:sp>
        <p:nvSpPr>
          <p:cNvPr id="395" name="TextBox 26"/>
          <p:cNvSpPr/>
          <p:nvPr/>
        </p:nvSpPr>
        <p:spPr>
          <a:xfrm>
            <a:off x="548640" y="416052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Graph</a:t>
            </a:r>
            <a:endParaRPr lang="en-US" sz="2000" b="0" u="none" strike="noStrike">
              <a:solidFill>
                <a:srgbClr val="FFFFFF"/>
              </a:solidFill>
              <a:effectLst/>
              <a:uFillTx/>
              <a:latin typeface="Arial"/>
            </a:endParaRPr>
          </a:p>
        </p:txBody>
      </p:sp>
      <p:sp>
        <p:nvSpPr>
          <p:cNvPr id="396" name="TextBox 27"/>
          <p:cNvSpPr/>
          <p:nvPr/>
        </p:nvSpPr>
        <p:spPr>
          <a:xfrm>
            <a:off x="3291840" y="41605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Neptune</a:t>
            </a:r>
            <a:endParaRPr lang="en-US" sz="2000" b="0" u="none" strike="noStrike">
              <a:solidFill>
                <a:srgbClr val="FFFFFF"/>
              </a:solidFill>
              <a:effectLst/>
              <a:uFillTx/>
              <a:latin typeface="Arial"/>
            </a:endParaRPr>
          </a:p>
        </p:txBody>
      </p:sp>
      <p:sp>
        <p:nvSpPr>
          <p:cNvPr id="397" name="TextBox 28"/>
          <p:cNvSpPr/>
          <p:nvPr/>
        </p:nvSpPr>
        <p:spPr>
          <a:xfrm>
            <a:off x="5943600" y="416052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398" name="TextBox 29"/>
          <p:cNvSpPr/>
          <p:nvPr/>
        </p:nvSpPr>
        <p:spPr>
          <a:xfrm>
            <a:off x="8595360" y="416052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Cosmos DB graph</a:t>
            </a:r>
            <a:endParaRPr lang="en-US" sz="2000" b="0" u="none" strike="noStrike">
              <a:solidFill>
                <a:srgbClr val="FFFFFF"/>
              </a:solidFill>
              <a:effectLst/>
              <a:uFillTx/>
              <a:latin typeface="Arial"/>
            </a:endParaRPr>
          </a:p>
        </p:txBody>
      </p:sp>
      <p:sp>
        <p:nvSpPr>
          <p:cNvPr id="399" name="Rectangle 30"/>
          <p:cNvSpPr/>
          <p:nvPr/>
        </p:nvSpPr>
        <p:spPr>
          <a:xfrm>
            <a:off x="457200" y="4617720"/>
            <a:ext cx="11246760" cy="502560"/>
          </a:xfrm>
          <a:prstGeom prst="rect">
            <a:avLst/>
          </a:prstGeom>
          <a:solidFill>
            <a:srgbClr val="24243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0" name="TextBox 31"/>
          <p:cNvSpPr/>
          <p:nvPr/>
        </p:nvSpPr>
        <p:spPr>
          <a:xfrm>
            <a:off x="548640" y="466344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Time-Series</a:t>
            </a:r>
            <a:endParaRPr lang="en-US" sz="2000" b="0" u="none" strike="noStrike">
              <a:solidFill>
                <a:srgbClr val="FFFFFF"/>
              </a:solidFill>
              <a:effectLst/>
              <a:uFillTx/>
              <a:latin typeface="Arial"/>
            </a:endParaRPr>
          </a:p>
        </p:txBody>
      </p:sp>
      <p:sp>
        <p:nvSpPr>
          <p:cNvPr id="401" name="TextBox 32"/>
          <p:cNvSpPr/>
          <p:nvPr/>
        </p:nvSpPr>
        <p:spPr>
          <a:xfrm>
            <a:off x="3291840" y="46634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Timestream</a:t>
            </a:r>
            <a:endParaRPr lang="en-US" sz="2000" b="0" u="none" strike="noStrike">
              <a:solidFill>
                <a:srgbClr val="FFFFFF"/>
              </a:solidFill>
              <a:effectLst/>
              <a:uFillTx/>
              <a:latin typeface="Arial"/>
            </a:endParaRPr>
          </a:p>
        </p:txBody>
      </p:sp>
      <p:sp>
        <p:nvSpPr>
          <p:cNvPr id="402" name="TextBox 33"/>
          <p:cNvSpPr/>
          <p:nvPr/>
        </p:nvSpPr>
        <p:spPr>
          <a:xfrm>
            <a:off x="5943600" y="466344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403" name="TextBox 34"/>
          <p:cNvSpPr/>
          <p:nvPr/>
        </p:nvSpPr>
        <p:spPr>
          <a:xfrm>
            <a:off x="8595360" y="466344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a:t>
            </a:r>
            <a:endParaRPr lang="en-US" sz="2000" b="0" u="none" strike="noStrike">
              <a:solidFill>
                <a:srgbClr val="FFFFFF"/>
              </a:solidFill>
              <a:effectLst/>
              <a:uFillTx/>
              <a:latin typeface="Arial"/>
            </a:endParaRPr>
          </a:p>
        </p:txBody>
      </p:sp>
      <p:sp>
        <p:nvSpPr>
          <p:cNvPr id="404" name="TextBox 35"/>
          <p:cNvSpPr/>
          <p:nvPr/>
        </p:nvSpPr>
        <p:spPr>
          <a:xfrm>
            <a:off x="548640" y="5166360"/>
            <a:ext cx="26514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1" u="none" strike="noStrike">
                <a:solidFill>
                  <a:srgbClr val="FFFFFF"/>
                </a:solidFill>
                <a:effectLst/>
                <a:uFillTx/>
                <a:latin typeface="Calibri"/>
              </a:rPr>
              <a:t>Object Storage</a:t>
            </a:r>
            <a:endParaRPr lang="en-US" sz="2000" b="0" u="none" strike="noStrike">
              <a:solidFill>
                <a:srgbClr val="FFFFFF"/>
              </a:solidFill>
              <a:effectLst/>
              <a:uFillTx/>
              <a:latin typeface="Arial"/>
            </a:endParaRPr>
          </a:p>
        </p:txBody>
      </p:sp>
      <p:sp>
        <p:nvSpPr>
          <p:cNvPr id="405" name="TextBox 36"/>
          <p:cNvSpPr/>
          <p:nvPr/>
        </p:nvSpPr>
        <p:spPr>
          <a:xfrm>
            <a:off x="3291840" y="51663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S3</a:t>
            </a:r>
            <a:endParaRPr lang="en-US" sz="2000" b="0" u="none" strike="noStrike">
              <a:solidFill>
                <a:srgbClr val="FFFFFF"/>
              </a:solidFill>
              <a:effectLst/>
              <a:uFillTx/>
              <a:latin typeface="Arial"/>
            </a:endParaRPr>
          </a:p>
        </p:txBody>
      </p:sp>
      <p:sp>
        <p:nvSpPr>
          <p:cNvPr id="406" name="TextBox 37"/>
          <p:cNvSpPr/>
          <p:nvPr/>
        </p:nvSpPr>
        <p:spPr>
          <a:xfrm>
            <a:off x="5943600" y="5166360"/>
            <a:ext cx="255996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Cloud Storage</a:t>
            </a:r>
            <a:endParaRPr lang="en-US" sz="2000" b="0" u="none" strike="noStrike">
              <a:solidFill>
                <a:srgbClr val="FFFFFF"/>
              </a:solidFill>
              <a:effectLst/>
              <a:uFillTx/>
              <a:latin typeface="Arial"/>
            </a:endParaRPr>
          </a:p>
        </p:txBody>
      </p:sp>
      <p:sp>
        <p:nvSpPr>
          <p:cNvPr id="407" name="TextBox 38"/>
          <p:cNvSpPr/>
          <p:nvPr/>
        </p:nvSpPr>
        <p:spPr>
          <a:xfrm>
            <a:off x="8595360" y="5166360"/>
            <a:ext cx="3108600" cy="5025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000" b="0" u="none" strike="noStrike">
                <a:solidFill>
                  <a:srgbClr val="FFFFFF"/>
                </a:solidFill>
                <a:effectLst/>
                <a:uFillTx/>
                <a:latin typeface="Calibri"/>
              </a:rPr>
              <a:t>Blob Storage</a:t>
            </a:r>
            <a:endParaRPr lang="en-US" sz="2000" b="0" u="none" strike="noStrike">
              <a:solidFill>
                <a:srgbClr val="FFFFFF"/>
              </a:solidFill>
              <a:effectLst/>
              <a:uFillTx/>
              <a:latin typeface="Arial"/>
            </a:endParaRPr>
          </a:p>
        </p:txBody>
      </p:sp>
      <p:sp>
        <p:nvSpPr>
          <p:cNvPr id="408" name="TextBox 39"/>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409" name="TextBox 40"/>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19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10" name="TextBox 1" descr="Two-column diagram contrasting what the cloud vendor owns (hypervisor, engine, hardware) versus what the customer owns (config, IAM, data, encryption)." title="Two-column diagram contrasting what the cloud vendor owns (hypervisor, engine, h"/>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Shared Responsibility Model</a:t>
            </a:r>
            <a:endParaRPr lang="en-US" sz="4200" b="0" u="none" strike="noStrike">
              <a:solidFill>
                <a:srgbClr val="FFFFFF"/>
              </a:solidFill>
              <a:effectLst/>
              <a:uFillTx/>
              <a:latin typeface="Arial"/>
            </a:endParaRPr>
          </a:p>
        </p:txBody>
      </p:sp>
      <p:sp>
        <p:nvSpPr>
          <p:cNvPr id="41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12" name="Rounded Rectangle 3"/>
          <p:cNvSpPr/>
          <p:nvPr/>
        </p:nvSpPr>
        <p:spPr>
          <a:xfrm>
            <a:off x="457200" y="1828800"/>
            <a:ext cx="5577480" cy="4114440"/>
          </a:xfrm>
          <a:prstGeom prst="roundRect">
            <a:avLst>
              <a:gd name="adj" fmla="val 16667"/>
            </a:avLst>
          </a:prstGeom>
          <a:solidFill>
            <a:srgbClr val="122A18"/>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3" name="TextBox 4"/>
          <p:cNvSpPr/>
          <p:nvPr/>
        </p:nvSpPr>
        <p:spPr>
          <a:xfrm>
            <a:off x="548640" y="1965960"/>
            <a:ext cx="53946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00FF41"/>
                </a:solidFill>
                <a:effectLst/>
                <a:uFillTx/>
                <a:latin typeface="Calibri"/>
              </a:rPr>
              <a:t>✓  CLOUD VENDOR OWNS</a:t>
            </a:r>
            <a:endParaRPr lang="en-US" sz="2400" b="0" u="none" strike="noStrike">
              <a:solidFill>
                <a:srgbClr val="FFFFFF"/>
              </a:solidFill>
              <a:effectLst/>
              <a:uFillTx/>
              <a:latin typeface="Arial"/>
            </a:endParaRPr>
          </a:p>
        </p:txBody>
      </p:sp>
      <p:sp>
        <p:nvSpPr>
          <p:cNvPr id="414" name="TextBox 5"/>
          <p:cNvSpPr/>
          <p:nvPr/>
        </p:nvSpPr>
        <p:spPr>
          <a:xfrm>
            <a:off x="640080" y="2697480"/>
            <a:ext cx="5303160" cy="310860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Hypervisor &amp; metal</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DB engine patches</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Physical security</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Underlying network</a:t>
            </a:r>
            <a:endParaRPr lang="en-US" sz="2400" b="0" u="none" strike="noStrike">
              <a:solidFill>
                <a:srgbClr val="FFFFFF"/>
              </a:solidFill>
              <a:effectLst/>
              <a:uFillTx/>
              <a:latin typeface="Arial"/>
            </a:endParaRPr>
          </a:p>
        </p:txBody>
      </p:sp>
      <p:sp>
        <p:nvSpPr>
          <p:cNvPr id="415" name="Rounded Rectangle 6"/>
          <p:cNvSpPr/>
          <p:nvPr/>
        </p:nvSpPr>
        <p:spPr>
          <a:xfrm>
            <a:off x="6172200" y="1828800"/>
            <a:ext cx="5577480" cy="4114440"/>
          </a:xfrm>
          <a:prstGeom prst="roundRect">
            <a:avLst>
              <a:gd name="adj" fmla="val 16667"/>
            </a:avLst>
          </a:prstGeom>
          <a:solidFill>
            <a:srgbClr val="3A1F14"/>
          </a:solidFill>
          <a:ln w="38100">
            <a:solidFill>
              <a:srgbClr val="FF6B3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16" name="TextBox 7"/>
          <p:cNvSpPr/>
          <p:nvPr/>
        </p:nvSpPr>
        <p:spPr>
          <a:xfrm>
            <a:off x="6263640" y="1965960"/>
            <a:ext cx="53946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6B35"/>
                </a:solidFill>
                <a:effectLst/>
                <a:uFillTx/>
                <a:latin typeface="Calibri"/>
              </a:rPr>
              <a:t>⚠  YOU OWN</a:t>
            </a:r>
            <a:endParaRPr lang="en-US" sz="2400" b="0" u="none" strike="noStrike">
              <a:solidFill>
                <a:srgbClr val="FFFFFF"/>
              </a:solidFill>
              <a:effectLst/>
              <a:uFillTx/>
              <a:latin typeface="Arial"/>
            </a:endParaRPr>
          </a:p>
        </p:txBody>
      </p:sp>
      <p:sp>
        <p:nvSpPr>
          <p:cNvPr id="417" name="TextBox 8"/>
          <p:cNvSpPr/>
          <p:nvPr/>
        </p:nvSpPr>
        <p:spPr>
          <a:xfrm>
            <a:off x="6355080" y="2697480"/>
            <a:ext cx="5303160" cy="310860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Configuration</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Access policies (IAM)</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Data itself</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Encryption choices</a:t>
            </a:r>
            <a:endParaRPr lang="en-US" sz="2400" b="0" u="none" strike="noStrike">
              <a:solidFill>
                <a:srgbClr val="FFFFFF"/>
              </a:solidFill>
              <a:effectLst/>
              <a:uFillTx/>
              <a:latin typeface="Arial"/>
            </a:endParaRPr>
          </a:p>
        </p:txBody>
      </p:sp>
      <p:sp>
        <p:nvSpPr>
          <p:cNvPr id="418" name="TextBox 9"/>
          <p:cNvSpPr/>
          <p:nvPr/>
        </p:nvSpPr>
        <p:spPr>
          <a:xfrm>
            <a:off x="457200" y="603504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Almost every cloud DB breach = customer misconfiguration.</a:t>
            </a:r>
            <a:endParaRPr lang="en-US" sz="2200" b="0" u="none" strike="noStrike">
              <a:solidFill>
                <a:srgbClr val="FFFFFF"/>
              </a:solidFill>
              <a:effectLst/>
              <a:uFillTx/>
              <a:latin typeface="Arial"/>
            </a:endParaRPr>
          </a:p>
        </p:txBody>
      </p:sp>
      <p:sp>
        <p:nvSpPr>
          <p:cNvPr id="419" name="TextBox 1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420" name="TextBox 1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21" name="TextBox 1" descr="Table of common database ports: MySQL 3306, PostgreSQL 5432, MS SQL 1433, MongoDB 27017, Redis 6379, Elasticsearch 9200, Cassandra 9042." title="Table of common database ports: MySQL 3306, PostgreSQL 5432, MS SQL 1433, MongoD"/>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Common DB Ports — Burn These In</a:t>
            </a:r>
            <a:endParaRPr lang="en-US" sz="4200" b="0" u="none" strike="noStrike">
              <a:solidFill>
                <a:srgbClr val="FFFFFF"/>
              </a:solidFill>
              <a:effectLst/>
              <a:uFillTx/>
              <a:latin typeface="Arial"/>
            </a:endParaRPr>
          </a:p>
        </p:txBody>
      </p:sp>
      <p:sp>
        <p:nvSpPr>
          <p:cNvPr id="422"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23" name="TextBox 3"/>
          <p:cNvSpPr/>
          <p:nvPr/>
        </p:nvSpPr>
        <p:spPr>
          <a:xfrm>
            <a:off x="1371600" y="1645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3306</a:t>
            </a:r>
            <a:endParaRPr lang="en-US" sz="3600" b="0" u="none" strike="noStrike">
              <a:solidFill>
                <a:srgbClr val="FFFFFF"/>
              </a:solidFill>
              <a:effectLst/>
              <a:uFillTx/>
              <a:latin typeface="Arial"/>
            </a:endParaRPr>
          </a:p>
        </p:txBody>
      </p:sp>
      <p:sp>
        <p:nvSpPr>
          <p:cNvPr id="424" name="TextBox 4"/>
          <p:cNvSpPr/>
          <p:nvPr/>
        </p:nvSpPr>
        <p:spPr>
          <a:xfrm>
            <a:off x="3840480" y="1645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25" name="TextBox 5"/>
          <p:cNvSpPr/>
          <p:nvPr/>
        </p:nvSpPr>
        <p:spPr>
          <a:xfrm>
            <a:off x="4480560" y="1645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MySQL / MariaDB</a:t>
            </a:r>
            <a:endParaRPr lang="en-US" sz="3200" b="0" u="none" strike="noStrike">
              <a:solidFill>
                <a:srgbClr val="FFFFFF"/>
              </a:solidFill>
              <a:effectLst/>
              <a:uFillTx/>
              <a:latin typeface="Arial"/>
            </a:endParaRPr>
          </a:p>
        </p:txBody>
      </p:sp>
      <p:sp>
        <p:nvSpPr>
          <p:cNvPr id="426" name="TextBox 6"/>
          <p:cNvSpPr/>
          <p:nvPr/>
        </p:nvSpPr>
        <p:spPr>
          <a:xfrm>
            <a:off x="1371600" y="2212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5432</a:t>
            </a:r>
            <a:endParaRPr lang="en-US" sz="3600" b="0" u="none" strike="noStrike">
              <a:solidFill>
                <a:srgbClr val="FFFFFF"/>
              </a:solidFill>
              <a:effectLst/>
              <a:uFillTx/>
              <a:latin typeface="Arial"/>
            </a:endParaRPr>
          </a:p>
        </p:txBody>
      </p:sp>
      <p:sp>
        <p:nvSpPr>
          <p:cNvPr id="427" name="TextBox 7"/>
          <p:cNvSpPr/>
          <p:nvPr/>
        </p:nvSpPr>
        <p:spPr>
          <a:xfrm>
            <a:off x="3840480" y="2212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28" name="TextBox 8"/>
          <p:cNvSpPr/>
          <p:nvPr/>
        </p:nvSpPr>
        <p:spPr>
          <a:xfrm>
            <a:off x="4480560" y="2212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PostgreSQL</a:t>
            </a:r>
            <a:endParaRPr lang="en-US" sz="3200" b="0" u="none" strike="noStrike">
              <a:solidFill>
                <a:srgbClr val="FFFFFF"/>
              </a:solidFill>
              <a:effectLst/>
              <a:uFillTx/>
              <a:latin typeface="Arial"/>
            </a:endParaRPr>
          </a:p>
        </p:txBody>
      </p:sp>
      <p:sp>
        <p:nvSpPr>
          <p:cNvPr id="429" name="TextBox 9"/>
          <p:cNvSpPr/>
          <p:nvPr/>
        </p:nvSpPr>
        <p:spPr>
          <a:xfrm>
            <a:off x="1371600" y="277992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1433</a:t>
            </a:r>
            <a:endParaRPr lang="en-US" sz="3600" b="0" u="none" strike="noStrike">
              <a:solidFill>
                <a:srgbClr val="FFFFFF"/>
              </a:solidFill>
              <a:effectLst/>
              <a:uFillTx/>
              <a:latin typeface="Arial"/>
            </a:endParaRPr>
          </a:p>
        </p:txBody>
      </p:sp>
      <p:sp>
        <p:nvSpPr>
          <p:cNvPr id="430" name="TextBox 10"/>
          <p:cNvSpPr/>
          <p:nvPr/>
        </p:nvSpPr>
        <p:spPr>
          <a:xfrm>
            <a:off x="3840480" y="277992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1" name="TextBox 11"/>
          <p:cNvSpPr/>
          <p:nvPr/>
        </p:nvSpPr>
        <p:spPr>
          <a:xfrm>
            <a:off x="4480560" y="277992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Microsoft SQL Server</a:t>
            </a:r>
            <a:endParaRPr lang="en-US" sz="3200" b="0" u="none" strike="noStrike">
              <a:solidFill>
                <a:srgbClr val="FFFFFF"/>
              </a:solidFill>
              <a:effectLst/>
              <a:uFillTx/>
              <a:latin typeface="Arial"/>
            </a:endParaRPr>
          </a:p>
        </p:txBody>
      </p:sp>
      <p:sp>
        <p:nvSpPr>
          <p:cNvPr id="432" name="TextBox 12"/>
          <p:cNvSpPr/>
          <p:nvPr/>
        </p:nvSpPr>
        <p:spPr>
          <a:xfrm>
            <a:off x="1371600" y="3346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27017</a:t>
            </a:r>
            <a:endParaRPr lang="en-US" sz="3600" b="0" u="none" strike="noStrike">
              <a:solidFill>
                <a:srgbClr val="FFFFFF"/>
              </a:solidFill>
              <a:effectLst/>
              <a:uFillTx/>
              <a:latin typeface="Arial"/>
            </a:endParaRPr>
          </a:p>
        </p:txBody>
      </p:sp>
      <p:sp>
        <p:nvSpPr>
          <p:cNvPr id="433" name="TextBox 13"/>
          <p:cNvSpPr/>
          <p:nvPr/>
        </p:nvSpPr>
        <p:spPr>
          <a:xfrm>
            <a:off x="3840480" y="3346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4" name="TextBox 14"/>
          <p:cNvSpPr/>
          <p:nvPr/>
        </p:nvSpPr>
        <p:spPr>
          <a:xfrm>
            <a:off x="4480560" y="3346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MongoDB</a:t>
            </a:r>
            <a:endParaRPr lang="en-US" sz="3200" b="0" u="none" strike="noStrike">
              <a:solidFill>
                <a:srgbClr val="FFFFFF"/>
              </a:solidFill>
              <a:effectLst/>
              <a:uFillTx/>
              <a:latin typeface="Arial"/>
            </a:endParaRPr>
          </a:p>
        </p:txBody>
      </p:sp>
      <p:sp>
        <p:nvSpPr>
          <p:cNvPr id="435" name="TextBox 15"/>
          <p:cNvSpPr/>
          <p:nvPr/>
        </p:nvSpPr>
        <p:spPr>
          <a:xfrm>
            <a:off x="1371600" y="3913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6379</a:t>
            </a:r>
            <a:endParaRPr lang="en-US" sz="3600" b="0" u="none" strike="noStrike">
              <a:solidFill>
                <a:srgbClr val="FFFFFF"/>
              </a:solidFill>
              <a:effectLst/>
              <a:uFillTx/>
              <a:latin typeface="Arial"/>
            </a:endParaRPr>
          </a:p>
        </p:txBody>
      </p:sp>
      <p:sp>
        <p:nvSpPr>
          <p:cNvPr id="436" name="TextBox 16"/>
          <p:cNvSpPr/>
          <p:nvPr/>
        </p:nvSpPr>
        <p:spPr>
          <a:xfrm>
            <a:off x="3840480" y="3913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37" name="TextBox 17"/>
          <p:cNvSpPr/>
          <p:nvPr/>
        </p:nvSpPr>
        <p:spPr>
          <a:xfrm>
            <a:off x="4480560" y="3913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Redis</a:t>
            </a:r>
            <a:endParaRPr lang="en-US" sz="3200" b="0" u="none" strike="noStrike">
              <a:solidFill>
                <a:srgbClr val="FFFFFF"/>
              </a:solidFill>
              <a:effectLst/>
              <a:uFillTx/>
              <a:latin typeface="Arial"/>
            </a:endParaRPr>
          </a:p>
        </p:txBody>
      </p:sp>
      <p:sp>
        <p:nvSpPr>
          <p:cNvPr id="438" name="TextBox 18"/>
          <p:cNvSpPr/>
          <p:nvPr/>
        </p:nvSpPr>
        <p:spPr>
          <a:xfrm>
            <a:off x="1371600" y="4480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9200</a:t>
            </a:r>
            <a:endParaRPr lang="en-US" sz="3600" b="0" u="none" strike="noStrike">
              <a:solidFill>
                <a:srgbClr val="FFFFFF"/>
              </a:solidFill>
              <a:effectLst/>
              <a:uFillTx/>
              <a:latin typeface="Arial"/>
            </a:endParaRPr>
          </a:p>
        </p:txBody>
      </p:sp>
      <p:sp>
        <p:nvSpPr>
          <p:cNvPr id="439" name="TextBox 19"/>
          <p:cNvSpPr/>
          <p:nvPr/>
        </p:nvSpPr>
        <p:spPr>
          <a:xfrm>
            <a:off x="3840480" y="4480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40" name="TextBox 20"/>
          <p:cNvSpPr/>
          <p:nvPr/>
        </p:nvSpPr>
        <p:spPr>
          <a:xfrm>
            <a:off x="4480560" y="4480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Elasticsearch</a:t>
            </a:r>
            <a:endParaRPr lang="en-US" sz="3200" b="0" u="none" strike="noStrike">
              <a:solidFill>
                <a:srgbClr val="FFFFFF"/>
              </a:solidFill>
              <a:effectLst/>
              <a:uFillTx/>
              <a:latin typeface="Arial"/>
            </a:endParaRPr>
          </a:p>
        </p:txBody>
      </p:sp>
      <p:sp>
        <p:nvSpPr>
          <p:cNvPr id="441" name="TextBox 21"/>
          <p:cNvSpPr/>
          <p:nvPr/>
        </p:nvSpPr>
        <p:spPr>
          <a:xfrm>
            <a:off x="1371600" y="5047560"/>
            <a:ext cx="2285640" cy="5482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3600" b="1" u="none" strike="noStrike">
                <a:solidFill>
                  <a:srgbClr val="00FF41"/>
                </a:solidFill>
                <a:effectLst/>
                <a:uFillTx/>
                <a:latin typeface="Calibri"/>
              </a:rPr>
              <a:t>9042</a:t>
            </a:r>
            <a:endParaRPr lang="en-US" sz="3600" b="0" u="none" strike="noStrike">
              <a:solidFill>
                <a:srgbClr val="FFFFFF"/>
              </a:solidFill>
              <a:effectLst/>
              <a:uFillTx/>
              <a:latin typeface="Arial"/>
            </a:endParaRPr>
          </a:p>
        </p:txBody>
      </p:sp>
      <p:sp>
        <p:nvSpPr>
          <p:cNvPr id="442" name="TextBox 22"/>
          <p:cNvSpPr/>
          <p:nvPr/>
        </p:nvSpPr>
        <p:spPr>
          <a:xfrm>
            <a:off x="3840480" y="5047560"/>
            <a:ext cx="54828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D4FF"/>
                </a:solidFill>
                <a:effectLst/>
                <a:uFillTx/>
                <a:latin typeface="Calibri"/>
              </a:rPr>
              <a:t>▶</a:t>
            </a:r>
            <a:endParaRPr lang="en-US" sz="2800" b="0" u="none" strike="noStrike">
              <a:solidFill>
                <a:srgbClr val="FFFFFF"/>
              </a:solidFill>
              <a:effectLst/>
              <a:uFillTx/>
              <a:latin typeface="Arial"/>
            </a:endParaRPr>
          </a:p>
        </p:txBody>
      </p:sp>
      <p:sp>
        <p:nvSpPr>
          <p:cNvPr id="443" name="TextBox 23"/>
          <p:cNvSpPr/>
          <p:nvPr/>
        </p:nvSpPr>
        <p:spPr>
          <a:xfrm>
            <a:off x="4480560" y="5047560"/>
            <a:ext cx="640044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200" b="1" u="none" strike="noStrike">
                <a:solidFill>
                  <a:srgbClr val="FFFFFF"/>
                </a:solidFill>
                <a:effectLst/>
                <a:uFillTx/>
                <a:latin typeface="Calibri"/>
              </a:rPr>
              <a:t>Cassandra</a:t>
            </a:r>
            <a:endParaRPr lang="en-US" sz="3200" b="0" u="none" strike="noStrike">
              <a:solidFill>
                <a:srgbClr val="FFFFFF"/>
              </a:solidFill>
              <a:effectLst/>
              <a:uFillTx/>
              <a:latin typeface="Arial"/>
            </a:endParaRPr>
          </a:p>
        </p:txBody>
      </p:sp>
      <p:sp>
        <p:nvSpPr>
          <p:cNvPr id="444" name="TextBox 24"/>
          <p:cNvSpPr/>
          <p:nvPr/>
        </p:nvSpPr>
        <p:spPr>
          <a:xfrm>
            <a:off x="457200" y="5989320"/>
            <a:ext cx="11246760" cy="4248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6B35"/>
                </a:solidFill>
                <a:effectLst/>
                <a:uFillTx/>
                <a:latin typeface="Calibri"/>
              </a:rPr>
              <a:t>Any of these exposed to the internet = a finding. Every time*</a:t>
            </a:r>
            <a:endParaRPr lang="en-US" sz="2200" b="0" u="none" strike="noStrike">
              <a:solidFill>
                <a:srgbClr val="FFFFFF"/>
              </a:solidFill>
              <a:effectLst/>
              <a:uFillTx/>
              <a:latin typeface="Arial"/>
            </a:endParaRPr>
          </a:p>
        </p:txBody>
      </p:sp>
      <p:sp>
        <p:nvSpPr>
          <p:cNvPr id="445" name="TextBox 25"/>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446" name="TextBox 26"/>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47" name="TextBox 1" descr="Statement slide: Markdown files are now a database — the kind an LLM reads from via embeddings and RAG." title="Statement slide: Markdown files are now a database — the kind an LLM reads from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Your Notes Are a Database Now</a:t>
            </a:r>
            <a:endParaRPr lang="en-US" sz="4200" b="0" u="none" strike="noStrike">
              <a:solidFill>
                <a:srgbClr val="FFFFFF"/>
              </a:solidFill>
              <a:effectLst/>
              <a:uFillTx/>
              <a:latin typeface="Arial"/>
            </a:endParaRPr>
          </a:p>
        </p:txBody>
      </p:sp>
      <p:sp>
        <p:nvSpPr>
          <p:cNvPr id="448"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49" name="TextBox 3"/>
          <p:cNvSpPr/>
          <p:nvPr/>
        </p:nvSpPr>
        <p:spPr>
          <a:xfrm>
            <a:off x="457200" y="20116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0" u="none" strike="noStrike">
                <a:solidFill>
                  <a:srgbClr val="FFFFFF"/>
                </a:solidFill>
                <a:effectLst/>
                <a:uFillTx/>
                <a:latin typeface="Calibri"/>
              </a:rPr>
              <a:t>Markdown files are now</a:t>
            </a:r>
            <a:endParaRPr lang="en-US" sz="4400" b="0" u="none" strike="noStrike">
              <a:solidFill>
                <a:srgbClr val="FFFFFF"/>
              </a:solidFill>
              <a:effectLst/>
              <a:uFillTx/>
              <a:latin typeface="Arial"/>
            </a:endParaRPr>
          </a:p>
        </p:txBody>
      </p:sp>
      <p:sp>
        <p:nvSpPr>
          <p:cNvPr id="450" name="TextBox 4"/>
          <p:cNvSpPr/>
          <p:nvPr/>
        </p:nvSpPr>
        <p:spPr>
          <a:xfrm>
            <a:off x="457200" y="283464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400" b="1" u="none" strike="noStrike">
                <a:solidFill>
                  <a:srgbClr val="00FF41"/>
                </a:solidFill>
                <a:effectLst/>
                <a:uFillTx/>
                <a:latin typeface="Calibri"/>
              </a:rPr>
              <a:t>the database an LLM reads from.</a:t>
            </a:r>
            <a:endParaRPr lang="en-US" sz="4400" b="0" u="none" strike="noStrike">
              <a:solidFill>
                <a:srgbClr val="FFFFFF"/>
              </a:solidFill>
              <a:effectLst/>
              <a:uFillTx/>
              <a:latin typeface="Arial"/>
            </a:endParaRPr>
          </a:p>
        </p:txBody>
      </p:sp>
      <p:sp>
        <p:nvSpPr>
          <p:cNvPr id="451" name="TextBox 5"/>
          <p:cNvSpPr/>
          <p:nvPr/>
        </p:nvSpPr>
        <p:spPr>
          <a:xfrm>
            <a:off x="457200" y="420624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400" b="0" u="none" strike="noStrike">
                <a:solidFill>
                  <a:srgbClr val="00D4FF"/>
                </a:solidFill>
                <a:effectLst/>
                <a:uFillTx/>
                <a:latin typeface="Calibri"/>
              </a:rPr>
              <a:t>Obsidian vaults  •  Wiki exports  •  Meeting notes  •  GitHub docs</a:t>
            </a:r>
            <a:endParaRPr lang="en-US" sz="2400" b="0" u="none" strike="noStrike">
              <a:solidFill>
                <a:srgbClr val="FFFFFF"/>
              </a:solidFill>
              <a:effectLst/>
              <a:uFillTx/>
              <a:latin typeface="Arial"/>
            </a:endParaRPr>
          </a:p>
        </p:txBody>
      </p:sp>
      <p:sp>
        <p:nvSpPr>
          <p:cNvPr id="452" name="TextBox 6"/>
          <p:cNvSpPr/>
          <p:nvPr/>
        </p:nvSpPr>
        <p:spPr>
          <a:xfrm>
            <a:off x="457200" y="493776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CCCCD6"/>
                </a:solidFill>
                <a:effectLst/>
                <a:uFillTx/>
                <a:latin typeface="Calibri"/>
              </a:rPr>
              <a:t>Embedded → Vector DB → LLM context → answer to user</a:t>
            </a:r>
            <a:endParaRPr lang="en-US" sz="2600" b="0" u="none" strike="noStrike">
              <a:solidFill>
                <a:srgbClr val="FFFFFF"/>
              </a:solidFill>
              <a:effectLst/>
              <a:uFillTx/>
              <a:latin typeface="Arial"/>
            </a:endParaRPr>
          </a:p>
        </p:txBody>
      </p:sp>
      <p:sp>
        <p:nvSpPr>
          <p:cNvPr id="45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45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55" name="TextBox 1" descr="Pipeline diagram: markdown files → embedder → vector DB → LLM prompt → answer. The trust boundary sits between authors and the embedder." title="Pipeline diagram: markdown files → embedder → vector DB → LLM prompt → answer. T"/>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RAG Pipeline — Where's the Trust Boundary?</a:t>
            </a:r>
            <a:endParaRPr lang="en-US" sz="3600" b="0" u="none" strike="noStrike">
              <a:solidFill>
                <a:srgbClr val="FFFFFF"/>
              </a:solidFill>
              <a:effectLst/>
              <a:uFillTx/>
              <a:latin typeface="Arial"/>
            </a:endParaRPr>
          </a:p>
        </p:txBody>
      </p:sp>
      <p:sp>
        <p:nvSpPr>
          <p:cNvPr id="45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57" name="Rounded Rectangle 3"/>
          <p:cNvSpPr/>
          <p:nvPr/>
        </p:nvSpPr>
        <p:spPr>
          <a:xfrm>
            <a:off x="457200" y="2377440"/>
            <a:ext cx="1919880" cy="1096920"/>
          </a:xfrm>
          <a:prstGeom prst="roundRect">
            <a:avLst>
              <a:gd name="adj" fmla="val 16667"/>
            </a:avLst>
          </a:prstGeom>
          <a:solidFill>
            <a:srgbClr val="24243E"/>
          </a:solidFill>
          <a:ln w="381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8" name="TextBox 4"/>
          <p:cNvSpPr/>
          <p:nvPr/>
        </p:nvSpPr>
        <p:spPr>
          <a:xfrm>
            <a:off x="457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.md files</a:t>
            </a:r>
            <a:endParaRPr lang="en-US" sz="2200" b="0" u="none" strike="noStrike">
              <a:solidFill>
                <a:srgbClr val="FFFFFF"/>
              </a:solidFill>
              <a:effectLst/>
              <a:uFillTx/>
              <a:latin typeface="Arial"/>
            </a:endParaRPr>
          </a:p>
        </p:txBody>
      </p:sp>
      <p:sp>
        <p:nvSpPr>
          <p:cNvPr id="459" name="TextBox 5"/>
          <p:cNvSpPr/>
          <p:nvPr/>
        </p:nvSpPr>
        <p:spPr>
          <a:xfrm>
            <a:off x="2395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0" name="Rounded Rectangle 6"/>
          <p:cNvSpPr/>
          <p:nvPr/>
        </p:nvSpPr>
        <p:spPr>
          <a:xfrm>
            <a:off x="2743200" y="2377440"/>
            <a:ext cx="1919880" cy="1096920"/>
          </a:xfrm>
          <a:prstGeom prst="roundRect">
            <a:avLst>
              <a:gd name="adj" fmla="val 16667"/>
            </a:avLst>
          </a:prstGeom>
          <a:solidFill>
            <a:srgbClr val="24243E"/>
          </a:solidFill>
          <a:ln w="381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1" name="TextBox 7"/>
          <p:cNvSpPr/>
          <p:nvPr/>
        </p:nvSpPr>
        <p:spPr>
          <a:xfrm>
            <a:off x="2743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a:rPr>
              <a:t>Embedder</a:t>
            </a:r>
            <a:endParaRPr lang="en-US" sz="2200" b="0" u="none" strike="noStrike">
              <a:solidFill>
                <a:srgbClr val="FFFFFF"/>
              </a:solidFill>
              <a:effectLst/>
              <a:uFillTx/>
              <a:latin typeface="Arial"/>
            </a:endParaRPr>
          </a:p>
        </p:txBody>
      </p:sp>
      <p:sp>
        <p:nvSpPr>
          <p:cNvPr id="462" name="TextBox 8"/>
          <p:cNvSpPr/>
          <p:nvPr/>
        </p:nvSpPr>
        <p:spPr>
          <a:xfrm>
            <a:off x="4681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3" name="Rounded Rectangle 9"/>
          <p:cNvSpPr/>
          <p:nvPr/>
        </p:nvSpPr>
        <p:spPr>
          <a:xfrm>
            <a:off x="5029200" y="2377440"/>
            <a:ext cx="1919880" cy="1096920"/>
          </a:xfrm>
          <a:prstGeom prst="roundRect">
            <a:avLst>
              <a:gd name="adj" fmla="val 16667"/>
            </a:avLst>
          </a:prstGeom>
          <a:solidFill>
            <a:srgbClr val="24243E"/>
          </a:solidFill>
          <a:ln w="38100">
            <a:solidFill>
              <a:srgbClr val="00FF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4" name="TextBox 10"/>
          <p:cNvSpPr/>
          <p:nvPr/>
        </p:nvSpPr>
        <p:spPr>
          <a:xfrm>
            <a:off x="5029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FF41"/>
                </a:solidFill>
                <a:effectLst/>
                <a:uFillTx/>
                <a:latin typeface="Calibri"/>
              </a:rPr>
              <a:t>Vector DB</a:t>
            </a:r>
            <a:endParaRPr lang="en-US" sz="2200" b="0" u="none" strike="noStrike">
              <a:solidFill>
                <a:srgbClr val="FFFFFF"/>
              </a:solidFill>
              <a:effectLst/>
              <a:uFillTx/>
              <a:latin typeface="Arial"/>
            </a:endParaRPr>
          </a:p>
        </p:txBody>
      </p:sp>
      <p:sp>
        <p:nvSpPr>
          <p:cNvPr id="465" name="TextBox 11"/>
          <p:cNvSpPr/>
          <p:nvPr/>
        </p:nvSpPr>
        <p:spPr>
          <a:xfrm>
            <a:off x="6967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6" name="Rounded Rectangle 12"/>
          <p:cNvSpPr/>
          <p:nvPr/>
        </p:nvSpPr>
        <p:spPr>
          <a:xfrm>
            <a:off x="7315200" y="2377440"/>
            <a:ext cx="1919880" cy="1096920"/>
          </a:xfrm>
          <a:prstGeom prst="roundRect">
            <a:avLst>
              <a:gd name="adj" fmla="val 16667"/>
            </a:avLst>
          </a:prstGeom>
          <a:solidFill>
            <a:srgbClr val="24243E"/>
          </a:solidFill>
          <a:ln w="38100">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7" name="TextBox 13"/>
          <p:cNvSpPr/>
          <p:nvPr/>
        </p:nvSpPr>
        <p:spPr>
          <a:xfrm>
            <a:off x="7315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FFFFFF"/>
                </a:solidFill>
                <a:effectLst/>
                <a:uFillTx/>
                <a:latin typeface="Calibri"/>
              </a:rPr>
              <a:t>LLM prompt</a:t>
            </a:r>
            <a:endParaRPr lang="en-US" sz="2200" b="0" u="none" strike="noStrike">
              <a:solidFill>
                <a:srgbClr val="FFFFFF"/>
              </a:solidFill>
              <a:effectLst/>
              <a:uFillTx/>
              <a:latin typeface="Arial"/>
            </a:endParaRPr>
          </a:p>
        </p:txBody>
      </p:sp>
      <p:sp>
        <p:nvSpPr>
          <p:cNvPr id="468" name="TextBox 14"/>
          <p:cNvSpPr/>
          <p:nvPr/>
        </p:nvSpPr>
        <p:spPr>
          <a:xfrm>
            <a:off x="9253800" y="2651760"/>
            <a:ext cx="36540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FF6B35"/>
                </a:solidFill>
                <a:effectLst/>
                <a:uFillTx/>
                <a:latin typeface="Calibri"/>
              </a:rPr>
              <a:t>▶</a:t>
            </a:r>
            <a:endParaRPr lang="en-US" sz="2800" b="0" u="none" strike="noStrike">
              <a:solidFill>
                <a:srgbClr val="FFFFFF"/>
              </a:solidFill>
              <a:effectLst/>
              <a:uFillTx/>
              <a:latin typeface="Arial"/>
            </a:endParaRPr>
          </a:p>
        </p:txBody>
      </p:sp>
      <p:sp>
        <p:nvSpPr>
          <p:cNvPr id="469" name="Rounded Rectangle 15"/>
          <p:cNvSpPr/>
          <p:nvPr/>
        </p:nvSpPr>
        <p:spPr>
          <a:xfrm>
            <a:off x="9601200" y="2377440"/>
            <a:ext cx="1919880" cy="1096920"/>
          </a:xfrm>
          <a:prstGeom prst="roundRect">
            <a:avLst>
              <a:gd name="adj" fmla="val 16667"/>
            </a:avLst>
          </a:prstGeom>
          <a:solidFill>
            <a:srgbClr val="24243E"/>
          </a:solidFill>
          <a:ln w="381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0" name="TextBox 16"/>
          <p:cNvSpPr/>
          <p:nvPr/>
        </p:nvSpPr>
        <p:spPr>
          <a:xfrm>
            <a:off x="9601200" y="2651760"/>
            <a:ext cx="1919880" cy="6397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1" u="none" strike="noStrike">
                <a:solidFill>
                  <a:srgbClr val="00D4FF"/>
                </a:solidFill>
                <a:effectLst/>
                <a:uFillTx/>
                <a:latin typeface="Calibri"/>
              </a:rPr>
              <a:t>Answer</a:t>
            </a:r>
            <a:endParaRPr lang="en-US" sz="2200" b="0" u="none" strike="noStrike">
              <a:solidFill>
                <a:srgbClr val="FFFFFF"/>
              </a:solidFill>
              <a:effectLst/>
              <a:uFillTx/>
              <a:latin typeface="Arial"/>
            </a:endParaRPr>
          </a:p>
        </p:txBody>
      </p:sp>
      <p:sp>
        <p:nvSpPr>
          <p:cNvPr id="471" name="Rectangle 17"/>
          <p:cNvSpPr/>
          <p:nvPr/>
        </p:nvSpPr>
        <p:spPr>
          <a:xfrm>
            <a:off x="2286000" y="2103120"/>
            <a:ext cx="54360" cy="16455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2" name="TextBox 18"/>
          <p:cNvSpPr/>
          <p:nvPr/>
        </p:nvSpPr>
        <p:spPr>
          <a:xfrm>
            <a:off x="731520" y="3840480"/>
            <a:ext cx="274284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 b="1" u="none" strike="noStrike">
                <a:solidFill>
                  <a:srgbClr val="FF6B35"/>
                </a:solidFill>
                <a:effectLst/>
                <a:uFillTx/>
                <a:latin typeface="Calibri"/>
              </a:rPr>
              <a:t>⚠ TRUST BOUNDARY</a:t>
            </a:r>
            <a:endParaRPr lang="en-US" sz="1800" b="0" u="none" strike="noStrike">
              <a:solidFill>
                <a:srgbClr val="FFFFFF"/>
              </a:solidFill>
              <a:effectLst/>
              <a:uFillTx/>
              <a:latin typeface="Arial"/>
            </a:endParaRPr>
          </a:p>
        </p:txBody>
      </p:sp>
      <p:sp>
        <p:nvSpPr>
          <p:cNvPr id="473" name="TextBox 19"/>
          <p:cNvSpPr/>
          <p:nvPr/>
        </p:nvSpPr>
        <p:spPr>
          <a:xfrm>
            <a:off x="457200" y="484632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1" u="none" strike="noStrike">
                <a:solidFill>
                  <a:srgbClr val="FFFFFF"/>
                </a:solidFill>
                <a:effectLst/>
                <a:uFillTx/>
                <a:latin typeface="Calibri"/>
              </a:rPr>
              <a:t>If anyone can edit those .md files, anyone can plant</a:t>
            </a:r>
            <a:endParaRPr lang="en-US" sz="2600" b="0" u="none" strike="noStrike">
              <a:solidFill>
                <a:srgbClr val="FFFFFF"/>
              </a:solidFill>
              <a:effectLst/>
              <a:uFillTx/>
              <a:latin typeface="Arial"/>
            </a:endParaRPr>
          </a:p>
          <a:p>
            <a:pPr algn="ctr" defTabSz="457200">
              <a:lnSpc>
                <a:spcPct val="100000"/>
              </a:lnSpc>
            </a:pPr>
            <a:r>
              <a:rPr lang="en-US" sz="2600" b="1" u="none" strike="noStrike">
                <a:solidFill>
                  <a:srgbClr val="FFFFFF"/>
                </a:solidFill>
                <a:effectLst/>
                <a:uFillTx/>
                <a:latin typeface="Calibri"/>
              </a:rPr>
              <a:t>content the AI will quote as authoritative.</a:t>
            </a:r>
            <a:endParaRPr lang="en-US" sz="2600" b="0" u="none" strike="noStrike">
              <a:solidFill>
                <a:srgbClr val="FFFFFF"/>
              </a:solidFill>
              <a:effectLst/>
              <a:uFillTx/>
              <a:latin typeface="Arial"/>
            </a:endParaRPr>
          </a:p>
        </p:txBody>
      </p:sp>
      <p:sp>
        <p:nvSpPr>
          <p:cNvPr id="474" name="TextBox 20"/>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475" name="TextBox 21"/>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76" name="TextBox 1" descr="Takeaway slide: Treat markdown like a database — because to the LLM, it is. Apply access control, code review, and diff tracking." title="Takeaway slide: Treat markdown like a database — because to the LLM, it is. Appl"/>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The Takeaway</a:t>
            </a:r>
            <a:endParaRPr lang="en-US" sz="4200" b="0" u="none" strike="noStrike">
              <a:solidFill>
                <a:srgbClr val="FFFFFF"/>
              </a:solidFill>
              <a:effectLst/>
              <a:uFillTx/>
              <a:latin typeface="Arial"/>
            </a:endParaRPr>
          </a:p>
        </p:txBody>
      </p:sp>
      <p:sp>
        <p:nvSpPr>
          <p:cNvPr id="477"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78" name="TextBox 3"/>
          <p:cNvSpPr/>
          <p:nvPr/>
        </p:nvSpPr>
        <p:spPr>
          <a:xfrm>
            <a:off x="457200" y="219456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1" u="none" strike="noStrike">
                <a:solidFill>
                  <a:srgbClr val="00FF41"/>
                </a:solidFill>
                <a:effectLst/>
                <a:uFillTx/>
                <a:latin typeface="Calibri"/>
              </a:rPr>
              <a:t>Treat markdown like a database.</a:t>
            </a:r>
            <a:endParaRPr lang="en-US" sz="5400" b="0" u="none" strike="noStrike">
              <a:solidFill>
                <a:srgbClr val="FFFFFF"/>
              </a:solidFill>
              <a:effectLst/>
              <a:uFillTx/>
              <a:latin typeface="Arial"/>
            </a:endParaRPr>
          </a:p>
        </p:txBody>
      </p:sp>
      <p:sp>
        <p:nvSpPr>
          <p:cNvPr id="479" name="TextBox 4"/>
          <p:cNvSpPr/>
          <p:nvPr/>
        </p:nvSpPr>
        <p:spPr>
          <a:xfrm>
            <a:off x="457200" y="338328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200" b="0" u="none" strike="noStrike">
                <a:solidFill>
                  <a:srgbClr val="FFFFFF"/>
                </a:solidFill>
                <a:effectLst/>
                <a:uFillTx/>
                <a:latin typeface="Calibri"/>
              </a:rPr>
              <a:t>Because to the LLM, it is.</a:t>
            </a:r>
            <a:endParaRPr lang="en-US" sz="4200" b="0" u="none" strike="noStrike">
              <a:solidFill>
                <a:srgbClr val="FFFFFF"/>
              </a:solidFill>
              <a:effectLst/>
              <a:uFillTx/>
              <a:latin typeface="Arial"/>
            </a:endParaRPr>
          </a:p>
        </p:txBody>
      </p:sp>
      <p:sp>
        <p:nvSpPr>
          <p:cNvPr id="480" name="TextBox 5"/>
          <p:cNvSpPr/>
          <p:nvPr/>
        </p:nvSpPr>
        <p:spPr>
          <a:xfrm>
            <a:off x="1828800" y="4572000"/>
            <a:ext cx="8503560" cy="182844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Access control on the docs folder.</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Code review on .md changes.</a:t>
            </a:r>
            <a:endParaRPr lang="en-US" sz="2400" b="0" u="none" strike="noStrike">
              <a:solidFill>
                <a:srgbClr val="FFFFFF"/>
              </a:solidFill>
              <a:effectLst/>
              <a:uFillTx/>
              <a:latin typeface="Arial"/>
            </a:endParaRPr>
          </a:p>
          <a:p>
            <a:pPr defTabSz="457200">
              <a:lnSpc>
                <a:spcPct val="140000"/>
              </a:lnSpc>
            </a:pPr>
            <a:r>
              <a:rPr lang="en-US" sz="2400" b="1" u="none" strike="noStrike">
                <a:solidFill>
                  <a:srgbClr val="00D4FF"/>
                </a:solidFill>
                <a:effectLst/>
                <a:uFillTx/>
                <a:latin typeface="Calibri"/>
              </a:rPr>
              <a:t>▶ </a:t>
            </a:r>
            <a:r>
              <a:rPr lang="en-US" sz="2400" b="0" u="none" strike="noStrike">
                <a:solidFill>
                  <a:srgbClr val="FFFFFF"/>
                </a:solidFill>
                <a:effectLst/>
                <a:uFillTx/>
                <a:latin typeface="Calibri"/>
              </a:rPr>
              <a:t>Diff tracking on the wiki.</a:t>
            </a:r>
            <a:endParaRPr lang="en-US" sz="2400" b="0" u="none" strike="noStrike">
              <a:solidFill>
                <a:srgbClr val="FFFFFF"/>
              </a:solidFill>
              <a:effectLst/>
              <a:uFillTx/>
              <a:latin typeface="Arial"/>
            </a:endParaRPr>
          </a:p>
        </p:txBody>
      </p:sp>
      <p:sp>
        <p:nvSpPr>
          <p:cNvPr id="481"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482"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83" name="TextBox 1" descr="Section divider: SECURITY. What's actually getting hit in 2026" title="Section divider: SECURITY. What's actually getting hit in 2026"/>
          <p:cNvSpPr/>
          <p:nvPr/>
        </p:nvSpPr>
        <p:spPr>
          <a:xfrm>
            <a:off x="457200" y="2560320"/>
            <a:ext cx="11246760" cy="16455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9600" b="1" u="none" strike="noStrike">
                <a:solidFill>
                  <a:srgbClr val="00FF41"/>
                </a:solidFill>
                <a:effectLst/>
                <a:uFillTx/>
                <a:latin typeface="Calibri"/>
              </a:rPr>
              <a:t>SECURITY</a:t>
            </a:r>
            <a:endParaRPr lang="en-US" sz="9600" b="0" u="none" strike="noStrike">
              <a:solidFill>
                <a:srgbClr val="FFFFFF"/>
              </a:solidFill>
              <a:effectLst/>
              <a:uFillTx/>
              <a:latin typeface="Arial"/>
            </a:endParaRPr>
          </a:p>
        </p:txBody>
      </p:sp>
      <p:sp>
        <p:nvSpPr>
          <p:cNvPr id="484" name="Rectangle 2"/>
          <p:cNvSpPr/>
          <p:nvPr/>
        </p:nvSpPr>
        <p:spPr>
          <a:xfrm>
            <a:off x="4724640" y="4297680"/>
            <a:ext cx="2742840" cy="9108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5" name="TextBox 3"/>
          <p:cNvSpPr/>
          <p:nvPr/>
        </p:nvSpPr>
        <p:spPr>
          <a:xfrm>
            <a:off x="457200" y="4572000"/>
            <a:ext cx="11246760" cy="578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200" b="0" u="none" strike="noStrike">
                <a:solidFill>
                  <a:srgbClr val="FFFFFF"/>
                </a:solidFill>
                <a:effectLst/>
                <a:uFillTx/>
                <a:latin typeface="Calibri"/>
              </a:rPr>
              <a:t>What's actually getting hit in 2026*</a:t>
            </a:r>
            <a:endParaRPr lang="en-US" sz="3200" b="0" u="none" strike="noStrike">
              <a:solidFill>
                <a:srgbClr val="FFFFFF"/>
              </a:solidFill>
              <a:effectLst/>
              <a:uFillTx/>
              <a:latin typeface="Arial"/>
            </a:endParaRPr>
          </a:p>
        </p:txBody>
      </p:sp>
      <p:sp>
        <p:nvSpPr>
          <p:cNvPr id="486"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487"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488" name="TextBox 1" descr="Reference to xkcd #327 'Exploits of a Mom' (Bobby Tables): a mother names her son Robert'); DROP TABLE Students;-- and the school's student table is dropped. URL: https://xkcd.com/327/" title="Reference to xkcd #327 'Exploits of a Mom' (Bobby Tables): a mother names her so"/>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xkcd #327 — Bobby Tables</a:t>
            </a:r>
            <a:endParaRPr lang="en-US" sz="3800" b="0" u="none" strike="noStrike">
              <a:solidFill>
                <a:srgbClr val="FFFFFF"/>
              </a:solidFill>
              <a:effectLst/>
              <a:uFillTx/>
              <a:latin typeface="Arial"/>
            </a:endParaRPr>
          </a:p>
        </p:txBody>
      </p:sp>
      <p:sp>
        <p:nvSpPr>
          <p:cNvPr id="489"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490" name="Rectangle 3"/>
          <p:cNvSpPr/>
          <p:nvPr/>
        </p:nvSpPr>
        <p:spPr>
          <a:xfrm>
            <a:off x="457200" y="1737360"/>
            <a:ext cx="11246760" cy="3200040"/>
          </a:xfrm>
          <a:prstGeom prst="rect">
            <a:avLst/>
          </a:prstGeom>
          <a:solidFill>
            <a:srgbClr val="24243E"/>
          </a:solidFill>
          <a:ln w="25400">
            <a:solidFill>
              <a:srgbClr val="00D4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1" name="TextBox 4"/>
          <p:cNvSpPr/>
          <p:nvPr/>
        </p:nvSpPr>
        <p:spPr>
          <a:xfrm>
            <a:off x="731520" y="192024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School:  "Hi, this is your son's school. We're having</a:t>
            </a:r>
            <a:endParaRPr lang="en-US" sz="2400" b="0" u="none" strike="noStrike">
              <a:solidFill>
                <a:srgbClr val="FFFFFF"/>
              </a:solidFill>
              <a:effectLst/>
              <a:uFillTx/>
              <a:latin typeface="Arial"/>
            </a:endParaRPr>
          </a:p>
        </p:txBody>
      </p:sp>
      <p:sp>
        <p:nvSpPr>
          <p:cNvPr id="492" name="TextBox 5"/>
          <p:cNvSpPr/>
          <p:nvPr/>
        </p:nvSpPr>
        <p:spPr>
          <a:xfrm>
            <a:off x="731520" y="251460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         some computer trouble."</a:t>
            </a:r>
            <a:endParaRPr lang="en-US" sz="2400" b="0" u="none" strike="noStrike">
              <a:solidFill>
                <a:srgbClr val="FFFFFF"/>
              </a:solidFill>
              <a:effectLst/>
              <a:uFillTx/>
              <a:latin typeface="Arial"/>
            </a:endParaRPr>
          </a:p>
        </p:txBody>
      </p:sp>
      <p:sp>
        <p:nvSpPr>
          <p:cNvPr id="493" name="TextBox 6"/>
          <p:cNvSpPr/>
          <p:nvPr/>
        </p:nvSpPr>
        <p:spPr>
          <a:xfrm>
            <a:off x="731520" y="315468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FFFFFF"/>
                </a:solidFill>
                <a:effectLst/>
                <a:uFillTx/>
                <a:latin typeface="Calibri"/>
              </a:rPr>
              <a:t>Mom:     "Oh dear — did he break something?"</a:t>
            </a:r>
            <a:endParaRPr lang="en-US" sz="2400" b="0" u="none" strike="noStrike">
              <a:solidFill>
                <a:srgbClr val="FFFFFF"/>
              </a:solidFill>
              <a:effectLst/>
              <a:uFillTx/>
              <a:latin typeface="Arial"/>
            </a:endParaRPr>
          </a:p>
        </p:txBody>
      </p:sp>
      <p:sp>
        <p:nvSpPr>
          <p:cNvPr id="494" name="TextBox 7"/>
          <p:cNvSpPr/>
          <p:nvPr/>
        </p:nvSpPr>
        <p:spPr>
          <a:xfrm>
            <a:off x="731520" y="379476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FF41"/>
                </a:solidFill>
                <a:effectLst/>
                <a:uFillTx/>
                <a:latin typeface="Calibri"/>
              </a:rPr>
              <a:t>School:  "Did you really name your son  Robert');</a:t>
            </a:r>
            <a:endParaRPr lang="en-US" sz="2400" b="0" u="none" strike="noStrike">
              <a:solidFill>
                <a:srgbClr val="FFFFFF"/>
              </a:solidFill>
              <a:effectLst/>
              <a:uFillTx/>
              <a:latin typeface="Arial"/>
            </a:endParaRPr>
          </a:p>
        </p:txBody>
      </p:sp>
      <p:sp>
        <p:nvSpPr>
          <p:cNvPr id="495" name="TextBox 8"/>
          <p:cNvSpPr/>
          <p:nvPr/>
        </p:nvSpPr>
        <p:spPr>
          <a:xfrm>
            <a:off x="731520" y="4297680"/>
            <a:ext cx="10698120" cy="54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1" u="none" strike="noStrike">
                <a:solidFill>
                  <a:srgbClr val="FF6B35"/>
                </a:solidFill>
                <a:effectLst/>
                <a:uFillTx/>
                <a:latin typeface="Calibri"/>
              </a:rPr>
              <a:t>         DROP TABLE Students;--  ?"</a:t>
            </a:r>
            <a:endParaRPr lang="en-US" sz="2400" b="0" u="none" strike="noStrike">
              <a:solidFill>
                <a:srgbClr val="FFFFFF"/>
              </a:solidFill>
              <a:effectLst/>
              <a:uFillTx/>
              <a:latin typeface="Arial"/>
            </a:endParaRPr>
          </a:p>
        </p:txBody>
      </p:sp>
      <p:sp>
        <p:nvSpPr>
          <p:cNvPr id="496" name="TextBox 9"/>
          <p:cNvSpPr/>
          <p:nvPr/>
        </p:nvSpPr>
        <p:spPr>
          <a:xfrm>
            <a:off x="457200" y="521208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00D4FF"/>
                </a:solidFill>
                <a:effectLst/>
                <a:uFillTx/>
                <a:latin typeface="Calibri"/>
              </a:rPr>
              <a:t>https://xkcd.com/327/</a:t>
            </a:r>
            <a:endParaRPr lang="en-US" sz="2800" b="0" u="none" strike="noStrike">
              <a:solidFill>
                <a:srgbClr val="FFFFFF"/>
              </a:solidFill>
              <a:effectLst/>
              <a:uFillTx/>
              <a:latin typeface="Arial"/>
            </a:endParaRPr>
          </a:p>
        </p:txBody>
      </p:sp>
      <p:sp>
        <p:nvSpPr>
          <p:cNvPr id="497" name="TextBox 10"/>
          <p:cNvSpPr/>
          <p:nvPr/>
        </p:nvSpPr>
        <p:spPr>
          <a:xfrm>
            <a:off x="457200" y="5760720"/>
            <a:ext cx="11246760" cy="456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200" b="0" u="none" strike="noStrike">
                <a:solidFill>
                  <a:srgbClr val="CCCCD6"/>
                </a:solidFill>
                <a:effectLst/>
                <a:uFillTx/>
                <a:latin typeface="Calibri"/>
              </a:rPr>
              <a:t>The mechanism: string concatenation in queries.</a:t>
            </a:r>
            <a:endParaRPr lang="en-US" sz="2200" b="0" u="none" strike="noStrike">
              <a:solidFill>
                <a:srgbClr val="FFFFFF"/>
              </a:solidFill>
              <a:effectLst/>
              <a:uFillTx/>
              <a:latin typeface="Arial"/>
            </a:endParaRPr>
          </a:p>
        </p:txBody>
      </p:sp>
      <p:sp>
        <p:nvSpPr>
          <p:cNvPr id="498" name="TextBox 11"/>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499" name="TextBox 12"/>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00" name="TextBox 1" descr="Statement slide: The database attack surface has expanded, not shrunk. SQL injection is largely fixed; eleven newer categories now dominate." title="Statement slide: The database attack surface has expanded, not shrunk. SQL injec"/>
          <p:cNvSpPr/>
          <p:nvPr/>
        </p:nvSpPr>
        <p:spPr>
          <a:xfrm>
            <a:off x="457200" y="228600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400" b="0" u="none" strike="noStrike">
                <a:solidFill>
                  <a:srgbClr val="FFFFFF"/>
                </a:solidFill>
                <a:effectLst/>
                <a:uFillTx/>
                <a:latin typeface="Calibri"/>
              </a:rPr>
              <a:t>The attack surface has</a:t>
            </a:r>
            <a:endParaRPr lang="en-US" sz="5400" b="0" u="none" strike="noStrike">
              <a:solidFill>
                <a:srgbClr val="FFFFFF"/>
              </a:solidFill>
              <a:effectLst/>
              <a:uFillTx/>
              <a:latin typeface="Arial"/>
            </a:endParaRPr>
          </a:p>
        </p:txBody>
      </p:sp>
      <p:sp>
        <p:nvSpPr>
          <p:cNvPr id="501" name="TextBox 2"/>
          <p:cNvSpPr/>
          <p:nvPr/>
        </p:nvSpPr>
        <p:spPr>
          <a:xfrm>
            <a:off x="457200" y="3200400"/>
            <a:ext cx="11246760" cy="13712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7200" b="1" u="none" strike="noStrike">
                <a:solidFill>
                  <a:srgbClr val="FF6B35"/>
                </a:solidFill>
                <a:effectLst/>
                <a:uFillTx/>
                <a:latin typeface="Calibri"/>
              </a:rPr>
              <a:t>EXPANDED, not shrunk.</a:t>
            </a:r>
            <a:endParaRPr lang="en-US" sz="7200" b="0" u="none" strike="noStrike">
              <a:solidFill>
                <a:srgbClr val="FFFFFF"/>
              </a:solidFill>
              <a:effectLst/>
              <a:uFillTx/>
              <a:latin typeface="Arial"/>
            </a:endParaRPr>
          </a:p>
        </p:txBody>
      </p:sp>
      <p:sp>
        <p:nvSpPr>
          <p:cNvPr id="502" name="TextBox 3"/>
          <p:cNvSpPr/>
          <p:nvPr/>
        </p:nvSpPr>
        <p:spPr>
          <a:xfrm>
            <a:off x="457200" y="4846320"/>
            <a:ext cx="11246760" cy="54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600" b="0" u="none" strike="noStrike">
                <a:solidFill>
                  <a:srgbClr val="00D4FF"/>
                </a:solidFill>
                <a:effectLst/>
                <a:uFillTx/>
                <a:latin typeface="Calibri"/>
              </a:rPr>
              <a:t>SQL injection was fixed. Eleven new categories took its place.</a:t>
            </a:r>
            <a:endParaRPr lang="en-US" sz="2600" b="0" u="none" strike="noStrike">
              <a:solidFill>
                <a:srgbClr val="FFFFFF"/>
              </a:solidFill>
              <a:effectLst/>
              <a:uFillTx/>
              <a:latin typeface="Arial"/>
            </a:endParaRPr>
          </a:p>
        </p:txBody>
      </p:sp>
      <p:sp>
        <p:nvSpPr>
          <p:cNvPr id="503"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04"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05" name="TextBox 1" descr="Attack category: NoSQL Injection. MongoDB JSON queries + raw user input = SQLi reborn. Key points: Login bypass: { username: 'alice', password: { $ne: 'x' } } | $where lets you inject JavaScript straight into the DB. | Couchbase N1QL is SQL-flavored — classic SQLi patterns apply. | Principle: ANY interpreter can be injected, not just SQL." title="Attack category: NoSQL Injection. MongoDB JSON queries + raw user input = SQLi r"/>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06"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NoSQL Injection</a:t>
            </a:r>
            <a:endParaRPr lang="en-US" sz="4200" b="0" u="none" strike="noStrike">
              <a:solidFill>
                <a:srgbClr val="FFFFFF"/>
              </a:solidFill>
              <a:effectLst/>
              <a:uFillTx/>
              <a:latin typeface="Arial"/>
            </a:endParaRPr>
          </a:p>
        </p:txBody>
      </p:sp>
      <p:sp>
        <p:nvSpPr>
          <p:cNvPr id="507"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08"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MongoDB JSON queries + raw user input = SQLi reborn.</a:t>
            </a:r>
            <a:endParaRPr lang="en-US" sz="2400" b="0" u="none" strike="noStrike">
              <a:solidFill>
                <a:srgbClr val="FFFFFF"/>
              </a:solidFill>
              <a:effectLst/>
              <a:uFillTx/>
              <a:latin typeface="Arial"/>
            </a:endParaRPr>
          </a:p>
        </p:txBody>
      </p:sp>
      <p:sp>
        <p:nvSpPr>
          <p:cNvPr id="509"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Login bypass: { username: 'alice', password: { $ne: 'x' } }</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$where lets you inject JavaScript straight into the DB.</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Couchbase N1QL is SQL-flavored — classic SQLi patterns apply.</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Principle: ANY interpreter can be injected, not just SQL.</a:t>
            </a:r>
            <a:endParaRPr lang="en-US" sz="2300" b="0" u="none" strike="noStrike">
              <a:solidFill>
                <a:srgbClr val="FFFFFF"/>
              </a:solidFill>
              <a:effectLst/>
              <a:uFillTx/>
              <a:latin typeface="Arial"/>
            </a:endParaRPr>
          </a:p>
        </p:txBody>
      </p:sp>
      <p:sp>
        <p:nvSpPr>
          <p:cNvPr id="510"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OWASP Top 10 2017: 'Dynamic queries... used directly in the interpreter.'</a:t>
            </a:r>
            <a:endParaRPr lang="en-US" sz="1600" b="0" u="none" strike="noStrike">
              <a:solidFill>
                <a:srgbClr val="FFFFFF"/>
              </a:solidFill>
              <a:effectLst/>
              <a:uFillTx/>
              <a:latin typeface="Arial"/>
            </a:endParaRPr>
          </a:p>
        </p:txBody>
      </p:sp>
      <p:sp>
        <p:nvSpPr>
          <p:cNvPr id="511"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12"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13" name="TextBox 1" descr="Attack category: Exposed &amp; Misconfigured Databases. Shodan and Censys are full of databases that should not be there. Key points: MongoDB bound to 0.0.0.0 with no auth. | Elasticsearch clusters wide open. Redis with no password. | Postgres pg_hba.conf set to 'host all all 0.0.0.0/0 trust'. | Meow attacks (2020): bots wiped thousands of open DBs for fun." title="Attack category: Exposed &amp; Misconfigured Databases. Shodan and Censys are full o"/>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1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Exposed &amp; Misconfigured Databases</a:t>
            </a:r>
            <a:endParaRPr lang="en-US" sz="4200" b="0" u="none" strike="noStrike">
              <a:solidFill>
                <a:srgbClr val="FFFFFF"/>
              </a:solidFill>
              <a:effectLst/>
              <a:uFillTx/>
              <a:latin typeface="Arial"/>
            </a:endParaRPr>
          </a:p>
        </p:txBody>
      </p:sp>
      <p:sp>
        <p:nvSpPr>
          <p:cNvPr id="51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1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Shodan and Censys are full of databases that should not be there.</a:t>
            </a:r>
            <a:endParaRPr lang="en-US" sz="2400" b="0" u="none" strike="noStrike">
              <a:solidFill>
                <a:srgbClr val="FFFFFF"/>
              </a:solidFill>
              <a:effectLst/>
              <a:uFillTx/>
              <a:latin typeface="Arial"/>
            </a:endParaRPr>
          </a:p>
        </p:txBody>
      </p:sp>
      <p:sp>
        <p:nvSpPr>
          <p:cNvPr id="51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MongoDB bound to 0.0.0.0 with no auth.</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Elasticsearch clusters wide open. Redis with no password.</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Postgres pg_hba.conf set to 'host all all 0.0.0.0/0 trust'.</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Meow attacks (2020): bots wiped thousands of open DBs for fun.</a:t>
            </a:r>
            <a:endParaRPr lang="en-US" sz="2300" b="0" u="none" strike="noStrike">
              <a:solidFill>
                <a:srgbClr val="FFFFFF"/>
              </a:solidFill>
              <a:effectLst/>
              <a:uFillTx/>
              <a:latin typeface="Arial"/>
            </a:endParaRPr>
          </a:p>
        </p:txBody>
      </p:sp>
      <p:sp>
        <p:nvSpPr>
          <p:cNvPr id="51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Action item: find what your org has bound to public interfaces. Today.</a:t>
            </a:r>
            <a:endParaRPr lang="en-US" sz="1600" b="0" u="none" strike="noStrike">
              <a:solidFill>
                <a:srgbClr val="FFFFFF"/>
              </a:solidFill>
              <a:effectLst/>
              <a:uFillTx/>
              <a:latin typeface="Arial"/>
            </a:endParaRPr>
          </a:p>
        </p:txBody>
      </p:sp>
      <p:sp>
        <p:nvSpPr>
          <p:cNvPr id="51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2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29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21" name="TextBox 1" descr="Attack category: Cloud Misconfigurations. In cloud, the bug is rarely the engine. It's the policy around it. Key points: Public S3 buckets containing DB dumps (Capital One pattern). | RDS snapshots marked public during a 2 a.m. debug session. | Lambda with s3:* on * because it 'worked the first time'. | Security groups: 0.0.0.0/0 on port 5432." title="Attack category: Cloud Misconfigurations. In cloud, the bug is rarely the engin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22"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Cloud Misconfigurations</a:t>
            </a:r>
            <a:endParaRPr lang="en-US" sz="4200" b="0" u="none" strike="noStrike">
              <a:solidFill>
                <a:srgbClr val="FFFFFF"/>
              </a:solidFill>
              <a:effectLst/>
              <a:uFillTx/>
              <a:latin typeface="Arial"/>
            </a:endParaRPr>
          </a:p>
        </p:txBody>
      </p:sp>
      <p:sp>
        <p:nvSpPr>
          <p:cNvPr id="523"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24"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In cloud, the bug is rarely the engine. It's the policy around it.</a:t>
            </a:r>
            <a:endParaRPr lang="en-US" sz="2400" b="0" u="none" strike="noStrike">
              <a:solidFill>
                <a:srgbClr val="FFFFFF"/>
              </a:solidFill>
              <a:effectLst/>
              <a:uFillTx/>
              <a:latin typeface="Arial"/>
            </a:endParaRPr>
          </a:p>
        </p:txBody>
      </p:sp>
      <p:sp>
        <p:nvSpPr>
          <p:cNvPr id="525"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Public S3 buckets full of DB dumps (Accenture, Verizon, etc.).</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Capital One 2019: SSRF tricked a WAF into leaking its IAM creds → S3.</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Lambda with s3:* on * because it 'worked the first time'.</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Security groups: 0.0.0.0/0 on port 5432.</a:t>
            </a:r>
            <a:endParaRPr lang="en-US" sz="2300" b="0" u="none" strike="noStrike">
              <a:solidFill>
                <a:srgbClr val="FFFFFF"/>
              </a:solidFill>
              <a:effectLst/>
              <a:uFillTx/>
              <a:latin typeface="Arial"/>
            </a:endParaRPr>
          </a:p>
        </p:txBody>
      </p:sp>
      <p:sp>
        <p:nvSpPr>
          <p:cNvPr id="526"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AWS Admin: 'Get rid of the Root Account, use IAM wherever necessary.'</a:t>
            </a:r>
            <a:endParaRPr lang="en-US" sz="1600" b="0" u="none" strike="noStrike">
              <a:solidFill>
                <a:srgbClr val="FFFFFF"/>
              </a:solidFill>
              <a:effectLst/>
              <a:uFillTx/>
              <a:latin typeface="Arial"/>
            </a:endParaRPr>
          </a:p>
        </p:txBody>
      </p:sp>
      <p:sp>
        <p:nvSpPr>
          <p:cNvPr id="527"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28"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29" name="TextBox 1" descr="Attack category: Privilege Escalation: DB → OS. Database accounts can become shell access. Three classic moves. Key points: MS SQL: xp_cmdshell — runs shell commands as the DB process. | PostgreSQL: COPY ... TO PROGRAM — pipes output to a shell. | MySQL: load a UDF .so file → sys_exec on the OS. | Pattern: every privileged DB feature is part of the attack surface." title="Attack category: Privilege Escalation: DB → OS. Database accounts can become sh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30"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Privilege Escalation: DB → OS</a:t>
            </a:r>
            <a:endParaRPr lang="en-US" sz="4200" b="0" u="none" strike="noStrike">
              <a:solidFill>
                <a:srgbClr val="FFFFFF"/>
              </a:solidFill>
              <a:effectLst/>
              <a:uFillTx/>
              <a:latin typeface="Arial"/>
            </a:endParaRPr>
          </a:p>
        </p:txBody>
      </p:sp>
      <p:sp>
        <p:nvSpPr>
          <p:cNvPr id="531"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32"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Database accounts can become shell access. Three classic moves.</a:t>
            </a:r>
            <a:endParaRPr lang="en-US" sz="2400" b="0" u="none" strike="noStrike">
              <a:solidFill>
                <a:srgbClr val="FFFFFF"/>
              </a:solidFill>
              <a:effectLst/>
              <a:uFillTx/>
              <a:latin typeface="Arial"/>
            </a:endParaRPr>
          </a:p>
        </p:txBody>
      </p:sp>
      <p:sp>
        <p:nvSpPr>
          <p:cNvPr id="533"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MS SQL: xp_cmdshell — runs shell commands as the DB process.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PostgreSQL: COPY ... TO PROGRAM — pipes output to a shell.</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MySQL: load a UDF .so file → sys_exec on the OS.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Pattern: every privileged DB feature is part of the attack surface.</a:t>
            </a:r>
            <a:endParaRPr lang="en-US" sz="2300" b="0" u="none" strike="noStrike">
              <a:solidFill>
                <a:srgbClr val="FFFFFF"/>
              </a:solidFill>
              <a:effectLst/>
              <a:uFillTx/>
              <a:latin typeface="Arial"/>
            </a:endParaRPr>
          </a:p>
        </p:txBody>
      </p:sp>
      <p:sp>
        <p:nvSpPr>
          <p:cNvPr id="534"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35"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36" name="TextBox 1" descr="Attack category: Data Lake Security Gaps. Everything ends up in S3 — including things you didn't mean to put there. Key points: Permissive IAM leaks from compute roles to humans. | No encryption-at-rest enforcement on bucket keys. | No write-side validation — anyone can drop poisoned data. | First question: WHO can write to the lake? WHO can read?" title="Attack category: Data Lake Security Gaps. Everything ends up in S3 — including t"/>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37"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Data Lake Security Gaps</a:t>
            </a:r>
            <a:endParaRPr lang="en-US" sz="4200" b="0" u="none" strike="noStrike">
              <a:solidFill>
                <a:srgbClr val="FFFFFF"/>
              </a:solidFill>
              <a:effectLst/>
              <a:uFillTx/>
              <a:latin typeface="Arial"/>
            </a:endParaRPr>
          </a:p>
        </p:txBody>
      </p:sp>
      <p:sp>
        <p:nvSpPr>
          <p:cNvPr id="538"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39"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Everything ends up in S3 — including things you didn't mean to put there.</a:t>
            </a:r>
            <a:endParaRPr lang="en-US" sz="2400" b="0" u="none" strike="noStrike">
              <a:solidFill>
                <a:srgbClr val="FFFFFF"/>
              </a:solidFill>
              <a:effectLst/>
              <a:uFillTx/>
              <a:latin typeface="Arial"/>
            </a:endParaRPr>
          </a:p>
        </p:txBody>
      </p:sp>
      <p:sp>
        <p:nvSpPr>
          <p:cNvPr id="540"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Permissive IAM leaks from compute roles to humans.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No encryption-at-rest enforcement on bucket keys.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No write-side validation — anyone can drop poisoned data.</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First question: WHO can write to the lake? WHO can read?</a:t>
            </a:r>
            <a:endParaRPr lang="en-US" sz="2300" b="0" u="none" strike="noStrike">
              <a:solidFill>
                <a:srgbClr val="FFFFFF"/>
              </a:solidFill>
              <a:effectLst/>
              <a:uFillTx/>
              <a:latin typeface="Arial"/>
            </a:endParaRPr>
          </a:p>
        </p:txBody>
      </p:sp>
      <p:sp>
        <p:nvSpPr>
          <p:cNvPr id="541" name="TextBox 6"/>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42" name="TextBox 7"/>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43" name="TextBox 1" descr="Attack category: Ransomware Loves Databases. The DB is the thing the business needs back — maximum leverage. Key points: Encrypt the live database. | Encrypt the BACKUPS (otherwise customer just restores). | Exfil a copy first — extort with disclosure even if they restore. | Defense: offline, immutable backups + tested restores." title="Attack category: Ransomware Loves Databases. The DB is the thing the business n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4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Ransomware Loves Databases</a:t>
            </a:r>
            <a:endParaRPr lang="en-US" sz="4200" b="0" u="none" strike="noStrike">
              <a:solidFill>
                <a:srgbClr val="FFFFFF"/>
              </a:solidFill>
              <a:effectLst/>
              <a:uFillTx/>
              <a:latin typeface="Arial"/>
            </a:endParaRPr>
          </a:p>
        </p:txBody>
      </p:sp>
      <p:sp>
        <p:nvSpPr>
          <p:cNvPr id="54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4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The DB is the thing the business needs back — maximum leverage.</a:t>
            </a:r>
            <a:endParaRPr lang="en-US" sz="2400" b="0" u="none" strike="noStrike">
              <a:solidFill>
                <a:srgbClr val="FFFFFF"/>
              </a:solidFill>
              <a:effectLst/>
              <a:uFillTx/>
              <a:latin typeface="Arial"/>
            </a:endParaRPr>
          </a:p>
        </p:txBody>
      </p:sp>
      <p:sp>
        <p:nvSpPr>
          <p:cNvPr id="54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Encrypt the live database.</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Encrypt the BACKUPS (otherwise customer just restores).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Exfil a copy first — extort with disclosure even if they restore.</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Defense: offline, immutable backups + tested restores.</a:t>
            </a:r>
            <a:endParaRPr lang="en-US" sz="2300" b="0" u="none" strike="noStrike">
              <a:solidFill>
                <a:srgbClr val="FFFFFF"/>
              </a:solidFill>
              <a:effectLst/>
              <a:uFillTx/>
              <a:latin typeface="Arial"/>
            </a:endParaRPr>
          </a:p>
        </p:txBody>
      </p:sp>
      <p:sp>
        <p:nvSpPr>
          <p:cNvPr id="54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Cybersecurity A&amp;D: WannaCry — patch was out 59 days prior.</a:t>
            </a:r>
            <a:endParaRPr lang="en-US" sz="1600" b="0" u="none" strike="noStrike">
              <a:solidFill>
                <a:srgbClr val="FFFFFF"/>
              </a:solidFill>
              <a:effectLst/>
              <a:uFillTx/>
              <a:latin typeface="Arial"/>
            </a:endParaRPr>
          </a:p>
        </p:txBody>
      </p:sp>
      <p:sp>
        <p:nvSpPr>
          <p:cNvPr id="54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5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33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51" name="TextBox 1" descr="Attack category: Credential Attacks. Default creds and leaked connection strings — two old, durable bugs. Key points: Redis: no password by default for years. | Elastic: no auth in the free tier — also for years. | Connection strings (postgres://user:pass@host) committed to Git. | Pre-commit secret scanning — fix this week." title="Attack category: Credential Attacks. Default creds and leaked connection strings"/>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52"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Credential Attacks</a:t>
            </a:r>
            <a:endParaRPr lang="en-US" sz="4200" b="0" u="none" strike="noStrike">
              <a:solidFill>
                <a:srgbClr val="FFFFFF"/>
              </a:solidFill>
              <a:effectLst/>
              <a:uFillTx/>
              <a:latin typeface="Arial"/>
            </a:endParaRPr>
          </a:p>
        </p:txBody>
      </p:sp>
      <p:sp>
        <p:nvSpPr>
          <p:cNvPr id="553"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54"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Default creds and leaked connection strings — two old, durable bugs.</a:t>
            </a:r>
            <a:endParaRPr lang="en-US" sz="2400" b="0" u="none" strike="noStrike">
              <a:solidFill>
                <a:srgbClr val="FFFFFF"/>
              </a:solidFill>
              <a:effectLst/>
              <a:uFillTx/>
              <a:latin typeface="Arial"/>
            </a:endParaRPr>
          </a:p>
        </p:txBody>
      </p:sp>
      <p:sp>
        <p:nvSpPr>
          <p:cNvPr id="555"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Redis: no password by default for years.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Elastic: no auth in the free tier — also for years.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Connection strings (postgres://user:pass@host) committed to Git.</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Pre-commit secret scanning — fix this week.</a:t>
            </a:r>
            <a:endParaRPr lang="en-US" sz="2300" b="0" u="none" strike="noStrike">
              <a:solidFill>
                <a:srgbClr val="FFFFFF"/>
              </a:solidFill>
              <a:effectLst/>
              <a:uFillTx/>
              <a:latin typeface="Arial"/>
            </a:endParaRPr>
          </a:p>
        </p:txBody>
      </p:sp>
      <p:sp>
        <p:nvSpPr>
          <p:cNvPr id="556"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Cybersecurity A&amp;D: stolen credentials = preferred vector for organized crime.</a:t>
            </a:r>
            <a:endParaRPr lang="en-US" sz="1600" b="0" u="none" strike="noStrike">
              <a:solidFill>
                <a:srgbClr val="FFFFFF"/>
              </a:solidFill>
              <a:effectLst/>
              <a:uFillTx/>
              <a:latin typeface="Arial"/>
            </a:endParaRPr>
          </a:p>
        </p:txBody>
      </p:sp>
      <p:sp>
        <p:nvSpPr>
          <p:cNvPr id="557"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58"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59" name="TextBox 1" descr="Attack category: Supply Chain — The DB Libraries You Trust. Your DB driver came from npm/PyPI/Maven. So did everyone else's. Key points: Malicious npm packages posing as ORMs / drivers. | Trojanized Docker Hub images for popular databases. | Compromised PostgreSQL extensions / MySQL plugins. | Extensions run with DB privileges — usually a lot." title="Attack category: Supply Chain — The DB Libraries You Trust. Your DB driver came "/>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60"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Supply Chain — The DB Libraries You Trust</a:t>
            </a:r>
            <a:endParaRPr lang="en-US" sz="4200" b="0" u="none" strike="noStrike">
              <a:solidFill>
                <a:srgbClr val="FFFFFF"/>
              </a:solidFill>
              <a:effectLst/>
              <a:uFillTx/>
              <a:latin typeface="Arial"/>
            </a:endParaRPr>
          </a:p>
        </p:txBody>
      </p:sp>
      <p:sp>
        <p:nvSpPr>
          <p:cNvPr id="561"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62"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Your DB driver came from npm/PyPI/Maven. So did everyone else's.</a:t>
            </a:r>
            <a:endParaRPr lang="en-US" sz="2400" b="0" u="none" strike="noStrike">
              <a:solidFill>
                <a:srgbClr val="FFFFFF"/>
              </a:solidFill>
              <a:effectLst/>
              <a:uFillTx/>
              <a:latin typeface="Arial"/>
            </a:endParaRPr>
          </a:p>
        </p:txBody>
      </p:sp>
      <p:sp>
        <p:nvSpPr>
          <p:cNvPr id="563"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Malicious npm packages posing as ORMs / drivers.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Trojanized Docker Hub images for popular databases.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Compromised PostgreSQL extensions / MySQL plugins.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Extensions run with DB privileges — usually a lot.</a:t>
            </a:r>
            <a:endParaRPr lang="en-US" sz="2300" b="0" u="none" strike="noStrike">
              <a:solidFill>
                <a:srgbClr val="FFFFFF"/>
              </a:solidFill>
              <a:effectLst/>
              <a:uFillTx/>
              <a:latin typeface="Arial"/>
            </a:endParaRPr>
          </a:p>
        </p:txBody>
      </p:sp>
      <p:sp>
        <p:nvSpPr>
          <p:cNvPr id="564"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Shostack: 'Threats tend to cluster around trust boundaries.'</a:t>
            </a:r>
            <a:endParaRPr lang="en-US" sz="1600" b="0" u="none" strike="noStrike">
              <a:solidFill>
                <a:srgbClr val="FFFFFF"/>
              </a:solidFill>
              <a:effectLst/>
              <a:uFillTx/>
              <a:latin typeface="Arial"/>
            </a:endParaRPr>
          </a:p>
        </p:txBody>
      </p:sp>
      <p:sp>
        <p:nvSpPr>
          <p:cNvPr id="565"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66"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35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67" name="TextBox 1" descr="Attack category: RAG / LLM Data Poisoning. Stored XSS for the AI era. Write into the knowledge base → LLM quotes it. Key points: Poisoned support article: 'To reset, send your password to...' | Poisoned internal doc: 'Company policy is to wire transfer to...' | Prompt injection embedded in retrieved documents. | Defense: strict write ACLs, provenance tags, human-in-the-loop." title="Attack category: RAG / LLM Data Poisoning. Stored XSS for the AI era. Write into"/>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68"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RAG / LLM Data Poisoning</a:t>
            </a:r>
            <a:endParaRPr lang="en-US" sz="4200" b="0" u="none" strike="noStrike">
              <a:solidFill>
                <a:srgbClr val="FFFFFF"/>
              </a:solidFill>
              <a:effectLst/>
              <a:uFillTx/>
              <a:latin typeface="Arial"/>
            </a:endParaRPr>
          </a:p>
        </p:txBody>
      </p:sp>
      <p:sp>
        <p:nvSpPr>
          <p:cNvPr id="569"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70"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Stored XSS for the AI era. Write into the knowledge base → LLM quotes it.</a:t>
            </a:r>
            <a:endParaRPr lang="en-US" sz="2400" b="0" u="none" strike="noStrike">
              <a:solidFill>
                <a:srgbClr val="FFFFFF"/>
              </a:solidFill>
              <a:effectLst/>
              <a:uFillTx/>
              <a:latin typeface="Arial"/>
            </a:endParaRPr>
          </a:p>
        </p:txBody>
      </p:sp>
      <p:sp>
        <p:nvSpPr>
          <p:cNvPr id="571"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Poisoned support article: 'To reset, send your password to...'</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Poisoned internal doc: 'Company policy is to wire transfer to...'</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Prompt injection embedded in retrieved documents.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Defense: strict write ACLs, provenance tags, human-in-the-loop.</a:t>
            </a:r>
            <a:endParaRPr lang="en-US" sz="2300" b="0" u="none" strike="noStrike">
              <a:solidFill>
                <a:srgbClr val="FFFFFF"/>
              </a:solidFill>
              <a:effectLst/>
              <a:uFillTx/>
              <a:latin typeface="Arial"/>
            </a:endParaRPr>
          </a:p>
        </p:txBody>
      </p:sp>
      <p:sp>
        <p:nvSpPr>
          <p:cNvPr id="572"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OWASP 2017 stored-XSS principle — substitute 'admin' with 'LLM'.</a:t>
            </a:r>
            <a:endParaRPr lang="en-US" sz="1600" b="0" u="none" strike="noStrike">
              <a:solidFill>
                <a:srgbClr val="FFFFFF"/>
              </a:solidFill>
              <a:effectLst/>
              <a:uFillTx/>
              <a:latin typeface="Arial"/>
            </a:endParaRPr>
          </a:p>
        </p:txBody>
      </p:sp>
      <p:sp>
        <p:nvSpPr>
          <p:cNvPr id="573"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74"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36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75" name="TextBox 1" descr="Attack category: Insider Threats &amp; DB-to-DB Lateral Movement. Databases aren't endpoints. They're nodes in a graph. Key points: Over-permissioned service accounts. Engineers with prod read. | DBAs with no audit trail. | Oracle DB_LINK, SQL Server linked servers, Postgres FDW. | Stored credentials → compromise A, hop to B, hop to C." title="Attack category: Insider Threats &amp; DB-to-DB Lateral Movement. Databases aren't e"/>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76"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Insider Threats &amp; DB-to-DB Lateral Movement</a:t>
            </a:r>
            <a:endParaRPr lang="en-US" sz="4200" b="0" u="none" strike="noStrike">
              <a:solidFill>
                <a:srgbClr val="FFFFFF"/>
              </a:solidFill>
              <a:effectLst/>
              <a:uFillTx/>
              <a:latin typeface="Arial"/>
            </a:endParaRPr>
          </a:p>
        </p:txBody>
      </p:sp>
      <p:sp>
        <p:nvSpPr>
          <p:cNvPr id="577"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78"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Databases aren't endpoints. They're nodes in a graph.</a:t>
            </a:r>
            <a:endParaRPr lang="en-US" sz="2400" b="0" u="none" strike="noStrike">
              <a:solidFill>
                <a:srgbClr val="FFFFFF"/>
              </a:solidFill>
              <a:effectLst/>
              <a:uFillTx/>
              <a:latin typeface="Arial"/>
            </a:endParaRPr>
          </a:p>
        </p:txBody>
      </p:sp>
      <p:sp>
        <p:nvSpPr>
          <p:cNvPr id="579"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Over-permissioned service accounts. Engineers with prod read.</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DBAs with no audit trail.</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Oracle DB_LINK, SQL Server linked servers, Postgres FDW.</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Stored credentials → compromise A, hop to B, hop to C.</a:t>
            </a:r>
            <a:endParaRPr lang="en-US" sz="2300" b="0" u="none" strike="noStrike">
              <a:solidFill>
                <a:srgbClr val="FFFFFF"/>
              </a:solidFill>
              <a:effectLst/>
              <a:uFillTx/>
              <a:latin typeface="Arial"/>
            </a:endParaRPr>
          </a:p>
        </p:txBody>
      </p:sp>
      <p:sp>
        <p:nvSpPr>
          <p:cNvPr id="580"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Web App Hacker's Handbook: poorly protected audit logs = a gold mine.</a:t>
            </a:r>
            <a:endParaRPr lang="en-US" sz="1600" b="0" u="none" strike="noStrike">
              <a:solidFill>
                <a:srgbClr val="FFFFFF"/>
              </a:solidFill>
              <a:effectLst/>
              <a:uFillTx/>
              <a:latin typeface="Arial"/>
            </a:endParaRPr>
          </a:p>
        </p:txBody>
      </p:sp>
      <p:sp>
        <p:nvSpPr>
          <p:cNvPr id="581"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82"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37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83" name="TextBox 1" descr="Attack category: Backup &amp; Snapshot Exposure. Same data as prod, half the love. Key points: Unencrypted DB backups on shares readable by Domain Users. | Cloud snapshots shared cross-account, never un-shared. | Off-site backups to vendors whose posture you never checked. | Backups are last resort. Apply identify-authN-authZ-audit." title="Attack category: Backup &amp; Snapshot Exposure. Same data as prod, half the love. K"/>
          <p:cNvSpPr/>
          <p:nvPr/>
        </p:nvSpPr>
        <p:spPr>
          <a:xfrm>
            <a:off x="457200" y="365760"/>
            <a:ext cx="7311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5400" b="0" u="none" strike="noStrike">
                <a:solidFill>
                  <a:srgbClr val="FF6B35"/>
                </a:solidFill>
                <a:effectLst/>
                <a:uFillTx/>
                <a:latin typeface="Calibri"/>
              </a:rPr>
              <a:t>⚠</a:t>
            </a:r>
            <a:endParaRPr lang="en-US" sz="5400" b="0" u="none" strike="noStrike">
              <a:solidFill>
                <a:srgbClr val="FFFFFF"/>
              </a:solidFill>
              <a:effectLst/>
              <a:uFillTx/>
              <a:latin typeface="Arial"/>
            </a:endParaRPr>
          </a:p>
        </p:txBody>
      </p:sp>
      <p:sp>
        <p:nvSpPr>
          <p:cNvPr id="584" name="TextBox 2"/>
          <p:cNvSpPr/>
          <p:nvPr/>
        </p:nvSpPr>
        <p:spPr>
          <a:xfrm>
            <a:off x="1280160" y="411480"/>
            <a:ext cx="1042380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FF6B35"/>
                </a:solidFill>
                <a:effectLst/>
                <a:uFillTx/>
                <a:latin typeface="Calibri"/>
              </a:rPr>
              <a:t>Backup &amp; Snapshot Exposure</a:t>
            </a:r>
            <a:endParaRPr lang="en-US" sz="4200" b="0" u="none" strike="noStrike">
              <a:solidFill>
                <a:srgbClr val="FFFFFF"/>
              </a:solidFill>
              <a:effectLst/>
              <a:uFillTx/>
              <a:latin typeface="Arial"/>
            </a:endParaRPr>
          </a:p>
        </p:txBody>
      </p:sp>
      <p:sp>
        <p:nvSpPr>
          <p:cNvPr id="585" name="Rectangle 3"/>
          <p:cNvSpPr/>
          <p:nvPr/>
        </p:nvSpPr>
        <p:spPr>
          <a:xfrm>
            <a:off x="457200" y="1417320"/>
            <a:ext cx="1828440" cy="54360"/>
          </a:xfrm>
          <a:prstGeom prst="rect">
            <a:avLst/>
          </a:prstGeom>
          <a:solidFill>
            <a:srgbClr val="FF6B3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86" name="TextBox 4"/>
          <p:cNvSpPr/>
          <p:nvPr/>
        </p:nvSpPr>
        <p:spPr>
          <a:xfrm>
            <a:off x="457200" y="1600200"/>
            <a:ext cx="11246760" cy="82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400" b="0" u="none" strike="noStrike">
                <a:solidFill>
                  <a:srgbClr val="00D4FF"/>
                </a:solidFill>
                <a:effectLst/>
                <a:uFillTx/>
                <a:latin typeface="Calibri"/>
              </a:rPr>
              <a:t>Same data as prod, half the love.</a:t>
            </a:r>
            <a:endParaRPr lang="en-US" sz="2400" b="0" u="none" strike="noStrike">
              <a:solidFill>
                <a:srgbClr val="FFFFFF"/>
              </a:solidFill>
              <a:effectLst/>
              <a:uFillTx/>
              <a:latin typeface="Arial"/>
            </a:endParaRPr>
          </a:p>
        </p:txBody>
      </p:sp>
      <p:sp>
        <p:nvSpPr>
          <p:cNvPr id="587" name="TextBox 5"/>
          <p:cNvSpPr/>
          <p:nvPr/>
        </p:nvSpPr>
        <p:spPr>
          <a:xfrm>
            <a:off x="640080" y="2606040"/>
            <a:ext cx="10972440" cy="3291480"/>
          </a:xfrm>
          <a:prstGeom prst="rect">
            <a:avLst/>
          </a:prstGeom>
          <a:noFill/>
          <a:ln w="0">
            <a:noFill/>
          </a:ln>
        </p:spPr>
        <p:style>
          <a:lnRef idx="0"/>
          <a:fillRef idx="0"/>
          <a:effectRef idx="0"/>
          <a:fontRef idx="minor"/>
        </p:style>
        <p:txBody>
          <a:bodyPr lIns="90000" tIns="45000" rIns="90000" bIns="45000" anchor="t">
            <a:spAutoFit/>
          </a:bodyPr>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Unencrypted DB backups on shares readable by Domain Users.</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Cloud snapshots shared cross-account, never un-shared.</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Off-site backups to vendors whose posture you never checked.</a:t>
            </a:r>
            <a:endParaRPr lang="en-US" sz="2300" b="0" u="none" strike="noStrike">
              <a:solidFill>
                <a:srgbClr val="FFFFFF"/>
              </a:solidFill>
              <a:effectLst/>
              <a:uFillTx/>
              <a:latin typeface="Arial"/>
            </a:endParaRPr>
          </a:p>
          <a:p>
            <a:pPr defTabSz="457200">
              <a:lnSpc>
                <a:spcPct val="140000"/>
              </a:lnSpc>
            </a:pPr>
            <a:r>
              <a:rPr lang="en-US" sz="2300" b="1" u="none" strike="noStrike">
                <a:solidFill>
                  <a:srgbClr val="00D4FF"/>
                </a:solidFill>
                <a:effectLst/>
                <a:uFillTx/>
                <a:latin typeface="Calibri"/>
              </a:rPr>
              <a:t>● </a:t>
            </a:r>
            <a:r>
              <a:rPr lang="en-US" sz="2300" b="0" u="none" strike="noStrike">
                <a:solidFill>
                  <a:srgbClr val="FFFFFF"/>
                </a:solidFill>
                <a:effectLst/>
                <a:uFillTx/>
                <a:latin typeface="Calibri"/>
              </a:rPr>
              <a:t>Backups are last resort. Apply identify-authN-authZ-audit.</a:t>
            </a:r>
            <a:endParaRPr lang="en-US" sz="2300" b="0" u="none" strike="noStrike">
              <a:solidFill>
                <a:srgbClr val="FFFFFF"/>
              </a:solidFill>
              <a:effectLst/>
              <a:uFillTx/>
              <a:latin typeface="Arial"/>
            </a:endParaRPr>
          </a:p>
        </p:txBody>
      </p:sp>
      <p:sp>
        <p:nvSpPr>
          <p:cNvPr id="588" name="TextBox 6"/>
          <p:cNvSpPr/>
          <p:nvPr/>
        </p:nvSpPr>
        <p:spPr>
          <a:xfrm>
            <a:off x="457200" y="5989320"/>
            <a:ext cx="11246760" cy="36540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600" b="0" u="none" strike="noStrike">
                <a:solidFill>
                  <a:srgbClr val="CCCCD6"/>
                </a:solidFill>
                <a:effectLst/>
                <a:uFillTx/>
                <a:latin typeface="Calibri"/>
              </a:rPr>
              <a:t>Schneier: identify, authenticate, authorize, audit — same model.</a:t>
            </a:r>
            <a:endParaRPr lang="en-US" sz="1600" b="0" u="none" strike="noStrike">
              <a:solidFill>
                <a:srgbClr val="FFFFFF"/>
              </a:solidFill>
              <a:effectLst/>
              <a:uFillTx/>
              <a:latin typeface="Arial"/>
            </a:endParaRPr>
          </a:p>
        </p:txBody>
      </p:sp>
      <p:sp>
        <p:nvSpPr>
          <p:cNvPr id="589" name="TextBox 7"/>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90" name="TextBox 8"/>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38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91" name="TextBox 1" descr="Recap of the mental map: definition, ten families, cloud shared responsibility, markdown as a database, and the expanded attack surface." title="Recap of the mental map: definition, ten families, cloud shared responsibility, "/>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Your Mental Map</a:t>
            </a:r>
            <a:endParaRPr lang="en-US" sz="4200" b="0" u="none" strike="noStrike">
              <a:solidFill>
                <a:srgbClr val="FFFFFF"/>
              </a:solidFill>
              <a:effectLst/>
              <a:uFillTx/>
              <a:latin typeface="Arial"/>
            </a:endParaRPr>
          </a:p>
        </p:txBody>
      </p:sp>
      <p:sp>
        <p:nvSpPr>
          <p:cNvPr id="592"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93" name="TextBox 3"/>
          <p:cNvSpPr/>
          <p:nvPr/>
        </p:nvSpPr>
        <p:spPr>
          <a:xfrm>
            <a:off x="640080" y="1828800"/>
            <a:ext cx="10972440" cy="4114440"/>
          </a:xfrm>
          <a:prstGeom prst="rect">
            <a:avLst/>
          </a:prstGeom>
          <a:noFill/>
          <a:ln w="0">
            <a:noFill/>
          </a:ln>
        </p:spPr>
        <p:style>
          <a:lnRef idx="0"/>
          <a:fillRef idx="0"/>
          <a:effectRef idx="0"/>
          <a:fontRef idx="minor"/>
        </p:style>
        <p:txBody>
          <a:bodyPr lIns="90000" tIns="45000" rIns="90000" bIns="45000" anchor="t">
            <a:spAutoFit/>
          </a:bodyPr>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A database = organized storage + a way to ask questions.</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Ten families, each with its own gotcha.</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Cloud = shared responsibility. You own config &amp; data.</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Markdown is a database for LLMs. RAG poisoning is real.</a:t>
            </a:r>
            <a:endParaRPr lang="en-US" sz="2800" b="0" u="none" strike="noStrike">
              <a:solidFill>
                <a:srgbClr val="FFFFFF"/>
              </a:solidFill>
              <a:effectLst/>
              <a:uFillTx/>
              <a:latin typeface="Arial"/>
            </a:endParaRPr>
          </a:p>
          <a:p>
            <a:pPr defTabSz="457200">
              <a:lnSpc>
                <a:spcPct val="155000"/>
              </a:lnSpc>
            </a:pPr>
            <a:r>
              <a:rPr lang="en-US" sz="2800" b="1" u="none" strike="noStrike">
                <a:solidFill>
                  <a:srgbClr val="00D4FF"/>
                </a:solidFill>
                <a:effectLst/>
                <a:uFillTx/>
                <a:latin typeface="Calibri"/>
              </a:rPr>
              <a:t>✓ </a:t>
            </a:r>
            <a:r>
              <a:rPr lang="en-US" sz="2800" b="0" u="none" strike="noStrike">
                <a:solidFill>
                  <a:srgbClr val="FFFFFF"/>
                </a:solidFill>
                <a:effectLst/>
                <a:uFillTx/>
                <a:latin typeface="Calibri"/>
              </a:rPr>
              <a:t>SQLi got fixed. The attack surface expanded.</a:t>
            </a:r>
            <a:endParaRPr lang="en-US" sz="2800" b="0" u="none" strike="noStrike">
              <a:solidFill>
                <a:srgbClr val="FFFFFF"/>
              </a:solidFill>
              <a:effectLst/>
              <a:uFillTx/>
              <a:latin typeface="Arial"/>
            </a:endParaRPr>
          </a:p>
        </p:txBody>
      </p:sp>
      <p:sp>
        <p:nvSpPr>
          <p:cNvPr id="594" name="TextBox 4"/>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595" name="TextBox 5"/>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39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596" name="TextBox 1" descr="Five concrete next steps: install PostgreSQL, do PortSwigger SQLi labs, browse Shodan/Censys legally, read breach reports, list your org's databases." title="Five concrete next steps: install PostgreSQL, do PortSwigger SQLi labs, browse S"/>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What to Do Next Week</a:t>
            </a:r>
            <a:endParaRPr lang="en-US" sz="4200" b="0" u="none" strike="noStrike">
              <a:solidFill>
                <a:srgbClr val="FFFFFF"/>
              </a:solidFill>
              <a:effectLst/>
              <a:uFillTx/>
              <a:latin typeface="Arial"/>
            </a:endParaRPr>
          </a:p>
        </p:txBody>
      </p:sp>
      <p:sp>
        <p:nvSpPr>
          <p:cNvPr id="597"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598" name="TextBox 3"/>
          <p:cNvSpPr/>
          <p:nvPr/>
        </p:nvSpPr>
        <p:spPr>
          <a:xfrm>
            <a:off x="548640" y="178308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1.</a:t>
            </a:r>
            <a:endParaRPr lang="en-US" sz="3600" b="0" u="none" strike="noStrike">
              <a:solidFill>
                <a:srgbClr val="FFFFFF"/>
              </a:solidFill>
              <a:effectLst/>
              <a:uFillTx/>
              <a:latin typeface="Arial"/>
            </a:endParaRPr>
          </a:p>
        </p:txBody>
      </p:sp>
      <p:sp>
        <p:nvSpPr>
          <p:cNvPr id="599" name="TextBox 4"/>
          <p:cNvSpPr/>
          <p:nvPr/>
        </p:nvSpPr>
        <p:spPr>
          <a:xfrm>
            <a:off x="1554480" y="182880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Install PostgreSQL locally. Write a SELECT.</a:t>
            </a:r>
            <a:endParaRPr lang="en-US" sz="2600" b="0" u="none" strike="noStrike">
              <a:solidFill>
                <a:srgbClr val="FFFFFF"/>
              </a:solidFill>
              <a:effectLst/>
              <a:uFillTx/>
              <a:latin typeface="Arial"/>
            </a:endParaRPr>
          </a:p>
        </p:txBody>
      </p:sp>
      <p:sp>
        <p:nvSpPr>
          <p:cNvPr id="600" name="TextBox 5"/>
          <p:cNvSpPr/>
          <p:nvPr/>
        </p:nvSpPr>
        <p:spPr>
          <a:xfrm>
            <a:off x="548640" y="260604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2.</a:t>
            </a:r>
            <a:endParaRPr lang="en-US" sz="3600" b="0" u="none" strike="noStrike">
              <a:solidFill>
                <a:srgbClr val="FFFFFF"/>
              </a:solidFill>
              <a:effectLst/>
              <a:uFillTx/>
              <a:latin typeface="Arial"/>
            </a:endParaRPr>
          </a:p>
        </p:txBody>
      </p:sp>
      <p:sp>
        <p:nvSpPr>
          <p:cNvPr id="601" name="TextBox 6"/>
          <p:cNvSpPr/>
          <p:nvPr/>
        </p:nvSpPr>
        <p:spPr>
          <a:xfrm>
            <a:off x="1554480" y="265176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Do the PortSwigger SQL injection labs (free).</a:t>
            </a:r>
            <a:endParaRPr lang="en-US" sz="2600" b="0" u="none" strike="noStrike">
              <a:solidFill>
                <a:srgbClr val="FFFFFF"/>
              </a:solidFill>
              <a:effectLst/>
              <a:uFillTx/>
              <a:latin typeface="Arial"/>
            </a:endParaRPr>
          </a:p>
        </p:txBody>
      </p:sp>
      <p:sp>
        <p:nvSpPr>
          <p:cNvPr id="602" name="TextBox 7"/>
          <p:cNvSpPr/>
          <p:nvPr/>
        </p:nvSpPr>
        <p:spPr>
          <a:xfrm>
            <a:off x="548640" y="342900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3.</a:t>
            </a:r>
            <a:endParaRPr lang="en-US" sz="3600" b="0" u="none" strike="noStrike">
              <a:solidFill>
                <a:srgbClr val="FFFFFF"/>
              </a:solidFill>
              <a:effectLst/>
              <a:uFillTx/>
              <a:latin typeface="Arial"/>
            </a:endParaRPr>
          </a:p>
        </p:txBody>
      </p:sp>
      <p:sp>
        <p:nvSpPr>
          <p:cNvPr id="603" name="TextBox 8"/>
          <p:cNvSpPr/>
          <p:nvPr/>
        </p:nvSpPr>
        <p:spPr>
          <a:xfrm>
            <a:off x="1554480" y="347472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Browse Shodan / Censys — only systems you own.</a:t>
            </a:r>
            <a:endParaRPr lang="en-US" sz="2600" b="0" u="none" strike="noStrike">
              <a:solidFill>
                <a:srgbClr val="FFFFFF"/>
              </a:solidFill>
              <a:effectLst/>
              <a:uFillTx/>
              <a:latin typeface="Arial"/>
            </a:endParaRPr>
          </a:p>
        </p:txBody>
      </p:sp>
      <p:sp>
        <p:nvSpPr>
          <p:cNvPr id="604" name="TextBox 9"/>
          <p:cNvSpPr/>
          <p:nvPr/>
        </p:nvSpPr>
        <p:spPr>
          <a:xfrm>
            <a:off x="548640" y="425196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4.</a:t>
            </a:r>
            <a:endParaRPr lang="en-US" sz="3600" b="0" u="none" strike="noStrike">
              <a:solidFill>
                <a:srgbClr val="FFFFFF"/>
              </a:solidFill>
              <a:effectLst/>
              <a:uFillTx/>
              <a:latin typeface="Arial"/>
            </a:endParaRPr>
          </a:p>
        </p:txBody>
      </p:sp>
      <p:sp>
        <p:nvSpPr>
          <p:cNvPr id="605" name="TextBox 10"/>
          <p:cNvSpPr/>
          <p:nvPr/>
        </p:nvSpPr>
        <p:spPr>
          <a:xfrm>
            <a:off x="1554480" y="429768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Read a breach report — Capital One, Equifax, MOVEit.</a:t>
            </a:r>
            <a:endParaRPr lang="en-US" sz="2600" b="0" u="none" strike="noStrike">
              <a:solidFill>
                <a:srgbClr val="FFFFFF"/>
              </a:solidFill>
              <a:effectLst/>
              <a:uFillTx/>
              <a:latin typeface="Arial"/>
            </a:endParaRPr>
          </a:p>
        </p:txBody>
      </p:sp>
      <p:sp>
        <p:nvSpPr>
          <p:cNvPr id="606" name="TextBox 11"/>
          <p:cNvSpPr/>
          <p:nvPr/>
        </p:nvSpPr>
        <p:spPr>
          <a:xfrm>
            <a:off x="548640" y="5074920"/>
            <a:ext cx="91404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00FF41"/>
                </a:solidFill>
                <a:effectLst/>
                <a:uFillTx/>
                <a:latin typeface="Calibri"/>
              </a:rPr>
              <a:t>5.</a:t>
            </a:r>
            <a:endParaRPr lang="en-US" sz="3600" b="0" u="none" strike="noStrike">
              <a:solidFill>
                <a:srgbClr val="FFFFFF"/>
              </a:solidFill>
              <a:effectLst/>
              <a:uFillTx/>
              <a:latin typeface="Arial"/>
            </a:endParaRPr>
          </a:p>
        </p:txBody>
      </p:sp>
      <p:sp>
        <p:nvSpPr>
          <p:cNvPr id="607" name="TextBox 12"/>
          <p:cNvSpPr/>
          <p:nvPr/>
        </p:nvSpPr>
        <p:spPr>
          <a:xfrm>
            <a:off x="1554480" y="5120640"/>
            <a:ext cx="10240920" cy="685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0" u="none" strike="noStrike">
                <a:solidFill>
                  <a:srgbClr val="FFFFFF"/>
                </a:solidFill>
                <a:effectLst/>
                <a:uFillTx/>
                <a:latin typeface="Calibri"/>
              </a:rPr>
              <a:t>Find out what databases YOUR org actually runs.</a:t>
            </a:r>
            <a:endParaRPr lang="en-US" sz="2600" b="0" u="none" strike="noStrike">
              <a:solidFill>
                <a:srgbClr val="FFFFFF"/>
              </a:solidFill>
              <a:effectLst/>
              <a:uFillTx/>
              <a:latin typeface="Arial"/>
            </a:endParaRPr>
          </a:p>
        </p:txBody>
      </p:sp>
      <p:sp>
        <p:nvSpPr>
          <p:cNvPr id="608" name="TextBox 1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609" name="TextBox 14"/>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40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10" name="TextBox 1" descr="Resource list: PortSwigger Web Security Academy, SQLBolt, Use The Index Luke, DB-Engines, and the OWASP Top 10." title="Resource list: PortSwigger Web Security Academy, SQLBolt, Use The Index Luke, DB"/>
          <p:cNvSpPr/>
          <p:nvPr/>
        </p:nvSpPr>
        <p:spPr>
          <a:xfrm>
            <a:off x="457200" y="320040"/>
            <a:ext cx="11246760" cy="10054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4200" b="1" u="none" strike="noStrike">
                <a:solidFill>
                  <a:srgbClr val="00FF41"/>
                </a:solidFill>
                <a:effectLst/>
                <a:uFillTx/>
                <a:latin typeface="Calibri"/>
              </a:rPr>
              <a:t>Resources Worth Bookmarking</a:t>
            </a:r>
            <a:endParaRPr lang="en-US" sz="4200" b="0" u="none" strike="noStrike">
              <a:solidFill>
                <a:srgbClr val="FFFFFF"/>
              </a:solidFill>
              <a:effectLst/>
              <a:uFillTx/>
              <a:latin typeface="Arial"/>
            </a:endParaRPr>
          </a:p>
        </p:txBody>
      </p:sp>
      <p:sp>
        <p:nvSpPr>
          <p:cNvPr id="611"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12" name="TextBox 3"/>
          <p:cNvSpPr/>
          <p:nvPr/>
        </p:nvSpPr>
        <p:spPr>
          <a:xfrm>
            <a:off x="548640" y="182880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3" name="TextBox 4"/>
          <p:cNvSpPr/>
          <p:nvPr/>
        </p:nvSpPr>
        <p:spPr>
          <a:xfrm>
            <a:off x="1097280" y="182880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PortSwigger Web Security Academy</a:t>
            </a:r>
            <a:endParaRPr lang="en-US" sz="2600" b="0" u="none" strike="noStrike">
              <a:solidFill>
                <a:srgbClr val="FFFFFF"/>
              </a:solidFill>
              <a:effectLst/>
              <a:uFillTx/>
              <a:latin typeface="Arial"/>
            </a:endParaRPr>
          </a:p>
        </p:txBody>
      </p:sp>
      <p:sp>
        <p:nvSpPr>
          <p:cNvPr id="614" name="TextBox 5"/>
          <p:cNvSpPr/>
          <p:nvPr/>
        </p:nvSpPr>
        <p:spPr>
          <a:xfrm>
            <a:off x="7040880" y="182880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portswigger.net/web-security</a:t>
            </a:r>
            <a:endParaRPr lang="en-US" sz="2200" b="0" u="none" strike="noStrike">
              <a:solidFill>
                <a:srgbClr val="FFFFFF"/>
              </a:solidFill>
              <a:effectLst/>
              <a:uFillTx/>
              <a:latin typeface="Arial"/>
            </a:endParaRPr>
          </a:p>
        </p:txBody>
      </p:sp>
      <p:sp>
        <p:nvSpPr>
          <p:cNvPr id="615" name="TextBox 6"/>
          <p:cNvSpPr/>
          <p:nvPr/>
        </p:nvSpPr>
        <p:spPr>
          <a:xfrm>
            <a:off x="548640" y="260604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6" name="TextBox 7"/>
          <p:cNvSpPr/>
          <p:nvPr/>
        </p:nvSpPr>
        <p:spPr>
          <a:xfrm>
            <a:off x="1097280" y="260604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SQLBolt</a:t>
            </a:r>
            <a:endParaRPr lang="en-US" sz="2600" b="0" u="none" strike="noStrike">
              <a:solidFill>
                <a:srgbClr val="FFFFFF"/>
              </a:solidFill>
              <a:effectLst/>
              <a:uFillTx/>
              <a:latin typeface="Arial"/>
            </a:endParaRPr>
          </a:p>
        </p:txBody>
      </p:sp>
      <p:sp>
        <p:nvSpPr>
          <p:cNvPr id="617" name="TextBox 8"/>
          <p:cNvSpPr/>
          <p:nvPr/>
        </p:nvSpPr>
        <p:spPr>
          <a:xfrm>
            <a:off x="7040880" y="260604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sqlbolt.com</a:t>
            </a:r>
            <a:endParaRPr lang="en-US" sz="2200" b="0" u="none" strike="noStrike">
              <a:solidFill>
                <a:srgbClr val="FFFFFF"/>
              </a:solidFill>
              <a:effectLst/>
              <a:uFillTx/>
              <a:latin typeface="Arial"/>
            </a:endParaRPr>
          </a:p>
        </p:txBody>
      </p:sp>
      <p:sp>
        <p:nvSpPr>
          <p:cNvPr id="618" name="TextBox 9"/>
          <p:cNvSpPr/>
          <p:nvPr/>
        </p:nvSpPr>
        <p:spPr>
          <a:xfrm>
            <a:off x="548640" y="338328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19" name="TextBox 10"/>
          <p:cNvSpPr/>
          <p:nvPr/>
        </p:nvSpPr>
        <p:spPr>
          <a:xfrm>
            <a:off x="1097280" y="338328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Use The Index, Luke</a:t>
            </a:r>
            <a:endParaRPr lang="en-US" sz="2600" b="0" u="none" strike="noStrike">
              <a:solidFill>
                <a:srgbClr val="FFFFFF"/>
              </a:solidFill>
              <a:effectLst/>
              <a:uFillTx/>
              <a:latin typeface="Arial"/>
            </a:endParaRPr>
          </a:p>
        </p:txBody>
      </p:sp>
      <p:sp>
        <p:nvSpPr>
          <p:cNvPr id="620" name="TextBox 11"/>
          <p:cNvSpPr/>
          <p:nvPr/>
        </p:nvSpPr>
        <p:spPr>
          <a:xfrm>
            <a:off x="7040880" y="338328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use-the-index-luke.com</a:t>
            </a:r>
            <a:endParaRPr lang="en-US" sz="2200" b="0" u="none" strike="noStrike">
              <a:solidFill>
                <a:srgbClr val="FFFFFF"/>
              </a:solidFill>
              <a:effectLst/>
              <a:uFillTx/>
              <a:latin typeface="Arial"/>
            </a:endParaRPr>
          </a:p>
        </p:txBody>
      </p:sp>
      <p:sp>
        <p:nvSpPr>
          <p:cNvPr id="621" name="TextBox 12"/>
          <p:cNvSpPr/>
          <p:nvPr/>
        </p:nvSpPr>
        <p:spPr>
          <a:xfrm>
            <a:off x="548640" y="416052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22" name="TextBox 13"/>
          <p:cNvSpPr/>
          <p:nvPr/>
        </p:nvSpPr>
        <p:spPr>
          <a:xfrm>
            <a:off x="1097280" y="416052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DB-Engines Ranking</a:t>
            </a:r>
            <a:endParaRPr lang="en-US" sz="2600" b="0" u="none" strike="noStrike">
              <a:solidFill>
                <a:srgbClr val="FFFFFF"/>
              </a:solidFill>
              <a:effectLst/>
              <a:uFillTx/>
              <a:latin typeface="Arial"/>
            </a:endParaRPr>
          </a:p>
        </p:txBody>
      </p:sp>
      <p:sp>
        <p:nvSpPr>
          <p:cNvPr id="623" name="TextBox 14"/>
          <p:cNvSpPr/>
          <p:nvPr/>
        </p:nvSpPr>
        <p:spPr>
          <a:xfrm>
            <a:off x="7040880" y="416052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db-engines.com</a:t>
            </a:r>
            <a:endParaRPr lang="en-US" sz="2200" b="0" u="none" strike="noStrike">
              <a:solidFill>
                <a:srgbClr val="FFFFFF"/>
              </a:solidFill>
              <a:effectLst/>
              <a:uFillTx/>
              <a:latin typeface="Arial"/>
            </a:endParaRPr>
          </a:p>
        </p:txBody>
      </p:sp>
      <p:sp>
        <p:nvSpPr>
          <p:cNvPr id="624" name="TextBox 15"/>
          <p:cNvSpPr/>
          <p:nvPr/>
        </p:nvSpPr>
        <p:spPr>
          <a:xfrm>
            <a:off x="548640" y="4937760"/>
            <a:ext cx="4568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800" b="0" u="none" strike="noStrike">
                <a:solidFill>
                  <a:srgbClr val="00FF41"/>
                </a:solidFill>
                <a:effectLst/>
                <a:uFillTx/>
                <a:latin typeface="Calibri"/>
              </a:rPr>
              <a:t>◆</a:t>
            </a:r>
            <a:endParaRPr lang="en-US" sz="2800" b="0" u="none" strike="noStrike">
              <a:solidFill>
                <a:srgbClr val="FFFFFF"/>
              </a:solidFill>
              <a:effectLst/>
              <a:uFillTx/>
              <a:latin typeface="Arial"/>
            </a:endParaRPr>
          </a:p>
        </p:txBody>
      </p:sp>
      <p:sp>
        <p:nvSpPr>
          <p:cNvPr id="625" name="TextBox 16"/>
          <p:cNvSpPr/>
          <p:nvPr/>
        </p:nvSpPr>
        <p:spPr>
          <a:xfrm>
            <a:off x="1097280" y="4937760"/>
            <a:ext cx="594324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600" b="1" u="none" strike="noStrike">
                <a:solidFill>
                  <a:srgbClr val="FFFFFF"/>
                </a:solidFill>
                <a:effectLst/>
                <a:uFillTx/>
                <a:latin typeface="Calibri"/>
              </a:rPr>
              <a:t>OWASP Top 10</a:t>
            </a:r>
            <a:endParaRPr lang="en-US" sz="2600" b="0" u="none" strike="noStrike">
              <a:solidFill>
                <a:srgbClr val="FFFFFF"/>
              </a:solidFill>
              <a:effectLst/>
              <a:uFillTx/>
              <a:latin typeface="Arial"/>
            </a:endParaRPr>
          </a:p>
        </p:txBody>
      </p:sp>
      <p:sp>
        <p:nvSpPr>
          <p:cNvPr id="626" name="TextBox 17"/>
          <p:cNvSpPr/>
          <p:nvPr/>
        </p:nvSpPr>
        <p:spPr>
          <a:xfrm>
            <a:off x="7040880" y="4937760"/>
            <a:ext cx="493740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2200" b="0" u="none" strike="noStrike">
                <a:solidFill>
                  <a:srgbClr val="00D4FF"/>
                </a:solidFill>
                <a:effectLst/>
                <a:uFillTx/>
                <a:latin typeface="Calibri"/>
              </a:rPr>
              <a:t>owasp.org/Top10/</a:t>
            </a:r>
            <a:endParaRPr lang="en-US" sz="2200" b="0" u="none" strike="noStrike">
              <a:solidFill>
                <a:srgbClr val="FFFFFF"/>
              </a:solidFill>
              <a:effectLst/>
              <a:uFillTx/>
              <a:latin typeface="Arial"/>
            </a:endParaRPr>
          </a:p>
        </p:txBody>
      </p:sp>
      <p:sp>
        <p:nvSpPr>
          <p:cNvPr id="627" name="TextBox 18"/>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628" name="TextBox 19"/>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41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29" name="TextBox 1" descr="Closing slide: Databases are where the money is. Literally. Now you know where to look. Ronin 48." title="Closing slide: Databases are where the money is. Literally. Now you know where t"/>
          <p:cNvSpPr/>
          <p:nvPr/>
        </p:nvSpPr>
        <p:spPr>
          <a:xfrm>
            <a:off x="457200" y="1371600"/>
            <a:ext cx="11246760" cy="974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800" b="1" u="none" strike="noStrike">
                <a:solidFill>
                  <a:srgbClr val="FFFFFF"/>
                </a:solidFill>
                <a:effectLst/>
                <a:uFillTx/>
                <a:latin typeface="Calibri"/>
              </a:rPr>
              <a:t>“Databases are where</a:t>
            </a:r>
            <a:endParaRPr lang="en-US" sz="5800" b="0" u="none" strike="noStrike">
              <a:solidFill>
                <a:srgbClr val="FFFFFF"/>
              </a:solidFill>
              <a:effectLst/>
              <a:uFillTx/>
              <a:latin typeface="Arial"/>
            </a:endParaRPr>
          </a:p>
        </p:txBody>
      </p:sp>
      <p:sp>
        <p:nvSpPr>
          <p:cNvPr id="630" name="TextBox 2"/>
          <p:cNvSpPr/>
          <p:nvPr/>
        </p:nvSpPr>
        <p:spPr>
          <a:xfrm>
            <a:off x="457200" y="2377440"/>
            <a:ext cx="11246760" cy="97416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5800" b="1" u="none" strike="noStrike">
                <a:solidFill>
                  <a:srgbClr val="00FF41"/>
                </a:solidFill>
                <a:effectLst/>
                <a:uFillTx/>
                <a:latin typeface="Calibri"/>
              </a:rPr>
              <a:t>the money is. Literally.”</a:t>
            </a:r>
            <a:endParaRPr lang="en-US" sz="5800" b="0" u="none" strike="noStrike">
              <a:solidFill>
                <a:srgbClr val="FFFFFF"/>
              </a:solidFill>
              <a:effectLst/>
              <a:uFillTx/>
              <a:latin typeface="Arial"/>
            </a:endParaRPr>
          </a:p>
        </p:txBody>
      </p:sp>
      <p:sp>
        <p:nvSpPr>
          <p:cNvPr id="631" name="Rectangle 3"/>
          <p:cNvSpPr/>
          <p:nvPr/>
        </p:nvSpPr>
        <p:spPr>
          <a:xfrm>
            <a:off x="7772760" y="4114800"/>
            <a:ext cx="2742840" cy="72720"/>
          </a:xfrm>
          <a:prstGeom prst="rect">
            <a:avLst/>
          </a:prstGeom>
          <a:solidFill>
            <a:srgbClr val="00D4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p>
            <a:endParaRPr lang="en-US" sz="1800" b="0" u="none" strike="noStrike">
              <a:solidFill>
                <a:schemeClr val="lt1"/>
              </a:solidFill>
              <a:effectLst/>
              <a:uFillTx/>
              <a:latin typeface="Calibri"/>
            </a:endParaRPr>
          </a:p>
        </p:txBody>
      </p:sp>
      <p:sp>
        <p:nvSpPr>
          <p:cNvPr id="632" name="TextBox 4"/>
          <p:cNvSpPr/>
          <p:nvPr/>
        </p:nvSpPr>
        <p:spPr>
          <a:xfrm>
            <a:off x="-45360" y="5715000"/>
            <a:ext cx="11246760" cy="9140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4200" b="0" u="none" strike="noStrike">
                <a:solidFill>
                  <a:srgbClr val="00D4FF"/>
                </a:solidFill>
                <a:effectLst/>
                <a:uFillTx/>
                <a:latin typeface="Calibri"/>
              </a:rPr>
              <a:t>Now you know where to look.</a:t>
            </a:r>
            <a:endParaRPr lang="en-US" sz="4200" b="0" u="none" strike="noStrike">
              <a:solidFill>
                <a:srgbClr val="FFFFFF"/>
              </a:solidFill>
              <a:effectLst/>
              <a:uFillTx/>
              <a:latin typeface="Arial"/>
            </a:endParaRPr>
          </a:p>
        </p:txBody>
      </p:sp>
      <p:sp>
        <p:nvSpPr>
          <p:cNvPr id="633" name="TextBox 5"/>
          <p:cNvSpPr/>
          <p:nvPr/>
        </p:nvSpPr>
        <p:spPr>
          <a:xfrm>
            <a:off x="7315200" y="3429000"/>
            <a:ext cx="3886200" cy="51732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2800" b="1" u="none" strike="noStrike">
                <a:solidFill>
                  <a:srgbClr val="CCCCD6"/>
                </a:solidFill>
                <a:effectLst/>
                <a:uFillTx/>
                <a:latin typeface="Calibri"/>
              </a:rPr>
              <a:t>~Larry Ellison (Probably)</a:t>
            </a:r>
            <a:endParaRPr lang="en-US" sz="2800" b="0" u="none" strike="noStrike">
              <a:solidFill>
                <a:srgbClr val="FFFFFF"/>
              </a:solidFill>
              <a:effectLst/>
              <a:uFillTx/>
              <a:latin typeface="Arial"/>
            </a:endParaRPr>
          </a:p>
        </p:txBody>
      </p:sp>
      <p:sp>
        <p:nvSpPr>
          <p:cNvPr id="634" name="TextBox 6"/>
          <p:cNvSpPr/>
          <p:nvPr/>
        </p:nvSpPr>
        <p:spPr>
          <a:xfrm>
            <a:off x="10972800" y="6446520"/>
            <a:ext cx="1096920" cy="31968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42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35" name="TextBox 1" descr="References list of all books cited throughout the talk, including Beaulieu's Learning SQL, Clarke's SQL Injection Attacks and Defense, Schneier's Secrets and Lies, and others." title="References list of all books cited throughout the talk, including Beaulieu's Lea"/>
          <p:cNvSpPr/>
          <p:nvPr/>
        </p:nvSpPr>
        <p:spPr>
          <a:xfrm>
            <a:off x="457200" y="320040"/>
            <a:ext cx="11246760" cy="669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800" b="1" u="none" strike="noStrike">
                <a:solidFill>
                  <a:srgbClr val="00FF41"/>
                </a:solidFill>
                <a:effectLst/>
                <a:uFillTx/>
                <a:latin typeface="Calibri"/>
              </a:rPr>
              <a:t>References — Works Cited</a:t>
            </a:r>
            <a:endParaRPr lang="en-US" sz="3800" b="0" u="none" strike="noStrike">
              <a:solidFill>
                <a:srgbClr val="FFFFFF"/>
              </a:solidFill>
              <a:effectLst/>
              <a:uFillTx/>
              <a:latin typeface="Arial"/>
            </a:endParaRPr>
          </a:p>
        </p:txBody>
      </p:sp>
      <p:sp>
        <p:nvSpPr>
          <p:cNvPr id="636" name="Rectangle 2"/>
          <p:cNvSpPr/>
          <p:nvPr/>
        </p:nvSpPr>
        <p:spPr>
          <a:xfrm>
            <a:off x="457200" y="1325880"/>
            <a:ext cx="1828440" cy="54360"/>
          </a:xfrm>
          <a:prstGeom prst="rect">
            <a:avLst/>
          </a:prstGeom>
          <a:solidFill>
            <a:srgbClr val="00FF4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9720" rIns="90000" bIns="9720" anchor="ctr">
            <a:noAutofit/>
          </a:bodyPr>
          <a:p>
            <a:endParaRPr lang="en-US" sz="1800" b="0" u="none" strike="noStrike">
              <a:solidFill>
                <a:schemeClr val="lt1"/>
              </a:solidFill>
              <a:effectLst/>
              <a:uFillTx/>
              <a:latin typeface="Calibri"/>
            </a:endParaRPr>
          </a:p>
        </p:txBody>
      </p:sp>
      <p:sp>
        <p:nvSpPr>
          <p:cNvPr id="637" name="TextBox 3"/>
          <p:cNvSpPr/>
          <p:nvPr/>
        </p:nvSpPr>
        <p:spPr>
          <a:xfrm>
            <a:off x="457200" y="16916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38" name="TextBox 4"/>
          <p:cNvSpPr/>
          <p:nvPr/>
        </p:nvSpPr>
        <p:spPr>
          <a:xfrm>
            <a:off x="777240" y="16642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Beaulieu, A. — Learning SQL, 2nd Edition (O'Reilly)</a:t>
            </a:r>
            <a:endParaRPr lang="en-US" sz="1600" b="0" u="none" strike="noStrike">
              <a:solidFill>
                <a:srgbClr val="FFFFFF"/>
              </a:solidFill>
              <a:effectLst/>
              <a:uFillTx/>
              <a:latin typeface="Arial"/>
            </a:endParaRPr>
          </a:p>
        </p:txBody>
      </p:sp>
      <p:sp>
        <p:nvSpPr>
          <p:cNvPr id="639" name="TextBox 5"/>
          <p:cNvSpPr/>
          <p:nvPr/>
        </p:nvSpPr>
        <p:spPr>
          <a:xfrm>
            <a:off x="457200" y="20026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0" name="TextBox 6"/>
          <p:cNvSpPr/>
          <p:nvPr/>
        </p:nvSpPr>
        <p:spPr>
          <a:xfrm>
            <a:off x="777240" y="19749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Clarke, J. et al. — SQL Injection Attacks and Defense (Syngress)</a:t>
            </a:r>
            <a:endParaRPr lang="en-US" sz="1600" b="0" u="none" strike="noStrike">
              <a:solidFill>
                <a:srgbClr val="FFFFFF"/>
              </a:solidFill>
              <a:effectLst/>
              <a:uFillTx/>
              <a:latin typeface="Arial"/>
            </a:endParaRPr>
          </a:p>
        </p:txBody>
      </p:sp>
      <p:sp>
        <p:nvSpPr>
          <p:cNvPr id="641" name="TextBox 7"/>
          <p:cNvSpPr/>
          <p:nvPr/>
        </p:nvSpPr>
        <p:spPr>
          <a:xfrm>
            <a:off x="457200" y="23133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2" name="TextBox 8"/>
          <p:cNvSpPr/>
          <p:nvPr/>
        </p:nvSpPr>
        <p:spPr>
          <a:xfrm>
            <a:off x="777240" y="22860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Crowther, P. — Concise Guide to Databases (Springer, 2013)</a:t>
            </a:r>
            <a:endParaRPr lang="en-US" sz="1600" b="0" u="none" strike="noStrike">
              <a:solidFill>
                <a:srgbClr val="FFFFFF"/>
              </a:solidFill>
              <a:effectLst/>
              <a:uFillTx/>
              <a:latin typeface="Arial"/>
            </a:endParaRPr>
          </a:p>
        </p:txBody>
      </p:sp>
      <p:sp>
        <p:nvSpPr>
          <p:cNvPr id="643" name="TextBox 9"/>
          <p:cNvSpPr/>
          <p:nvPr/>
        </p:nvSpPr>
        <p:spPr>
          <a:xfrm>
            <a:off x="457200" y="262440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4" name="TextBox 10"/>
          <p:cNvSpPr/>
          <p:nvPr/>
        </p:nvSpPr>
        <p:spPr>
          <a:xfrm>
            <a:off x="777240" y="25970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DeBarros, A. — Practical SQL (No Starch Press)</a:t>
            </a:r>
            <a:endParaRPr lang="en-US" sz="1600" b="0" u="none" strike="noStrike">
              <a:solidFill>
                <a:srgbClr val="FFFFFF"/>
              </a:solidFill>
              <a:effectLst/>
              <a:uFillTx/>
              <a:latin typeface="Arial"/>
            </a:endParaRPr>
          </a:p>
        </p:txBody>
      </p:sp>
      <p:sp>
        <p:nvSpPr>
          <p:cNvPr id="645" name="TextBox 11"/>
          <p:cNvSpPr/>
          <p:nvPr/>
        </p:nvSpPr>
        <p:spPr>
          <a:xfrm>
            <a:off x="457200" y="29350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6" name="TextBox 12"/>
          <p:cNvSpPr/>
          <p:nvPr/>
        </p:nvSpPr>
        <p:spPr>
          <a:xfrm>
            <a:off x="777240" y="29077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Diogenes &amp; Ozkaya — Cybersecurity Attack and Defense Strategies (Packt)</a:t>
            </a:r>
            <a:endParaRPr lang="en-US" sz="1600" b="0" u="none" strike="noStrike">
              <a:solidFill>
                <a:srgbClr val="FFFFFF"/>
              </a:solidFill>
              <a:effectLst/>
              <a:uFillTx/>
              <a:latin typeface="Arial"/>
            </a:endParaRPr>
          </a:p>
        </p:txBody>
      </p:sp>
      <p:sp>
        <p:nvSpPr>
          <p:cNvPr id="647" name="TextBox 13"/>
          <p:cNvSpPr/>
          <p:nvPr/>
        </p:nvSpPr>
        <p:spPr>
          <a:xfrm>
            <a:off x="457200" y="324612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48" name="TextBox 14"/>
          <p:cNvSpPr/>
          <p:nvPr/>
        </p:nvSpPr>
        <p:spPr>
          <a:xfrm>
            <a:off x="777240" y="32187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Janca, T. — Alice and Bob Learn Application Security (Wiley)</a:t>
            </a:r>
            <a:endParaRPr lang="en-US" sz="1600" b="0" u="none" strike="noStrike">
              <a:solidFill>
                <a:srgbClr val="FFFFFF"/>
              </a:solidFill>
              <a:effectLst/>
              <a:uFillTx/>
              <a:latin typeface="Arial"/>
            </a:endParaRPr>
          </a:p>
        </p:txBody>
      </p:sp>
      <p:sp>
        <p:nvSpPr>
          <p:cNvPr id="649" name="TextBox 15"/>
          <p:cNvSpPr/>
          <p:nvPr/>
        </p:nvSpPr>
        <p:spPr>
          <a:xfrm>
            <a:off x="457200" y="35571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0" name="TextBox 16"/>
          <p:cNvSpPr/>
          <p:nvPr/>
        </p:nvSpPr>
        <p:spPr>
          <a:xfrm>
            <a:off x="777240" y="35294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Mishra &amp; Singh — PostgreSQL Development Essentials (Packt)</a:t>
            </a:r>
            <a:endParaRPr lang="en-US" sz="1600" b="0" u="none" strike="noStrike">
              <a:solidFill>
                <a:srgbClr val="FFFFFF"/>
              </a:solidFill>
              <a:effectLst/>
              <a:uFillTx/>
              <a:latin typeface="Arial"/>
            </a:endParaRPr>
          </a:p>
        </p:txBody>
      </p:sp>
      <p:sp>
        <p:nvSpPr>
          <p:cNvPr id="651" name="TextBox 17"/>
          <p:cNvSpPr/>
          <p:nvPr/>
        </p:nvSpPr>
        <p:spPr>
          <a:xfrm>
            <a:off x="457200" y="38678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2" name="TextBox 18"/>
          <p:cNvSpPr/>
          <p:nvPr/>
        </p:nvSpPr>
        <p:spPr>
          <a:xfrm>
            <a:off x="777240" y="38404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MongoDB Cookbook (Packt)  •  10gen — Top 5 NoSQL Considerations</a:t>
            </a:r>
            <a:endParaRPr lang="en-US" sz="1600" b="0" u="none" strike="noStrike">
              <a:solidFill>
                <a:srgbClr val="FFFFFF"/>
              </a:solidFill>
              <a:effectLst/>
              <a:uFillTx/>
              <a:latin typeface="Arial"/>
            </a:endParaRPr>
          </a:p>
        </p:txBody>
      </p:sp>
      <p:sp>
        <p:nvSpPr>
          <p:cNvPr id="653" name="TextBox 19"/>
          <p:cNvSpPr/>
          <p:nvPr/>
        </p:nvSpPr>
        <p:spPr>
          <a:xfrm>
            <a:off x="457200" y="417888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4" name="TextBox 20"/>
          <p:cNvSpPr/>
          <p:nvPr/>
        </p:nvSpPr>
        <p:spPr>
          <a:xfrm>
            <a:off x="777240" y="41515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OWASP Top 10 — 2017 Edition</a:t>
            </a:r>
            <a:endParaRPr lang="en-US" sz="1600" b="0" u="none" strike="noStrike">
              <a:solidFill>
                <a:srgbClr val="FFFFFF"/>
              </a:solidFill>
              <a:effectLst/>
              <a:uFillTx/>
              <a:latin typeface="Arial"/>
            </a:endParaRPr>
          </a:p>
        </p:txBody>
      </p:sp>
      <p:sp>
        <p:nvSpPr>
          <p:cNvPr id="655" name="TextBox 21"/>
          <p:cNvSpPr/>
          <p:nvPr/>
        </p:nvSpPr>
        <p:spPr>
          <a:xfrm>
            <a:off x="457200" y="44895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6" name="TextBox 22"/>
          <p:cNvSpPr/>
          <p:nvPr/>
        </p:nvSpPr>
        <p:spPr>
          <a:xfrm>
            <a:off x="777240" y="44622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Sharma, M. — Cosmos DB for MongoDB Developers (Apress, 2018)</a:t>
            </a:r>
            <a:endParaRPr lang="en-US" sz="1600" b="0" u="none" strike="noStrike">
              <a:solidFill>
                <a:srgbClr val="FFFFFF"/>
              </a:solidFill>
              <a:effectLst/>
              <a:uFillTx/>
              <a:latin typeface="Arial"/>
            </a:endParaRPr>
          </a:p>
        </p:txBody>
      </p:sp>
      <p:sp>
        <p:nvSpPr>
          <p:cNvPr id="657" name="TextBox 23"/>
          <p:cNvSpPr/>
          <p:nvPr/>
        </p:nvSpPr>
        <p:spPr>
          <a:xfrm>
            <a:off x="457200" y="480060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58" name="TextBox 24"/>
          <p:cNvSpPr/>
          <p:nvPr/>
        </p:nvSpPr>
        <p:spPr>
          <a:xfrm>
            <a:off x="777240" y="477324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Schneier, B. — Secrets and Lies (Wiley)</a:t>
            </a:r>
            <a:endParaRPr lang="en-US" sz="1600" b="0" u="none" strike="noStrike">
              <a:solidFill>
                <a:srgbClr val="FFFFFF"/>
              </a:solidFill>
              <a:effectLst/>
              <a:uFillTx/>
              <a:latin typeface="Arial"/>
            </a:endParaRPr>
          </a:p>
        </p:txBody>
      </p:sp>
      <p:sp>
        <p:nvSpPr>
          <p:cNvPr id="659" name="TextBox 25"/>
          <p:cNvSpPr/>
          <p:nvPr/>
        </p:nvSpPr>
        <p:spPr>
          <a:xfrm>
            <a:off x="457200" y="51116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0" name="TextBox 26"/>
          <p:cNvSpPr/>
          <p:nvPr/>
        </p:nvSpPr>
        <p:spPr>
          <a:xfrm>
            <a:off x="777240" y="508392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Stuttard &amp; Pinto — Web Application Hacker's Handbook, 2nd Ed.</a:t>
            </a:r>
            <a:endParaRPr lang="en-US" sz="1600" b="0" u="none" strike="noStrike">
              <a:solidFill>
                <a:srgbClr val="FFFFFF"/>
              </a:solidFill>
              <a:effectLst/>
              <a:uFillTx/>
              <a:latin typeface="Arial"/>
            </a:endParaRPr>
          </a:p>
        </p:txBody>
      </p:sp>
      <p:sp>
        <p:nvSpPr>
          <p:cNvPr id="661" name="TextBox 27"/>
          <p:cNvSpPr/>
          <p:nvPr/>
        </p:nvSpPr>
        <p:spPr>
          <a:xfrm>
            <a:off x="457200" y="542232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2" name="TextBox 28"/>
          <p:cNvSpPr/>
          <p:nvPr/>
        </p:nvSpPr>
        <p:spPr>
          <a:xfrm>
            <a:off x="777240" y="539496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Shostack, A. — Threat Modeling: Designing for Security (Wiley)</a:t>
            </a:r>
            <a:endParaRPr lang="en-US" sz="1600" b="0" u="none" strike="noStrike">
              <a:solidFill>
                <a:srgbClr val="FFFFFF"/>
              </a:solidFill>
              <a:effectLst/>
              <a:uFillTx/>
              <a:latin typeface="Arial"/>
            </a:endParaRPr>
          </a:p>
        </p:txBody>
      </p:sp>
      <p:sp>
        <p:nvSpPr>
          <p:cNvPr id="663" name="TextBox 29"/>
          <p:cNvSpPr/>
          <p:nvPr/>
        </p:nvSpPr>
        <p:spPr>
          <a:xfrm>
            <a:off x="457200" y="573336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4" name="TextBox 30"/>
          <p:cNvSpPr/>
          <p:nvPr/>
        </p:nvSpPr>
        <p:spPr>
          <a:xfrm>
            <a:off x="777240" y="570600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AWS Administration: The Definitive Guide (Packt)</a:t>
            </a:r>
            <a:endParaRPr lang="en-US" sz="1600" b="0" u="none" strike="noStrike">
              <a:solidFill>
                <a:srgbClr val="FFFFFF"/>
              </a:solidFill>
              <a:effectLst/>
              <a:uFillTx/>
              <a:latin typeface="Arial"/>
            </a:endParaRPr>
          </a:p>
        </p:txBody>
      </p:sp>
      <p:sp>
        <p:nvSpPr>
          <p:cNvPr id="665" name="TextBox 31"/>
          <p:cNvSpPr/>
          <p:nvPr/>
        </p:nvSpPr>
        <p:spPr>
          <a:xfrm>
            <a:off x="457200" y="6044040"/>
            <a:ext cx="273960" cy="303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00D4FF"/>
                </a:solidFill>
                <a:effectLst/>
                <a:uFillTx/>
                <a:latin typeface="Calibri"/>
              </a:rPr>
              <a:t>■</a:t>
            </a:r>
            <a:endParaRPr lang="en-US" sz="1400" b="0" u="none" strike="noStrike">
              <a:solidFill>
                <a:srgbClr val="FFFFFF"/>
              </a:solidFill>
              <a:effectLst/>
              <a:uFillTx/>
              <a:latin typeface="Arial"/>
            </a:endParaRPr>
          </a:p>
        </p:txBody>
      </p:sp>
      <p:sp>
        <p:nvSpPr>
          <p:cNvPr id="666" name="TextBox 32"/>
          <p:cNvSpPr/>
          <p:nvPr/>
        </p:nvSpPr>
        <p:spPr>
          <a:xfrm>
            <a:off x="777240" y="6016680"/>
            <a:ext cx="10972440" cy="3333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600" b="0" u="none" strike="noStrike">
                <a:solidFill>
                  <a:srgbClr val="FFFFFF"/>
                </a:solidFill>
                <a:effectLst/>
                <a:uFillTx/>
                <a:latin typeface="Calibri"/>
              </a:rPr>
              <a:t>Fundamentals of Azure, 2nd Edition (Microsoft Press)</a:t>
            </a:r>
            <a:endParaRPr lang="en-US" sz="1600" b="0" u="none" strike="noStrike">
              <a:solidFill>
                <a:srgbClr val="FFFFFF"/>
              </a:solidFill>
              <a:effectLst/>
              <a:uFillTx/>
              <a:latin typeface="Arial"/>
            </a:endParaRPr>
          </a:p>
        </p:txBody>
      </p:sp>
      <p:sp>
        <p:nvSpPr>
          <p:cNvPr id="667" name="TextBox 3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
        <p:nvSpPr>
          <p:cNvPr id="668" name="TextBox 34"/>
          <p:cNvSpPr/>
          <p:nvPr/>
        </p:nvSpPr>
        <p:spPr>
          <a:xfrm>
            <a:off x="10972800" y="6446520"/>
            <a:ext cx="1096920" cy="30384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400" b="0" u="none" strike="noStrike">
                <a:solidFill>
                  <a:srgbClr val="CCCCD6"/>
                </a:solidFill>
                <a:effectLst/>
                <a:uFillTx/>
                <a:latin typeface="Calibri"/>
              </a:rPr>
              <a:t>44 / 44</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669" name="TextBox 1" descr="Questions and answers slide." title="Questions and answers slide."/>
          <p:cNvSpPr/>
          <p:nvPr/>
        </p:nvSpPr>
        <p:spPr>
          <a:xfrm>
            <a:off x="411840" y="1371600"/>
            <a:ext cx="11246760" cy="283284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18000" b="1" u="none" strike="noStrike">
                <a:solidFill>
                  <a:srgbClr val="00FF41"/>
                </a:solidFill>
                <a:effectLst/>
                <a:uFillTx/>
                <a:latin typeface="Calibri"/>
              </a:rPr>
              <a:t>Q &amp; A*</a:t>
            </a:r>
            <a:endParaRPr lang="en-US" sz="18000" b="0" u="none" strike="noStrike">
              <a:solidFill>
                <a:srgbClr val="FFFFFF"/>
              </a:solidFill>
              <a:effectLst/>
              <a:uFillTx/>
              <a:latin typeface="Arial"/>
            </a:endParaRPr>
          </a:p>
        </p:txBody>
      </p:sp>
      <p:sp>
        <p:nvSpPr>
          <p:cNvPr id="670" name="TextBox 2"/>
          <p:cNvSpPr/>
          <p:nvPr/>
        </p:nvSpPr>
        <p:spPr>
          <a:xfrm>
            <a:off x="457200" y="4754880"/>
            <a:ext cx="11246760" cy="638280"/>
          </a:xfrm>
          <a:prstGeom prst="rect">
            <a:avLst/>
          </a:prstGeom>
          <a:noFill/>
          <a:ln w="0">
            <a:noFill/>
          </a:ln>
        </p:spPr>
        <p:style>
          <a:lnRef idx="0"/>
          <a:fillRef idx="0"/>
          <a:effectRef idx="0"/>
          <a:fontRef idx="minor"/>
        </p:style>
        <p:txBody>
          <a:bodyPr lIns="90000" tIns="45000" rIns="90000" bIns="45000" anchor="t">
            <a:spAutoFit/>
          </a:bodyPr>
          <a:p>
            <a:pPr algn="ctr" defTabSz="457200">
              <a:lnSpc>
                <a:spcPct val="100000"/>
              </a:lnSpc>
            </a:pPr>
            <a:r>
              <a:rPr lang="en-US" sz="3600" b="0" u="none" strike="noStrike">
                <a:solidFill>
                  <a:srgbClr val="FFFFFF"/>
                </a:solidFill>
                <a:effectLst/>
                <a:uFillTx/>
                <a:latin typeface="Calibri"/>
              </a:rPr>
              <a:t>A == Absent Stares</a:t>
            </a:r>
            <a:endParaRPr lang="en-US" sz="3600" b="0" u="none" strike="noStrike">
              <a:solidFill>
                <a:srgbClr val="FFFFFF"/>
              </a:solidFill>
              <a:effectLst/>
              <a:uFillTx/>
              <a:latin typeface="Arial"/>
            </a:endParaRPr>
          </a:p>
        </p:txBody>
      </p:sp>
      <p:sp>
        <p:nvSpPr>
          <p:cNvPr id="671" name="TextBox 3"/>
          <p:cNvSpPr/>
          <p:nvPr/>
        </p:nvSpPr>
        <p:spPr>
          <a:xfrm>
            <a:off x="365760" y="6446520"/>
            <a:ext cx="11429640" cy="303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CCCCD6"/>
                </a:solidFill>
                <a:effectLst/>
                <a:uFillTx/>
                <a:latin typeface="Calibri"/>
              </a:rPr>
              <a:t>CryptoJones  |  Databases for Hackers</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LibreOffice/26.2.3.2$MacOSX_AARCH64 LibreOffice_project/70e089b17412e4cb7773e41413306b17a2328c34</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2026-06-04T07:38:35Z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