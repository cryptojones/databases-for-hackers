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DATENBANKEN</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für Hacker</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Eigenständiger Vortrag von CryptoJones</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 Minuten</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Kein Abschluss erforderlich</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Masterstudent, 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FFFFFF"/>
                </a:solidFill>
                <a:effectLst/>
                <a:uFillTx/>
                <a:latin typeface="Calibri"/>
              </a:rPr>
              <a:t>Jeder Einbruch, von dem du je</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FFFFFF"/>
                </a:solidFill>
                <a:effectLst/>
                <a:uFillTx/>
                <a:latin typeface="Calibri"/>
              </a:rPr>
              <a:t>gelesen hast, endet bei einer</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DATENBANK*</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Die Kronjuwelen</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00FF41"/>
                </a:solidFill>
                <a:effectLst/>
                <a:uFillTx/>
                <a:latin typeface="Calibri"/>
              </a:rPr>
              <a:t>DATEN  TRESOR</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950" b="1" u="none" strike="noStrike">
                <a:solidFill>
                  <a:srgbClr val="00D4FF"/>
                </a:solidFill>
                <a:effectLst/>
                <a:uFillTx/>
                <a:latin typeface="Calibri"/>
              </a:rPr>
              <a:t>▶ </a:t>
            </a:r>
            <a:r>
              <a:rPr lang="en-US" sz="2950" b="0" u="none" strike="noStrike">
                <a:solidFill>
                  <a:srgbClr val="FFFFFF"/>
                </a:solidFill>
                <a:effectLst/>
                <a:uFillTx/>
                <a:latin typeface="Calibri"/>
              </a:rPr>
              <a:t>Nicht deine Single-Page-App.</a:t>
            </a:r>
            <a:endParaRPr lang="en-US" sz="3000" b="0" u="none" strike="noStrike">
              <a:solidFill>
                <a:srgbClr val="FFFFFF"/>
              </a:solidFill>
              <a:effectLst/>
              <a:uFillTx/>
              <a:latin typeface="Arial"/>
            </a:endParaRPr>
          </a:p>
          <a:p>
            <a:pPr defTabSz="457200">
              <a:lnSpc>
                <a:spcPct val="140000"/>
              </a:lnSpc>
            </a:pPr>
            <a:r>
              <a:rPr lang="en-US" sz="2950" b="1" u="none" strike="noStrike">
                <a:solidFill>
                  <a:srgbClr val="00D4FF"/>
                </a:solidFill>
                <a:effectLst/>
                <a:uFillTx/>
                <a:latin typeface="Calibri"/>
              </a:rPr>
              <a:t>▶ </a:t>
            </a:r>
            <a:r>
              <a:rPr lang="en-US" sz="2950" b="0" u="none" strike="noStrike">
                <a:solidFill>
                  <a:srgbClr val="FFFFFF"/>
                </a:solidFill>
                <a:effectLst/>
                <a:uFillTx/>
                <a:latin typeface="Calibri"/>
              </a:rPr>
              <a:t>Nicht deine Firewall.</a:t>
            </a:r>
            <a:endParaRPr lang="en-US" sz="3000" b="0" u="none" strike="noStrike">
              <a:solidFill>
                <a:srgbClr val="FFFFFF"/>
              </a:solidFill>
              <a:effectLst/>
              <a:uFillTx/>
              <a:latin typeface="Arial"/>
            </a:endParaRPr>
          </a:p>
          <a:p>
            <a:pPr defTabSz="457200">
              <a:lnSpc>
                <a:spcPct val="140000"/>
              </a:lnSpc>
            </a:pPr>
            <a:r>
              <a:rPr lang="en-US" sz="2950" b="1" u="none" strike="noStrike">
                <a:solidFill>
                  <a:srgbClr val="00D4FF"/>
                </a:solidFill>
                <a:effectLst/>
                <a:uFillTx/>
                <a:latin typeface="Calibri"/>
              </a:rPr>
              <a:t>▶ </a:t>
            </a:r>
            <a:r>
              <a:rPr lang="en-US" sz="2950" b="0" u="none" strike="noStrike">
                <a:solidFill>
                  <a:srgbClr val="FFFFFF"/>
                </a:solidFill>
                <a:effectLst/>
                <a:uFillTx/>
                <a:latin typeface="Calibri"/>
              </a:rPr>
              <a:t>Nicht deine Microservices.</a:t>
            </a:r>
            <a:endParaRPr lang="en-US" sz="3000" b="0" u="none" strike="noStrike">
              <a:solidFill>
                <a:srgbClr val="FFFFFF"/>
              </a:solidFill>
              <a:effectLst/>
              <a:uFillTx/>
              <a:latin typeface="Arial"/>
            </a:endParaRPr>
          </a:p>
          <a:p>
            <a:pPr defTabSz="457200">
              <a:lnSpc>
                <a:spcPct val="140000"/>
              </a:lnSpc>
            </a:pPr>
            <a:r>
              <a:rPr lang="en-US" sz="2950" b="1" u="none" strike="noStrike">
                <a:solidFill>
                  <a:srgbClr val="00D4FF"/>
                </a:solidFill>
                <a:effectLst/>
                <a:uFillTx/>
                <a:latin typeface="Calibri"/>
              </a:rPr>
              <a:t>▶ </a:t>
            </a:r>
            <a:r>
              <a:rPr lang="en-US" sz="2950" b="0" u="none" strike="noStrike">
                <a:solidFill>
                  <a:srgbClr val="FFFFFF"/>
                </a:solidFill>
                <a:effectLst/>
                <a:uFillTx/>
                <a:latin typeface="Calibri"/>
              </a:rPr>
              <a:t>DIE DATEN. Immer die Daten.</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Was ist eine Datenbank?</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FFFFFF"/>
                </a:solidFill>
                <a:effectLst/>
                <a:uFillTx/>
                <a:latin typeface="Calibri"/>
              </a:rPr>
              <a:t>Organisierter Speicher  +  eine Möglichkeit, Fragen zu stellen.</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Das ist alles. Alles andere ist Detail.</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Aktenschrank  =  Speicher  +  deine Augen als Abfrage.</a:t>
            </a:r>
            <a:endParaRPr lang="en-US" sz="2600" b="0" u="none" strike="noStrike">
              <a:solidFill>
                <a:srgbClr val="FFFFFF"/>
              </a:solidFill>
              <a:effectLst/>
              <a:uFillTx/>
              <a:latin typeface="Arial"/>
            </a:endParaRPr>
          </a:p>
          <a:p>
            <a:pPr defTabSz="457200">
              <a:lnSpc>
                <a:spcPct val="15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Excel + Strg-F  =  Speicher  +  Suchen-und-Ersetzen als Abfrage.</a:t>
            </a:r>
            <a:endParaRPr lang="en-US" sz="2600" b="0" u="none" strike="noStrike">
              <a:solidFill>
                <a:srgbClr val="FFFFFF"/>
              </a:solidFill>
              <a:effectLst/>
              <a:uFillTx/>
              <a:latin typeface="Arial"/>
            </a:endParaRPr>
          </a:p>
          <a:p>
            <a:pPr defTabSz="457200">
              <a:lnSpc>
                <a:spcPct val="15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Eine echte DB ergänzt:  Skalierung, Geschwindigkeit, Nebenläufigkeit, eine formale Sprache.</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Die sechs Begriffe, die du brauchst</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TABELLE</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ein Tabellenblatt</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ZEILE</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ein Datensatz (ein Kunde, eine Warnung)</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SPALTE</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ein Attribut (E-Mail, IP, Summe)</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ABFRAGE</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die Frage, die du stellst</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SCHEMA</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die Struktur der Daten</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INDEX</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350" b="0" u="none" strike="noStrike">
                <a:solidFill>
                  <a:srgbClr val="FFFFFF"/>
                </a:solidFill>
                <a:effectLst/>
                <a:uFillTx/>
                <a:latin typeface="Calibri"/>
              </a:rPr>
              <a:t>das Lesezeichen, das Suchvorgänge schnell macht</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Create  •  Read  •  Update  •  Delete</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750" b="1" u="none" strike="noStrike">
                <a:solidFill>
                  <a:srgbClr val="00FF41"/>
                </a:solidFill>
                <a:effectLst/>
                <a:uFillTx/>
                <a:latin typeface="Calibri"/>
              </a:rPr>
              <a:t>Geschichtstour — Fossilien, die du in der Produktion siehst</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Flache Dateien</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Dateisystemrechte = einzige Zugriffskontrolle</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Späte 1960er</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Hierarchisch (IMS)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Mainframe-Ära, physisches Bedrohungsmodell</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Netzwerk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läuft noch im Backoffice deiner Bank</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Codds Relationenmodell</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GRANT, Rollen — Zugriffskontrolle innerhalb der DB</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 DB2, 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00" b="0" u="none" strike="noStrike">
                <a:solidFill>
                  <a:srgbClr val="CCCCD6"/>
                </a:solidFill>
                <a:effectLst/>
                <a:uFillTx/>
                <a:latin typeface="Calibri"/>
              </a:rPr>
              <a:t>Datenbanken werden vernetzt → authN-Problem</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Client-Server, OSS</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SQL-Injection wird zum Thema</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NoSQL-Boom</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"warf das Fundament weg" — inkl. Sicherheit</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Cloud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geteilte Verantwortung, Fehlkonfigurationen durch Kunden</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Vektor / serverless</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Datenvergiftung, Prompt-Injection</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Zehn Datenbankfamilien</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Relational</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Dokument</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Key-Value</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Wörterbuch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Column-Family</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wide-column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Graph</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Knoten+Kanten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Suche</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Volltext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Time-Series</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Metriken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Vektor</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Embeddings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Embedded/Edge</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in-app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Data Lake</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50" b="0" u="none" strike="noStrike">
                <a:solidFill>
                  <a:srgbClr val="CCCCD6"/>
                </a:solidFill>
                <a:effectLst/>
                <a:uFillTx/>
                <a:latin typeface="Calibri"/>
              </a:rPr>
              <a:t>schema-on-read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Relational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Klare Beziehungen, Konsistenz erforderlich — Finanzen, regulierte Daten.</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SQL-Injection, wenn Entwickler Benutzereingaben in Abfragen verketten.</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Dokument-Stores</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Natürlich verschachtelte Daten; die Struktur ändert sich mit der Zeit.</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NoSQL-Injection über Abfrageoperatoren ($ne, $gt, $where). Standardmäßig keine Authentifizierung.</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Key-Value-Stores</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Caches, Session-Stores, Rate-Limiter, Bestenlisten.</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Standardmäßig auth-loses Redis + CONFIG SET → SSH-Schlüssel auf die Festplatte schreiben.</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Column-Family</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Massive Skalierung über viele Maschinen; keine komplexen Joins nötig.</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Cluster vertrauen einander über Gossip-Ports — Management-Netzwerk = Root.</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Graphdatenbanken</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Soziale Netzwerke, Betrugserkennung, IAM-Analyse (z. B.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Abfragesprachen wie Cypher sind ebenfalls injizierbar. NoSQLi ist nicht nur Mongo.</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Suchmaschinen</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Log-Suche, SIEM-Rückgrate, E-Commerce-Seitensuche.</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Historisch keine integrierte Authentifizierung — Milliarden Datensätze auf Shodan exponiert.</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Time-Series</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Metriken, Observability, IoT-Telemetrie.</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Üblicherweise innerhalb des Perimeters, oft ohne Authentifizierung.</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Vektordatenbanken</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 Empfehlungssysteme, semantische Suche.</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Datenvergiftung — schmuggle ein Dokument ein, das LLM zitiert es als Wahrheit.</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Embedded / Edge</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In-App-Speicher — Browser, Telefone, jedes moderne Flugzeug.</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Die DB ist eine Datei — der Angriff lautet 'stiehl die Datei'. Welt des mobilen Pentests.</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Data Lakes / Lakehouses</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Schema-on-read statt schema-on-write. Jetzt ablegen, später abfragen.</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Riesige S3-Pools + freizügiges IAM, keine erzwungene Verschlüsselung im Ruhezustand.</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Cloud-DB-Dienste — Ein Überblick</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 (Graph)</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 (Objektspeicher)</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(in Kürze)</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(Gestaltwandler)</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Graph-Modus</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Cloud-DB-Spickzettel</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KATEGORIE</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Relational</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Dokument/NoSQL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Warehouse</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Cache</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Graph</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Graph</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Time-Series</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Objektspeicher</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Modell der geteilten Verantwortung</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50" b="1" u="none" strike="noStrike">
                <a:solidFill>
                  <a:srgbClr val="00FF41"/>
                </a:solidFill>
                <a:effectLst/>
                <a:uFillTx/>
                <a:latin typeface="Calibri"/>
              </a:rPr>
              <a:t>✓  CLOUD-ANBIETER VERANTWORTET</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Hypervisor &amp; Hardware</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DB-Engine-Patches</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Physische Sicherheit</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Zugrundeliegendes Netzwerk</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DU VERANTWORTEST</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Konfiguration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Zugriffsrichtlinien (IAM)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Die Daten selbst</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Verschlüsselungsentscheidungen</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Fast jeder Cloud-DB-Einbruch = Fehlkonfiguration durch den Kunden.</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Gängige DB-Ports — Präge sie dir ein</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Jeder davon im Internet exponiert = ein Befund. Jedes Mal*</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000" b="1" u="none" strike="noStrike">
                <a:solidFill>
                  <a:srgbClr val="00FF41"/>
                </a:solidFill>
                <a:effectLst/>
                <a:uFillTx/>
                <a:latin typeface="Calibri"/>
              </a:rPr>
              <a:t>Deine Notizen sind jetzt eine Datenbank</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0" u="none" strike="noStrike">
                <a:solidFill>
                  <a:srgbClr val="FFFFFF"/>
                </a:solidFill>
                <a:effectLst/>
                <a:uFillTx/>
                <a:latin typeface="Calibri"/>
              </a:rPr>
              <a:t>Markdown-Dateien sind jetzt</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00FF41"/>
                </a:solidFill>
                <a:effectLst/>
                <a:uFillTx/>
                <a:latin typeface="Calibri"/>
              </a:rPr>
              <a:t>die Datenbank, aus der ein LLM liest.</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350" b="0" u="none" strike="noStrike">
                <a:solidFill>
                  <a:srgbClr val="00D4FF"/>
                </a:solidFill>
                <a:effectLst/>
                <a:uFillTx/>
                <a:latin typeface="Calibri"/>
              </a:rPr>
              <a:t>Obsidian-Vaults  •  Wiki-Exporte  •  Besprechungsnotizen  •  GitHub-Dokumente</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Eingebettet → Vektor-DB → LLM-Kontext → Antwort an Benutzer</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550" b="1" u="none" strike="noStrike">
                <a:solidFill>
                  <a:srgbClr val="00FF41"/>
                </a:solidFill>
                <a:effectLst/>
                <a:uFillTx/>
                <a:latin typeface="Calibri"/>
              </a:rPr>
              <a:t>RAG-Pipeline — Wo ist die Vertrauensgrenze?</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.md-Dateien</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Embedder</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Vektor-DB</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LLM-Prompt</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Antwort</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750" b="1" u="none" strike="noStrike">
                <a:solidFill>
                  <a:srgbClr val="FF6B35"/>
                </a:solidFill>
                <a:effectLst/>
                <a:uFillTx/>
                <a:latin typeface="Calibri"/>
              </a:rPr>
              <a:t>⚠ VERTRAUENSGRENZE</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Wenn jeder diese .md-Dateien bearbeiten kann, kann jeder</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Inhalte platzieren, die die KI als maßgeblich zitiert.</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Die Kernbotschaft</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1" u="none" strike="noStrike">
                <a:solidFill>
                  <a:srgbClr val="00FF41"/>
                </a:solidFill>
                <a:effectLst/>
                <a:uFillTx/>
                <a:latin typeface="Calibri"/>
              </a:rPr>
              <a:t>Behandle Markdown wie eine Datenbank.</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Denn für das LLM ist es eine.</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Zugriffskontrolle für den Dokumente-Ordner.</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Code-Review bei .md-Änderungen.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Diff-Verfolgung im Wiki.</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SICHERHEIT</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Was 2026 tatsächlich angegriffen wird*</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Schule:  "Hallo, hier ist die Schule Ihres Sohnes. Wir haben</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ein paar Computerprobleme."</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Mutter:  "Oje — hat er etwas kaputt gemacht?"</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Schule:  "Haben Sie Ihren Sohn wirklich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genannt?"</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Der Mechanismus: String-Verkettung in Abfragen.</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Die Angriffsfläche hat sich</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350" b="1" u="none" strike="noStrike">
                <a:solidFill>
                  <a:srgbClr val="FF6B35"/>
                </a:solidFill>
                <a:effectLst/>
                <a:uFillTx/>
                <a:latin typeface="Calibri"/>
              </a:rPr>
              <a:t>VERGRÖSSERT, nicht verkleinert.</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SQL-Injection wurde behoben. Elf neue Kategorien traten an ihre Stelle.</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NoSQL-Injection</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MongoDB-JSON-Abfragen + rohe Benutzereingaben = SQLi neu geboren.</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Login-Umgehung: { username: 'alice', password: { $ne: 'x' }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$where erlaubt es, JavaScript direkt in die DB zu injizieren.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Couchbase N1QL ist SQL-artig — klassische SQLi-Muster gelten.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Prinzip: JEDER Interpreter kann injiziert werden, nicht nur SQL.</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 'Dynamische Abfragen... direkt im Interpreter verwendet.'</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300" b="1" u="none" strike="noStrike">
                <a:solidFill>
                  <a:srgbClr val="FF6B35"/>
                </a:solidFill>
                <a:effectLst/>
                <a:uFillTx/>
                <a:latin typeface="Calibri"/>
              </a:rPr>
              <a:t>Exponierte &amp; fehlkonfigurierte Datenbanken</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 und Censys sind voll von Datenbanken, die dort nicht sein sollten.</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MongoDB an 0.0.0.0 gebunden, ohne Authentifizierung.</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Elasticsearch-Cluster weit offen. Redis ohne Passwort.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 pg_hba.conf gesetzt auf 'host all all 0.0.0.0/0 trust'.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Meow-Angriffe (2020): Bots löschten zum Spaß Tausende offener DBs.</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Maßnahme: Finde heraus, was deine Organisation an öffentliche Schnittstellen gebunden hat. Heute.</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Cloud-Fehlkonfigurationen</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In der Cloud liegt der Fehler selten an der Engine. Es ist die Richtlinie drumherum.</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Öffentliche S3-Buckets voller DB-Dumps (Accenture, Verizon usw.).</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 SSRF brachte eine WAF dazu, ihre IAM-Anmeldedaten preiszugeben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Lambda mit s3:* auf *, weil es 'beim ersten Mal funktionierte'.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Sicherheitsgruppen: 0.0.0.0/0 auf Port 5432.</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AWS-Admin: 'Schaff das Root-Konto ab, nutze IAM wo immer nötig.'</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Rechteausweitung: DB → OS</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Datenbankkonten können zu Shell-Zugriff werden. Drei klassische Züge.</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 xp_cmdshell — führt Shell-Befehle als DB-Prozess aus.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 COPY ... TO PROGRAM — leitet die Ausgabe an eine Shell weiter.</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 lade eine UDF-.so-Datei → sys_exec auf dem 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Muster: Jede privilegierte DB-Funktion ist Teil der Angriffsfläche.</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Sicherheitslücken in Data Lakes</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Alles landet in S3 — auch Dinge, die du nicht dort ablegen wolltest.</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Freizügiges IAM sickert von Compute-Rollen zu Menschen durch.</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Keine erzwungene Verschlüsselung im Ruhezustand für Bucket-Schlüssel.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Keine schreibseitige Validierung — jeder kann vergiftete Daten ablegen.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Erste Frage: WER kann in den Lake schreiben? WER kann lesen?</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Ransomware liebt Datenbanken</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Die DB ist das, was das Unternehmen zurückbraucht — maximales Druckmittel.</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Verschlüssle die Live-Datenbank.</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Verschlüssle die BACKUPS (sonst stellt der Kunde einfach wieder her).</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Exfiltriere zuerst eine Kopie — erpresse mit Veröffentlichung, selbst wenn sie wiederherstellen.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Verteidigung: offline, unveränderliche Backups + getestete Wiederherstellungen.</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WannaCry — der Patch war 59 Tage zuvor verfügbar.</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Angriffe auf Anmeldedaten</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Standard-Anmeldedaten und geleakte Verbindungsstrings — zwei alte, hartnäckige Fehler.</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 standardmäßig jahrelang ohne Passwort.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 keine Authentifizierung in der kostenlosen Stufe — ebenfalls jahrelang.</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Pre-Commit-Secret-Scanning — diese Woche beheben.</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gestohlene Anmeldedaten = bevorzugter Vektor der organisierten Kriminalität.</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700" b="1" u="none" strike="noStrike">
                <a:solidFill>
                  <a:srgbClr val="FF6B35"/>
                </a:solidFill>
                <a:effectLst/>
                <a:uFillTx/>
                <a:latin typeface="Calibri"/>
              </a:rPr>
              <a:t>Lieferkette — Die DB-Bibliotheken, denen du vertraust</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Dein DB-Treiber kam von npm/PyPI/Maven. Genau wie der aller anderen.</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Bösartige npm-Pakete, die sich als ORMs / Treiber ausgeben.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Trojanisierte Docker-Hub-Images für beliebte Datenbanken.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Kompromittierte PostgreSQL-Erweiterungen / MySQL-Plugins.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Erweiterungen laufen mit DB-Rechten — meist mit vielen.</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Shostack: 'Bedrohungen häufen sich tendenziell an Vertrauensgrenzen.'</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RAG / LLM-Datenvergiftung</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Stored XSS für das KI-Zeitalter. Schreibe in die Wissensbasis → das LLM zitiert es.</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Vergifteter Support-Artikel: 'Zum Zurücksetzen senden Sie Ihr Passwort an...'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Vergiftetes internes Dokument: 'Unternehmensrichtlinie ist die Überweisung an...'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Prompt-Injection eingebettet in abgerufene Dokumente.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Verteidigung: strikte Schreib-ACLs, Herkunfts-Tags, Mensch im Prozess.</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OWASP-2025-Stored-XSS-Prinzip — ersetze 'admin' durch 'LLM'.</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50" b="1" u="none" strike="noStrike">
                <a:solidFill>
                  <a:srgbClr val="FF6B35"/>
                </a:solidFill>
                <a:effectLst/>
                <a:uFillTx/>
                <a:latin typeface="Calibri"/>
              </a:rPr>
              <a:t>Insider-Bedrohungen &amp; laterale Bewegung von DB zu DB</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Datenbanken sind keine Endpunkte. Sie sind Knoten in einem Graphen.</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Überberechtigte Dienstkonten. Engineers mit Lesezugriff auf die Produktion.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DBAs ohne Audit-Trail.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Oracle DB_LINK, SQL Server Linked Servers, Postgres FDW.</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Gespeicherte Anmeldedaten → kompromittiere A, springe zu B, springe zu C.</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App Hacker's Handbook: schlecht geschützte Audit-Logs = eine Goldgrube.</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50" b="1" u="none" strike="noStrike">
                <a:solidFill>
                  <a:srgbClr val="FF6B35"/>
                </a:solidFill>
                <a:effectLst/>
                <a:uFillTx/>
                <a:latin typeface="Calibri"/>
              </a:rPr>
              <a:t>Exponierung von Backups &amp; Snapshots</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Dieselben Daten wie in der Produktion, halb so viel Sorgfalt.</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Unverschlüsselte DB-Backups auf Freigaben, lesbar für Domain Users.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Cloud-Snapshots kontoübergreifend geteilt, nie wieder zurückgenommen.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Externe Backups bei Anbietern, deren Sicherheitslage du nie geprüft hast.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Backups sind der letzte Ausweg. Wende identify-authN-authZ-audit an.</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Schneier: identifizieren, authentifizieren, autorisieren, auditieren — dasselbe Modell.</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Deine mentale Landkarte</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Eine Datenbank = organisierter Speicher + eine Möglichkeit, Fragen zu stellen.</a:t>
            </a:r>
            <a:endParaRPr lang="en-US" sz="2800" b="0" u="none" strike="noStrike">
              <a:solidFill>
                <a:srgbClr val="FFFFFF"/>
              </a:solidFill>
              <a:effectLst/>
              <a:uFillTx/>
              <a:latin typeface="Arial"/>
            </a:endParaRPr>
          </a:p>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Zehn Familien, jede mit ihrer eigenen Falle.</a:t>
            </a:r>
            <a:endParaRPr lang="en-US" sz="2800" b="0" u="none" strike="noStrike">
              <a:solidFill>
                <a:srgbClr val="FFFFFF"/>
              </a:solidFill>
              <a:effectLst/>
              <a:uFillTx/>
              <a:latin typeface="Arial"/>
            </a:endParaRPr>
          </a:p>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Cloud = geteilte Verantwortung. Du verantwortest Konfiguration &amp; Daten.</a:t>
            </a:r>
            <a:endParaRPr lang="en-US" sz="2800" b="0" u="none" strike="noStrike">
              <a:solidFill>
                <a:srgbClr val="FFFFFF"/>
              </a:solidFill>
              <a:effectLst/>
              <a:uFillTx/>
              <a:latin typeface="Arial"/>
            </a:endParaRPr>
          </a:p>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Markdown ist eine Datenbank für LLMs. RAG-Vergiftung ist real.</a:t>
            </a:r>
            <a:endParaRPr lang="en-US" sz="2800" b="0" u="none" strike="noStrike">
              <a:solidFill>
                <a:srgbClr val="FFFFFF"/>
              </a:solidFill>
              <a:effectLst/>
              <a:uFillTx/>
              <a:latin typeface="Arial"/>
            </a:endParaRPr>
          </a:p>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SQLi wurde behoben. Die Angriffsfläche hat sich vergrößert.</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Was du nächste Woche tun solltest</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Installiere PostgreSQL lokal. Schreibe ein SELECT.</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Mache die PortSwigger-SQL-Injection-Labs (kostenlos).</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Durchsuche Shodan / Censys — nur Systeme, die dir gehören.</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Lies einen Breach-Bericht — Capital One, Equifax, 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Finde heraus, welche Datenbanken DEINE Organisation tatsächlich betreibt.</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050" b="1" u="none" strike="noStrike">
                <a:solidFill>
                  <a:srgbClr val="00FF41"/>
                </a:solidFill>
                <a:effectLst/>
                <a:uFillTx/>
                <a:latin typeface="Calibri"/>
              </a:rPr>
              <a:t>Lesenswerte Ressourcen zum Speichern</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55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700" b="1" u="none" strike="noStrike">
                <a:solidFill>
                  <a:srgbClr val="FFFFFF"/>
                </a:solidFill>
                <a:effectLst/>
                <a:uFillTx/>
                <a:latin typeface="Calibri"/>
              </a:rPr>
              <a:t>„Datenbanken sind dort,</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700" b="1" u="none" strike="noStrike">
                <a:solidFill>
                  <a:srgbClr val="00FF41"/>
                </a:solidFill>
                <a:effectLst/>
                <a:uFillTx/>
                <a:latin typeface="Calibri"/>
              </a:rPr>
              <a:t>wo das Geld ist. Buchstäblich.“</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Jetzt weißt du, wo du suchen musst.</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050" b="1" u="none" strike="noStrike">
                <a:solidFill>
                  <a:srgbClr val="CCCCD6"/>
                </a:solidFill>
                <a:effectLst/>
                <a:uFillTx/>
                <a:latin typeface="Calibri"/>
              </a:rPr>
              <a:t>~Larry Ellison (Vermutlich)</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Quellen — Zitierte Werke</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Ausgabe 2025</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 (Packt)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 (Microsoft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3700" b="1" u="none" strike="noStrike">
                <a:solidFill>
                  <a:srgbClr val="00FF41"/>
                </a:solidFill>
                <a:effectLst/>
                <a:uFillTx/>
                <a:latin typeface="Calibri"/>
              </a:rPr>
              <a:t>Fragerunde*</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A == Abwesende Blicke</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