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300" r:id="rId52"/>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is a 45-minute talk for new security analysts. No computer-science background required. There's a script, slides, and a recording — nothing to memorize.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Equifax, Capital One, MOVEit, SolarWinds, T-Mobile, LinkedIn, OPM, Marriott — every one of those breaches ended at a database. Attackers care about data, not architecture diagrams.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Attackers don't care about your beautiful SPA or your microservices diagram. They care about the data — the crown jewels — because that's what converts into money, leverage, or headlines.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Strip the jargon: organized storage plus a query language. If you've used Ctrl-F in Excel, you've used a database. Real databases add scale, speed, concurrency, and a formal query language.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Memorize these six words and you can hold a real conversation with a DBA. Tabelle is a tab, row is a record, column is an attribute, query is a question, schema is the shape, index is the bookmark. CRUD covers every action: create, read, update, delete.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weird thing you'll see in a real environment is a fossil from one of these eras. Knowing which era something comes from is a real superpower in incident response and pentesting.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families you'll meet in the wild. For each: what it stores, what it's for, key products, and the security gotcha.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Family 1: Relational / SQL. Produkte include PostgreSQL  •  MySQL/MariaDB  •  SQL Server  •  Oracle. Clear relationships, consistency required — finance, regulated data. Sicherheitsfalle: SQL injection when developers concatenate user input into queries.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Family 2: Dokumentenspeicher. Produkte include MongoDB  •  Couchbase  •  Firestore. Naturally nested data; the shape changes over time. Sicherheitsfalle: NoSQL injection via query operators ($ne, $gt, $where). Default no-auth.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Family 3: Schlüssel-Wert-Speicher. Produkte include Redis  •  Memcached  •  DynamoDB. Caches, session stores, rate limiters, leaderboards. Sicherheitsfalle: Default no-auth Redis + CONFIG SET → writing SSH keys to disk.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Family 4: Spaltenfamilie. Produkte include Apache Cassandra  •  HBase  •  ScyllaDB. Massive scale across many machines; no complex joins needed. Sicherheitsfalle: Clusters trust each other on gossip ports — mgmt network = root.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Family 5: Graph-Datenbanken. Produkte include Neo4j  •  Amazon Neptune  •  ArangoDB. Social networks, fraud detection, IAM analysis (e.g. BloodHound). Sicherheitsfalle: Abfrage languages like Cypher are injectable too. NoSQLi isn't just Mongo.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Family 6: Suchmaschinen. Produkte include Elasticsearch  •  OpenSearch  •  Solr. Log search, SIEM backbones, e-commerce site search. Sicherheitsfalle: No built-in auth historically — billions of records exposed on Shodan.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Family 7: Zeitreihen. Produkte include InfluxDB  •  TimescaleDB  •  Prometheus. Metrics, observability, IoT telemetry. Sicherheitsfalle: Usually inside the perimeter, often unauthenticated.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Family 8: Vektor-Datenbanken. Produkte include Pinecone  •  Milvus  •  Weaviate  •  pgvector. RAG, recommendation engines, semantic search. Sicherheitsfalle: Data poisoning — sneak in a doc, the LLM quotes it as truth.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Family 9: Eingebettet / Edge. Produkte include SQLite  •  DuckDB  •  LevelDB. In-app storage — browsers, phones, every modern airplane. Sicherheitsfalle: DB is a file — attack is 'steal the file'. Mobile pentest world.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Family 10: Data Lakes / Lakehouses. Produkte include S3 + Athena  •  Delta Lake  •  Iceberg  •  Snowflake. Schema-on-read instead of schema-on-write. Dump now, query later. Sicherheitsfalle: Giant S3 pools + permissive IAM, no encryption-at-rest enforcement.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 the cloud vendor names — that's how databases appear in alerts, IAM policies, and incident response. AWS RDS/Aurora, GCP Cloud SQL, Azure SQL. Document side: DynamoDB, Firestore, Cosmos DB.</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Side-by-side table. Memorize the row labels — those are the categories. The vendor columns rotate with the market.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vendor patches hypervisor and engine. You own config, IAM, and the data. Almost every cloud DB breach is a customer-side misconfiguration — public S3, wide security group, snapshot shared to wrong account.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 analysts use these every day. Pentesters scan for them every day. If you see any of these exposed to the internet in a real environment, that's a finding.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Markdown files are a database now — literally. Folder of .md files → embedder → vector DB → LLM prompt. This pattern is called RAG.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 boundary is between whoever writes markdown and the embedder. Anyone who can edit those files can plant content the LLM will quote.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your org is doing any kind of internal AI assistant, the markdown files feeding it are infrastructure. Treat them like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SECURITY — What's actually getting hit in 2026</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famous database attack of all time. xkcd #327. Mom names her kid Robert'); DROP TABLE Students;-- and the school's database disappears because someone built a query by gluing strings. Fix is parameterized queries.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injection is a success story — parameterized queries fixed it. But the attack surface didn't shrink, it expanded into new shapes.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NoSQL-Injection. MongoDB JSON queries + raw user input = SQLi reborn.  Login bypass: { username: 'alice', password: { $ne: 'x' } }  $where lets you inject JavaScript straight into the DB.  Couchbase N1QL is SQL-flavored — classic SQLi patterns apply.  Principle: ANY interpreter can be injected, not just SQL.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Exponierte und Fehlkonfigurierte Datenbanken. Shodan and Censys are full of databases that should not be there.  MongoDB bound to 0.0.0.0 with no auth.  Elasticsearch clusters wide open. Redis with no password.  Postgres pg_hba.conf set to 'host all all 0.0.0.0/0 trust'.  Meow attacks (2020): bots wiped thousands of open DBs for fun.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Cloud-Fehlkonfigurationen. In cloud, the bug is rarely the engine. It's the policy around it.  Public S3 buckets full of DB dumps (Accenture, Verizon, etc.).  Capital One 2019: SSRF tricked a WAF into leaking its IAM creds → S3.  Lambda with s3:* on * because it 'worked the first time'.  Security groups: 0.0.0.0/0 on port 5432.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Privilegien-Eskalation: DB → OS. Database accounts can become shell access. Three classic moves.  MS SQL: xp_cmdshell — runs shell commands as the DB process.  PostgreSQL: COPY ... TO PROGRAM — pipes output to a shell.  MySQL: load a UDF .so file → sys_exec on the OS.  Pattern: every privileged DB feature is part of the attack surface.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Data-Lake-Sicherheitslücken. Everything ends up in S3 — including things you didn't mean to put there.  Permissive IAM leaks from compute roles to humans.  No encryption-at-rest enforcement on bucket keys.  No write-side validation — anyone can drop poisoned data.  First question: WHO can write to the lake? WHO can read?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Ransomware Loves Databases. The DB is the thing the business needs back — maximum leverage.  Encrypt the live database.  Encrypt the BACKUPS (otherwise customer just restores).  Exfil a copy first — extort with disclosure even if they restore.  Defense: offline, immutable backups + tested restores.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Angriffe auf Anmeldedaten. Default creds and leaked connection strings — two old, durable bugs.  Redis: no password by default for years.  Elastic: no auth in the free tier — also for years.  Connection strings (postgres://user:pass@host) committed to Git.  Pre-commit secret scanning — fix this week.</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Supply Chain — The DB Libraries You Trust. Your DB driver came from npm/PyPI/Maven. So did everyone else's.  Malicious npm packages posing as ORMs / drivers.  Trojanized Docker Hub images for popular databases.  Compromised PostgreSQL extensions / MySQL plugins.  Extensions run with DB privileges — usually a lot.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 LLM Data Poisoning. Stored XSS for the AI era. Write into the knowledge base → LLM quotes it.  Poisoned support article: 'To reset, send your password to...'  Poisoned internal doc: 'Company policy is to wire transfer to...'  Prompt injection embedded in retrieved documents.  Defense: strict write ACLs, provenance tags, human-in-the-loop.</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Insider-Bedrohungen &amp; DB-to-DB Lateral Movement. Databases aren't endpoints. They're nodes in a graph.  Überprivilegierte Dienstkonten. Engineers with prod read.  DBAs with no audit trail.  Oracle DB_LINK, SQL Server linked servers, Postgres FDW.  Stored credentials → compromise A, hop to B, hop to C.</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und Snapshot-Exposition. Same data as prod, half the love.  Unencrypted DB backups on shares readable by Domain Users.  Cloud snapshots shared cross-account, never un-shared.  Off-site backups to vendors whose posture you never checked.  Backups are last resort. Apply identify-authN-authZ-audit.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Database is storage + questions. Ten families. Cloud is shared responsibility. Markdown is a database for LLMs. SQLi got fixed but the surface expanded.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concrete next-week actions. Install Postgres. PortSwigger labs. Browse Shodan legally. Read a breach report. List your org's DBs.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PortSwigger for SQLi labs. SQLBolt for learning SQL. Use The Index, Luke for deep DB internals. DB-Engines for popularity rankings. OWASP Top 10 for the canonical web vuln list.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Willie Sutton said he robbed banks because that's where the money was. In 2026, the money is in databases.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floor for five minutes of questions.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books cited throughout the talk. Worth picking any of these up — they're the durable references.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Aaron K. Clark, Ronin 48. Brief pause, let the audience settle.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Title slide: Databases for Hackers — A Ronin 48 stand-up talk." title="Title slide: Databases for Hackers — A Ronin 48 stand-up talk."/>
          <p:cNvSpPr txBox="1"/>
          <p:nvPr/>
        </p:nvSpPr>
        <p:spPr>
          <a:xfrm>
            <a:off x="457200" y="2103120"/>
            <a:ext cx="11247120" cy="1371600"/>
          </a:xfrm>
          <a:prstGeom prst="rect">
            <a:avLst/>
          </a:prstGeom>
          <a:noFill/>
        </p:spPr>
        <p:txBody>
          <a:bodyPr wrap="square" anchor="t">
            <a:spAutoFit/>
          </a:bodyPr>
          <a:lstStyle/>
          <a:p>
            <a:pPr algn="ctr"/>
            <a:r>
              <a:rPr sz="8400" b="1">
                <a:solidFill>
                  <a:srgbClr val="00FF41"/>
                </a:solidFill>
                <a:latin typeface="Calibri"/>
              </a:rPr>
              <a:t>DATABASES</a:t>
            </a:r>
          </a:p>
        </p:txBody>
      </p:sp>
      <p:sp>
        <p:nvSpPr>
          <p:cNvPr id="3" name="TextBox 2"/>
          <p:cNvSpPr txBox="1"/>
          <p:nvPr/>
        </p:nvSpPr>
        <p:spPr>
          <a:xfrm>
            <a:off x="457200" y="3108960"/>
            <a:ext cx="11247120" cy="1097280"/>
          </a:xfrm>
          <a:prstGeom prst="rect">
            <a:avLst/>
          </a:prstGeom>
          <a:noFill/>
        </p:spPr>
        <p:txBody>
          <a:bodyPr wrap="square" anchor="t">
            <a:spAutoFit/>
          </a:bodyPr>
          <a:lstStyle/>
          <a:p>
            <a:pPr algn="ctr"/>
            <a:r>
              <a:rPr sz="6000" b="1">
                <a:solidFill>
                  <a:srgbClr val="FFFFFF"/>
                </a:solidFill>
                <a:latin typeface="Calibri"/>
              </a:rPr>
              <a:t>for Hackers</a:t>
            </a:r>
          </a:p>
        </p:txBody>
      </p:sp>
      <p:sp>
        <p:nvSpPr>
          <p:cNvPr id="4" name="Rectangle 3"/>
          <p:cNvSpPr/>
          <p:nvPr/>
        </p:nvSpPr>
        <p:spPr>
          <a:xfrm>
            <a:off x="5181904" y="4297680"/>
            <a:ext cx="182880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480560"/>
            <a:ext cx="11247120" cy="548640"/>
          </a:xfrm>
          <a:prstGeom prst="rect">
            <a:avLst/>
          </a:prstGeom>
          <a:noFill/>
        </p:spPr>
        <p:txBody>
          <a:bodyPr wrap="square" anchor="t">
            <a:spAutoFit/>
          </a:bodyPr>
          <a:lstStyle/>
          <a:p>
            <a:pPr algn="ctr"/>
            <a:r>
              <a:rPr sz="3200" b="0">
                <a:solidFill>
                  <a:srgbClr val="00D4FF"/>
                </a:solidFill>
                <a:latin typeface="Calibri"/>
              </a:rPr>
              <a:t>A Ronin 48 Stand-Up Talk</a:t>
            </a:r>
          </a:p>
        </p:txBody>
      </p:sp>
      <p:sp>
        <p:nvSpPr>
          <p:cNvPr id="6" name="TextBox 5"/>
          <p:cNvSpPr txBox="1"/>
          <p:nvPr/>
        </p:nvSpPr>
        <p:spPr>
          <a:xfrm>
            <a:off x="457200" y="5120640"/>
            <a:ext cx="11247120" cy="457200"/>
          </a:xfrm>
          <a:prstGeom prst="rect">
            <a:avLst/>
          </a:prstGeom>
          <a:noFill/>
        </p:spPr>
        <p:txBody>
          <a:bodyPr wrap="square" anchor="t">
            <a:spAutoFit/>
          </a:bodyPr>
          <a:lstStyle/>
          <a:p>
            <a:pPr algn="ctr"/>
            <a:r>
              <a:rPr sz="2400" b="0">
                <a:solidFill>
                  <a:srgbClr val="CCCCD6"/>
                </a:solidFill>
                <a:latin typeface="Calibri"/>
              </a:rPr>
              <a:t>45 minutes  •  No CS degree required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371600" y="1828800"/>
            <a:ext cx="9445752" cy="1371600"/>
          </a:xfrm>
          <a:prstGeom prst="rect">
            <a:avLst/>
          </a:prstGeom>
          <a:noFill/>
        </p:spPr>
        <p:txBody>
          <a:bodyPr wrap="square">
            <a:spAutoFit/>
          </a:bodyPr>
          <a:lstStyle/>
          <a:p>
            <a:pPr algn="ctr"/>
            <a:r>
              <a:rPr sz="5400" b="1">
                <a:solidFill>
                  <a:srgbClr val="00FF41"/>
                </a:solidFill>
                <a:latin typeface="Calibri"/>
              </a:rPr>
              <a:t>Aaron K. Clark</a:t>
            </a:r>
          </a:p>
        </p:txBody>
      </p:sp>
      <p:sp>
        <p:nvSpPr>
          <p:cNvPr id="3" name="TextBox 2"/>
          <p:cNvSpPr txBox="1"/>
          <p:nvPr/>
        </p:nvSpPr>
        <p:spPr>
          <a:xfrm>
            <a:off x="1371600" y="3474720"/>
            <a:ext cx="9445752" cy="914400"/>
          </a:xfrm>
          <a:prstGeom prst="rect">
            <a:avLst/>
          </a:prstGeom>
          <a:noFill/>
        </p:spPr>
        <p:txBody>
          <a:bodyPr wrap="square">
            <a:spAutoFit/>
          </a:bodyPr>
          <a:lstStyle/>
          <a:p>
            <a:pPr algn="ctr"/>
            <a:r>
              <a:rPr sz="3600" b="0">
                <a:solidFill>
                  <a:srgbClr val="FFFFFF"/>
                </a:solidFill>
                <a:latin typeface="Calibri"/>
              </a:rPr>
              <a:t>Ronin 48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Headline slide: Every breach you have ever read about ends at a database." title="Headline slide: Every breach you have ever read about ends at a database."/>
          <p:cNvSpPr txBox="1"/>
          <p:nvPr/>
        </p:nvSpPr>
        <p:spPr>
          <a:xfrm>
            <a:off x="457200" y="1828800"/>
            <a:ext cx="11247120" cy="1828800"/>
          </a:xfrm>
          <a:prstGeom prst="rect">
            <a:avLst/>
          </a:prstGeom>
          <a:noFill/>
        </p:spPr>
        <p:txBody>
          <a:bodyPr wrap="square" anchor="t">
            <a:spAutoFit/>
          </a:bodyPr>
          <a:lstStyle/>
          <a:p>
            <a:pPr algn="ctr"/>
            <a:r>
              <a:rPr sz="5600" b="1">
                <a:solidFill>
                  <a:srgbClr val="FFFFFF"/>
                </a:solidFill>
                <a:latin typeface="Calibri"/>
              </a:rPr>
              <a:t>Every breach you have ever</a:t>
            </a:r>
          </a:p>
        </p:txBody>
      </p:sp>
      <p:sp>
        <p:nvSpPr>
          <p:cNvPr id="3" name="TextBox 2"/>
          <p:cNvSpPr txBox="1"/>
          <p:nvPr/>
        </p:nvSpPr>
        <p:spPr>
          <a:xfrm>
            <a:off x="457200" y="2834640"/>
            <a:ext cx="11247120" cy="1828800"/>
          </a:xfrm>
          <a:prstGeom prst="rect">
            <a:avLst/>
          </a:prstGeom>
          <a:noFill/>
        </p:spPr>
        <p:txBody>
          <a:bodyPr wrap="square" anchor="t">
            <a:spAutoFit/>
          </a:bodyPr>
          <a:lstStyle/>
          <a:p>
            <a:pPr algn="ctr"/>
            <a:r>
              <a:rPr sz="5600" b="1">
                <a:solidFill>
                  <a:srgbClr val="FFFFFF"/>
                </a:solidFill>
                <a:latin typeface="Calibri"/>
              </a:rPr>
              <a:t>read about ends at a</a:t>
            </a:r>
          </a:p>
        </p:txBody>
      </p:sp>
      <p:sp>
        <p:nvSpPr>
          <p:cNvPr id="4" name="TextBox 3"/>
          <p:cNvSpPr txBox="1"/>
          <p:nvPr/>
        </p:nvSpPr>
        <p:spPr>
          <a:xfrm>
            <a:off x="457200" y="3840480"/>
            <a:ext cx="11247120" cy="1828800"/>
          </a:xfrm>
          <a:prstGeom prst="rect">
            <a:avLst/>
          </a:prstGeom>
          <a:noFill/>
        </p:spPr>
        <p:txBody>
          <a:bodyPr wrap="square" anchor="t">
            <a:spAutoFit/>
          </a:bodyPr>
          <a:lstStyle/>
          <a:p>
            <a:pPr algn="ctr"/>
            <a:r>
              <a:rPr sz="8400" b="1">
                <a:solidFill>
                  <a:srgbClr val="00FF41"/>
                </a:solidFill>
                <a:latin typeface="Calibri"/>
              </a:rPr>
              <a:t>DATABASE.</a:t>
            </a:r>
          </a:p>
        </p:txBody>
      </p:sp>
      <p:sp>
        <p:nvSpPr>
          <p:cNvPr id="5" name="TextBox 4"/>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6" name="TextBox 5"/>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2 / 44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A stylized vault icon next to four bullets explaining that attackers target the data, not the surrounding application or infrastructure." title="A stylized vault icon next to four bullets explaining that attackers target the "/>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The Crown Jewels</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371600" y="1828800"/>
            <a:ext cx="4114800" cy="3840480"/>
          </a:xfrm>
          <a:prstGeom prst="roundRect">
            <a:avLst/>
          </a:prstGeom>
          <a:solidFill>
            <a:srgbClr val="2A2A44"/>
          </a:solidFill>
          <a:ln w="38100">
            <a:solidFill>
              <a:srgbClr val="00FF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971800" y="3291840"/>
            <a:ext cx="914400" cy="914400"/>
          </a:xfrm>
          <a:prstGeom prst="ellipse">
            <a:avLst/>
          </a:prstGeom>
          <a:solidFill>
            <a:srgbClr val="00FF4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5577840"/>
            <a:ext cx="4114800" cy="457200"/>
          </a:xfrm>
          <a:prstGeom prst="rect">
            <a:avLst/>
          </a:prstGeom>
          <a:noFill/>
        </p:spPr>
        <p:txBody>
          <a:bodyPr wrap="square" anchor="t">
            <a:spAutoFit/>
          </a:bodyPr>
          <a:lstStyle/>
          <a:p>
            <a:pPr algn="ctr"/>
            <a:r>
              <a:rPr sz="2400" b="1">
                <a:solidFill>
                  <a:srgbClr val="00FF41"/>
                </a:solidFill>
                <a:latin typeface="Calibri"/>
              </a:rPr>
              <a:t>DATA  VAULT</a:t>
            </a:r>
          </a:p>
        </p:txBody>
      </p:sp>
      <p:sp>
        <p:nvSpPr>
          <p:cNvPr id="7" name="TextBox 6"/>
          <p:cNvSpPr txBox="1"/>
          <p:nvPr/>
        </p:nvSpPr>
        <p:spPr>
          <a:xfrm>
            <a:off x="5943600" y="2011680"/>
            <a:ext cx="5943600" cy="3840480"/>
          </a:xfrm>
          <a:prstGeom prst="rect">
            <a:avLst/>
          </a:prstGeom>
          <a:noFill/>
        </p:spPr>
        <p:txBody>
          <a:bodyPr wrap="square">
            <a:spAutoFit/>
          </a:bodyPr>
          <a:lstStyle/>
          <a:p>
            <a:pPr algn="l">
              <a:lnSpc>
                <a:spcPct val="140000"/>
              </a:lnSpc>
            </a:pPr>
            <a:r>
              <a:rPr sz="3000" b="1">
                <a:solidFill>
                  <a:srgbClr val="00D4FF"/>
                </a:solidFill>
                <a:latin typeface="Calibri"/>
              </a:rPr>
              <a:t>▶ </a:t>
            </a:r>
            <a:r>
              <a:rPr sz="3000">
                <a:solidFill>
                  <a:srgbClr val="FFFFFF"/>
                </a:solidFill>
                <a:latin typeface="Calibri"/>
              </a:rPr>
              <a:t>Not your single-page app.</a:t>
            </a:r>
          </a:p>
          <a:p>
            <a:pPr algn="l">
              <a:lnSpc>
                <a:spcPct val="140000"/>
              </a:lnSpc>
            </a:pPr>
            <a:r>
              <a:rPr sz="3000" b="1">
                <a:solidFill>
                  <a:srgbClr val="00D4FF"/>
                </a:solidFill>
                <a:latin typeface="Calibri"/>
              </a:rPr>
              <a:t>▶ </a:t>
            </a:r>
            <a:r>
              <a:rPr sz="3000">
                <a:solidFill>
                  <a:srgbClr val="FFFFFF"/>
                </a:solidFill>
                <a:latin typeface="Calibri"/>
              </a:rPr>
              <a:t>Not your firewall.</a:t>
            </a:r>
          </a:p>
          <a:p>
            <a:pPr algn="l">
              <a:lnSpc>
                <a:spcPct val="140000"/>
              </a:lnSpc>
            </a:pPr>
            <a:r>
              <a:rPr sz="3000" b="1">
                <a:solidFill>
                  <a:srgbClr val="00D4FF"/>
                </a:solidFill>
                <a:latin typeface="Calibri"/>
              </a:rPr>
              <a:t>▶ </a:t>
            </a:r>
            <a:r>
              <a:rPr sz="3000">
                <a:solidFill>
                  <a:srgbClr val="FFFFFF"/>
                </a:solidFill>
                <a:latin typeface="Calibri"/>
              </a:rPr>
              <a:t>Not your microservices.</a:t>
            </a:r>
          </a:p>
          <a:p>
            <a:pPr algn="l">
              <a:lnSpc>
                <a:spcPct val="140000"/>
              </a:lnSpc>
            </a:pPr>
            <a:r>
              <a:rPr sz="3000" b="1">
                <a:solidFill>
                  <a:srgbClr val="00D4FF"/>
                </a:solidFill>
                <a:latin typeface="Calibri"/>
              </a:rPr>
              <a:t>▶ </a:t>
            </a:r>
            <a:r>
              <a:rPr sz="3000">
                <a:solidFill>
                  <a:srgbClr val="FFFFFF"/>
                </a:solidFill>
                <a:latin typeface="Calibri"/>
              </a:rPr>
              <a:t>THE DATA. Always the data.</a:t>
            </a:r>
          </a:p>
        </p:txBody>
      </p:sp>
      <p:sp>
        <p:nvSpPr>
          <p:cNvPr id="8" name="TextBox 7"/>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9" name="TextBox 8"/>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3 / 44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Definition slide: A database is organized storage plus a way to ask questions, illustrated with filing-cabinet and Excel analogies." title="Definition slide: A database is organized storage plus a way to ask questions, i"/>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What Is a Database?</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0"/>
            <a:ext cx="11247120" cy="914400"/>
          </a:xfrm>
          <a:prstGeom prst="rect">
            <a:avLst/>
          </a:prstGeom>
          <a:noFill/>
        </p:spPr>
        <p:txBody>
          <a:bodyPr wrap="square" anchor="t">
            <a:spAutoFit/>
          </a:bodyPr>
          <a:lstStyle/>
          <a:p>
            <a:pPr algn="ctr"/>
            <a:r>
              <a:rPr sz="4000" b="1">
                <a:solidFill>
                  <a:srgbClr val="FFFFFF"/>
                </a:solidFill>
                <a:latin typeface="Calibri"/>
              </a:rPr>
              <a:t>Organisierter Speicher  +  a way to ask questions.</a:t>
            </a:r>
          </a:p>
        </p:txBody>
      </p:sp>
      <p:sp>
        <p:nvSpPr>
          <p:cNvPr id="5" name="TextBox 4"/>
          <p:cNvSpPr txBox="1"/>
          <p:nvPr/>
        </p:nvSpPr>
        <p:spPr>
          <a:xfrm>
            <a:off x="457200" y="2926080"/>
            <a:ext cx="11247120" cy="548640"/>
          </a:xfrm>
          <a:prstGeom prst="rect">
            <a:avLst/>
          </a:prstGeom>
          <a:noFill/>
        </p:spPr>
        <p:txBody>
          <a:bodyPr wrap="square" anchor="t">
            <a:spAutoFit/>
          </a:bodyPr>
          <a:lstStyle/>
          <a:p>
            <a:pPr algn="ctr"/>
            <a:r>
              <a:rPr sz="2600" b="0">
                <a:solidFill>
                  <a:srgbClr val="00D4FF"/>
                </a:solidFill>
                <a:latin typeface="Calibri"/>
              </a:rPr>
              <a:t>That's it. Everything else is detail.</a:t>
            </a:r>
          </a:p>
        </p:txBody>
      </p:sp>
      <p:sp>
        <p:nvSpPr>
          <p:cNvPr id="6" name="TextBox 5"/>
          <p:cNvSpPr txBox="1"/>
          <p:nvPr/>
        </p:nvSpPr>
        <p:spPr>
          <a:xfrm>
            <a:off x="914400" y="3931920"/>
            <a:ext cx="10332720" cy="2286000"/>
          </a:xfrm>
          <a:prstGeom prst="rect">
            <a:avLst/>
          </a:prstGeom>
          <a:noFill/>
        </p:spPr>
        <p:txBody>
          <a:bodyPr wrap="square">
            <a:spAutoFit/>
          </a:bodyPr>
          <a:lstStyle/>
          <a:p>
            <a:pPr algn="l">
              <a:lnSpc>
                <a:spcPct val="150000"/>
              </a:lnSpc>
            </a:pPr>
            <a:r>
              <a:rPr sz="2600" b="1">
                <a:solidFill>
                  <a:srgbClr val="00D4FF"/>
                </a:solidFill>
                <a:latin typeface="Calibri"/>
              </a:rPr>
              <a:t>▶ </a:t>
            </a:r>
            <a:r>
              <a:rPr sz="2600">
                <a:solidFill>
                  <a:srgbClr val="FFFFFF"/>
                </a:solidFill>
                <a:latin typeface="Calibri"/>
              </a:rPr>
              <a:t>Filing cabinet  =  storage  +  your eyeballs as query.</a:t>
            </a:r>
          </a:p>
          <a:p>
            <a:pPr algn="l">
              <a:lnSpc>
                <a:spcPct val="150000"/>
              </a:lnSpc>
            </a:pPr>
            <a:r>
              <a:rPr sz="2600" b="1">
                <a:solidFill>
                  <a:srgbClr val="00D4FF"/>
                </a:solidFill>
                <a:latin typeface="Calibri"/>
              </a:rPr>
              <a:t>▶ </a:t>
            </a:r>
            <a:r>
              <a:rPr sz="2600">
                <a:solidFill>
                  <a:srgbClr val="FFFFFF"/>
                </a:solidFill>
                <a:latin typeface="Calibri"/>
              </a:rPr>
              <a:t>Excel + Ctrl-F  =  storage  +  find-and-replace as query.</a:t>
            </a:r>
          </a:p>
          <a:p>
            <a:pPr algn="l">
              <a:lnSpc>
                <a:spcPct val="150000"/>
              </a:lnSpc>
            </a:pPr>
            <a:r>
              <a:rPr sz="2600" b="1">
                <a:solidFill>
                  <a:srgbClr val="00D4FF"/>
                </a:solidFill>
                <a:latin typeface="Calibri"/>
              </a:rPr>
              <a:t>▶ </a:t>
            </a:r>
            <a:r>
              <a:rPr sz="2600">
                <a:solidFill>
                  <a:srgbClr val="FFFFFF"/>
                </a:solidFill>
                <a:latin typeface="Calibri"/>
              </a:rPr>
              <a:t>Real DB adds:  scale, speed, concurrency, a formal language.</a:t>
            </a:r>
          </a:p>
        </p:txBody>
      </p:sp>
      <p:sp>
        <p:nvSpPr>
          <p:cNvPr id="7" name="TextBox 6"/>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8" name="TextBox 7"/>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4 / 44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Vocabulary slide listing six core database terms: table, row, column, query, schema, index — plus the CRUD verbs." title="Vocabulary slide listing six core database terms: table, row, column, query, sch"/>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The Six Words You Need</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91640"/>
            <a:ext cx="3200400" cy="640080"/>
          </a:xfrm>
          <a:prstGeom prst="rect">
            <a:avLst/>
          </a:prstGeom>
          <a:noFill/>
        </p:spPr>
        <p:txBody>
          <a:bodyPr wrap="square" anchor="t">
            <a:spAutoFit/>
          </a:bodyPr>
          <a:lstStyle/>
          <a:p>
            <a:pPr algn="l"/>
            <a:r>
              <a:rPr sz="3200" b="1">
                <a:solidFill>
                  <a:srgbClr val="00FF41"/>
                </a:solidFill>
                <a:latin typeface="Calibri"/>
              </a:rPr>
              <a:t>TABLE</a:t>
            </a:r>
          </a:p>
        </p:txBody>
      </p:sp>
      <p:sp>
        <p:nvSpPr>
          <p:cNvPr id="5" name="TextBox 4"/>
          <p:cNvSpPr txBox="1"/>
          <p:nvPr/>
        </p:nvSpPr>
        <p:spPr>
          <a:xfrm>
            <a:off x="3931920" y="1691640"/>
            <a:ext cx="457200" cy="640080"/>
          </a:xfrm>
          <a:prstGeom prst="rect">
            <a:avLst/>
          </a:prstGeom>
          <a:noFill/>
        </p:spPr>
        <p:txBody>
          <a:bodyPr wrap="square" anchor="t">
            <a:spAutoFit/>
          </a:bodyPr>
          <a:lstStyle/>
          <a:p>
            <a:pPr algn="ctr"/>
            <a:r>
              <a:rPr sz="2800" b="0">
                <a:solidFill>
                  <a:srgbClr val="00D4FF"/>
                </a:solidFill>
                <a:latin typeface="Calibri"/>
              </a:rPr>
              <a:t>■</a:t>
            </a:r>
          </a:p>
        </p:txBody>
      </p:sp>
      <p:sp>
        <p:nvSpPr>
          <p:cNvPr id="6" name="TextBox 5"/>
          <p:cNvSpPr txBox="1"/>
          <p:nvPr/>
        </p:nvSpPr>
        <p:spPr>
          <a:xfrm>
            <a:off x="4480560" y="1691640"/>
            <a:ext cx="7315200" cy="640080"/>
          </a:xfrm>
          <a:prstGeom prst="rect">
            <a:avLst/>
          </a:prstGeom>
          <a:noFill/>
        </p:spPr>
        <p:txBody>
          <a:bodyPr wrap="square" anchor="t">
            <a:spAutoFit/>
          </a:bodyPr>
          <a:lstStyle/>
          <a:p>
            <a:pPr algn="l"/>
            <a:r>
              <a:rPr sz="2800" b="0">
                <a:solidFill>
                  <a:srgbClr val="FFFFFF"/>
                </a:solidFill>
                <a:latin typeface="Calibri"/>
              </a:rPr>
              <a:t>a spreadsheet tab</a:t>
            </a:r>
          </a:p>
        </p:txBody>
      </p:sp>
      <p:sp>
        <p:nvSpPr>
          <p:cNvPr id="7" name="TextBox 6"/>
          <p:cNvSpPr txBox="1"/>
          <p:nvPr/>
        </p:nvSpPr>
        <p:spPr>
          <a:xfrm>
            <a:off x="731520" y="2404872"/>
            <a:ext cx="3200400" cy="640080"/>
          </a:xfrm>
          <a:prstGeom prst="rect">
            <a:avLst/>
          </a:prstGeom>
          <a:noFill/>
        </p:spPr>
        <p:txBody>
          <a:bodyPr wrap="square" anchor="t">
            <a:spAutoFit/>
          </a:bodyPr>
          <a:lstStyle/>
          <a:p>
            <a:pPr algn="l"/>
            <a:r>
              <a:rPr sz="3200" b="1">
                <a:solidFill>
                  <a:srgbClr val="00FF41"/>
                </a:solidFill>
                <a:latin typeface="Calibri"/>
              </a:rPr>
              <a:t>ROW</a:t>
            </a:r>
          </a:p>
        </p:txBody>
      </p:sp>
      <p:sp>
        <p:nvSpPr>
          <p:cNvPr id="8" name="TextBox 7"/>
          <p:cNvSpPr txBox="1"/>
          <p:nvPr/>
        </p:nvSpPr>
        <p:spPr>
          <a:xfrm>
            <a:off x="3931920" y="2404872"/>
            <a:ext cx="457200" cy="640080"/>
          </a:xfrm>
          <a:prstGeom prst="rect">
            <a:avLst/>
          </a:prstGeom>
          <a:noFill/>
        </p:spPr>
        <p:txBody>
          <a:bodyPr wrap="square" anchor="t">
            <a:spAutoFit/>
          </a:bodyPr>
          <a:lstStyle/>
          <a:p>
            <a:pPr algn="ctr"/>
            <a:r>
              <a:rPr sz="2800" b="0">
                <a:solidFill>
                  <a:srgbClr val="00D4FF"/>
                </a:solidFill>
                <a:latin typeface="Calibri"/>
              </a:rPr>
              <a:t>■</a:t>
            </a:r>
          </a:p>
        </p:txBody>
      </p:sp>
      <p:sp>
        <p:nvSpPr>
          <p:cNvPr id="9" name="TextBox 8"/>
          <p:cNvSpPr txBox="1"/>
          <p:nvPr/>
        </p:nvSpPr>
        <p:spPr>
          <a:xfrm>
            <a:off x="4480560" y="2404872"/>
            <a:ext cx="7315200" cy="640080"/>
          </a:xfrm>
          <a:prstGeom prst="rect">
            <a:avLst/>
          </a:prstGeom>
          <a:noFill/>
        </p:spPr>
        <p:txBody>
          <a:bodyPr wrap="square" anchor="t">
            <a:spAutoFit/>
          </a:bodyPr>
          <a:lstStyle/>
          <a:p>
            <a:pPr algn="l"/>
            <a:r>
              <a:rPr sz="2800" b="0">
                <a:solidFill>
                  <a:srgbClr val="FFFFFF"/>
                </a:solidFill>
                <a:latin typeface="Calibri"/>
              </a:rPr>
              <a:t>one record (one customer, one alert)</a:t>
            </a:r>
          </a:p>
        </p:txBody>
      </p:sp>
      <p:sp>
        <p:nvSpPr>
          <p:cNvPr id="10" name="TextBox 9"/>
          <p:cNvSpPr txBox="1"/>
          <p:nvPr/>
        </p:nvSpPr>
        <p:spPr>
          <a:xfrm>
            <a:off x="731520" y="3118104"/>
            <a:ext cx="3200400" cy="640080"/>
          </a:xfrm>
          <a:prstGeom prst="rect">
            <a:avLst/>
          </a:prstGeom>
          <a:noFill/>
        </p:spPr>
        <p:txBody>
          <a:bodyPr wrap="square" anchor="t">
            <a:spAutoFit/>
          </a:bodyPr>
          <a:lstStyle/>
          <a:p>
            <a:pPr algn="l"/>
            <a:r>
              <a:rPr sz="3200" b="1">
                <a:solidFill>
                  <a:srgbClr val="00FF41"/>
                </a:solidFill>
                <a:latin typeface="Calibri"/>
              </a:rPr>
              <a:t>COLUMN</a:t>
            </a:r>
          </a:p>
        </p:txBody>
      </p:sp>
      <p:sp>
        <p:nvSpPr>
          <p:cNvPr id="11" name="TextBox 10"/>
          <p:cNvSpPr txBox="1"/>
          <p:nvPr/>
        </p:nvSpPr>
        <p:spPr>
          <a:xfrm>
            <a:off x="3931920" y="3118104"/>
            <a:ext cx="457200" cy="640080"/>
          </a:xfrm>
          <a:prstGeom prst="rect">
            <a:avLst/>
          </a:prstGeom>
          <a:noFill/>
        </p:spPr>
        <p:txBody>
          <a:bodyPr wrap="square" anchor="t">
            <a:spAutoFit/>
          </a:bodyPr>
          <a:lstStyle/>
          <a:p>
            <a:pPr algn="ctr"/>
            <a:r>
              <a:rPr sz="2800" b="0">
                <a:solidFill>
                  <a:srgbClr val="00D4FF"/>
                </a:solidFill>
                <a:latin typeface="Calibri"/>
              </a:rPr>
              <a:t>■</a:t>
            </a:r>
          </a:p>
        </p:txBody>
      </p:sp>
      <p:sp>
        <p:nvSpPr>
          <p:cNvPr id="12" name="TextBox 11"/>
          <p:cNvSpPr txBox="1"/>
          <p:nvPr/>
        </p:nvSpPr>
        <p:spPr>
          <a:xfrm>
            <a:off x="4480560" y="3118104"/>
            <a:ext cx="7315200" cy="640080"/>
          </a:xfrm>
          <a:prstGeom prst="rect">
            <a:avLst/>
          </a:prstGeom>
          <a:noFill/>
        </p:spPr>
        <p:txBody>
          <a:bodyPr wrap="square" anchor="t">
            <a:spAutoFit/>
          </a:bodyPr>
          <a:lstStyle/>
          <a:p>
            <a:pPr algn="l"/>
            <a:r>
              <a:rPr sz="2800" b="0">
                <a:solidFill>
                  <a:srgbClr val="FFFFFF"/>
                </a:solidFill>
                <a:latin typeface="Calibri"/>
              </a:rPr>
              <a:t>one attribute (email, IP, total)</a:t>
            </a:r>
          </a:p>
        </p:txBody>
      </p:sp>
      <p:sp>
        <p:nvSpPr>
          <p:cNvPr id="13" name="TextBox 12"/>
          <p:cNvSpPr txBox="1"/>
          <p:nvPr/>
        </p:nvSpPr>
        <p:spPr>
          <a:xfrm>
            <a:off x="731520" y="3831335"/>
            <a:ext cx="3200400" cy="640080"/>
          </a:xfrm>
          <a:prstGeom prst="rect">
            <a:avLst/>
          </a:prstGeom>
          <a:noFill/>
        </p:spPr>
        <p:txBody>
          <a:bodyPr wrap="square" anchor="t">
            <a:spAutoFit/>
          </a:bodyPr>
          <a:lstStyle/>
          <a:p>
            <a:pPr algn="l"/>
            <a:r>
              <a:rPr sz="3200" b="1">
                <a:solidFill>
                  <a:srgbClr val="00FF41"/>
                </a:solidFill>
                <a:latin typeface="Calibri"/>
              </a:rPr>
              <a:t>QUERY</a:t>
            </a:r>
          </a:p>
        </p:txBody>
      </p:sp>
      <p:sp>
        <p:nvSpPr>
          <p:cNvPr id="14" name="TextBox 13"/>
          <p:cNvSpPr txBox="1"/>
          <p:nvPr/>
        </p:nvSpPr>
        <p:spPr>
          <a:xfrm>
            <a:off x="3931920" y="3831335"/>
            <a:ext cx="457200" cy="640080"/>
          </a:xfrm>
          <a:prstGeom prst="rect">
            <a:avLst/>
          </a:prstGeom>
          <a:noFill/>
        </p:spPr>
        <p:txBody>
          <a:bodyPr wrap="square" anchor="t">
            <a:spAutoFit/>
          </a:bodyPr>
          <a:lstStyle/>
          <a:p>
            <a:pPr algn="ctr"/>
            <a:r>
              <a:rPr sz="2800" b="0">
                <a:solidFill>
                  <a:srgbClr val="00D4FF"/>
                </a:solidFill>
                <a:latin typeface="Calibri"/>
              </a:rPr>
              <a:t>■</a:t>
            </a:r>
          </a:p>
        </p:txBody>
      </p:sp>
      <p:sp>
        <p:nvSpPr>
          <p:cNvPr id="15" name="TextBox 14"/>
          <p:cNvSpPr txBox="1"/>
          <p:nvPr/>
        </p:nvSpPr>
        <p:spPr>
          <a:xfrm>
            <a:off x="4480560" y="3831335"/>
            <a:ext cx="7315200" cy="640080"/>
          </a:xfrm>
          <a:prstGeom prst="rect">
            <a:avLst/>
          </a:prstGeom>
          <a:noFill/>
        </p:spPr>
        <p:txBody>
          <a:bodyPr wrap="square" anchor="t">
            <a:spAutoFit/>
          </a:bodyPr>
          <a:lstStyle/>
          <a:p>
            <a:pPr algn="l"/>
            <a:r>
              <a:rPr sz="2800" b="0">
                <a:solidFill>
                  <a:srgbClr val="FFFFFF"/>
                </a:solidFill>
                <a:latin typeface="Calibri"/>
              </a:rPr>
              <a:t>the question you're asking</a:t>
            </a:r>
          </a:p>
        </p:txBody>
      </p:sp>
      <p:sp>
        <p:nvSpPr>
          <p:cNvPr id="16" name="TextBox 15"/>
          <p:cNvSpPr txBox="1"/>
          <p:nvPr/>
        </p:nvSpPr>
        <p:spPr>
          <a:xfrm>
            <a:off x="731520" y="4544568"/>
            <a:ext cx="3200400" cy="640080"/>
          </a:xfrm>
          <a:prstGeom prst="rect">
            <a:avLst/>
          </a:prstGeom>
          <a:noFill/>
        </p:spPr>
        <p:txBody>
          <a:bodyPr wrap="square" anchor="t">
            <a:spAutoFit/>
          </a:bodyPr>
          <a:lstStyle/>
          <a:p>
            <a:pPr algn="l"/>
            <a:r>
              <a:rPr sz="3200" b="1">
                <a:solidFill>
                  <a:srgbClr val="00FF41"/>
                </a:solidFill>
                <a:latin typeface="Calibri"/>
              </a:rPr>
              <a:t>SCHEMA</a:t>
            </a:r>
          </a:p>
        </p:txBody>
      </p:sp>
      <p:sp>
        <p:nvSpPr>
          <p:cNvPr id="17" name="TextBox 16"/>
          <p:cNvSpPr txBox="1"/>
          <p:nvPr/>
        </p:nvSpPr>
        <p:spPr>
          <a:xfrm>
            <a:off x="3931920" y="4544568"/>
            <a:ext cx="457200" cy="640080"/>
          </a:xfrm>
          <a:prstGeom prst="rect">
            <a:avLst/>
          </a:prstGeom>
          <a:noFill/>
        </p:spPr>
        <p:txBody>
          <a:bodyPr wrap="square" anchor="t">
            <a:spAutoFit/>
          </a:bodyPr>
          <a:lstStyle/>
          <a:p>
            <a:pPr algn="ctr"/>
            <a:r>
              <a:rPr sz="2800" b="0">
                <a:solidFill>
                  <a:srgbClr val="00D4FF"/>
                </a:solidFill>
                <a:latin typeface="Calibri"/>
              </a:rPr>
              <a:t>■</a:t>
            </a:r>
          </a:p>
        </p:txBody>
      </p:sp>
      <p:sp>
        <p:nvSpPr>
          <p:cNvPr id="18" name="TextBox 17"/>
          <p:cNvSpPr txBox="1"/>
          <p:nvPr/>
        </p:nvSpPr>
        <p:spPr>
          <a:xfrm>
            <a:off x="4480560" y="4544568"/>
            <a:ext cx="7315200" cy="640080"/>
          </a:xfrm>
          <a:prstGeom prst="rect">
            <a:avLst/>
          </a:prstGeom>
          <a:noFill/>
        </p:spPr>
        <p:txBody>
          <a:bodyPr wrap="square" anchor="t">
            <a:spAutoFit/>
          </a:bodyPr>
          <a:lstStyle/>
          <a:p>
            <a:pPr algn="l"/>
            <a:r>
              <a:rPr sz="2800" b="0">
                <a:solidFill>
                  <a:srgbClr val="FFFFFF"/>
                </a:solidFill>
                <a:latin typeface="Calibri"/>
              </a:rPr>
              <a:t>the shape of the data</a:t>
            </a:r>
          </a:p>
        </p:txBody>
      </p:sp>
      <p:sp>
        <p:nvSpPr>
          <p:cNvPr id="19" name="TextBox 18"/>
          <p:cNvSpPr txBox="1"/>
          <p:nvPr/>
        </p:nvSpPr>
        <p:spPr>
          <a:xfrm>
            <a:off x="731520" y="5257800"/>
            <a:ext cx="3200400" cy="640080"/>
          </a:xfrm>
          <a:prstGeom prst="rect">
            <a:avLst/>
          </a:prstGeom>
          <a:noFill/>
        </p:spPr>
        <p:txBody>
          <a:bodyPr wrap="square" anchor="t">
            <a:spAutoFit/>
          </a:bodyPr>
          <a:lstStyle/>
          <a:p>
            <a:pPr algn="l"/>
            <a:r>
              <a:rPr sz="3200" b="1">
                <a:solidFill>
                  <a:srgbClr val="00FF41"/>
                </a:solidFill>
                <a:latin typeface="Calibri"/>
              </a:rPr>
              <a:t>INDEX</a:t>
            </a:r>
          </a:p>
        </p:txBody>
      </p:sp>
      <p:sp>
        <p:nvSpPr>
          <p:cNvPr id="20" name="TextBox 19"/>
          <p:cNvSpPr txBox="1"/>
          <p:nvPr/>
        </p:nvSpPr>
        <p:spPr>
          <a:xfrm>
            <a:off x="3931920" y="5257800"/>
            <a:ext cx="457200" cy="640080"/>
          </a:xfrm>
          <a:prstGeom prst="rect">
            <a:avLst/>
          </a:prstGeom>
          <a:noFill/>
        </p:spPr>
        <p:txBody>
          <a:bodyPr wrap="square" anchor="t">
            <a:spAutoFit/>
          </a:bodyPr>
          <a:lstStyle/>
          <a:p>
            <a:pPr algn="ctr"/>
            <a:r>
              <a:rPr sz="2800" b="0">
                <a:solidFill>
                  <a:srgbClr val="00D4FF"/>
                </a:solidFill>
                <a:latin typeface="Calibri"/>
              </a:rPr>
              <a:t>■</a:t>
            </a:r>
          </a:p>
        </p:txBody>
      </p:sp>
      <p:sp>
        <p:nvSpPr>
          <p:cNvPr id="21" name="TextBox 20"/>
          <p:cNvSpPr txBox="1"/>
          <p:nvPr/>
        </p:nvSpPr>
        <p:spPr>
          <a:xfrm>
            <a:off x="4480560" y="5257800"/>
            <a:ext cx="7315200" cy="640080"/>
          </a:xfrm>
          <a:prstGeom prst="rect">
            <a:avLst/>
          </a:prstGeom>
          <a:noFill/>
        </p:spPr>
        <p:txBody>
          <a:bodyPr wrap="square" anchor="t">
            <a:spAutoFit/>
          </a:bodyPr>
          <a:lstStyle/>
          <a:p>
            <a:pPr algn="l"/>
            <a:r>
              <a:rPr sz="2800" b="0">
                <a:solidFill>
                  <a:srgbClr val="FFFFFF"/>
                </a:solidFill>
                <a:latin typeface="Calibri"/>
              </a:rPr>
              <a:t>the bookmark that makes lookups fast</a:t>
            </a:r>
          </a:p>
        </p:txBody>
      </p:sp>
      <p:sp>
        <p:nvSpPr>
          <p:cNvPr id="22" name="TextBox 21"/>
          <p:cNvSpPr txBox="1"/>
          <p:nvPr/>
        </p:nvSpPr>
        <p:spPr>
          <a:xfrm>
            <a:off x="457200" y="5989320"/>
            <a:ext cx="11247120" cy="457200"/>
          </a:xfrm>
          <a:prstGeom prst="rect">
            <a:avLst/>
          </a:prstGeom>
          <a:noFill/>
        </p:spPr>
        <p:txBody>
          <a:bodyPr wrap="square" anchor="t">
            <a:spAutoFit/>
          </a:bodyPr>
          <a:lstStyle/>
          <a:p>
            <a:pPr algn="ctr"/>
            <a:r>
              <a:rPr sz="2600" b="1">
                <a:solidFill>
                  <a:srgbClr val="FF6B35"/>
                </a:solidFill>
                <a:latin typeface="Calibri"/>
              </a:rPr>
              <a:t>+  CRUD  =  Create  •  Read  •  Update  •  Delete</a:t>
            </a:r>
          </a:p>
        </p:txBody>
      </p:sp>
      <p:sp>
        <p:nvSpPr>
          <p:cNvPr id="23" name="TextBox 22"/>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24" name="TextBox 23"/>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5 / 44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Timeline of database eras from 1960s flat files to 2020s vector databases, each annotated with its security implication." title="Timeline of database eras from 1960s flat files to 2020s vector databases, each "/>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History Tour — Fossils You'll See in Prod</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00200"/>
            <a:ext cx="1828800" cy="457200"/>
          </a:xfrm>
          <a:prstGeom prst="rect">
            <a:avLst/>
          </a:prstGeom>
          <a:noFill/>
        </p:spPr>
        <p:txBody>
          <a:bodyPr wrap="square" anchor="t">
            <a:spAutoFit/>
          </a:bodyPr>
          <a:lstStyle/>
          <a:p>
            <a:pPr algn="l"/>
            <a:r>
              <a:rPr sz="2200" b="1">
                <a:solidFill>
                  <a:srgbClr val="00D4FF"/>
                </a:solidFill>
                <a:latin typeface="Calibri"/>
              </a:rPr>
              <a:t>1960s</a:t>
            </a:r>
          </a:p>
        </p:txBody>
      </p:sp>
      <p:sp>
        <p:nvSpPr>
          <p:cNvPr id="5" name="TextBox 4"/>
          <p:cNvSpPr txBox="1"/>
          <p:nvPr/>
        </p:nvSpPr>
        <p:spPr>
          <a:xfrm>
            <a:off x="2286000" y="1600200"/>
            <a:ext cx="3657600" cy="457200"/>
          </a:xfrm>
          <a:prstGeom prst="rect">
            <a:avLst/>
          </a:prstGeom>
          <a:noFill/>
        </p:spPr>
        <p:txBody>
          <a:bodyPr wrap="square" anchor="t">
            <a:spAutoFit/>
          </a:bodyPr>
          <a:lstStyle/>
          <a:p>
            <a:pPr algn="l"/>
            <a:r>
              <a:rPr sz="2200" b="1">
                <a:solidFill>
                  <a:srgbClr val="FFFFFF"/>
                </a:solidFill>
                <a:latin typeface="Calibri"/>
              </a:rPr>
              <a:t>Flat files</a:t>
            </a:r>
          </a:p>
        </p:txBody>
      </p:sp>
      <p:sp>
        <p:nvSpPr>
          <p:cNvPr id="6" name="TextBox 5"/>
          <p:cNvSpPr txBox="1"/>
          <p:nvPr/>
        </p:nvSpPr>
        <p:spPr>
          <a:xfrm>
            <a:off x="5943600" y="1600200"/>
            <a:ext cx="365760" cy="457200"/>
          </a:xfrm>
          <a:prstGeom prst="rect">
            <a:avLst/>
          </a:prstGeom>
          <a:noFill/>
        </p:spPr>
        <p:txBody>
          <a:bodyPr wrap="square" anchor="t">
            <a:spAutoFit/>
          </a:bodyPr>
          <a:lstStyle/>
          <a:p>
            <a:pPr algn="l"/>
            <a:r>
              <a:rPr sz="2000" b="0">
                <a:solidFill>
                  <a:srgbClr val="FF6B35"/>
                </a:solidFill>
                <a:latin typeface="Calibri"/>
              </a:rPr>
              <a:t>▶</a:t>
            </a:r>
          </a:p>
        </p:txBody>
      </p:sp>
      <p:sp>
        <p:nvSpPr>
          <p:cNvPr id="7" name="TextBox 6"/>
          <p:cNvSpPr txBox="1"/>
          <p:nvPr/>
        </p:nvSpPr>
        <p:spPr>
          <a:xfrm>
            <a:off x="6309360" y="1600200"/>
            <a:ext cx="5760720" cy="457200"/>
          </a:xfrm>
          <a:prstGeom prst="rect">
            <a:avLst/>
          </a:prstGeom>
          <a:noFill/>
        </p:spPr>
        <p:txBody>
          <a:bodyPr wrap="square" anchor="t">
            <a:spAutoFit/>
          </a:bodyPr>
          <a:lstStyle/>
          <a:p>
            <a:pPr algn="l"/>
            <a:r>
              <a:rPr sz="2000" b="0">
                <a:solidFill>
                  <a:srgbClr val="CCCCD6"/>
                </a:solidFill>
                <a:latin typeface="Calibri"/>
              </a:rPr>
              <a:t>filesystem perms = only access control</a:t>
            </a:r>
          </a:p>
        </p:txBody>
      </p:sp>
      <p:sp>
        <p:nvSpPr>
          <p:cNvPr id="8" name="TextBox 7"/>
          <p:cNvSpPr txBox="1"/>
          <p:nvPr/>
        </p:nvSpPr>
        <p:spPr>
          <a:xfrm>
            <a:off x="457200" y="2112264"/>
            <a:ext cx="1828800" cy="457200"/>
          </a:xfrm>
          <a:prstGeom prst="rect">
            <a:avLst/>
          </a:prstGeom>
          <a:noFill/>
        </p:spPr>
        <p:txBody>
          <a:bodyPr wrap="square" anchor="t">
            <a:spAutoFit/>
          </a:bodyPr>
          <a:lstStyle/>
          <a:p>
            <a:pPr algn="l"/>
            <a:r>
              <a:rPr sz="2200" b="1">
                <a:solidFill>
                  <a:srgbClr val="00D4FF"/>
                </a:solidFill>
                <a:latin typeface="Calibri"/>
              </a:rPr>
              <a:t>Late 1960s</a:t>
            </a:r>
          </a:p>
        </p:txBody>
      </p:sp>
      <p:sp>
        <p:nvSpPr>
          <p:cNvPr id="9" name="TextBox 8"/>
          <p:cNvSpPr txBox="1"/>
          <p:nvPr/>
        </p:nvSpPr>
        <p:spPr>
          <a:xfrm>
            <a:off x="2286000" y="2112264"/>
            <a:ext cx="3657600" cy="457200"/>
          </a:xfrm>
          <a:prstGeom prst="rect">
            <a:avLst/>
          </a:prstGeom>
          <a:noFill/>
        </p:spPr>
        <p:txBody>
          <a:bodyPr wrap="square" anchor="t">
            <a:spAutoFit/>
          </a:bodyPr>
          <a:lstStyle/>
          <a:p>
            <a:pPr algn="l"/>
            <a:r>
              <a:rPr sz="2200" b="1">
                <a:solidFill>
                  <a:srgbClr val="FFFFFF"/>
                </a:solidFill>
                <a:latin typeface="Calibri"/>
              </a:rPr>
              <a:t>Hierarchisch (IMS)</a:t>
            </a:r>
          </a:p>
        </p:txBody>
      </p:sp>
      <p:sp>
        <p:nvSpPr>
          <p:cNvPr id="10" name="TextBox 9"/>
          <p:cNvSpPr txBox="1"/>
          <p:nvPr/>
        </p:nvSpPr>
        <p:spPr>
          <a:xfrm>
            <a:off x="5943600" y="2112264"/>
            <a:ext cx="365760" cy="457200"/>
          </a:xfrm>
          <a:prstGeom prst="rect">
            <a:avLst/>
          </a:prstGeom>
          <a:noFill/>
        </p:spPr>
        <p:txBody>
          <a:bodyPr wrap="square" anchor="t">
            <a:spAutoFit/>
          </a:bodyPr>
          <a:lstStyle/>
          <a:p>
            <a:pPr algn="l"/>
            <a:r>
              <a:rPr sz="2000" b="0">
                <a:solidFill>
                  <a:srgbClr val="FF6B35"/>
                </a:solidFill>
                <a:latin typeface="Calibri"/>
              </a:rPr>
              <a:t>▶</a:t>
            </a:r>
          </a:p>
        </p:txBody>
      </p:sp>
      <p:sp>
        <p:nvSpPr>
          <p:cNvPr id="11" name="TextBox 10"/>
          <p:cNvSpPr txBox="1"/>
          <p:nvPr/>
        </p:nvSpPr>
        <p:spPr>
          <a:xfrm>
            <a:off x="6309360" y="2112264"/>
            <a:ext cx="5760720" cy="457200"/>
          </a:xfrm>
          <a:prstGeom prst="rect">
            <a:avLst/>
          </a:prstGeom>
          <a:noFill/>
        </p:spPr>
        <p:txBody>
          <a:bodyPr wrap="square" anchor="t">
            <a:spAutoFit/>
          </a:bodyPr>
          <a:lstStyle/>
          <a:p>
            <a:pPr algn="l"/>
            <a:r>
              <a:rPr sz="2000" b="0">
                <a:solidFill>
                  <a:srgbClr val="CCCCD6"/>
                </a:solidFill>
                <a:latin typeface="Calibri"/>
              </a:rPr>
              <a:t>mainframe-era, physical threat model</a:t>
            </a:r>
          </a:p>
        </p:txBody>
      </p:sp>
      <p:sp>
        <p:nvSpPr>
          <p:cNvPr id="12" name="TextBox 11"/>
          <p:cNvSpPr txBox="1"/>
          <p:nvPr/>
        </p:nvSpPr>
        <p:spPr>
          <a:xfrm>
            <a:off x="457200" y="2624328"/>
            <a:ext cx="1828800" cy="457200"/>
          </a:xfrm>
          <a:prstGeom prst="rect">
            <a:avLst/>
          </a:prstGeom>
          <a:noFill/>
        </p:spPr>
        <p:txBody>
          <a:bodyPr wrap="square" anchor="t">
            <a:spAutoFit/>
          </a:bodyPr>
          <a:lstStyle/>
          <a:p>
            <a:pPr algn="l"/>
            <a:r>
              <a:rPr sz="2200" b="1">
                <a:solidFill>
                  <a:srgbClr val="00D4FF"/>
                </a:solidFill>
                <a:latin typeface="Calibri"/>
              </a:rPr>
              <a:t>1970s</a:t>
            </a:r>
          </a:p>
        </p:txBody>
      </p:sp>
      <p:sp>
        <p:nvSpPr>
          <p:cNvPr id="13" name="TextBox 12"/>
          <p:cNvSpPr txBox="1"/>
          <p:nvPr/>
        </p:nvSpPr>
        <p:spPr>
          <a:xfrm>
            <a:off x="2286000" y="2624328"/>
            <a:ext cx="3657600" cy="457200"/>
          </a:xfrm>
          <a:prstGeom prst="rect">
            <a:avLst/>
          </a:prstGeom>
          <a:noFill/>
        </p:spPr>
        <p:txBody>
          <a:bodyPr wrap="square" anchor="t">
            <a:spAutoFit/>
          </a:bodyPr>
          <a:lstStyle/>
          <a:p>
            <a:pPr algn="l"/>
            <a:r>
              <a:rPr sz="2200" b="1">
                <a:solidFill>
                  <a:srgbClr val="FFFFFF"/>
                </a:solidFill>
                <a:latin typeface="Calibri"/>
              </a:rPr>
              <a:t>Network / CODASYL</a:t>
            </a:r>
          </a:p>
        </p:txBody>
      </p:sp>
      <p:sp>
        <p:nvSpPr>
          <p:cNvPr id="14" name="TextBox 13"/>
          <p:cNvSpPr txBox="1"/>
          <p:nvPr/>
        </p:nvSpPr>
        <p:spPr>
          <a:xfrm>
            <a:off x="5943600" y="2624328"/>
            <a:ext cx="365760" cy="457200"/>
          </a:xfrm>
          <a:prstGeom prst="rect">
            <a:avLst/>
          </a:prstGeom>
          <a:noFill/>
        </p:spPr>
        <p:txBody>
          <a:bodyPr wrap="square" anchor="t">
            <a:spAutoFit/>
          </a:bodyPr>
          <a:lstStyle/>
          <a:p>
            <a:pPr algn="l"/>
            <a:r>
              <a:rPr sz="2000" b="0">
                <a:solidFill>
                  <a:srgbClr val="FF6B35"/>
                </a:solidFill>
                <a:latin typeface="Calibri"/>
              </a:rPr>
              <a:t>▶</a:t>
            </a:r>
          </a:p>
        </p:txBody>
      </p:sp>
      <p:sp>
        <p:nvSpPr>
          <p:cNvPr id="15" name="TextBox 14"/>
          <p:cNvSpPr txBox="1"/>
          <p:nvPr/>
        </p:nvSpPr>
        <p:spPr>
          <a:xfrm>
            <a:off x="6309360" y="2624328"/>
            <a:ext cx="5760720" cy="457200"/>
          </a:xfrm>
          <a:prstGeom prst="rect">
            <a:avLst/>
          </a:prstGeom>
          <a:noFill/>
        </p:spPr>
        <p:txBody>
          <a:bodyPr wrap="square" anchor="t">
            <a:spAutoFit/>
          </a:bodyPr>
          <a:lstStyle/>
          <a:p>
            <a:pPr algn="l"/>
            <a:r>
              <a:rPr sz="2000" b="0">
                <a:solidFill>
                  <a:srgbClr val="CCCCD6"/>
                </a:solidFill>
                <a:latin typeface="Calibri"/>
              </a:rPr>
              <a:t>still humming in your bank's back office</a:t>
            </a:r>
          </a:p>
        </p:txBody>
      </p:sp>
      <p:sp>
        <p:nvSpPr>
          <p:cNvPr id="16" name="TextBox 15"/>
          <p:cNvSpPr txBox="1"/>
          <p:nvPr/>
        </p:nvSpPr>
        <p:spPr>
          <a:xfrm>
            <a:off x="457200" y="3136392"/>
            <a:ext cx="1828800" cy="457200"/>
          </a:xfrm>
          <a:prstGeom prst="rect">
            <a:avLst/>
          </a:prstGeom>
          <a:noFill/>
        </p:spPr>
        <p:txBody>
          <a:bodyPr wrap="square" anchor="t">
            <a:spAutoFit/>
          </a:bodyPr>
          <a:lstStyle/>
          <a:p>
            <a:pPr algn="l"/>
            <a:r>
              <a:rPr sz="2200" b="1">
                <a:solidFill>
                  <a:srgbClr val="00D4FF"/>
                </a:solidFill>
                <a:latin typeface="Calibri"/>
              </a:rPr>
              <a:t>1970</a:t>
            </a:r>
          </a:p>
        </p:txBody>
      </p:sp>
      <p:sp>
        <p:nvSpPr>
          <p:cNvPr id="17" name="TextBox 16"/>
          <p:cNvSpPr txBox="1"/>
          <p:nvPr/>
        </p:nvSpPr>
        <p:spPr>
          <a:xfrm>
            <a:off x="2286000" y="3136392"/>
            <a:ext cx="3657600" cy="457200"/>
          </a:xfrm>
          <a:prstGeom prst="rect">
            <a:avLst/>
          </a:prstGeom>
          <a:noFill/>
        </p:spPr>
        <p:txBody>
          <a:bodyPr wrap="square" anchor="t">
            <a:spAutoFit/>
          </a:bodyPr>
          <a:lstStyle/>
          <a:p>
            <a:pPr algn="l"/>
            <a:r>
              <a:rPr sz="2200" b="1">
                <a:solidFill>
                  <a:srgbClr val="FFFFFF"/>
                </a:solidFill>
                <a:latin typeface="Calibri"/>
              </a:rPr>
              <a:t>Codd's relational</a:t>
            </a:r>
          </a:p>
        </p:txBody>
      </p:sp>
      <p:sp>
        <p:nvSpPr>
          <p:cNvPr id="18" name="TextBox 17"/>
          <p:cNvSpPr txBox="1"/>
          <p:nvPr/>
        </p:nvSpPr>
        <p:spPr>
          <a:xfrm>
            <a:off x="5943600" y="3136392"/>
            <a:ext cx="365760" cy="457200"/>
          </a:xfrm>
          <a:prstGeom prst="rect">
            <a:avLst/>
          </a:prstGeom>
          <a:noFill/>
        </p:spPr>
        <p:txBody>
          <a:bodyPr wrap="square" anchor="t">
            <a:spAutoFit/>
          </a:bodyPr>
          <a:lstStyle/>
          <a:p>
            <a:pPr algn="l"/>
            <a:r>
              <a:rPr sz="2000" b="0">
                <a:solidFill>
                  <a:srgbClr val="FF6B35"/>
                </a:solidFill>
                <a:latin typeface="Calibri"/>
              </a:rPr>
              <a:t>▶</a:t>
            </a:r>
          </a:p>
        </p:txBody>
      </p:sp>
      <p:sp>
        <p:nvSpPr>
          <p:cNvPr id="19" name="TextBox 18"/>
          <p:cNvSpPr txBox="1"/>
          <p:nvPr/>
        </p:nvSpPr>
        <p:spPr>
          <a:xfrm>
            <a:off x="6309360" y="3136392"/>
            <a:ext cx="5760720" cy="457200"/>
          </a:xfrm>
          <a:prstGeom prst="rect">
            <a:avLst/>
          </a:prstGeom>
          <a:noFill/>
        </p:spPr>
        <p:txBody>
          <a:bodyPr wrap="square" anchor="t">
            <a:spAutoFit/>
          </a:bodyPr>
          <a:lstStyle/>
          <a:p>
            <a:pPr algn="l"/>
            <a:r>
              <a:rPr sz="2000" b="0">
                <a:solidFill>
                  <a:srgbClr val="CCCCD6"/>
                </a:solidFill>
                <a:latin typeface="Calibri"/>
              </a:rPr>
              <a:t>GRANT, roles — access control inside DB</a:t>
            </a:r>
          </a:p>
        </p:txBody>
      </p:sp>
      <p:sp>
        <p:nvSpPr>
          <p:cNvPr id="20" name="TextBox 19"/>
          <p:cNvSpPr txBox="1"/>
          <p:nvPr/>
        </p:nvSpPr>
        <p:spPr>
          <a:xfrm>
            <a:off x="457200" y="3648456"/>
            <a:ext cx="1828800" cy="457200"/>
          </a:xfrm>
          <a:prstGeom prst="rect">
            <a:avLst/>
          </a:prstGeom>
          <a:noFill/>
        </p:spPr>
        <p:txBody>
          <a:bodyPr wrap="square" anchor="t">
            <a:spAutoFit/>
          </a:bodyPr>
          <a:lstStyle/>
          <a:p>
            <a:pPr algn="l"/>
            <a:r>
              <a:rPr sz="2200" b="1">
                <a:solidFill>
                  <a:srgbClr val="00D4FF"/>
                </a:solidFill>
                <a:latin typeface="Calibri"/>
              </a:rPr>
              <a:t>1980s</a:t>
            </a:r>
          </a:p>
        </p:txBody>
      </p:sp>
      <p:sp>
        <p:nvSpPr>
          <p:cNvPr id="21" name="TextBox 20"/>
          <p:cNvSpPr txBox="1"/>
          <p:nvPr/>
        </p:nvSpPr>
        <p:spPr>
          <a:xfrm>
            <a:off x="2286000" y="3648456"/>
            <a:ext cx="3657600" cy="457200"/>
          </a:xfrm>
          <a:prstGeom prst="rect">
            <a:avLst/>
          </a:prstGeom>
          <a:noFill/>
        </p:spPr>
        <p:txBody>
          <a:bodyPr wrap="square" anchor="t">
            <a:spAutoFit/>
          </a:bodyPr>
          <a:lstStyle/>
          <a:p>
            <a:pPr algn="l"/>
            <a:r>
              <a:rPr sz="2200" b="1">
                <a:solidFill>
                  <a:srgbClr val="FFFFFF"/>
                </a:solidFill>
                <a:latin typeface="Calibri"/>
              </a:rPr>
              <a:t>Oracle, DB2, SQL Svr</a:t>
            </a:r>
          </a:p>
        </p:txBody>
      </p:sp>
      <p:sp>
        <p:nvSpPr>
          <p:cNvPr id="22" name="TextBox 21"/>
          <p:cNvSpPr txBox="1"/>
          <p:nvPr/>
        </p:nvSpPr>
        <p:spPr>
          <a:xfrm>
            <a:off x="5943600" y="3648456"/>
            <a:ext cx="365760" cy="457200"/>
          </a:xfrm>
          <a:prstGeom prst="rect">
            <a:avLst/>
          </a:prstGeom>
          <a:noFill/>
        </p:spPr>
        <p:txBody>
          <a:bodyPr wrap="square" anchor="t">
            <a:spAutoFit/>
          </a:bodyPr>
          <a:lstStyle/>
          <a:p>
            <a:pPr algn="l"/>
            <a:r>
              <a:rPr sz="2000" b="0">
                <a:solidFill>
                  <a:srgbClr val="FF6B35"/>
                </a:solidFill>
                <a:latin typeface="Calibri"/>
              </a:rPr>
              <a:t>▶</a:t>
            </a:r>
          </a:p>
        </p:txBody>
      </p:sp>
      <p:sp>
        <p:nvSpPr>
          <p:cNvPr id="23" name="TextBox 22"/>
          <p:cNvSpPr txBox="1"/>
          <p:nvPr/>
        </p:nvSpPr>
        <p:spPr>
          <a:xfrm>
            <a:off x="6309360" y="3648456"/>
            <a:ext cx="5760720" cy="457200"/>
          </a:xfrm>
          <a:prstGeom prst="rect">
            <a:avLst/>
          </a:prstGeom>
          <a:noFill/>
        </p:spPr>
        <p:txBody>
          <a:bodyPr wrap="square" anchor="t">
            <a:spAutoFit/>
          </a:bodyPr>
          <a:lstStyle/>
          <a:p>
            <a:pPr algn="l"/>
            <a:r>
              <a:rPr sz="2000" b="0">
                <a:solidFill>
                  <a:srgbClr val="CCCCD6"/>
                </a:solidFill>
                <a:latin typeface="Calibri"/>
              </a:rPr>
              <a:t>databases get networked → authN problem</a:t>
            </a:r>
          </a:p>
        </p:txBody>
      </p:sp>
      <p:sp>
        <p:nvSpPr>
          <p:cNvPr id="24" name="TextBox 23"/>
          <p:cNvSpPr txBox="1"/>
          <p:nvPr/>
        </p:nvSpPr>
        <p:spPr>
          <a:xfrm>
            <a:off x="457200" y="4160520"/>
            <a:ext cx="1828800" cy="457200"/>
          </a:xfrm>
          <a:prstGeom prst="rect">
            <a:avLst/>
          </a:prstGeom>
          <a:noFill/>
        </p:spPr>
        <p:txBody>
          <a:bodyPr wrap="square" anchor="t">
            <a:spAutoFit/>
          </a:bodyPr>
          <a:lstStyle/>
          <a:p>
            <a:pPr algn="l"/>
            <a:r>
              <a:rPr sz="2200" b="1">
                <a:solidFill>
                  <a:srgbClr val="00D4FF"/>
                </a:solidFill>
                <a:latin typeface="Calibri"/>
              </a:rPr>
              <a:t>1990s</a:t>
            </a:r>
          </a:p>
        </p:txBody>
      </p:sp>
      <p:sp>
        <p:nvSpPr>
          <p:cNvPr id="25" name="TextBox 24"/>
          <p:cNvSpPr txBox="1"/>
          <p:nvPr/>
        </p:nvSpPr>
        <p:spPr>
          <a:xfrm>
            <a:off x="2286000" y="4160520"/>
            <a:ext cx="3657600" cy="457200"/>
          </a:xfrm>
          <a:prstGeom prst="rect">
            <a:avLst/>
          </a:prstGeom>
          <a:noFill/>
        </p:spPr>
        <p:txBody>
          <a:bodyPr wrap="square" anchor="t">
            <a:spAutoFit/>
          </a:bodyPr>
          <a:lstStyle/>
          <a:p>
            <a:pPr algn="l"/>
            <a:r>
              <a:rPr sz="2200" b="1">
                <a:solidFill>
                  <a:srgbClr val="FFFFFF"/>
                </a:solidFill>
                <a:latin typeface="Calibri"/>
              </a:rPr>
              <a:t>Client-server, OSS</a:t>
            </a:r>
          </a:p>
        </p:txBody>
      </p:sp>
      <p:sp>
        <p:nvSpPr>
          <p:cNvPr id="26" name="TextBox 25"/>
          <p:cNvSpPr txBox="1"/>
          <p:nvPr/>
        </p:nvSpPr>
        <p:spPr>
          <a:xfrm>
            <a:off x="5943600" y="4160520"/>
            <a:ext cx="365760" cy="457200"/>
          </a:xfrm>
          <a:prstGeom prst="rect">
            <a:avLst/>
          </a:prstGeom>
          <a:noFill/>
        </p:spPr>
        <p:txBody>
          <a:bodyPr wrap="square" anchor="t">
            <a:spAutoFit/>
          </a:bodyPr>
          <a:lstStyle/>
          <a:p>
            <a:pPr algn="l"/>
            <a:r>
              <a:rPr sz="2000" b="0">
                <a:solidFill>
                  <a:srgbClr val="FF6B35"/>
                </a:solidFill>
                <a:latin typeface="Calibri"/>
              </a:rPr>
              <a:t>▶</a:t>
            </a:r>
          </a:p>
        </p:txBody>
      </p:sp>
      <p:sp>
        <p:nvSpPr>
          <p:cNvPr id="27" name="TextBox 26"/>
          <p:cNvSpPr txBox="1"/>
          <p:nvPr/>
        </p:nvSpPr>
        <p:spPr>
          <a:xfrm>
            <a:off x="6309360" y="4160520"/>
            <a:ext cx="5760720" cy="457200"/>
          </a:xfrm>
          <a:prstGeom prst="rect">
            <a:avLst/>
          </a:prstGeom>
          <a:noFill/>
        </p:spPr>
        <p:txBody>
          <a:bodyPr wrap="square" anchor="t">
            <a:spAutoFit/>
          </a:bodyPr>
          <a:lstStyle/>
          <a:p>
            <a:pPr algn="l"/>
            <a:r>
              <a:rPr sz="2000" b="0">
                <a:solidFill>
                  <a:srgbClr val="CCCCD6"/>
                </a:solidFill>
                <a:latin typeface="Calibri"/>
              </a:rPr>
              <a:t>SQL injection becomes a thing</a:t>
            </a:r>
          </a:p>
        </p:txBody>
      </p:sp>
      <p:sp>
        <p:nvSpPr>
          <p:cNvPr id="28" name="TextBox 27"/>
          <p:cNvSpPr txBox="1"/>
          <p:nvPr/>
        </p:nvSpPr>
        <p:spPr>
          <a:xfrm>
            <a:off x="457200" y="4672584"/>
            <a:ext cx="1828800" cy="457200"/>
          </a:xfrm>
          <a:prstGeom prst="rect">
            <a:avLst/>
          </a:prstGeom>
          <a:noFill/>
        </p:spPr>
        <p:txBody>
          <a:bodyPr wrap="square" anchor="t">
            <a:spAutoFit/>
          </a:bodyPr>
          <a:lstStyle/>
          <a:p>
            <a:pPr algn="l"/>
            <a:r>
              <a:rPr sz="2200" b="1">
                <a:solidFill>
                  <a:srgbClr val="00D4FF"/>
                </a:solidFill>
                <a:latin typeface="Calibri"/>
              </a:rPr>
              <a:t>2000s</a:t>
            </a:r>
          </a:p>
        </p:txBody>
      </p:sp>
      <p:sp>
        <p:nvSpPr>
          <p:cNvPr id="29" name="TextBox 28"/>
          <p:cNvSpPr txBox="1"/>
          <p:nvPr/>
        </p:nvSpPr>
        <p:spPr>
          <a:xfrm>
            <a:off x="2286000" y="4672584"/>
            <a:ext cx="3657600" cy="457200"/>
          </a:xfrm>
          <a:prstGeom prst="rect">
            <a:avLst/>
          </a:prstGeom>
          <a:noFill/>
        </p:spPr>
        <p:txBody>
          <a:bodyPr wrap="square" anchor="t">
            <a:spAutoFit/>
          </a:bodyPr>
          <a:lstStyle/>
          <a:p>
            <a:pPr algn="l"/>
            <a:r>
              <a:rPr sz="2200" b="1">
                <a:solidFill>
                  <a:srgbClr val="FFFFFF"/>
                </a:solidFill>
                <a:latin typeface="Calibri"/>
              </a:rPr>
              <a:t>NoSQL boom</a:t>
            </a:r>
          </a:p>
        </p:txBody>
      </p:sp>
      <p:sp>
        <p:nvSpPr>
          <p:cNvPr id="30" name="TextBox 29"/>
          <p:cNvSpPr txBox="1"/>
          <p:nvPr/>
        </p:nvSpPr>
        <p:spPr>
          <a:xfrm>
            <a:off x="5943600" y="4672584"/>
            <a:ext cx="365760" cy="457200"/>
          </a:xfrm>
          <a:prstGeom prst="rect">
            <a:avLst/>
          </a:prstGeom>
          <a:noFill/>
        </p:spPr>
        <p:txBody>
          <a:bodyPr wrap="square" anchor="t">
            <a:spAutoFit/>
          </a:bodyPr>
          <a:lstStyle/>
          <a:p>
            <a:pPr algn="l"/>
            <a:r>
              <a:rPr sz="2000" b="0">
                <a:solidFill>
                  <a:srgbClr val="FF6B35"/>
                </a:solidFill>
                <a:latin typeface="Calibri"/>
              </a:rPr>
              <a:t>▶</a:t>
            </a:r>
          </a:p>
        </p:txBody>
      </p:sp>
      <p:sp>
        <p:nvSpPr>
          <p:cNvPr id="31" name="TextBox 30"/>
          <p:cNvSpPr txBox="1"/>
          <p:nvPr/>
        </p:nvSpPr>
        <p:spPr>
          <a:xfrm>
            <a:off x="6309360" y="4672584"/>
            <a:ext cx="5760720" cy="457200"/>
          </a:xfrm>
          <a:prstGeom prst="rect">
            <a:avLst/>
          </a:prstGeom>
          <a:noFill/>
        </p:spPr>
        <p:txBody>
          <a:bodyPr wrap="square" anchor="t">
            <a:spAutoFit/>
          </a:bodyPr>
          <a:lstStyle/>
          <a:p>
            <a:pPr algn="l"/>
            <a:r>
              <a:rPr sz="2000" b="0">
                <a:solidFill>
                  <a:srgbClr val="CCCCD6"/>
                </a:solidFill>
                <a:latin typeface="Calibri"/>
              </a:rPr>
              <a:t>"discarded the foundation" — incl. security</a:t>
            </a:r>
          </a:p>
        </p:txBody>
      </p:sp>
      <p:sp>
        <p:nvSpPr>
          <p:cNvPr id="32" name="TextBox 31"/>
          <p:cNvSpPr txBox="1"/>
          <p:nvPr/>
        </p:nvSpPr>
        <p:spPr>
          <a:xfrm>
            <a:off x="457200" y="5184648"/>
            <a:ext cx="1828800" cy="457200"/>
          </a:xfrm>
          <a:prstGeom prst="rect">
            <a:avLst/>
          </a:prstGeom>
          <a:noFill/>
        </p:spPr>
        <p:txBody>
          <a:bodyPr wrap="square" anchor="t">
            <a:spAutoFit/>
          </a:bodyPr>
          <a:lstStyle/>
          <a:p>
            <a:pPr algn="l"/>
            <a:r>
              <a:rPr sz="2200" b="1">
                <a:solidFill>
                  <a:srgbClr val="00D4FF"/>
                </a:solidFill>
                <a:latin typeface="Calibri"/>
              </a:rPr>
              <a:t>2010s</a:t>
            </a:r>
          </a:p>
        </p:txBody>
      </p:sp>
      <p:sp>
        <p:nvSpPr>
          <p:cNvPr id="33" name="TextBox 32"/>
          <p:cNvSpPr txBox="1"/>
          <p:nvPr/>
        </p:nvSpPr>
        <p:spPr>
          <a:xfrm>
            <a:off x="2286000" y="5184648"/>
            <a:ext cx="3657600" cy="457200"/>
          </a:xfrm>
          <a:prstGeom prst="rect">
            <a:avLst/>
          </a:prstGeom>
          <a:noFill/>
        </p:spPr>
        <p:txBody>
          <a:bodyPr wrap="square" anchor="t">
            <a:spAutoFit/>
          </a:bodyPr>
          <a:lstStyle/>
          <a:p>
            <a:pPr algn="l"/>
            <a:r>
              <a:rPr sz="2200" b="1">
                <a:solidFill>
                  <a:srgbClr val="FFFFFF"/>
                </a:solidFill>
                <a:latin typeface="Calibri"/>
              </a:rPr>
              <a:t>Cloud / NewSQL</a:t>
            </a:r>
          </a:p>
        </p:txBody>
      </p:sp>
      <p:sp>
        <p:nvSpPr>
          <p:cNvPr id="34" name="TextBox 33"/>
          <p:cNvSpPr txBox="1"/>
          <p:nvPr/>
        </p:nvSpPr>
        <p:spPr>
          <a:xfrm>
            <a:off x="5943600" y="5184648"/>
            <a:ext cx="365760" cy="457200"/>
          </a:xfrm>
          <a:prstGeom prst="rect">
            <a:avLst/>
          </a:prstGeom>
          <a:noFill/>
        </p:spPr>
        <p:txBody>
          <a:bodyPr wrap="square" anchor="t">
            <a:spAutoFit/>
          </a:bodyPr>
          <a:lstStyle/>
          <a:p>
            <a:pPr algn="l"/>
            <a:r>
              <a:rPr sz="2000" b="0">
                <a:solidFill>
                  <a:srgbClr val="FF6B35"/>
                </a:solidFill>
                <a:latin typeface="Calibri"/>
              </a:rPr>
              <a:t>▶</a:t>
            </a:r>
          </a:p>
        </p:txBody>
      </p:sp>
      <p:sp>
        <p:nvSpPr>
          <p:cNvPr id="35" name="TextBox 34"/>
          <p:cNvSpPr txBox="1"/>
          <p:nvPr/>
        </p:nvSpPr>
        <p:spPr>
          <a:xfrm>
            <a:off x="6309360" y="5184648"/>
            <a:ext cx="5760720" cy="457200"/>
          </a:xfrm>
          <a:prstGeom prst="rect">
            <a:avLst/>
          </a:prstGeom>
          <a:noFill/>
        </p:spPr>
        <p:txBody>
          <a:bodyPr wrap="square" anchor="t">
            <a:spAutoFit/>
          </a:bodyPr>
          <a:lstStyle/>
          <a:p>
            <a:pPr algn="l"/>
            <a:r>
              <a:rPr sz="2000" b="0">
                <a:solidFill>
                  <a:srgbClr val="CCCCD6"/>
                </a:solidFill>
                <a:latin typeface="Calibri"/>
              </a:rPr>
              <a:t>shared-responsibility, customer misconfigs</a:t>
            </a:r>
          </a:p>
        </p:txBody>
      </p:sp>
      <p:sp>
        <p:nvSpPr>
          <p:cNvPr id="36" name="TextBox 35"/>
          <p:cNvSpPr txBox="1"/>
          <p:nvPr/>
        </p:nvSpPr>
        <p:spPr>
          <a:xfrm>
            <a:off x="457200" y="5696712"/>
            <a:ext cx="1828800" cy="457200"/>
          </a:xfrm>
          <a:prstGeom prst="rect">
            <a:avLst/>
          </a:prstGeom>
          <a:noFill/>
        </p:spPr>
        <p:txBody>
          <a:bodyPr wrap="square" anchor="t">
            <a:spAutoFit/>
          </a:bodyPr>
          <a:lstStyle/>
          <a:p>
            <a:pPr algn="l"/>
            <a:r>
              <a:rPr sz="2200" b="1">
                <a:solidFill>
                  <a:srgbClr val="00D4FF"/>
                </a:solidFill>
                <a:latin typeface="Calibri"/>
              </a:rPr>
              <a:t>2020s</a:t>
            </a:r>
          </a:p>
        </p:txBody>
      </p:sp>
      <p:sp>
        <p:nvSpPr>
          <p:cNvPr id="37" name="TextBox 36"/>
          <p:cNvSpPr txBox="1"/>
          <p:nvPr/>
        </p:nvSpPr>
        <p:spPr>
          <a:xfrm>
            <a:off x="2286000" y="5696712"/>
            <a:ext cx="3657600" cy="457200"/>
          </a:xfrm>
          <a:prstGeom prst="rect">
            <a:avLst/>
          </a:prstGeom>
          <a:noFill/>
        </p:spPr>
        <p:txBody>
          <a:bodyPr wrap="square" anchor="t">
            <a:spAutoFit/>
          </a:bodyPr>
          <a:lstStyle/>
          <a:p>
            <a:pPr algn="l"/>
            <a:r>
              <a:rPr sz="2200" b="1">
                <a:solidFill>
                  <a:srgbClr val="FFFFFF"/>
                </a:solidFill>
                <a:latin typeface="Calibri"/>
              </a:rPr>
              <a:t>Vector / serverless</a:t>
            </a:r>
          </a:p>
        </p:txBody>
      </p:sp>
      <p:sp>
        <p:nvSpPr>
          <p:cNvPr id="38" name="TextBox 37"/>
          <p:cNvSpPr txBox="1"/>
          <p:nvPr/>
        </p:nvSpPr>
        <p:spPr>
          <a:xfrm>
            <a:off x="5943600" y="5696712"/>
            <a:ext cx="365760" cy="457200"/>
          </a:xfrm>
          <a:prstGeom prst="rect">
            <a:avLst/>
          </a:prstGeom>
          <a:noFill/>
        </p:spPr>
        <p:txBody>
          <a:bodyPr wrap="square" anchor="t">
            <a:spAutoFit/>
          </a:bodyPr>
          <a:lstStyle/>
          <a:p>
            <a:pPr algn="l"/>
            <a:r>
              <a:rPr sz="2000" b="0">
                <a:solidFill>
                  <a:srgbClr val="FF6B35"/>
                </a:solidFill>
                <a:latin typeface="Calibri"/>
              </a:rPr>
              <a:t>▶</a:t>
            </a:r>
          </a:p>
        </p:txBody>
      </p:sp>
      <p:sp>
        <p:nvSpPr>
          <p:cNvPr id="39" name="TextBox 38"/>
          <p:cNvSpPr txBox="1"/>
          <p:nvPr/>
        </p:nvSpPr>
        <p:spPr>
          <a:xfrm>
            <a:off x="6309360" y="5696712"/>
            <a:ext cx="5760720" cy="457200"/>
          </a:xfrm>
          <a:prstGeom prst="rect">
            <a:avLst/>
          </a:prstGeom>
          <a:noFill/>
        </p:spPr>
        <p:txBody>
          <a:bodyPr wrap="square" anchor="t">
            <a:spAutoFit/>
          </a:bodyPr>
          <a:lstStyle/>
          <a:p>
            <a:pPr algn="l"/>
            <a:r>
              <a:rPr sz="2000" b="0">
                <a:solidFill>
                  <a:srgbClr val="CCCCD6"/>
                </a:solidFill>
                <a:latin typeface="Calibri"/>
              </a:rPr>
              <a:t>data poisoning, prompt injection</a:t>
            </a:r>
          </a:p>
        </p:txBody>
      </p:sp>
      <p:sp>
        <p:nvSpPr>
          <p:cNvPr id="40" name="TextBox 39"/>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41" name="TextBox 40"/>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6 / 44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Grid of the ten database families with example products: relational, document, key-value, column-family, graph, search, time-series, vector, embedded, and data lake." title="Grid of the ten database families with example products: relational, document, k"/>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Ten Families of Database</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691640"/>
            <a:ext cx="5577840" cy="914400"/>
          </a:xfrm>
          <a:prstGeom prst="roundRect">
            <a:avLst/>
          </a:prstGeom>
          <a:solidFill>
            <a:srgbClr val="2424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83080"/>
            <a:ext cx="1097280" cy="457200"/>
          </a:xfrm>
          <a:prstGeom prst="rect">
            <a:avLst/>
          </a:prstGeom>
          <a:noFill/>
        </p:spPr>
        <p:txBody>
          <a:bodyPr wrap="square" anchor="t">
            <a:spAutoFit/>
          </a:bodyPr>
          <a:lstStyle/>
          <a:p>
            <a:pPr algn="l"/>
            <a:r>
              <a:rPr sz="2200" b="1">
                <a:solidFill>
                  <a:srgbClr val="00FF41"/>
                </a:solidFill>
                <a:latin typeface="Calibri"/>
              </a:rPr>
              <a:t>◆ 1.</a:t>
            </a:r>
          </a:p>
        </p:txBody>
      </p:sp>
      <p:sp>
        <p:nvSpPr>
          <p:cNvPr id="6" name="TextBox 5"/>
          <p:cNvSpPr txBox="1"/>
          <p:nvPr/>
        </p:nvSpPr>
        <p:spPr>
          <a:xfrm>
            <a:off x="1737360" y="1783080"/>
            <a:ext cx="4297679" cy="457200"/>
          </a:xfrm>
          <a:prstGeom prst="rect">
            <a:avLst/>
          </a:prstGeom>
          <a:noFill/>
        </p:spPr>
        <p:txBody>
          <a:bodyPr wrap="square" anchor="t">
            <a:spAutoFit/>
          </a:bodyPr>
          <a:lstStyle/>
          <a:p>
            <a:pPr algn="l"/>
            <a:r>
              <a:rPr sz="2200" b="1">
                <a:solidFill>
                  <a:srgbClr val="FFFFFF"/>
                </a:solidFill>
                <a:latin typeface="Calibri"/>
              </a:rPr>
              <a:t>Relational</a:t>
            </a:r>
          </a:p>
        </p:txBody>
      </p:sp>
      <p:sp>
        <p:nvSpPr>
          <p:cNvPr id="7" name="TextBox 6"/>
          <p:cNvSpPr txBox="1"/>
          <p:nvPr/>
        </p:nvSpPr>
        <p:spPr>
          <a:xfrm>
            <a:off x="1737360" y="2148840"/>
            <a:ext cx="4297679" cy="457200"/>
          </a:xfrm>
          <a:prstGeom prst="rect">
            <a:avLst/>
          </a:prstGeom>
          <a:noFill/>
        </p:spPr>
        <p:txBody>
          <a:bodyPr wrap="square" anchor="t">
            <a:spAutoFit/>
          </a:bodyPr>
          <a:lstStyle/>
          <a:p>
            <a:pPr algn="l"/>
            <a:r>
              <a:rPr sz="1800" b="0">
                <a:solidFill>
                  <a:srgbClr val="CCCCD6"/>
                </a:solidFill>
                <a:latin typeface="Calibri"/>
              </a:rPr>
              <a:t>SQL  •  PostgreSQL, MySQL</a:t>
            </a:r>
          </a:p>
        </p:txBody>
      </p:sp>
      <p:sp>
        <p:nvSpPr>
          <p:cNvPr id="8" name="Rounded Rectangle 7"/>
          <p:cNvSpPr/>
          <p:nvPr/>
        </p:nvSpPr>
        <p:spPr>
          <a:xfrm>
            <a:off x="6217919" y="1691640"/>
            <a:ext cx="5577840" cy="914400"/>
          </a:xfrm>
          <a:prstGeom prst="roundRect">
            <a:avLst/>
          </a:prstGeom>
          <a:solidFill>
            <a:srgbClr val="2424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1783080"/>
            <a:ext cx="1097280" cy="457200"/>
          </a:xfrm>
          <a:prstGeom prst="rect">
            <a:avLst/>
          </a:prstGeom>
          <a:noFill/>
        </p:spPr>
        <p:txBody>
          <a:bodyPr wrap="square" anchor="t">
            <a:spAutoFit/>
          </a:bodyPr>
          <a:lstStyle/>
          <a:p>
            <a:pPr algn="l"/>
            <a:r>
              <a:rPr sz="2200" b="1">
                <a:solidFill>
                  <a:srgbClr val="00FF41"/>
                </a:solidFill>
                <a:latin typeface="Calibri"/>
              </a:rPr>
              <a:t>◆ 2.</a:t>
            </a:r>
          </a:p>
        </p:txBody>
      </p:sp>
      <p:sp>
        <p:nvSpPr>
          <p:cNvPr id="10" name="TextBox 9"/>
          <p:cNvSpPr txBox="1"/>
          <p:nvPr/>
        </p:nvSpPr>
        <p:spPr>
          <a:xfrm>
            <a:off x="7406640" y="1783080"/>
            <a:ext cx="4297679" cy="457200"/>
          </a:xfrm>
          <a:prstGeom prst="rect">
            <a:avLst/>
          </a:prstGeom>
          <a:noFill/>
        </p:spPr>
        <p:txBody>
          <a:bodyPr wrap="square" anchor="t">
            <a:spAutoFit/>
          </a:bodyPr>
          <a:lstStyle/>
          <a:p>
            <a:pPr algn="l"/>
            <a:r>
              <a:rPr sz="2200" b="1">
                <a:solidFill>
                  <a:srgbClr val="FFFFFF"/>
                </a:solidFill>
                <a:latin typeface="Calibri"/>
              </a:rPr>
              <a:t>Document</a:t>
            </a:r>
          </a:p>
        </p:txBody>
      </p:sp>
      <p:sp>
        <p:nvSpPr>
          <p:cNvPr id="11" name="TextBox 10"/>
          <p:cNvSpPr txBox="1"/>
          <p:nvPr/>
        </p:nvSpPr>
        <p:spPr>
          <a:xfrm>
            <a:off x="7406640" y="2148840"/>
            <a:ext cx="4297679" cy="457200"/>
          </a:xfrm>
          <a:prstGeom prst="rect">
            <a:avLst/>
          </a:prstGeom>
          <a:noFill/>
        </p:spPr>
        <p:txBody>
          <a:bodyPr wrap="square" anchor="t">
            <a:spAutoFit/>
          </a:bodyPr>
          <a:lstStyle/>
          <a:p>
            <a:pPr algn="l"/>
            <a:r>
              <a:rPr sz="1800" b="0">
                <a:solidFill>
                  <a:srgbClr val="CCCCD6"/>
                </a:solidFill>
                <a:latin typeface="Calibri"/>
              </a:rPr>
              <a:t>JSON  •  MongoDB, Firestore</a:t>
            </a:r>
          </a:p>
        </p:txBody>
      </p:sp>
      <p:sp>
        <p:nvSpPr>
          <p:cNvPr id="12" name="Rounded Rectangle 11"/>
          <p:cNvSpPr/>
          <p:nvPr/>
        </p:nvSpPr>
        <p:spPr>
          <a:xfrm>
            <a:off x="548640" y="2651760"/>
            <a:ext cx="5577840" cy="914400"/>
          </a:xfrm>
          <a:prstGeom prst="roundRect">
            <a:avLst/>
          </a:prstGeom>
          <a:solidFill>
            <a:srgbClr val="2424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743200"/>
            <a:ext cx="1097280" cy="457200"/>
          </a:xfrm>
          <a:prstGeom prst="rect">
            <a:avLst/>
          </a:prstGeom>
          <a:noFill/>
        </p:spPr>
        <p:txBody>
          <a:bodyPr wrap="square" anchor="t">
            <a:spAutoFit/>
          </a:bodyPr>
          <a:lstStyle/>
          <a:p>
            <a:pPr algn="l"/>
            <a:r>
              <a:rPr sz="2200" b="1">
                <a:solidFill>
                  <a:srgbClr val="00FF41"/>
                </a:solidFill>
                <a:latin typeface="Calibri"/>
              </a:rPr>
              <a:t>◆ 3.</a:t>
            </a:r>
          </a:p>
        </p:txBody>
      </p:sp>
      <p:sp>
        <p:nvSpPr>
          <p:cNvPr id="14" name="TextBox 13"/>
          <p:cNvSpPr txBox="1"/>
          <p:nvPr/>
        </p:nvSpPr>
        <p:spPr>
          <a:xfrm>
            <a:off x="1737360" y="2743200"/>
            <a:ext cx="4297679" cy="457200"/>
          </a:xfrm>
          <a:prstGeom prst="rect">
            <a:avLst/>
          </a:prstGeom>
          <a:noFill/>
        </p:spPr>
        <p:txBody>
          <a:bodyPr wrap="square" anchor="t">
            <a:spAutoFit/>
          </a:bodyPr>
          <a:lstStyle/>
          <a:p>
            <a:pPr algn="l"/>
            <a:r>
              <a:rPr sz="2200" b="1">
                <a:solidFill>
                  <a:srgbClr val="FFFFFF"/>
                </a:solidFill>
                <a:latin typeface="Calibri"/>
              </a:rPr>
              <a:t>Key-Value</a:t>
            </a:r>
          </a:p>
        </p:txBody>
      </p:sp>
      <p:sp>
        <p:nvSpPr>
          <p:cNvPr id="15" name="TextBox 14"/>
          <p:cNvSpPr txBox="1"/>
          <p:nvPr/>
        </p:nvSpPr>
        <p:spPr>
          <a:xfrm>
            <a:off x="1737360" y="3108960"/>
            <a:ext cx="4297679" cy="457200"/>
          </a:xfrm>
          <a:prstGeom prst="rect">
            <a:avLst/>
          </a:prstGeom>
          <a:noFill/>
        </p:spPr>
        <p:txBody>
          <a:bodyPr wrap="square" anchor="t">
            <a:spAutoFit/>
          </a:bodyPr>
          <a:lstStyle/>
          <a:p>
            <a:pPr algn="l"/>
            <a:r>
              <a:rPr sz="1800" b="0">
                <a:solidFill>
                  <a:srgbClr val="CCCCD6"/>
                </a:solidFill>
                <a:latin typeface="Calibri"/>
              </a:rPr>
              <a:t>dictionary  •  Redis, DynamoDB</a:t>
            </a:r>
          </a:p>
        </p:txBody>
      </p:sp>
      <p:sp>
        <p:nvSpPr>
          <p:cNvPr id="16" name="Rounded Rectangle 15"/>
          <p:cNvSpPr/>
          <p:nvPr/>
        </p:nvSpPr>
        <p:spPr>
          <a:xfrm>
            <a:off x="6217919" y="2651760"/>
            <a:ext cx="5577840" cy="914400"/>
          </a:xfrm>
          <a:prstGeom prst="roundRect">
            <a:avLst/>
          </a:prstGeom>
          <a:solidFill>
            <a:srgbClr val="2424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79" y="2743200"/>
            <a:ext cx="1097280" cy="457200"/>
          </a:xfrm>
          <a:prstGeom prst="rect">
            <a:avLst/>
          </a:prstGeom>
          <a:noFill/>
        </p:spPr>
        <p:txBody>
          <a:bodyPr wrap="square" anchor="t">
            <a:spAutoFit/>
          </a:bodyPr>
          <a:lstStyle/>
          <a:p>
            <a:pPr algn="l"/>
            <a:r>
              <a:rPr sz="2200" b="1">
                <a:solidFill>
                  <a:srgbClr val="00FF41"/>
                </a:solidFill>
                <a:latin typeface="Calibri"/>
              </a:rPr>
              <a:t>◆ 4.</a:t>
            </a:r>
          </a:p>
        </p:txBody>
      </p:sp>
      <p:sp>
        <p:nvSpPr>
          <p:cNvPr id="18" name="TextBox 17"/>
          <p:cNvSpPr txBox="1"/>
          <p:nvPr/>
        </p:nvSpPr>
        <p:spPr>
          <a:xfrm>
            <a:off x="7406640" y="2743200"/>
            <a:ext cx="4297679" cy="457200"/>
          </a:xfrm>
          <a:prstGeom prst="rect">
            <a:avLst/>
          </a:prstGeom>
          <a:noFill/>
        </p:spPr>
        <p:txBody>
          <a:bodyPr wrap="square" anchor="t">
            <a:spAutoFit/>
          </a:bodyPr>
          <a:lstStyle/>
          <a:p>
            <a:pPr algn="l"/>
            <a:r>
              <a:rPr sz="2200" b="1">
                <a:solidFill>
                  <a:srgbClr val="FFFFFF"/>
                </a:solidFill>
                <a:latin typeface="Calibri"/>
              </a:rPr>
              <a:t>Spaltenfamilie</a:t>
            </a:r>
          </a:p>
        </p:txBody>
      </p:sp>
      <p:sp>
        <p:nvSpPr>
          <p:cNvPr id="19" name="TextBox 18"/>
          <p:cNvSpPr txBox="1"/>
          <p:nvPr/>
        </p:nvSpPr>
        <p:spPr>
          <a:xfrm>
            <a:off x="7406640" y="3108960"/>
            <a:ext cx="4297679" cy="457200"/>
          </a:xfrm>
          <a:prstGeom prst="rect">
            <a:avLst/>
          </a:prstGeom>
          <a:noFill/>
        </p:spPr>
        <p:txBody>
          <a:bodyPr wrap="square" anchor="t">
            <a:spAutoFit/>
          </a:bodyPr>
          <a:lstStyle/>
          <a:p>
            <a:pPr algn="l"/>
            <a:r>
              <a:rPr sz="1800" b="0">
                <a:solidFill>
                  <a:srgbClr val="CCCCD6"/>
                </a:solidFill>
                <a:latin typeface="Calibri"/>
              </a:rPr>
              <a:t>wide-column  •  Cassandra, HBase</a:t>
            </a:r>
          </a:p>
        </p:txBody>
      </p:sp>
      <p:sp>
        <p:nvSpPr>
          <p:cNvPr id="20" name="Rounded Rectangle 19"/>
          <p:cNvSpPr/>
          <p:nvPr/>
        </p:nvSpPr>
        <p:spPr>
          <a:xfrm>
            <a:off x="548640" y="3611880"/>
            <a:ext cx="5577840" cy="914400"/>
          </a:xfrm>
          <a:prstGeom prst="roundRect">
            <a:avLst/>
          </a:prstGeom>
          <a:solidFill>
            <a:srgbClr val="2424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703320"/>
            <a:ext cx="1097280" cy="457200"/>
          </a:xfrm>
          <a:prstGeom prst="rect">
            <a:avLst/>
          </a:prstGeom>
          <a:noFill/>
        </p:spPr>
        <p:txBody>
          <a:bodyPr wrap="square" anchor="t">
            <a:spAutoFit/>
          </a:bodyPr>
          <a:lstStyle/>
          <a:p>
            <a:pPr algn="l"/>
            <a:r>
              <a:rPr sz="2200" b="1">
                <a:solidFill>
                  <a:srgbClr val="00FF41"/>
                </a:solidFill>
                <a:latin typeface="Calibri"/>
              </a:rPr>
              <a:t>◆ 5.</a:t>
            </a:r>
          </a:p>
        </p:txBody>
      </p:sp>
      <p:sp>
        <p:nvSpPr>
          <p:cNvPr id="22" name="TextBox 21"/>
          <p:cNvSpPr txBox="1"/>
          <p:nvPr/>
        </p:nvSpPr>
        <p:spPr>
          <a:xfrm>
            <a:off x="1737360" y="3703320"/>
            <a:ext cx="4297679" cy="457200"/>
          </a:xfrm>
          <a:prstGeom prst="rect">
            <a:avLst/>
          </a:prstGeom>
          <a:noFill/>
        </p:spPr>
        <p:txBody>
          <a:bodyPr wrap="square" anchor="t">
            <a:spAutoFit/>
          </a:bodyPr>
          <a:lstStyle/>
          <a:p>
            <a:pPr algn="l"/>
            <a:r>
              <a:rPr sz="2200" b="1">
                <a:solidFill>
                  <a:srgbClr val="FFFFFF"/>
                </a:solidFill>
                <a:latin typeface="Calibri"/>
              </a:rPr>
              <a:t>Graph</a:t>
            </a:r>
          </a:p>
        </p:txBody>
      </p:sp>
      <p:sp>
        <p:nvSpPr>
          <p:cNvPr id="23" name="TextBox 22"/>
          <p:cNvSpPr txBox="1"/>
          <p:nvPr/>
        </p:nvSpPr>
        <p:spPr>
          <a:xfrm>
            <a:off x="1737360" y="4069080"/>
            <a:ext cx="4297679" cy="457200"/>
          </a:xfrm>
          <a:prstGeom prst="rect">
            <a:avLst/>
          </a:prstGeom>
          <a:noFill/>
        </p:spPr>
        <p:txBody>
          <a:bodyPr wrap="square" anchor="t">
            <a:spAutoFit/>
          </a:bodyPr>
          <a:lstStyle/>
          <a:p>
            <a:pPr algn="l"/>
            <a:r>
              <a:rPr sz="1800" b="0">
                <a:solidFill>
                  <a:srgbClr val="CCCCD6"/>
                </a:solidFill>
                <a:latin typeface="Calibri"/>
              </a:rPr>
              <a:t>nodes+edges  •  Neo4j, Neptune</a:t>
            </a:r>
          </a:p>
        </p:txBody>
      </p:sp>
      <p:sp>
        <p:nvSpPr>
          <p:cNvPr id="24" name="Rounded Rectangle 23"/>
          <p:cNvSpPr/>
          <p:nvPr/>
        </p:nvSpPr>
        <p:spPr>
          <a:xfrm>
            <a:off x="6217919" y="3611880"/>
            <a:ext cx="5577840" cy="914400"/>
          </a:xfrm>
          <a:prstGeom prst="roundRect">
            <a:avLst/>
          </a:prstGeom>
          <a:solidFill>
            <a:srgbClr val="2424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79" y="3703320"/>
            <a:ext cx="1097280" cy="457200"/>
          </a:xfrm>
          <a:prstGeom prst="rect">
            <a:avLst/>
          </a:prstGeom>
          <a:noFill/>
        </p:spPr>
        <p:txBody>
          <a:bodyPr wrap="square" anchor="t">
            <a:spAutoFit/>
          </a:bodyPr>
          <a:lstStyle/>
          <a:p>
            <a:pPr algn="l"/>
            <a:r>
              <a:rPr sz="2200" b="1">
                <a:solidFill>
                  <a:srgbClr val="00FF41"/>
                </a:solidFill>
                <a:latin typeface="Calibri"/>
              </a:rPr>
              <a:t>◆ 6.</a:t>
            </a:r>
          </a:p>
        </p:txBody>
      </p:sp>
      <p:sp>
        <p:nvSpPr>
          <p:cNvPr id="26" name="TextBox 25"/>
          <p:cNvSpPr txBox="1"/>
          <p:nvPr/>
        </p:nvSpPr>
        <p:spPr>
          <a:xfrm>
            <a:off x="7406640" y="3703320"/>
            <a:ext cx="4297679" cy="457200"/>
          </a:xfrm>
          <a:prstGeom prst="rect">
            <a:avLst/>
          </a:prstGeom>
          <a:noFill/>
        </p:spPr>
        <p:txBody>
          <a:bodyPr wrap="square" anchor="t">
            <a:spAutoFit/>
          </a:bodyPr>
          <a:lstStyle/>
          <a:p>
            <a:pPr algn="l"/>
            <a:r>
              <a:rPr sz="2200" b="1">
                <a:solidFill>
                  <a:srgbClr val="FFFFFF"/>
                </a:solidFill>
                <a:latin typeface="Calibri"/>
              </a:rPr>
              <a:t>Search</a:t>
            </a:r>
          </a:p>
        </p:txBody>
      </p:sp>
      <p:sp>
        <p:nvSpPr>
          <p:cNvPr id="27" name="TextBox 26"/>
          <p:cNvSpPr txBox="1"/>
          <p:nvPr/>
        </p:nvSpPr>
        <p:spPr>
          <a:xfrm>
            <a:off x="7406640" y="4069080"/>
            <a:ext cx="4297679" cy="457200"/>
          </a:xfrm>
          <a:prstGeom prst="rect">
            <a:avLst/>
          </a:prstGeom>
          <a:noFill/>
        </p:spPr>
        <p:txBody>
          <a:bodyPr wrap="square" anchor="t">
            <a:spAutoFit/>
          </a:bodyPr>
          <a:lstStyle/>
          <a:p>
            <a:pPr algn="l"/>
            <a:r>
              <a:rPr sz="1800" b="0">
                <a:solidFill>
                  <a:srgbClr val="CCCCD6"/>
                </a:solidFill>
                <a:latin typeface="Calibri"/>
              </a:rPr>
              <a:t>full-text  •  Elastic, OpenSearch</a:t>
            </a:r>
          </a:p>
        </p:txBody>
      </p:sp>
      <p:sp>
        <p:nvSpPr>
          <p:cNvPr id="28" name="Rounded Rectangle 27"/>
          <p:cNvSpPr/>
          <p:nvPr/>
        </p:nvSpPr>
        <p:spPr>
          <a:xfrm>
            <a:off x="548640" y="4572000"/>
            <a:ext cx="5577840" cy="914400"/>
          </a:xfrm>
          <a:prstGeom prst="roundRect">
            <a:avLst/>
          </a:prstGeom>
          <a:solidFill>
            <a:srgbClr val="2424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663440"/>
            <a:ext cx="1097280" cy="457200"/>
          </a:xfrm>
          <a:prstGeom prst="rect">
            <a:avLst/>
          </a:prstGeom>
          <a:noFill/>
        </p:spPr>
        <p:txBody>
          <a:bodyPr wrap="square" anchor="t">
            <a:spAutoFit/>
          </a:bodyPr>
          <a:lstStyle/>
          <a:p>
            <a:pPr algn="l"/>
            <a:r>
              <a:rPr sz="2200" b="1">
                <a:solidFill>
                  <a:srgbClr val="00FF41"/>
                </a:solidFill>
                <a:latin typeface="Calibri"/>
              </a:rPr>
              <a:t>◆ 7.</a:t>
            </a:r>
          </a:p>
        </p:txBody>
      </p:sp>
      <p:sp>
        <p:nvSpPr>
          <p:cNvPr id="30" name="TextBox 29"/>
          <p:cNvSpPr txBox="1"/>
          <p:nvPr/>
        </p:nvSpPr>
        <p:spPr>
          <a:xfrm>
            <a:off x="1737360" y="4663440"/>
            <a:ext cx="4297679" cy="457200"/>
          </a:xfrm>
          <a:prstGeom prst="rect">
            <a:avLst/>
          </a:prstGeom>
          <a:noFill/>
        </p:spPr>
        <p:txBody>
          <a:bodyPr wrap="square" anchor="t">
            <a:spAutoFit/>
          </a:bodyPr>
          <a:lstStyle/>
          <a:p>
            <a:pPr algn="l"/>
            <a:r>
              <a:rPr sz="2200" b="1">
                <a:solidFill>
                  <a:srgbClr val="FFFFFF"/>
                </a:solidFill>
                <a:latin typeface="Calibri"/>
              </a:rPr>
              <a:t>Zeitreihen</a:t>
            </a:r>
          </a:p>
        </p:txBody>
      </p:sp>
      <p:sp>
        <p:nvSpPr>
          <p:cNvPr id="31" name="TextBox 30"/>
          <p:cNvSpPr txBox="1"/>
          <p:nvPr/>
        </p:nvSpPr>
        <p:spPr>
          <a:xfrm>
            <a:off x="1737360" y="5029200"/>
            <a:ext cx="4297679" cy="457200"/>
          </a:xfrm>
          <a:prstGeom prst="rect">
            <a:avLst/>
          </a:prstGeom>
          <a:noFill/>
        </p:spPr>
        <p:txBody>
          <a:bodyPr wrap="square" anchor="t">
            <a:spAutoFit/>
          </a:bodyPr>
          <a:lstStyle/>
          <a:p>
            <a:pPr algn="l"/>
            <a:r>
              <a:rPr sz="1800" b="0">
                <a:solidFill>
                  <a:srgbClr val="CCCCD6"/>
                </a:solidFill>
                <a:latin typeface="Calibri"/>
              </a:rPr>
              <a:t>metrics  •  Influx, Prometheus</a:t>
            </a:r>
          </a:p>
        </p:txBody>
      </p:sp>
      <p:sp>
        <p:nvSpPr>
          <p:cNvPr id="32" name="Rounded Rectangle 31"/>
          <p:cNvSpPr/>
          <p:nvPr/>
        </p:nvSpPr>
        <p:spPr>
          <a:xfrm>
            <a:off x="6217919" y="4572000"/>
            <a:ext cx="5577840" cy="914400"/>
          </a:xfrm>
          <a:prstGeom prst="roundRect">
            <a:avLst/>
          </a:prstGeom>
          <a:solidFill>
            <a:srgbClr val="2424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79" y="4663440"/>
            <a:ext cx="1097280" cy="457200"/>
          </a:xfrm>
          <a:prstGeom prst="rect">
            <a:avLst/>
          </a:prstGeom>
          <a:noFill/>
        </p:spPr>
        <p:txBody>
          <a:bodyPr wrap="square" anchor="t">
            <a:spAutoFit/>
          </a:bodyPr>
          <a:lstStyle/>
          <a:p>
            <a:pPr algn="l"/>
            <a:r>
              <a:rPr sz="2200" b="1">
                <a:solidFill>
                  <a:srgbClr val="00FF41"/>
                </a:solidFill>
                <a:latin typeface="Calibri"/>
              </a:rPr>
              <a:t>◆ 8.</a:t>
            </a:r>
          </a:p>
        </p:txBody>
      </p:sp>
      <p:sp>
        <p:nvSpPr>
          <p:cNvPr id="34" name="TextBox 33"/>
          <p:cNvSpPr txBox="1"/>
          <p:nvPr/>
        </p:nvSpPr>
        <p:spPr>
          <a:xfrm>
            <a:off x="7406640" y="4663440"/>
            <a:ext cx="4297679" cy="457200"/>
          </a:xfrm>
          <a:prstGeom prst="rect">
            <a:avLst/>
          </a:prstGeom>
          <a:noFill/>
        </p:spPr>
        <p:txBody>
          <a:bodyPr wrap="square" anchor="t">
            <a:spAutoFit/>
          </a:bodyPr>
          <a:lstStyle/>
          <a:p>
            <a:pPr algn="l"/>
            <a:r>
              <a:rPr sz="2200" b="1">
                <a:solidFill>
                  <a:srgbClr val="FFFFFF"/>
                </a:solidFill>
                <a:latin typeface="Calibri"/>
              </a:rPr>
              <a:t>Vector</a:t>
            </a:r>
          </a:p>
        </p:txBody>
      </p:sp>
      <p:sp>
        <p:nvSpPr>
          <p:cNvPr id="35" name="TextBox 34"/>
          <p:cNvSpPr txBox="1"/>
          <p:nvPr/>
        </p:nvSpPr>
        <p:spPr>
          <a:xfrm>
            <a:off x="7406640" y="5029200"/>
            <a:ext cx="4297679" cy="457200"/>
          </a:xfrm>
          <a:prstGeom prst="rect">
            <a:avLst/>
          </a:prstGeom>
          <a:noFill/>
        </p:spPr>
        <p:txBody>
          <a:bodyPr wrap="square" anchor="t">
            <a:spAutoFit/>
          </a:bodyPr>
          <a:lstStyle/>
          <a:p>
            <a:pPr algn="l"/>
            <a:r>
              <a:rPr sz="1800" b="0">
                <a:solidFill>
                  <a:srgbClr val="CCCCD6"/>
                </a:solidFill>
                <a:latin typeface="Calibri"/>
              </a:rPr>
              <a:t>embeddings  •  Pinecone, pgvector</a:t>
            </a:r>
          </a:p>
        </p:txBody>
      </p:sp>
      <p:sp>
        <p:nvSpPr>
          <p:cNvPr id="36" name="Rounded Rectangle 35"/>
          <p:cNvSpPr/>
          <p:nvPr/>
        </p:nvSpPr>
        <p:spPr>
          <a:xfrm>
            <a:off x="548640" y="5532120"/>
            <a:ext cx="5577840" cy="914400"/>
          </a:xfrm>
          <a:prstGeom prst="roundRect">
            <a:avLst/>
          </a:prstGeom>
          <a:solidFill>
            <a:srgbClr val="2424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5623560"/>
            <a:ext cx="1097280" cy="457200"/>
          </a:xfrm>
          <a:prstGeom prst="rect">
            <a:avLst/>
          </a:prstGeom>
          <a:noFill/>
        </p:spPr>
        <p:txBody>
          <a:bodyPr wrap="square" anchor="t">
            <a:spAutoFit/>
          </a:bodyPr>
          <a:lstStyle/>
          <a:p>
            <a:pPr algn="l"/>
            <a:r>
              <a:rPr sz="2200" b="1">
                <a:solidFill>
                  <a:srgbClr val="00FF41"/>
                </a:solidFill>
                <a:latin typeface="Calibri"/>
              </a:rPr>
              <a:t>◆ 9.</a:t>
            </a:r>
          </a:p>
        </p:txBody>
      </p:sp>
      <p:sp>
        <p:nvSpPr>
          <p:cNvPr id="38" name="TextBox 37"/>
          <p:cNvSpPr txBox="1"/>
          <p:nvPr/>
        </p:nvSpPr>
        <p:spPr>
          <a:xfrm>
            <a:off x="1737360" y="5623560"/>
            <a:ext cx="4297679" cy="457200"/>
          </a:xfrm>
          <a:prstGeom prst="rect">
            <a:avLst/>
          </a:prstGeom>
          <a:noFill/>
        </p:spPr>
        <p:txBody>
          <a:bodyPr wrap="square" anchor="t">
            <a:spAutoFit/>
          </a:bodyPr>
          <a:lstStyle/>
          <a:p>
            <a:pPr algn="l"/>
            <a:r>
              <a:rPr sz="2200" b="1">
                <a:solidFill>
                  <a:srgbClr val="FFFFFF"/>
                </a:solidFill>
                <a:latin typeface="Calibri"/>
              </a:rPr>
              <a:t>Embedded/Edge</a:t>
            </a:r>
          </a:p>
        </p:txBody>
      </p:sp>
      <p:sp>
        <p:nvSpPr>
          <p:cNvPr id="39" name="TextBox 38"/>
          <p:cNvSpPr txBox="1"/>
          <p:nvPr/>
        </p:nvSpPr>
        <p:spPr>
          <a:xfrm>
            <a:off x="1737360" y="5989320"/>
            <a:ext cx="4297679" cy="457200"/>
          </a:xfrm>
          <a:prstGeom prst="rect">
            <a:avLst/>
          </a:prstGeom>
          <a:noFill/>
        </p:spPr>
        <p:txBody>
          <a:bodyPr wrap="square" anchor="t">
            <a:spAutoFit/>
          </a:bodyPr>
          <a:lstStyle/>
          <a:p>
            <a:pPr algn="l"/>
            <a:r>
              <a:rPr sz="1800" b="0">
                <a:solidFill>
                  <a:srgbClr val="CCCCD6"/>
                </a:solidFill>
                <a:latin typeface="Calibri"/>
              </a:rPr>
              <a:t>in-app  •  SQLite, DuckDB</a:t>
            </a:r>
          </a:p>
        </p:txBody>
      </p:sp>
      <p:sp>
        <p:nvSpPr>
          <p:cNvPr id="40" name="Rounded Rectangle 39"/>
          <p:cNvSpPr/>
          <p:nvPr/>
        </p:nvSpPr>
        <p:spPr>
          <a:xfrm>
            <a:off x="6217919" y="5532120"/>
            <a:ext cx="5577840" cy="914400"/>
          </a:xfrm>
          <a:prstGeom prst="roundRect">
            <a:avLst/>
          </a:prstGeom>
          <a:solidFill>
            <a:srgbClr val="2424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55079" y="5623560"/>
            <a:ext cx="1097280" cy="457200"/>
          </a:xfrm>
          <a:prstGeom prst="rect">
            <a:avLst/>
          </a:prstGeom>
          <a:noFill/>
        </p:spPr>
        <p:txBody>
          <a:bodyPr wrap="square" anchor="t">
            <a:spAutoFit/>
          </a:bodyPr>
          <a:lstStyle/>
          <a:p>
            <a:pPr algn="l"/>
            <a:r>
              <a:rPr sz="2200" b="1">
                <a:solidFill>
                  <a:srgbClr val="00FF41"/>
                </a:solidFill>
                <a:latin typeface="Calibri"/>
              </a:rPr>
              <a:t>◆ 10.</a:t>
            </a:r>
          </a:p>
        </p:txBody>
      </p:sp>
      <p:sp>
        <p:nvSpPr>
          <p:cNvPr id="42" name="TextBox 41"/>
          <p:cNvSpPr txBox="1"/>
          <p:nvPr/>
        </p:nvSpPr>
        <p:spPr>
          <a:xfrm>
            <a:off x="7406640" y="5623560"/>
            <a:ext cx="4297679" cy="457200"/>
          </a:xfrm>
          <a:prstGeom prst="rect">
            <a:avLst/>
          </a:prstGeom>
          <a:noFill/>
        </p:spPr>
        <p:txBody>
          <a:bodyPr wrap="square" anchor="t">
            <a:spAutoFit/>
          </a:bodyPr>
          <a:lstStyle/>
          <a:p>
            <a:pPr algn="l"/>
            <a:r>
              <a:rPr sz="2200" b="1">
                <a:solidFill>
                  <a:srgbClr val="FFFFFF"/>
                </a:solidFill>
                <a:latin typeface="Calibri"/>
              </a:rPr>
              <a:t>Data Lake</a:t>
            </a:r>
          </a:p>
        </p:txBody>
      </p:sp>
      <p:sp>
        <p:nvSpPr>
          <p:cNvPr id="43" name="TextBox 42"/>
          <p:cNvSpPr txBox="1"/>
          <p:nvPr/>
        </p:nvSpPr>
        <p:spPr>
          <a:xfrm>
            <a:off x="7406640" y="5989320"/>
            <a:ext cx="4297679" cy="457200"/>
          </a:xfrm>
          <a:prstGeom prst="rect">
            <a:avLst/>
          </a:prstGeom>
          <a:noFill/>
        </p:spPr>
        <p:txBody>
          <a:bodyPr wrap="square" anchor="t">
            <a:spAutoFit/>
          </a:bodyPr>
          <a:lstStyle/>
          <a:p>
            <a:pPr algn="l"/>
            <a:r>
              <a:rPr sz="1800" b="0">
                <a:solidFill>
                  <a:srgbClr val="CCCCD6"/>
                </a:solidFill>
                <a:latin typeface="Calibri"/>
              </a:rPr>
              <a:t>schema-on-read  •  S3+Athena, Iceberg</a:t>
            </a:r>
          </a:p>
        </p:txBody>
      </p:sp>
      <p:sp>
        <p:nvSpPr>
          <p:cNvPr id="44" name="TextBox 43"/>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45" name="TextBox 44"/>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7 / 44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descr="Family card #1: Relational / SQL. Products: PostgreSQL  •  MySQL/MariaDB  •  SQL Server  •  Oracle. Use case: Clear relationships, consistency required — finance, regulated data.. Security gotcha: SQL injection when developers concatenate user input into queries.." title="Family card #1: Relational / SQL. Products: PostgreSQL  •  MySQL/MariaDB  •  SQL"/>
          <p:cNvSpPr/>
          <p:nvPr/>
        </p:nvSpPr>
        <p:spPr>
          <a:xfrm>
            <a:off x="457200" y="365760"/>
            <a:ext cx="1097280" cy="10972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097280" cy="868680"/>
          </a:xfrm>
          <a:prstGeom prst="rect">
            <a:avLst/>
          </a:prstGeom>
          <a:noFill/>
        </p:spPr>
        <p:txBody>
          <a:bodyPr wrap="square" anchor="t">
            <a:spAutoFit/>
          </a:bodyPr>
          <a:lstStyle/>
          <a:p>
            <a:pPr algn="ctr"/>
            <a:r>
              <a:rPr sz="4400" b="1">
                <a:solidFill>
                  <a:srgbClr val="1A1A2E"/>
                </a:solidFill>
                <a:latin typeface="Calibri"/>
              </a:rPr>
              <a:t>1</a:t>
            </a:r>
          </a:p>
        </p:txBody>
      </p:sp>
      <p:sp>
        <p:nvSpPr>
          <p:cNvPr id="4" name="TextBox 3"/>
          <p:cNvSpPr txBox="1"/>
          <p:nvPr/>
        </p:nvSpPr>
        <p:spPr>
          <a:xfrm>
            <a:off x="1737360" y="411480"/>
            <a:ext cx="10058400" cy="1005840"/>
          </a:xfrm>
          <a:prstGeom prst="rect">
            <a:avLst/>
          </a:prstGeom>
          <a:noFill/>
        </p:spPr>
        <p:txBody>
          <a:bodyPr wrap="square" anchor="t">
            <a:spAutoFit/>
          </a:bodyPr>
          <a:lstStyle/>
          <a:p>
            <a:pPr algn="l"/>
            <a:r>
              <a:rPr sz="4600" b="1">
                <a:solidFill>
                  <a:srgbClr val="00FF41"/>
                </a:solidFill>
                <a:latin typeface="Calibri"/>
              </a:rPr>
              <a:t>Relational / SQL</a:t>
            </a:r>
          </a:p>
        </p:txBody>
      </p:sp>
      <p:sp>
        <p:nvSpPr>
          <p:cNvPr id="5" name="Rectangle 4"/>
          <p:cNvSpPr/>
          <p:nvPr/>
        </p:nvSpPr>
        <p:spPr>
          <a:xfrm>
            <a:off x="457200" y="146304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91640"/>
            <a:ext cx="3200400" cy="457200"/>
          </a:xfrm>
          <a:prstGeom prst="rect">
            <a:avLst/>
          </a:prstGeom>
          <a:noFill/>
        </p:spPr>
        <p:txBody>
          <a:bodyPr wrap="square" anchor="t">
            <a:spAutoFit/>
          </a:bodyPr>
          <a:lstStyle/>
          <a:p>
            <a:pPr algn="l"/>
            <a:r>
              <a:rPr sz="2000" b="1">
                <a:solidFill>
                  <a:srgbClr val="00D4FF"/>
                </a:solidFill>
                <a:latin typeface="Calibri"/>
              </a:rPr>
              <a:t>PRODUCTS</a:t>
            </a:r>
          </a:p>
        </p:txBody>
      </p:sp>
      <p:sp>
        <p:nvSpPr>
          <p:cNvPr id="7" name="TextBox 6"/>
          <p:cNvSpPr txBox="1"/>
          <p:nvPr/>
        </p:nvSpPr>
        <p:spPr>
          <a:xfrm>
            <a:off x="457200" y="2103120"/>
            <a:ext cx="11247120" cy="640080"/>
          </a:xfrm>
          <a:prstGeom prst="rect">
            <a:avLst/>
          </a:prstGeom>
          <a:noFill/>
        </p:spPr>
        <p:txBody>
          <a:bodyPr wrap="square" anchor="t">
            <a:spAutoFit/>
          </a:bodyPr>
          <a:lstStyle/>
          <a:p>
            <a:pPr algn="l"/>
            <a:r>
              <a:rPr sz="2800" b="1">
                <a:solidFill>
                  <a:srgbClr val="FFFFFF"/>
                </a:solidFill>
                <a:latin typeface="Calibri"/>
              </a:rPr>
              <a:t>PostgreSQL  •  MySQL/MariaDB  •  SQL Server  •  Oracle</a:t>
            </a:r>
          </a:p>
        </p:txBody>
      </p:sp>
      <p:sp>
        <p:nvSpPr>
          <p:cNvPr id="8" name="TextBox 7"/>
          <p:cNvSpPr txBox="1"/>
          <p:nvPr/>
        </p:nvSpPr>
        <p:spPr>
          <a:xfrm>
            <a:off x="457200" y="2926080"/>
            <a:ext cx="3200400" cy="457200"/>
          </a:xfrm>
          <a:prstGeom prst="rect">
            <a:avLst/>
          </a:prstGeom>
          <a:noFill/>
        </p:spPr>
        <p:txBody>
          <a:bodyPr wrap="square" anchor="t">
            <a:spAutoFit/>
          </a:bodyPr>
          <a:lstStyle/>
          <a:p>
            <a:pPr algn="l"/>
            <a:r>
              <a:rPr sz="2000" b="1">
                <a:solidFill>
                  <a:srgbClr val="00D4FF"/>
                </a:solidFill>
                <a:latin typeface="Calibri"/>
              </a:rPr>
              <a:t>USE WHEN</a:t>
            </a:r>
          </a:p>
        </p:txBody>
      </p:sp>
      <p:sp>
        <p:nvSpPr>
          <p:cNvPr id="9" name="TextBox 8"/>
          <p:cNvSpPr txBox="1"/>
          <p:nvPr/>
        </p:nvSpPr>
        <p:spPr>
          <a:xfrm>
            <a:off x="457200" y="3337560"/>
            <a:ext cx="11247120" cy="1097280"/>
          </a:xfrm>
          <a:prstGeom prst="rect">
            <a:avLst/>
          </a:prstGeom>
          <a:noFill/>
        </p:spPr>
        <p:txBody>
          <a:bodyPr wrap="square" anchor="t">
            <a:spAutoFit/>
          </a:bodyPr>
          <a:lstStyle/>
          <a:p>
            <a:pPr algn="l"/>
            <a:r>
              <a:rPr sz="2400" b="0">
                <a:solidFill>
                  <a:srgbClr val="FFFFFF"/>
                </a:solidFill>
                <a:latin typeface="Calibri"/>
              </a:rPr>
              <a:t>Clear relationships, consistency required — finance, regulated data.</a:t>
            </a:r>
          </a:p>
        </p:txBody>
      </p:sp>
      <p:sp>
        <p:nvSpPr>
          <p:cNvPr id="10" name="Rounded Rectangle 9"/>
          <p:cNvSpPr/>
          <p:nvPr/>
        </p:nvSpPr>
        <p:spPr>
          <a:xfrm>
            <a:off x="457200" y="4572000"/>
            <a:ext cx="11247120" cy="1554480"/>
          </a:xfrm>
          <a:prstGeom prst="roundRect">
            <a:avLst/>
          </a:prstGeom>
          <a:solidFill>
            <a:srgbClr val="3A1F14"/>
          </a:solidFill>
          <a:ln w="317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681728"/>
            <a:ext cx="10789920" cy="457200"/>
          </a:xfrm>
          <a:prstGeom prst="rect">
            <a:avLst/>
          </a:prstGeom>
          <a:noFill/>
        </p:spPr>
        <p:txBody>
          <a:bodyPr wrap="square" anchor="t">
            <a:spAutoFit/>
          </a:bodyPr>
          <a:lstStyle/>
          <a:p>
            <a:pPr algn="l"/>
            <a:r>
              <a:rPr sz="2000" b="1">
                <a:solidFill>
                  <a:srgbClr val="FF6B35"/>
                </a:solidFill>
                <a:latin typeface="Calibri"/>
              </a:rPr>
              <a:t>⚠  SECURITY GOTCHA</a:t>
            </a:r>
          </a:p>
        </p:txBody>
      </p:sp>
      <p:sp>
        <p:nvSpPr>
          <p:cNvPr id="12" name="TextBox 11"/>
          <p:cNvSpPr txBox="1"/>
          <p:nvPr/>
        </p:nvSpPr>
        <p:spPr>
          <a:xfrm>
            <a:off x="685800" y="5120640"/>
            <a:ext cx="10789920" cy="1005840"/>
          </a:xfrm>
          <a:prstGeom prst="rect">
            <a:avLst/>
          </a:prstGeom>
          <a:noFill/>
        </p:spPr>
        <p:txBody>
          <a:bodyPr wrap="square" anchor="t">
            <a:spAutoFit/>
          </a:bodyPr>
          <a:lstStyle/>
          <a:p>
            <a:pPr algn="l"/>
            <a:r>
              <a:rPr sz="2400" b="0">
                <a:solidFill>
                  <a:srgbClr val="FFFFFF"/>
                </a:solidFill>
                <a:latin typeface="Calibri"/>
              </a:rPr>
              <a:t>SQL injection when developers concatenate user input into queries.</a:t>
            </a:r>
          </a:p>
        </p:txBody>
      </p:sp>
      <p:sp>
        <p:nvSpPr>
          <p:cNvPr id="13" name="TextBox 12"/>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14" name="TextBox 13"/>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8 / 44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descr="Family card #2: Document Stores. Products: MongoDB  •  Couchbase  •  Firestore. Use case: Naturally nested data; the shape changes over time.. Security gotcha: NoSQL injection via query operators ($ne, $gt, $where). Default no-auth.." title="Family card #2: Document Stores. Products: MongoDB  •  Couchbase  •  Firestore. "/>
          <p:cNvSpPr/>
          <p:nvPr/>
        </p:nvSpPr>
        <p:spPr>
          <a:xfrm>
            <a:off x="457200" y="365760"/>
            <a:ext cx="1097280" cy="10972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097280" cy="868680"/>
          </a:xfrm>
          <a:prstGeom prst="rect">
            <a:avLst/>
          </a:prstGeom>
          <a:noFill/>
        </p:spPr>
        <p:txBody>
          <a:bodyPr wrap="square" anchor="t">
            <a:spAutoFit/>
          </a:bodyPr>
          <a:lstStyle/>
          <a:p>
            <a:pPr algn="ctr"/>
            <a:r>
              <a:rPr sz="4400" b="1">
                <a:solidFill>
                  <a:srgbClr val="1A1A2E"/>
                </a:solidFill>
                <a:latin typeface="Calibri"/>
              </a:rPr>
              <a:t>2</a:t>
            </a:r>
          </a:p>
        </p:txBody>
      </p:sp>
      <p:sp>
        <p:nvSpPr>
          <p:cNvPr id="4" name="TextBox 3"/>
          <p:cNvSpPr txBox="1"/>
          <p:nvPr/>
        </p:nvSpPr>
        <p:spPr>
          <a:xfrm>
            <a:off x="1737360" y="411480"/>
            <a:ext cx="10058400" cy="1005840"/>
          </a:xfrm>
          <a:prstGeom prst="rect">
            <a:avLst/>
          </a:prstGeom>
          <a:noFill/>
        </p:spPr>
        <p:txBody>
          <a:bodyPr wrap="square" anchor="t">
            <a:spAutoFit/>
          </a:bodyPr>
          <a:lstStyle/>
          <a:p>
            <a:pPr algn="l"/>
            <a:r>
              <a:rPr sz="4600" b="1">
                <a:solidFill>
                  <a:srgbClr val="00FF41"/>
                </a:solidFill>
                <a:latin typeface="Calibri"/>
              </a:rPr>
              <a:t>Dokumentenspeicher</a:t>
            </a:r>
          </a:p>
        </p:txBody>
      </p:sp>
      <p:sp>
        <p:nvSpPr>
          <p:cNvPr id="5" name="Rectangle 4"/>
          <p:cNvSpPr/>
          <p:nvPr/>
        </p:nvSpPr>
        <p:spPr>
          <a:xfrm>
            <a:off x="457200" y="146304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91640"/>
            <a:ext cx="3200400" cy="457200"/>
          </a:xfrm>
          <a:prstGeom prst="rect">
            <a:avLst/>
          </a:prstGeom>
          <a:noFill/>
        </p:spPr>
        <p:txBody>
          <a:bodyPr wrap="square" anchor="t">
            <a:spAutoFit/>
          </a:bodyPr>
          <a:lstStyle/>
          <a:p>
            <a:pPr algn="l"/>
            <a:r>
              <a:rPr sz="2000" b="1">
                <a:solidFill>
                  <a:srgbClr val="00D4FF"/>
                </a:solidFill>
                <a:latin typeface="Calibri"/>
              </a:rPr>
              <a:t>PRODUCTS</a:t>
            </a:r>
          </a:p>
        </p:txBody>
      </p:sp>
      <p:sp>
        <p:nvSpPr>
          <p:cNvPr id="7" name="TextBox 6"/>
          <p:cNvSpPr txBox="1"/>
          <p:nvPr/>
        </p:nvSpPr>
        <p:spPr>
          <a:xfrm>
            <a:off x="457200" y="2103120"/>
            <a:ext cx="11247120" cy="640080"/>
          </a:xfrm>
          <a:prstGeom prst="rect">
            <a:avLst/>
          </a:prstGeom>
          <a:noFill/>
        </p:spPr>
        <p:txBody>
          <a:bodyPr wrap="square" anchor="t">
            <a:spAutoFit/>
          </a:bodyPr>
          <a:lstStyle/>
          <a:p>
            <a:pPr algn="l"/>
            <a:r>
              <a:rPr sz="2800" b="1">
                <a:solidFill>
                  <a:srgbClr val="FFFFFF"/>
                </a:solidFill>
                <a:latin typeface="Calibri"/>
              </a:rPr>
              <a:t>MongoDB  •  Couchbase  •  Firestore</a:t>
            </a:r>
          </a:p>
        </p:txBody>
      </p:sp>
      <p:sp>
        <p:nvSpPr>
          <p:cNvPr id="8" name="TextBox 7"/>
          <p:cNvSpPr txBox="1"/>
          <p:nvPr/>
        </p:nvSpPr>
        <p:spPr>
          <a:xfrm>
            <a:off x="457200" y="2926080"/>
            <a:ext cx="3200400" cy="457200"/>
          </a:xfrm>
          <a:prstGeom prst="rect">
            <a:avLst/>
          </a:prstGeom>
          <a:noFill/>
        </p:spPr>
        <p:txBody>
          <a:bodyPr wrap="square" anchor="t">
            <a:spAutoFit/>
          </a:bodyPr>
          <a:lstStyle/>
          <a:p>
            <a:pPr algn="l"/>
            <a:r>
              <a:rPr sz="2000" b="1">
                <a:solidFill>
                  <a:srgbClr val="00D4FF"/>
                </a:solidFill>
                <a:latin typeface="Calibri"/>
              </a:rPr>
              <a:t>USE WHEN</a:t>
            </a:r>
          </a:p>
        </p:txBody>
      </p:sp>
      <p:sp>
        <p:nvSpPr>
          <p:cNvPr id="9" name="TextBox 8"/>
          <p:cNvSpPr txBox="1"/>
          <p:nvPr/>
        </p:nvSpPr>
        <p:spPr>
          <a:xfrm>
            <a:off x="457200" y="3337560"/>
            <a:ext cx="11247120" cy="1097280"/>
          </a:xfrm>
          <a:prstGeom prst="rect">
            <a:avLst/>
          </a:prstGeom>
          <a:noFill/>
        </p:spPr>
        <p:txBody>
          <a:bodyPr wrap="square" anchor="t">
            <a:spAutoFit/>
          </a:bodyPr>
          <a:lstStyle/>
          <a:p>
            <a:pPr algn="l"/>
            <a:r>
              <a:rPr sz="2400" b="0">
                <a:solidFill>
                  <a:srgbClr val="FFFFFF"/>
                </a:solidFill>
                <a:latin typeface="Calibri"/>
              </a:rPr>
              <a:t>Naturally nested data; the shape changes over time.</a:t>
            </a:r>
          </a:p>
        </p:txBody>
      </p:sp>
      <p:sp>
        <p:nvSpPr>
          <p:cNvPr id="10" name="Rounded Rectangle 9"/>
          <p:cNvSpPr/>
          <p:nvPr/>
        </p:nvSpPr>
        <p:spPr>
          <a:xfrm>
            <a:off x="457200" y="4572000"/>
            <a:ext cx="11247120" cy="1554480"/>
          </a:xfrm>
          <a:prstGeom prst="roundRect">
            <a:avLst/>
          </a:prstGeom>
          <a:solidFill>
            <a:srgbClr val="3A1F14"/>
          </a:solidFill>
          <a:ln w="317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681728"/>
            <a:ext cx="10789920" cy="457200"/>
          </a:xfrm>
          <a:prstGeom prst="rect">
            <a:avLst/>
          </a:prstGeom>
          <a:noFill/>
        </p:spPr>
        <p:txBody>
          <a:bodyPr wrap="square" anchor="t">
            <a:spAutoFit/>
          </a:bodyPr>
          <a:lstStyle/>
          <a:p>
            <a:pPr algn="l"/>
            <a:r>
              <a:rPr sz="2000" b="1">
                <a:solidFill>
                  <a:srgbClr val="FF6B35"/>
                </a:solidFill>
                <a:latin typeface="Calibri"/>
              </a:rPr>
              <a:t>⚠  SECURITY GOTCHA</a:t>
            </a:r>
          </a:p>
        </p:txBody>
      </p:sp>
      <p:sp>
        <p:nvSpPr>
          <p:cNvPr id="12" name="TextBox 11"/>
          <p:cNvSpPr txBox="1"/>
          <p:nvPr/>
        </p:nvSpPr>
        <p:spPr>
          <a:xfrm>
            <a:off x="685800" y="5120640"/>
            <a:ext cx="10789920" cy="1005840"/>
          </a:xfrm>
          <a:prstGeom prst="rect">
            <a:avLst/>
          </a:prstGeom>
          <a:noFill/>
        </p:spPr>
        <p:txBody>
          <a:bodyPr wrap="square" anchor="t">
            <a:spAutoFit/>
          </a:bodyPr>
          <a:lstStyle/>
          <a:p>
            <a:pPr algn="l"/>
            <a:r>
              <a:rPr sz="2400" b="0">
                <a:solidFill>
                  <a:srgbClr val="FFFFFF"/>
                </a:solidFill>
                <a:latin typeface="Calibri"/>
              </a:rPr>
              <a:t>NoSQL injection via query operators ($ne, $gt, $where). Default no-auth.</a:t>
            </a:r>
          </a:p>
        </p:txBody>
      </p:sp>
      <p:sp>
        <p:nvSpPr>
          <p:cNvPr id="13" name="TextBox 12"/>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14" name="TextBox 13"/>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9 / 44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descr="Family card #3: Key-Value Stores. Products: Redis  •  Memcached  •  DynamoDB. Use case: Caches, session stores, rate limiters, leaderboards.. Security gotcha: Default no-auth Redis + CONFIG SET → writing SSH keys to disk.." title="Family card #3: Key-Value Stores. Products: Redis  •  Memcached  •  DynamoDB. Us"/>
          <p:cNvSpPr/>
          <p:nvPr/>
        </p:nvSpPr>
        <p:spPr>
          <a:xfrm>
            <a:off x="457200" y="365760"/>
            <a:ext cx="1097280" cy="10972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097280" cy="868680"/>
          </a:xfrm>
          <a:prstGeom prst="rect">
            <a:avLst/>
          </a:prstGeom>
          <a:noFill/>
        </p:spPr>
        <p:txBody>
          <a:bodyPr wrap="square" anchor="t">
            <a:spAutoFit/>
          </a:bodyPr>
          <a:lstStyle/>
          <a:p>
            <a:pPr algn="ctr"/>
            <a:r>
              <a:rPr sz="4400" b="1">
                <a:solidFill>
                  <a:srgbClr val="1A1A2E"/>
                </a:solidFill>
                <a:latin typeface="Calibri"/>
              </a:rPr>
              <a:t>3</a:t>
            </a:r>
          </a:p>
        </p:txBody>
      </p:sp>
      <p:sp>
        <p:nvSpPr>
          <p:cNvPr id="4" name="TextBox 3"/>
          <p:cNvSpPr txBox="1"/>
          <p:nvPr/>
        </p:nvSpPr>
        <p:spPr>
          <a:xfrm>
            <a:off x="1737360" y="411480"/>
            <a:ext cx="10058400" cy="1005840"/>
          </a:xfrm>
          <a:prstGeom prst="rect">
            <a:avLst/>
          </a:prstGeom>
          <a:noFill/>
        </p:spPr>
        <p:txBody>
          <a:bodyPr wrap="square" anchor="t">
            <a:spAutoFit/>
          </a:bodyPr>
          <a:lstStyle/>
          <a:p>
            <a:pPr algn="l"/>
            <a:r>
              <a:rPr sz="4600" b="1">
                <a:solidFill>
                  <a:srgbClr val="00FF41"/>
                </a:solidFill>
                <a:latin typeface="Calibri"/>
              </a:rPr>
              <a:t>Schlüssel-Wert-Speicher</a:t>
            </a:r>
          </a:p>
        </p:txBody>
      </p:sp>
      <p:sp>
        <p:nvSpPr>
          <p:cNvPr id="5" name="Rectangle 4"/>
          <p:cNvSpPr/>
          <p:nvPr/>
        </p:nvSpPr>
        <p:spPr>
          <a:xfrm>
            <a:off x="457200" y="146304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91640"/>
            <a:ext cx="3200400" cy="457200"/>
          </a:xfrm>
          <a:prstGeom prst="rect">
            <a:avLst/>
          </a:prstGeom>
          <a:noFill/>
        </p:spPr>
        <p:txBody>
          <a:bodyPr wrap="square" anchor="t">
            <a:spAutoFit/>
          </a:bodyPr>
          <a:lstStyle/>
          <a:p>
            <a:pPr algn="l"/>
            <a:r>
              <a:rPr sz="2000" b="1">
                <a:solidFill>
                  <a:srgbClr val="00D4FF"/>
                </a:solidFill>
                <a:latin typeface="Calibri"/>
              </a:rPr>
              <a:t>PRODUCTS</a:t>
            </a:r>
          </a:p>
        </p:txBody>
      </p:sp>
      <p:sp>
        <p:nvSpPr>
          <p:cNvPr id="7" name="TextBox 6"/>
          <p:cNvSpPr txBox="1"/>
          <p:nvPr/>
        </p:nvSpPr>
        <p:spPr>
          <a:xfrm>
            <a:off x="457200" y="2103120"/>
            <a:ext cx="11247120" cy="640080"/>
          </a:xfrm>
          <a:prstGeom prst="rect">
            <a:avLst/>
          </a:prstGeom>
          <a:noFill/>
        </p:spPr>
        <p:txBody>
          <a:bodyPr wrap="square" anchor="t">
            <a:spAutoFit/>
          </a:bodyPr>
          <a:lstStyle/>
          <a:p>
            <a:pPr algn="l"/>
            <a:r>
              <a:rPr sz="2800" b="1">
                <a:solidFill>
                  <a:srgbClr val="FFFFFF"/>
                </a:solidFill>
                <a:latin typeface="Calibri"/>
              </a:rPr>
              <a:t>Redis  •  Memcached  •  DynamoDB</a:t>
            </a:r>
          </a:p>
        </p:txBody>
      </p:sp>
      <p:sp>
        <p:nvSpPr>
          <p:cNvPr id="8" name="TextBox 7"/>
          <p:cNvSpPr txBox="1"/>
          <p:nvPr/>
        </p:nvSpPr>
        <p:spPr>
          <a:xfrm>
            <a:off x="457200" y="2926080"/>
            <a:ext cx="3200400" cy="457200"/>
          </a:xfrm>
          <a:prstGeom prst="rect">
            <a:avLst/>
          </a:prstGeom>
          <a:noFill/>
        </p:spPr>
        <p:txBody>
          <a:bodyPr wrap="square" anchor="t">
            <a:spAutoFit/>
          </a:bodyPr>
          <a:lstStyle/>
          <a:p>
            <a:pPr algn="l"/>
            <a:r>
              <a:rPr sz="2000" b="1">
                <a:solidFill>
                  <a:srgbClr val="00D4FF"/>
                </a:solidFill>
                <a:latin typeface="Calibri"/>
              </a:rPr>
              <a:t>USE WHEN</a:t>
            </a:r>
          </a:p>
        </p:txBody>
      </p:sp>
      <p:sp>
        <p:nvSpPr>
          <p:cNvPr id="9" name="TextBox 8"/>
          <p:cNvSpPr txBox="1"/>
          <p:nvPr/>
        </p:nvSpPr>
        <p:spPr>
          <a:xfrm>
            <a:off x="457200" y="3337560"/>
            <a:ext cx="11247120" cy="1097280"/>
          </a:xfrm>
          <a:prstGeom prst="rect">
            <a:avLst/>
          </a:prstGeom>
          <a:noFill/>
        </p:spPr>
        <p:txBody>
          <a:bodyPr wrap="square" anchor="t">
            <a:spAutoFit/>
          </a:bodyPr>
          <a:lstStyle/>
          <a:p>
            <a:pPr algn="l"/>
            <a:r>
              <a:rPr sz="2400" b="0">
                <a:solidFill>
                  <a:srgbClr val="FFFFFF"/>
                </a:solidFill>
                <a:latin typeface="Calibri"/>
              </a:rPr>
              <a:t>Caches, session stores, rate limiters, leaderboards.</a:t>
            </a:r>
          </a:p>
        </p:txBody>
      </p:sp>
      <p:sp>
        <p:nvSpPr>
          <p:cNvPr id="10" name="Rounded Rectangle 9"/>
          <p:cNvSpPr/>
          <p:nvPr/>
        </p:nvSpPr>
        <p:spPr>
          <a:xfrm>
            <a:off x="457200" y="4572000"/>
            <a:ext cx="11247120" cy="1554480"/>
          </a:xfrm>
          <a:prstGeom prst="roundRect">
            <a:avLst/>
          </a:prstGeom>
          <a:solidFill>
            <a:srgbClr val="3A1F14"/>
          </a:solidFill>
          <a:ln w="317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681728"/>
            <a:ext cx="10789920" cy="457200"/>
          </a:xfrm>
          <a:prstGeom prst="rect">
            <a:avLst/>
          </a:prstGeom>
          <a:noFill/>
        </p:spPr>
        <p:txBody>
          <a:bodyPr wrap="square" anchor="t">
            <a:spAutoFit/>
          </a:bodyPr>
          <a:lstStyle/>
          <a:p>
            <a:pPr algn="l"/>
            <a:r>
              <a:rPr sz="2000" b="1">
                <a:solidFill>
                  <a:srgbClr val="FF6B35"/>
                </a:solidFill>
                <a:latin typeface="Calibri"/>
              </a:rPr>
              <a:t>⚠  SECURITY GOTCHA</a:t>
            </a:r>
          </a:p>
        </p:txBody>
      </p:sp>
      <p:sp>
        <p:nvSpPr>
          <p:cNvPr id="12" name="TextBox 11"/>
          <p:cNvSpPr txBox="1"/>
          <p:nvPr/>
        </p:nvSpPr>
        <p:spPr>
          <a:xfrm>
            <a:off x="685800" y="5120640"/>
            <a:ext cx="10789920" cy="1005840"/>
          </a:xfrm>
          <a:prstGeom prst="rect">
            <a:avLst/>
          </a:prstGeom>
          <a:noFill/>
        </p:spPr>
        <p:txBody>
          <a:bodyPr wrap="square" anchor="t">
            <a:spAutoFit/>
          </a:bodyPr>
          <a:lstStyle/>
          <a:p>
            <a:pPr algn="l"/>
            <a:r>
              <a:rPr sz="2400" b="0">
                <a:solidFill>
                  <a:srgbClr val="FFFFFF"/>
                </a:solidFill>
                <a:latin typeface="Calibri"/>
              </a:rPr>
              <a:t>Default no-auth Redis + CONFIG SET → writing SSH keys to disk.</a:t>
            </a:r>
          </a:p>
        </p:txBody>
      </p:sp>
      <p:sp>
        <p:nvSpPr>
          <p:cNvPr id="13" name="TextBox 12"/>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14" name="TextBox 13"/>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10 / 44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descr="Family card #4: Column-Family. Products: Apache Cassandra  •  HBase  •  ScyllaDB. Use case: Massive scale across many machines; no complex joins needed.. Security gotcha: Clusters trust each other on gossip ports — mgmt network = root.." title="Family card #4: Column-Family. Products: Apache Cassandra  •  HBase  •  ScyllaDB"/>
          <p:cNvSpPr/>
          <p:nvPr/>
        </p:nvSpPr>
        <p:spPr>
          <a:xfrm>
            <a:off x="457200" y="365760"/>
            <a:ext cx="1097280" cy="10972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097280" cy="868680"/>
          </a:xfrm>
          <a:prstGeom prst="rect">
            <a:avLst/>
          </a:prstGeom>
          <a:noFill/>
        </p:spPr>
        <p:txBody>
          <a:bodyPr wrap="square" anchor="t">
            <a:spAutoFit/>
          </a:bodyPr>
          <a:lstStyle/>
          <a:p>
            <a:pPr algn="ctr"/>
            <a:r>
              <a:rPr sz="4400" b="1">
                <a:solidFill>
                  <a:srgbClr val="1A1A2E"/>
                </a:solidFill>
                <a:latin typeface="Calibri"/>
              </a:rPr>
              <a:t>4</a:t>
            </a:r>
          </a:p>
        </p:txBody>
      </p:sp>
      <p:sp>
        <p:nvSpPr>
          <p:cNvPr id="4" name="TextBox 3"/>
          <p:cNvSpPr txBox="1"/>
          <p:nvPr/>
        </p:nvSpPr>
        <p:spPr>
          <a:xfrm>
            <a:off x="1737360" y="411480"/>
            <a:ext cx="10058400" cy="1005840"/>
          </a:xfrm>
          <a:prstGeom prst="rect">
            <a:avLst/>
          </a:prstGeom>
          <a:noFill/>
        </p:spPr>
        <p:txBody>
          <a:bodyPr wrap="square" anchor="t">
            <a:spAutoFit/>
          </a:bodyPr>
          <a:lstStyle/>
          <a:p>
            <a:pPr algn="l"/>
            <a:r>
              <a:rPr sz="4600" b="1">
                <a:solidFill>
                  <a:srgbClr val="00FF41"/>
                </a:solidFill>
                <a:latin typeface="Calibri"/>
              </a:rPr>
              <a:t>Spaltenfamilie</a:t>
            </a:r>
          </a:p>
        </p:txBody>
      </p:sp>
      <p:sp>
        <p:nvSpPr>
          <p:cNvPr id="5" name="Rectangle 4"/>
          <p:cNvSpPr/>
          <p:nvPr/>
        </p:nvSpPr>
        <p:spPr>
          <a:xfrm>
            <a:off x="457200" y="146304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91640"/>
            <a:ext cx="3200400" cy="457200"/>
          </a:xfrm>
          <a:prstGeom prst="rect">
            <a:avLst/>
          </a:prstGeom>
          <a:noFill/>
        </p:spPr>
        <p:txBody>
          <a:bodyPr wrap="square" anchor="t">
            <a:spAutoFit/>
          </a:bodyPr>
          <a:lstStyle/>
          <a:p>
            <a:pPr algn="l"/>
            <a:r>
              <a:rPr sz="2000" b="1">
                <a:solidFill>
                  <a:srgbClr val="00D4FF"/>
                </a:solidFill>
                <a:latin typeface="Calibri"/>
              </a:rPr>
              <a:t>PRODUCTS</a:t>
            </a:r>
          </a:p>
        </p:txBody>
      </p:sp>
      <p:sp>
        <p:nvSpPr>
          <p:cNvPr id="7" name="TextBox 6"/>
          <p:cNvSpPr txBox="1"/>
          <p:nvPr/>
        </p:nvSpPr>
        <p:spPr>
          <a:xfrm>
            <a:off x="457200" y="2103120"/>
            <a:ext cx="11247120" cy="640080"/>
          </a:xfrm>
          <a:prstGeom prst="rect">
            <a:avLst/>
          </a:prstGeom>
          <a:noFill/>
        </p:spPr>
        <p:txBody>
          <a:bodyPr wrap="square" anchor="t">
            <a:spAutoFit/>
          </a:bodyPr>
          <a:lstStyle/>
          <a:p>
            <a:pPr algn="l"/>
            <a:r>
              <a:rPr sz="2800" b="1">
                <a:solidFill>
                  <a:srgbClr val="FFFFFF"/>
                </a:solidFill>
                <a:latin typeface="Calibri"/>
              </a:rPr>
              <a:t>Apache Cassandra  •  HBase  •  ScyllaDB</a:t>
            </a:r>
          </a:p>
        </p:txBody>
      </p:sp>
      <p:sp>
        <p:nvSpPr>
          <p:cNvPr id="8" name="TextBox 7"/>
          <p:cNvSpPr txBox="1"/>
          <p:nvPr/>
        </p:nvSpPr>
        <p:spPr>
          <a:xfrm>
            <a:off x="457200" y="2926080"/>
            <a:ext cx="3200400" cy="457200"/>
          </a:xfrm>
          <a:prstGeom prst="rect">
            <a:avLst/>
          </a:prstGeom>
          <a:noFill/>
        </p:spPr>
        <p:txBody>
          <a:bodyPr wrap="square" anchor="t">
            <a:spAutoFit/>
          </a:bodyPr>
          <a:lstStyle/>
          <a:p>
            <a:pPr algn="l"/>
            <a:r>
              <a:rPr sz="2000" b="1">
                <a:solidFill>
                  <a:srgbClr val="00D4FF"/>
                </a:solidFill>
                <a:latin typeface="Calibri"/>
              </a:rPr>
              <a:t>USE WHEN</a:t>
            </a:r>
          </a:p>
        </p:txBody>
      </p:sp>
      <p:sp>
        <p:nvSpPr>
          <p:cNvPr id="9" name="TextBox 8"/>
          <p:cNvSpPr txBox="1"/>
          <p:nvPr/>
        </p:nvSpPr>
        <p:spPr>
          <a:xfrm>
            <a:off x="457200" y="3337560"/>
            <a:ext cx="11247120" cy="1097280"/>
          </a:xfrm>
          <a:prstGeom prst="rect">
            <a:avLst/>
          </a:prstGeom>
          <a:noFill/>
        </p:spPr>
        <p:txBody>
          <a:bodyPr wrap="square" anchor="t">
            <a:spAutoFit/>
          </a:bodyPr>
          <a:lstStyle/>
          <a:p>
            <a:pPr algn="l"/>
            <a:r>
              <a:rPr sz="2400" b="0">
                <a:solidFill>
                  <a:srgbClr val="FFFFFF"/>
                </a:solidFill>
                <a:latin typeface="Calibri"/>
              </a:rPr>
              <a:t>Massive scale across many machines; no complex joins needed.</a:t>
            </a:r>
          </a:p>
        </p:txBody>
      </p:sp>
      <p:sp>
        <p:nvSpPr>
          <p:cNvPr id="10" name="Rounded Rectangle 9"/>
          <p:cNvSpPr/>
          <p:nvPr/>
        </p:nvSpPr>
        <p:spPr>
          <a:xfrm>
            <a:off x="457200" y="4572000"/>
            <a:ext cx="11247120" cy="1554480"/>
          </a:xfrm>
          <a:prstGeom prst="roundRect">
            <a:avLst/>
          </a:prstGeom>
          <a:solidFill>
            <a:srgbClr val="3A1F14"/>
          </a:solidFill>
          <a:ln w="317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681728"/>
            <a:ext cx="10789920" cy="457200"/>
          </a:xfrm>
          <a:prstGeom prst="rect">
            <a:avLst/>
          </a:prstGeom>
          <a:noFill/>
        </p:spPr>
        <p:txBody>
          <a:bodyPr wrap="square" anchor="t">
            <a:spAutoFit/>
          </a:bodyPr>
          <a:lstStyle/>
          <a:p>
            <a:pPr algn="l"/>
            <a:r>
              <a:rPr sz="2000" b="1">
                <a:solidFill>
                  <a:srgbClr val="FF6B35"/>
                </a:solidFill>
                <a:latin typeface="Calibri"/>
              </a:rPr>
              <a:t>⚠  SECURITY GOTCHA</a:t>
            </a:r>
          </a:p>
        </p:txBody>
      </p:sp>
      <p:sp>
        <p:nvSpPr>
          <p:cNvPr id="12" name="TextBox 11"/>
          <p:cNvSpPr txBox="1"/>
          <p:nvPr/>
        </p:nvSpPr>
        <p:spPr>
          <a:xfrm>
            <a:off x="685800" y="5120640"/>
            <a:ext cx="10789920" cy="1005840"/>
          </a:xfrm>
          <a:prstGeom prst="rect">
            <a:avLst/>
          </a:prstGeom>
          <a:noFill/>
        </p:spPr>
        <p:txBody>
          <a:bodyPr wrap="square" anchor="t">
            <a:spAutoFit/>
          </a:bodyPr>
          <a:lstStyle/>
          <a:p>
            <a:pPr algn="l"/>
            <a:r>
              <a:rPr sz="2400" b="0">
                <a:solidFill>
                  <a:srgbClr val="FFFFFF"/>
                </a:solidFill>
                <a:latin typeface="Calibri"/>
              </a:rPr>
              <a:t>Clusters trust each other on gossip ports — mgmt network = root.</a:t>
            </a:r>
          </a:p>
        </p:txBody>
      </p:sp>
      <p:sp>
        <p:nvSpPr>
          <p:cNvPr id="13" name="TextBox 12"/>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14" name="TextBox 13"/>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11 / 44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descr="Family card #5: Graph Databases. Products: Neo4j  •  Amazon Neptune  •  ArangoDB. Use case: Social networks, fraud detection, IAM analysis (e.g. BloodHound).. Security gotcha: Query languages like Cypher are injectable too. NoSQLi isn't just Mongo.." title="Family card #5: Graph Databases. Products: Neo4j  •  Amazon Neptune  •  ArangoDB"/>
          <p:cNvSpPr/>
          <p:nvPr/>
        </p:nvSpPr>
        <p:spPr>
          <a:xfrm>
            <a:off x="457200" y="365760"/>
            <a:ext cx="1097280" cy="10972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097280" cy="868680"/>
          </a:xfrm>
          <a:prstGeom prst="rect">
            <a:avLst/>
          </a:prstGeom>
          <a:noFill/>
        </p:spPr>
        <p:txBody>
          <a:bodyPr wrap="square" anchor="t">
            <a:spAutoFit/>
          </a:bodyPr>
          <a:lstStyle/>
          <a:p>
            <a:pPr algn="ctr"/>
            <a:r>
              <a:rPr sz="4400" b="1">
                <a:solidFill>
                  <a:srgbClr val="1A1A2E"/>
                </a:solidFill>
                <a:latin typeface="Calibri"/>
              </a:rPr>
              <a:t>5</a:t>
            </a:r>
          </a:p>
        </p:txBody>
      </p:sp>
      <p:sp>
        <p:nvSpPr>
          <p:cNvPr id="4" name="TextBox 3"/>
          <p:cNvSpPr txBox="1"/>
          <p:nvPr/>
        </p:nvSpPr>
        <p:spPr>
          <a:xfrm>
            <a:off x="1737360" y="411480"/>
            <a:ext cx="10058400" cy="1005840"/>
          </a:xfrm>
          <a:prstGeom prst="rect">
            <a:avLst/>
          </a:prstGeom>
          <a:noFill/>
        </p:spPr>
        <p:txBody>
          <a:bodyPr wrap="square" anchor="t">
            <a:spAutoFit/>
          </a:bodyPr>
          <a:lstStyle/>
          <a:p>
            <a:pPr algn="l"/>
            <a:r>
              <a:rPr sz="4600" b="1">
                <a:solidFill>
                  <a:srgbClr val="00FF41"/>
                </a:solidFill>
                <a:latin typeface="Calibri"/>
              </a:rPr>
              <a:t>Graph-Datenbanken</a:t>
            </a:r>
          </a:p>
        </p:txBody>
      </p:sp>
      <p:sp>
        <p:nvSpPr>
          <p:cNvPr id="5" name="Rectangle 4"/>
          <p:cNvSpPr/>
          <p:nvPr/>
        </p:nvSpPr>
        <p:spPr>
          <a:xfrm>
            <a:off x="457200" y="146304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91640"/>
            <a:ext cx="3200400" cy="457200"/>
          </a:xfrm>
          <a:prstGeom prst="rect">
            <a:avLst/>
          </a:prstGeom>
          <a:noFill/>
        </p:spPr>
        <p:txBody>
          <a:bodyPr wrap="square" anchor="t">
            <a:spAutoFit/>
          </a:bodyPr>
          <a:lstStyle/>
          <a:p>
            <a:pPr algn="l"/>
            <a:r>
              <a:rPr sz="2000" b="1">
                <a:solidFill>
                  <a:srgbClr val="00D4FF"/>
                </a:solidFill>
                <a:latin typeface="Calibri"/>
              </a:rPr>
              <a:t>PRODUCTS</a:t>
            </a:r>
          </a:p>
        </p:txBody>
      </p:sp>
      <p:sp>
        <p:nvSpPr>
          <p:cNvPr id="7" name="TextBox 6"/>
          <p:cNvSpPr txBox="1"/>
          <p:nvPr/>
        </p:nvSpPr>
        <p:spPr>
          <a:xfrm>
            <a:off x="457200" y="2103120"/>
            <a:ext cx="11247120" cy="640080"/>
          </a:xfrm>
          <a:prstGeom prst="rect">
            <a:avLst/>
          </a:prstGeom>
          <a:noFill/>
        </p:spPr>
        <p:txBody>
          <a:bodyPr wrap="square" anchor="t">
            <a:spAutoFit/>
          </a:bodyPr>
          <a:lstStyle/>
          <a:p>
            <a:pPr algn="l"/>
            <a:r>
              <a:rPr sz="2800" b="1">
                <a:solidFill>
                  <a:srgbClr val="FFFFFF"/>
                </a:solidFill>
                <a:latin typeface="Calibri"/>
              </a:rPr>
              <a:t>Neo4j  •  Amazon Neptune  •  ArangoDB</a:t>
            </a:r>
          </a:p>
        </p:txBody>
      </p:sp>
      <p:sp>
        <p:nvSpPr>
          <p:cNvPr id="8" name="TextBox 7"/>
          <p:cNvSpPr txBox="1"/>
          <p:nvPr/>
        </p:nvSpPr>
        <p:spPr>
          <a:xfrm>
            <a:off x="457200" y="2926080"/>
            <a:ext cx="3200400" cy="457200"/>
          </a:xfrm>
          <a:prstGeom prst="rect">
            <a:avLst/>
          </a:prstGeom>
          <a:noFill/>
        </p:spPr>
        <p:txBody>
          <a:bodyPr wrap="square" anchor="t">
            <a:spAutoFit/>
          </a:bodyPr>
          <a:lstStyle/>
          <a:p>
            <a:pPr algn="l"/>
            <a:r>
              <a:rPr sz="2000" b="1">
                <a:solidFill>
                  <a:srgbClr val="00D4FF"/>
                </a:solidFill>
                <a:latin typeface="Calibri"/>
              </a:rPr>
              <a:t>USE WHEN</a:t>
            </a:r>
          </a:p>
        </p:txBody>
      </p:sp>
      <p:sp>
        <p:nvSpPr>
          <p:cNvPr id="9" name="TextBox 8"/>
          <p:cNvSpPr txBox="1"/>
          <p:nvPr/>
        </p:nvSpPr>
        <p:spPr>
          <a:xfrm>
            <a:off x="457200" y="3337560"/>
            <a:ext cx="11247120" cy="1097280"/>
          </a:xfrm>
          <a:prstGeom prst="rect">
            <a:avLst/>
          </a:prstGeom>
          <a:noFill/>
        </p:spPr>
        <p:txBody>
          <a:bodyPr wrap="square" anchor="t">
            <a:spAutoFit/>
          </a:bodyPr>
          <a:lstStyle/>
          <a:p>
            <a:pPr algn="l"/>
            <a:r>
              <a:rPr sz="2400" b="0">
                <a:solidFill>
                  <a:srgbClr val="FFFFFF"/>
                </a:solidFill>
                <a:latin typeface="Calibri"/>
              </a:rPr>
              <a:t>Social networks, fraud detection, IAM analysis (e.g. BloodHound).</a:t>
            </a:r>
          </a:p>
        </p:txBody>
      </p:sp>
      <p:sp>
        <p:nvSpPr>
          <p:cNvPr id="10" name="Rounded Rectangle 9"/>
          <p:cNvSpPr/>
          <p:nvPr/>
        </p:nvSpPr>
        <p:spPr>
          <a:xfrm>
            <a:off x="457200" y="4572000"/>
            <a:ext cx="11247120" cy="1554480"/>
          </a:xfrm>
          <a:prstGeom prst="roundRect">
            <a:avLst/>
          </a:prstGeom>
          <a:solidFill>
            <a:srgbClr val="3A1F14"/>
          </a:solidFill>
          <a:ln w="317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681728"/>
            <a:ext cx="10789920" cy="457200"/>
          </a:xfrm>
          <a:prstGeom prst="rect">
            <a:avLst/>
          </a:prstGeom>
          <a:noFill/>
        </p:spPr>
        <p:txBody>
          <a:bodyPr wrap="square" anchor="t">
            <a:spAutoFit/>
          </a:bodyPr>
          <a:lstStyle/>
          <a:p>
            <a:pPr algn="l"/>
            <a:r>
              <a:rPr sz="2000" b="1">
                <a:solidFill>
                  <a:srgbClr val="FF6B35"/>
                </a:solidFill>
                <a:latin typeface="Calibri"/>
              </a:rPr>
              <a:t>⚠  SECURITY GOTCHA</a:t>
            </a:r>
          </a:p>
        </p:txBody>
      </p:sp>
      <p:sp>
        <p:nvSpPr>
          <p:cNvPr id="12" name="TextBox 11"/>
          <p:cNvSpPr txBox="1"/>
          <p:nvPr/>
        </p:nvSpPr>
        <p:spPr>
          <a:xfrm>
            <a:off x="685800" y="5120640"/>
            <a:ext cx="10789920" cy="1005840"/>
          </a:xfrm>
          <a:prstGeom prst="rect">
            <a:avLst/>
          </a:prstGeom>
          <a:noFill/>
        </p:spPr>
        <p:txBody>
          <a:bodyPr wrap="square" anchor="t">
            <a:spAutoFit/>
          </a:bodyPr>
          <a:lstStyle/>
          <a:p>
            <a:pPr algn="l"/>
            <a:r>
              <a:rPr sz="2400" b="0">
                <a:solidFill>
                  <a:srgbClr val="FFFFFF"/>
                </a:solidFill>
                <a:latin typeface="Calibri"/>
              </a:rPr>
              <a:t>Abfrage languages like Cypher are injectable too. NoSQLi isn't just Mongo.</a:t>
            </a:r>
          </a:p>
        </p:txBody>
      </p:sp>
      <p:sp>
        <p:nvSpPr>
          <p:cNvPr id="13" name="TextBox 12"/>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14" name="TextBox 13"/>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12 / 44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descr="Family card #6: Search Engines. Products: Elasticsearch  •  OpenSearch  •  Solr. Use case: Log search, SIEM backbones, e-commerce site search.. Security gotcha: No built-in auth historically — billions of records exposed on Shodan.." title="Family card #6: Search Engines. Products: Elasticsearch  •  OpenSearch  •  Solr."/>
          <p:cNvSpPr/>
          <p:nvPr/>
        </p:nvSpPr>
        <p:spPr>
          <a:xfrm>
            <a:off x="457200" y="365760"/>
            <a:ext cx="1097280" cy="10972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097280" cy="868680"/>
          </a:xfrm>
          <a:prstGeom prst="rect">
            <a:avLst/>
          </a:prstGeom>
          <a:noFill/>
        </p:spPr>
        <p:txBody>
          <a:bodyPr wrap="square" anchor="t">
            <a:spAutoFit/>
          </a:bodyPr>
          <a:lstStyle/>
          <a:p>
            <a:pPr algn="ctr"/>
            <a:r>
              <a:rPr sz="4400" b="1">
                <a:solidFill>
                  <a:srgbClr val="1A1A2E"/>
                </a:solidFill>
                <a:latin typeface="Calibri"/>
              </a:rPr>
              <a:t>6</a:t>
            </a:r>
          </a:p>
        </p:txBody>
      </p:sp>
      <p:sp>
        <p:nvSpPr>
          <p:cNvPr id="4" name="TextBox 3"/>
          <p:cNvSpPr txBox="1"/>
          <p:nvPr/>
        </p:nvSpPr>
        <p:spPr>
          <a:xfrm>
            <a:off x="1737360" y="411480"/>
            <a:ext cx="10058400" cy="1005840"/>
          </a:xfrm>
          <a:prstGeom prst="rect">
            <a:avLst/>
          </a:prstGeom>
          <a:noFill/>
        </p:spPr>
        <p:txBody>
          <a:bodyPr wrap="square" anchor="t">
            <a:spAutoFit/>
          </a:bodyPr>
          <a:lstStyle/>
          <a:p>
            <a:pPr algn="l"/>
            <a:r>
              <a:rPr sz="4600" b="1">
                <a:solidFill>
                  <a:srgbClr val="00FF41"/>
                </a:solidFill>
                <a:latin typeface="Calibri"/>
              </a:rPr>
              <a:t>Suchmaschinen</a:t>
            </a:r>
          </a:p>
        </p:txBody>
      </p:sp>
      <p:sp>
        <p:nvSpPr>
          <p:cNvPr id="5" name="Rectangle 4"/>
          <p:cNvSpPr/>
          <p:nvPr/>
        </p:nvSpPr>
        <p:spPr>
          <a:xfrm>
            <a:off x="457200" y="146304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91640"/>
            <a:ext cx="3200400" cy="457200"/>
          </a:xfrm>
          <a:prstGeom prst="rect">
            <a:avLst/>
          </a:prstGeom>
          <a:noFill/>
        </p:spPr>
        <p:txBody>
          <a:bodyPr wrap="square" anchor="t">
            <a:spAutoFit/>
          </a:bodyPr>
          <a:lstStyle/>
          <a:p>
            <a:pPr algn="l"/>
            <a:r>
              <a:rPr sz="2000" b="1">
                <a:solidFill>
                  <a:srgbClr val="00D4FF"/>
                </a:solidFill>
                <a:latin typeface="Calibri"/>
              </a:rPr>
              <a:t>PRODUCTS</a:t>
            </a:r>
          </a:p>
        </p:txBody>
      </p:sp>
      <p:sp>
        <p:nvSpPr>
          <p:cNvPr id="7" name="TextBox 6"/>
          <p:cNvSpPr txBox="1"/>
          <p:nvPr/>
        </p:nvSpPr>
        <p:spPr>
          <a:xfrm>
            <a:off x="457200" y="2103120"/>
            <a:ext cx="11247120" cy="640080"/>
          </a:xfrm>
          <a:prstGeom prst="rect">
            <a:avLst/>
          </a:prstGeom>
          <a:noFill/>
        </p:spPr>
        <p:txBody>
          <a:bodyPr wrap="square" anchor="t">
            <a:spAutoFit/>
          </a:bodyPr>
          <a:lstStyle/>
          <a:p>
            <a:pPr algn="l"/>
            <a:r>
              <a:rPr sz="2800" b="1">
                <a:solidFill>
                  <a:srgbClr val="FFFFFF"/>
                </a:solidFill>
                <a:latin typeface="Calibri"/>
              </a:rPr>
              <a:t>Elasticsearch  •  OpenSearch  •  Solr</a:t>
            </a:r>
          </a:p>
        </p:txBody>
      </p:sp>
      <p:sp>
        <p:nvSpPr>
          <p:cNvPr id="8" name="TextBox 7"/>
          <p:cNvSpPr txBox="1"/>
          <p:nvPr/>
        </p:nvSpPr>
        <p:spPr>
          <a:xfrm>
            <a:off x="457200" y="2926080"/>
            <a:ext cx="3200400" cy="457200"/>
          </a:xfrm>
          <a:prstGeom prst="rect">
            <a:avLst/>
          </a:prstGeom>
          <a:noFill/>
        </p:spPr>
        <p:txBody>
          <a:bodyPr wrap="square" anchor="t">
            <a:spAutoFit/>
          </a:bodyPr>
          <a:lstStyle/>
          <a:p>
            <a:pPr algn="l"/>
            <a:r>
              <a:rPr sz="2000" b="1">
                <a:solidFill>
                  <a:srgbClr val="00D4FF"/>
                </a:solidFill>
                <a:latin typeface="Calibri"/>
              </a:rPr>
              <a:t>USE WHEN</a:t>
            </a:r>
          </a:p>
        </p:txBody>
      </p:sp>
      <p:sp>
        <p:nvSpPr>
          <p:cNvPr id="9" name="TextBox 8"/>
          <p:cNvSpPr txBox="1"/>
          <p:nvPr/>
        </p:nvSpPr>
        <p:spPr>
          <a:xfrm>
            <a:off x="457200" y="3337560"/>
            <a:ext cx="11247120" cy="1097280"/>
          </a:xfrm>
          <a:prstGeom prst="rect">
            <a:avLst/>
          </a:prstGeom>
          <a:noFill/>
        </p:spPr>
        <p:txBody>
          <a:bodyPr wrap="square" anchor="t">
            <a:spAutoFit/>
          </a:bodyPr>
          <a:lstStyle/>
          <a:p>
            <a:pPr algn="l"/>
            <a:r>
              <a:rPr sz="2400" b="0">
                <a:solidFill>
                  <a:srgbClr val="FFFFFF"/>
                </a:solidFill>
                <a:latin typeface="Calibri"/>
              </a:rPr>
              <a:t>Log search, SIEM backbones, e-commerce site search.</a:t>
            </a:r>
          </a:p>
        </p:txBody>
      </p:sp>
      <p:sp>
        <p:nvSpPr>
          <p:cNvPr id="10" name="Rounded Rectangle 9"/>
          <p:cNvSpPr/>
          <p:nvPr/>
        </p:nvSpPr>
        <p:spPr>
          <a:xfrm>
            <a:off x="457200" y="4572000"/>
            <a:ext cx="11247120" cy="1554480"/>
          </a:xfrm>
          <a:prstGeom prst="roundRect">
            <a:avLst/>
          </a:prstGeom>
          <a:solidFill>
            <a:srgbClr val="3A1F14"/>
          </a:solidFill>
          <a:ln w="317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681728"/>
            <a:ext cx="10789920" cy="457200"/>
          </a:xfrm>
          <a:prstGeom prst="rect">
            <a:avLst/>
          </a:prstGeom>
          <a:noFill/>
        </p:spPr>
        <p:txBody>
          <a:bodyPr wrap="square" anchor="t">
            <a:spAutoFit/>
          </a:bodyPr>
          <a:lstStyle/>
          <a:p>
            <a:pPr algn="l"/>
            <a:r>
              <a:rPr sz="2000" b="1">
                <a:solidFill>
                  <a:srgbClr val="FF6B35"/>
                </a:solidFill>
                <a:latin typeface="Calibri"/>
              </a:rPr>
              <a:t>⚠  SECURITY GOTCHA</a:t>
            </a:r>
          </a:p>
        </p:txBody>
      </p:sp>
      <p:sp>
        <p:nvSpPr>
          <p:cNvPr id="12" name="TextBox 11"/>
          <p:cNvSpPr txBox="1"/>
          <p:nvPr/>
        </p:nvSpPr>
        <p:spPr>
          <a:xfrm>
            <a:off x="685800" y="5120640"/>
            <a:ext cx="10789920" cy="1005840"/>
          </a:xfrm>
          <a:prstGeom prst="rect">
            <a:avLst/>
          </a:prstGeom>
          <a:noFill/>
        </p:spPr>
        <p:txBody>
          <a:bodyPr wrap="square" anchor="t">
            <a:spAutoFit/>
          </a:bodyPr>
          <a:lstStyle/>
          <a:p>
            <a:pPr algn="l"/>
            <a:r>
              <a:rPr sz="2400" b="0">
                <a:solidFill>
                  <a:srgbClr val="FFFFFF"/>
                </a:solidFill>
                <a:latin typeface="Calibri"/>
              </a:rPr>
              <a:t>No built-in auth historically — billions of records exposed on Shodan.</a:t>
            </a:r>
          </a:p>
        </p:txBody>
      </p:sp>
      <p:sp>
        <p:nvSpPr>
          <p:cNvPr id="13" name="TextBox 12"/>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14" name="TextBox 13"/>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13 / 44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descr="Family card #7: Time-Series. Products: InfluxDB  •  TimescaleDB  •  Prometheus. Use case: Metrics, observability, IoT telemetry.. Security gotcha: Usually inside the perimeter, often unauthenticated.." title="Family card #7: Time-Series. Products: InfluxDB  •  TimescaleDB  •  Prometheus. "/>
          <p:cNvSpPr/>
          <p:nvPr/>
        </p:nvSpPr>
        <p:spPr>
          <a:xfrm>
            <a:off x="457200" y="365760"/>
            <a:ext cx="1097280" cy="10972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097280" cy="868680"/>
          </a:xfrm>
          <a:prstGeom prst="rect">
            <a:avLst/>
          </a:prstGeom>
          <a:noFill/>
        </p:spPr>
        <p:txBody>
          <a:bodyPr wrap="square" anchor="t">
            <a:spAutoFit/>
          </a:bodyPr>
          <a:lstStyle/>
          <a:p>
            <a:pPr algn="ctr"/>
            <a:r>
              <a:rPr sz="4400" b="1">
                <a:solidFill>
                  <a:srgbClr val="1A1A2E"/>
                </a:solidFill>
                <a:latin typeface="Calibri"/>
              </a:rPr>
              <a:t>7</a:t>
            </a:r>
          </a:p>
        </p:txBody>
      </p:sp>
      <p:sp>
        <p:nvSpPr>
          <p:cNvPr id="4" name="TextBox 3"/>
          <p:cNvSpPr txBox="1"/>
          <p:nvPr/>
        </p:nvSpPr>
        <p:spPr>
          <a:xfrm>
            <a:off x="1737360" y="411480"/>
            <a:ext cx="10058400" cy="1005840"/>
          </a:xfrm>
          <a:prstGeom prst="rect">
            <a:avLst/>
          </a:prstGeom>
          <a:noFill/>
        </p:spPr>
        <p:txBody>
          <a:bodyPr wrap="square" anchor="t">
            <a:spAutoFit/>
          </a:bodyPr>
          <a:lstStyle/>
          <a:p>
            <a:pPr algn="l"/>
            <a:r>
              <a:rPr sz="4600" b="1">
                <a:solidFill>
                  <a:srgbClr val="00FF41"/>
                </a:solidFill>
                <a:latin typeface="Calibri"/>
              </a:rPr>
              <a:t>Zeitreihen</a:t>
            </a:r>
          </a:p>
        </p:txBody>
      </p:sp>
      <p:sp>
        <p:nvSpPr>
          <p:cNvPr id="5" name="Rectangle 4"/>
          <p:cNvSpPr/>
          <p:nvPr/>
        </p:nvSpPr>
        <p:spPr>
          <a:xfrm>
            <a:off x="457200" y="146304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91640"/>
            <a:ext cx="3200400" cy="457200"/>
          </a:xfrm>
          <a:prstGeom prst="rect">
            <a:avLst/>
          </a:prstGeom>
          <a:noFill/>
        </p:spPr>
        <p:txBody>
          <a:bodyPr wrap="square" anchor="t">
            <a:spAutoFit/>
          </a:bodyPr>
          <a:lstStyle/>
          <a:p>
            <a:pPr algn="l"/>
            <a:r>
              <a:rPr sz="2000" b="1">
                <a:solidFill>
                  <a:srgbClr val="00D4FF"/>
                </a:solidFill>
                <a:latin typeface="Calibri"/>
              </a:rPr>
              <a:t>PRODUCTS</a:t>
            </a:r>
          </a:p>
        </p:txBody>
      </p:sp>
      <p:sp>
        <p:nvSpPr>
          <p:cNvPr id="7" name="TextBox 6"/>
          <p:cNvSpPr txBox="1"/>
          <p:nvPr/>
        </p:nvSpPr>
        <p:spPr>
          <a:xfrm>
            <a:off x="457200" y="2103120"/>
            <a:ext cx="11247120" cy="640080"/>
          </a:xfrm>
          <a:prstGeom prst="rect">
            <a:avLst/>
          </a:prstGeom>
          <a:noFill/>
        </p:spPr>
        <p:txBody>
          <a:bodyPr wrap="square" anchor="t">
            <a:spAutoFit/>
          </a:bodyPr>
          <a:lstStyle/>
          <a:p>
            <a:pPr algn="l"/>
            <a:r>
              <a:rPr sz="2800" b="1">
                <a:solidFill>
                  <a:srgbClr val="FFFFFF"/>
                </a:solidFill>
                <a:latin typeface="Calibri"/>
              </a:rPr>
              <a:t>InfluxDB  •  TimescaleDB  •  Prometheus</a:t>
            </a:r>
          </a:p>
        </p:txBody>
      </p:sp>
      <p:sp>
        <p:nvSpPr>
          <p:cNvPr id="8" name="TextBox 7"/>
          <p:cNvSpPr txBox="1"/>
          <p:nvPr/>
        </p:nvSpPr>
        <p:spPr>
          <a:xfrm>
            <a:off x="457200" y="2926080"/>
            <a:ext cx="3200400" cy="457200"/>
          </a:xfrm>
          <a:prstGeom prst="rect">
            <a:avLst/>
          </a:prstGeom>
          <a:noFill/>
        </p:spPr>
        <p:txBody>
          <a:bodyPr wrap="square" anchor="t">
            <a:spAutoFit/>
          </a:bodyPr>
          <a:lstStyle/>
          <a:p>
            <a:pPr algn="l"/>
            <a:r>
              <a:rPr sz="2000" b="1">
                <a:solidFill>
                  <a:srgbClr val="00D4FF"/>
                </a:solidFill>
                <a:latin typeface="Calibri"/>
              </a:rPr>
              <a:t>USE WHEN</a:t>
            </a:r>
          </a:p>
        </p:txBody>
      </p:sp>
      <p:sp>
        <p:nvSpPr>
          <p:cNvPr id="9" name="TextBox 8"/>
          <p:cNvSpPr txBox="1"/>
          <p:nvPr/>
        </p:nvSpPr>
        <p:spPr>
          <a:xfrm>
            <a:off x="457200" y="3337560"/>
            <a:ext cx="11247120" cy="1097280"/>
          </a:xfrm>
          <a:prstGeom prst="rect">
            <a:avLst/>
          </a:prstGeom>
          <a:noFill/>
        </p:spPr>
        <p:txBody>
          <a:bodyPr wrap="square" anchor="t">
            <a:spAutoFit/>
          </a:bodyPr>
          <a:lstStyle/>
          <a:p>
            <a:pPr algn="l"/>
            <a:r>
              <a:rPr sz="2400" b="0">
                <a:solidFill>
                  <a:srgbClr val="FFFFFF"/>
                </a:solidFill>
                <a:latin typeface="Calibri"/>
              </a:rPr>
              <a:t>Metrics, observability, IoT telemetry.</a:t>
            </a:r>
          </a:p>
        </p:txBody>
      </p:sp>
      <p:sp>
        <p:nvSpPr>
          <p:cNvPr id="10" name="Rounded Rectangle 9"/>
          <p:cNvSpPr/>
          <p:nvPr/>
        </p:nvSpPr>
        <p:spPr>
          <a:xfrm>
            <a:off x="457200" y="4572000"/>
            <a:ext cx="11247120" cy="1554480"/>
          </a:xfrm>
          <a:prstGeom prst="roundRect">
            <a:avLst/>
          </a:prstGeom>
          <a:solidFill>
            <a:srgbClr val="3A1F14"/>
          </a:solidFill>
          <a:ln w="317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681728"/>
            <a:ext cx="10789920" cy="457200"/>
          </a:xfrm>
          <a:prstGeom prst="rect">
            <a:avLst/>
          </a:prstGeom>
          <a:noFill/>
        </p:spPr>
        <p:txBody>
          <a:bodyPr wrap="square" anchor="t">
            <a:spAutoFit/>
          </a:bodyPr>
          <a:lstStyle/>
          <a:p>
            <a:pPr algn="l"/>
            <a:r>
              <a:rPr sz="2000" b="1">
                <a:solidFill>
                  <a:srgbClr val="FF6B35"/>
                </a:solidFill>
                <a:latin typeface="Calibri"/>
              </a:rPr>
              <a:t>⚠  SECURITY GOTCHA</a:t>
            </a:r>
          </a:p>
        </p:txBody>
      </p:sp>
      <p:sp>
        <p:nvSpPr>
          <p:cNvPr id="12" name="TextBox 11"/>
          <p:cNvSpPr txBox="1"/>
          <p:nvPr/>
        </p:nvSpPr>
        <p:spPr>
          <a:xfrm>
            <a:off x="685800" y="5120640"/>
            <a:ext cx="10789920" cy="1005840"/>
          </a:xfrm>
          <a:prstGeom prst="rect">
            <a:avLst/>
          </a:prstGeom>
          <a:noFill/>
        </p:spPr>
        <p:txBody>
          <a:bodyPr wrap="square" anchor="t">
            <a:spAutoFit/>
          </a:bodyPr>
          <a:lstStyle/>
          <a:p>
            <a:pPr algn="l"/>
            <a:r>
              <a:rPr sz="2400" b="0">
                <a:solidFill>
                  <a:srgbClr val="FFFFFF"/>
                </a:solidFill>
                <a:latin typeface="Calibri"/>
              </a:rPr>
              <a:t>Usually inside the perimeter, often unauthenticated.</a:t>
            </a:r>
          </a:p>
        </p:txBody>
      </p:sp>
      <p:sp>
        <p:nvSpPr>
          <p:cNvPr id="13" name="TextBox 12"/>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14" name="TextBox 13"/>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14 / 44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descr="Family card #8: Vector Databases. Products: Pinecone  •  Milvus  •  Weaviate  •  pgvector. Use case: RAG, recommendation engines, semantic search.. Security gotcha: Data poisoning — sneak in a doc, the LLM quotes it as truth.." title="Family card #8: Vector Databases. Products: Pinecone  •  Milvus  •  Weaviate  • "/>
          <p:cNvSpPr/>
          <p:nvPr/>
        </p:nvSpPr>
        <p:spPr>
          <a:xfrm>
            <a:off x="457200" y="365760"/>
            <a:ext cx="1097280" cy="10972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097280" cy="868680"/>
          </a:xfrm>
          <a:prstGeom prst="rect">
            <a:avLst/>
          </a:prstGeom>
          <a:noFill/>
        </p:spPr>
        <p:txBody>
          <a:bodyPr wrap="square" anchor="t">
            <a:spAutoFit/>
          </a:bodyPr>
          <a:lstStyle/>
          <a:p>
            <a:pPr algn="ctr"/>
            <a:r>
              <a:rPr sz="4400" b="1">
                <a:solidFill>
                  <a:srgbClr val="1A1A2E"/>
                </a:solidFill>
                <a:latin typeface="Calibri"/>
              </a:rPr>
              <a:t>8</a:t>
            </a:r>
          </a:p>
        </p:txBody>
      </p:sp>
      <p:sp>
        <p:nvSpPr>
          <p:cNvPr id="4" name="TextBox 3"/>
          <p:cNvSpPr txBox="1"/>
          <p:nvPr/>
        </p:nvSpPr>
        <p:spPr>
          <a:xfrm>
            <a:off x="1737360" y="411480"/>
            <a:ext cx="10058400" cy="1005840"/>
          </a:xfrm>
          <a:prstGeom prst="rect">
            <a:avLst/>
          </a:prstGeom>
          <a:noFill/>
        </p:spPr>
        <p:txBody>
          <a:bodyPr wrap="square" anchor="t">
            <a:spAutoFit/>
          </a:bodyPr>
          <a:lstStyle/>
          <a:p>
            <a:pPr algn="l"/>
            <a:r>
              <a:rPr sz="4600" b="1">
                <a:solidFill>
                  <a:srgbClr val="00FF41"/>
                </a:solidFill>
                <a:latin typeface="Calibri"/>
              </a:rPr>
              <a:t>Vektor-Datenbanken</a:t>
            </a:r>
          </a:p>
        </p:txBody>
      </p:sp>
      <p:sp>
        <p:nvSpPr>
          <p:cNvPr id="5" name="Rectangle 4"/>
          <p:cNvSpPr/>
          <p:nvPr/>
        </p:nvSpPr>
        <p:spPr>
          <a:xfrm>
            <a:off x="457200" y="146304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91640"/>
            <a:ext cx="3200400" cy="457200"/>
          </a:xfrm>
          <a:prstGeom prst="rect">
            <a:avLst/>
          </a:prstGeom>
          <a:noFill/>
        </p:spPr>
        <p:txBody>
          <a:bodyPr wrap="square" anchor="t">
            <a:spAutoFit/>
          </a:bodyPr>
          <a:lstStyle/>
          <a:p>
            <a:pPr algn="l"/>
            <a:r>
              <a:rPr sz="2000" b="1">
                <a:solidFill>
                  <a:srgbClr val="00D4FF"/>
                </a:solidFill>
                <a:latin typeface="Calibri"/>
              </a:rPr>
              <a:t>PRODUCTS</a:t>
            </a:r>
          </a:p>
        </p:txBody>
      </p:sp>
      <p:sp>
        <p:nvSpPr>
          <p:cNvPr id="7" name="TextBox 6"/>
          <p:cNvSpPr txBox="1"/>
          <p:nvPr/>
        </p:nvSpPr>
        <p:spPr>
          <a:xfrm>
            <a:off x="457200" y="2103120"/>
            <a:ext cx="11247120" cy="640080"/>
          </a:xfrm>
          <a:prstGeom prst="rect">
            <a:avLst/>
          </a:prstGeom>
          <a:noFill/>
        </p:spPr>
        <p:txBody>
          <a:bodyPr wrap="square" anchor="t">
            <a:spAutoFit/>
          </a:bodyPr>
          <a:lstStyle/>
          <a:p>
            <a:pPr algn="l"/>
            <a:r>
              <a:rPr sz="2800" b="1">
                <a:solidFill>
                  <a:srgbClr val="FFFFFF"/>
                </a:solidFill>
                <a:latin typeface="Calibri"/>
              </a:rPr>
              <a:t>Pinecone  •  Milvus  •  Weaviate  •  pgvector</a:t>
            </a:r>
          </a:p>
        </p:txBody>
      </p:sp>
      <p:sp>
        <p:nvSpPr>
          <p:cNvPr id="8" name="TextBox 7"/>
          <p:cNvSpPr txBox="1"/>
          <p:nvPr/>
        </p:nvSpPr>
        <p:spPr>
          <a:xfrm>
            <a:off x="457200" y="2926080"/>
            <a:ext cx="3200400" cy="457200"/>
          </a:xfrm>
          <a:prstGeom prst="rect">
            <a:avLst/>
          </a:prstGeom>
          <a:noFill/>
        </p:spPr>
        <p:txBody>
          <a:bodyPr wrap="square" anchor="t">
            <a:spAutoFit/>
          </a:bodyPr>
          <a:lstStyle/>
          <a:p>
            <a:pPr algn="l"/>
            <a:r>
              <a:rPr sz="2000" b="1">
                <a:solidFill>
                  <a:srgbClr val="00D4FF"/>
                </a:solidFill>
                <a:latin typeface="Calibri"/>
              </a:rPr>
              <a:t>USE WHEN</a:t>
            </a:r>
          </a:p>
        </p:txBody>
      </p:sp>
      <p:sp>
        <p:nvSpPr>
          <p:cNvPr id="9" name="TextBox 8"/>
          <p:cNvSpPr txBox="1"/>
          <p:nvPr/>
        </p:nvSpPr>
        <p:spPr>
          <a:xfrm>
            <a:off x="457200" y="3337560"/>
            <a:ext cx="11247120" cy="1097280"/>
          </a:xfrm>
          <a:prstGeom prst="rect">
            <a:avLst/>
          </a:prstGeom>
          <a:noFill/>
        </p:spPr>
        <p:txBody>
          <a:bodyPr wrap="square" anchor="t">
            <a:spAutoFit/>
          </a:bodyPr>
          <a:lstStyle/>
          <a:p>
            <a:pPr algn="l"/>
            <a:r>
              <a:rPr sz="2400" b="0">
                <a:solidFill>
                  <a:srgbClr val="FFFFFF"/>
                </a:solidFill>
                <a:latin typeface="Calibri"/>
              </a:rPr>
              <a:t>RAG, recommendation engines, semantic search.</a:t>
            </a:r>
          </a:p>
        </p:txBody>
      </p:sp>
      <p:sp>
        <p:nvSpPr>
          <p:cNvPr id="10" name="Rounded Rectangle 9"/>
          <p:cNvSpPr/>
          <p:nvPr/>
        </p:nvSpPr>
        <p:spPr>
          <a:xfrm>
            <a:off x="457200" y="4572000"/>
            <a:ext cx="11247120" cy="1554480"/>
          </a:xfrm>
          <a:prstGeom prst="roundRect">
            <a:avLst/>
          </a:prstGeom>
          <a:solidFill>
            <a:srgbClr val="3A1F14"/>
          </a:solidFill>
          <a:ln w="317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681728"/>
            <a:ext cx="10789920" cy="457200"/>
          </a:xfrm>
          <a:prstGeom prst="rect">
            <a:avLst/>
          </a:prstGeom>
          <a:noFill/>
        </p:spPr>
        <p:txBody>
          <a:bodyPr wrap="square" anchor="t">
            <a:spAutoFit/>
          </a:bodyPr>
          <a:lstStyle/>
          <a:p>
            <a:pPr algn="l"/>
            <a:r>
              <a:rPr sz="2000" b="1">
                <a:solidFill>
                  <a:srgbClr val="FF6B35"/>
                </a:solidFill>
                <a:latin typeface="Calibri"/>
              </a:rPr>
              <a:t>⚠  SECURITY GOTCHA</a:t>
            </a:r>
          </a:p>
        </p:txBody>
      </p:sp>
      <p:sp>
        <p:nvSpPr>
          <p:cNvPr id="12" name="TextBox 11"/>
          <p:cNvSpPr txBox="1"/>
          <p:nvPr/>
        </p:nvSpPr>
        <p:spPr>
          <a:xfrm>
            <a:off x="685800" y="5120640"/>
            <a:ext cx="10789920" cy="1005840"/>
          </a:xfrm>
          <a:prstGeom prst="rect">
            <a:avLst/>
          </a:prstGeom>
          <a:noFill/>
        </p:spPr>
        <p:txBody>
          <a:bodyPr wrap="square" anchor="t">
            <a:spAutoFit/>
          </a:bodyPr>
          <a:lstStyle/>
          <a:p>
            <a:pPr algn="l"/>
            <a:r>
              <a:rPr sz="2400" b="0">
                <a:solidFill>
                  <a:srgbClr val="FFFFFF"/>
                </a:solidFill>
                <a:latin typeface="Calibri"/>
              </a:rPr>
              <a:t>Data poisoning — sneak in a doc, the LLM quotes it as truth.</a:t>
            </a:r>
          </a:p>
        </p:txBody>
      </p:sp>
      <p:sp>
        <p:nvSpPr>
          <p:cNvPr id="13" name="TextBox 12"/>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14" name="TextBox 13"/>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15 / 44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descr="Family card #9: Embedded / Edge. Products: SQLite  •  DuckDB  •  LevelDB. Use case: In-app storage — browsers, phones, every modern airplane.. Security gotcha: DB is a file — attack is 'steal the file'. Mobile pentest world.." title="Family card #9: Embedded / Edge. Products: SQLite  •  DuckDB  •  LevelDB. Use ca"/>
          <p:cNvSpPr/>
          <p:nvPr/>
        </p:nvSpPr>
        <p:spPr>
          <a:xfrm>
            <a:off x="457200" y="365760"/>
            <a:ext cx="1097280" cy="10972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097280" cy="868680"/>
          </a:xfrm>
          <a:prstGeom prst="rect">
            <a:avLst/>
          </a:prstGeom>
          <a:noFill/>
        </p:spPr>
        <p:txBody>
          <a:bodyPr wrap="square" anchor="t">
            <a:spAutoFit/>
          </a:bodyPr>
          <a:lstStyle/>
          <a:p>
            <a:pPr algn="ctr"/>
            <a:r>
              <a:rPr sz="4400" b="1">
                <a:solidFill>
                  <a:srgbClr val="1A1A2E"/>
                </a:solidFill>
                <a:latin typeface="Calibri"/>
              </a:rPr>
              <a:t>9</a:t>
            </a:r>
          </a:p>
        </p:txBody>
      </p:sp>
      <p:sp>
        <p:nvSpPr>
          <p:cNvPr id="4" name="TextBox 3"/>
          <p:cNvSpPr txBox="1"/>
          <p:nvPr/>
        </p:nvSpPr>
        <p:spPr>
          <a:xfrm>
            <a:off x="1737360" y="411480"/>
            <a:ext cx="10058400" cy="1005840"/>
          </a:xfrm>
          <a:prstGeom prst="rect">
            <a:avLst/>
          </a:prstGeom>
          <a:noFill/>
        </p:spPr>
        <p:txBody>
          <a:bodyPr wrap="square" anchor="t">
            <a:spAutoFit/>
          </a:bodyPr>
          <a:lstStyle/>
          <a:p>
            <a:pPr algn="l"/>
            <a:r>
              <a:rPr sz="4600" b="1">
                <a:solidFill>
                  <a:srgbClr val="00FF41"/>
                </a:solidFill>
                <a:latin typeface="Calibri"/>
              </a:rPr>
              <a:t>Eingebettet / Edge</a:t>
            </a:r>
          </a:p>
        </p:txBody>
      </p:sp>
      <p:sp>
        <p:nvSpPr>
          <p:cNvPr id="5" name="Rectangle 4"/>
          <p:cNvSpPr/>
          <p:nvPr/>
        </p:nvSpPr>
        <p:spPr>
          <a:xfrm>
            <a:off x="457200" y="146304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91640"/>
            <a:ext cx="3200400" cy="457200"/>
          </a:xfrm>
          <a:prstGeom prst="rect">
            <a:avLst/>
          </a:prstGeom>
          <a:noFill/>
        </p:spPr>
        <p:txBody>
          <a:bodyPr wrap="square" anchor="t">
            <a:spAutoFit/>
          </a:bodyPr>
          <a:lstStyle/>
          <a:p>
            <a:pPr algn="l"/>
            <a:r>
              <a:rPr sz="2000" b="1">
                <a:solidFill>
                  <a:srgbClr val="00D4FF"/>
                </a:solidFill>
                <a:latin typeface="Calibri"/>
              </a:rPr>
              <a:t>PRODUCTS</a:t>
            </a:r>
          </a:p>
        </p:txBody>
      </p:sp>
      <p:sp>
        <p:nvSpPr>
          <p:cNvPr id="7" name="TextBox 6"/>
          <p:cNvSpPr txBox="1"/>
          <p:nvPr/>
        </p:nvSpPr>
        <p:spPr>
          <a:xfrm>
            <a:off x="457200" y="2103120"/>
            <a:ext cx="11247120" cy="640080"/>
          </a:xfrm>
          <a:prstGeom prst="rect">
            <a:avLst/>
          </a:prstGeom>
          <a:noFill/>
        </p:spPr>
        <p:txBody>
          <a:bodyPr wrap="square" anchor="t">
            <a:spAutoFit/>
          </a:bodyPr>
          <a:lstStyle/>
          <a:p>
            <a:pPr algn="l"/>
            <a:r>
              <a:rPr sz="2800" b="1">
                <a:solidFill>
                  <a:srgbClr val="FFFFFF"/>
                </a:solidFill>
                <a:latin typeface="Calibri"/>
              </a:rPr>
              <a:t>SQLite  •  DuckDB  •  LevelDB</a:t>
            </a:r>
          </a:p>
        </p:txBody>
      </p:sp>
      <p:sp>
        <p:nvSpPr>
          <p:cNvPr id="8" name="TextBox 7"/>
          <p:cNvSpPr txBox="1"/>
          <p:nvPr/>
        </p:nvSpPr>
        <p:spPr>
          <a:xfrm>
            <a:off x="457200" y="2926080"/>
            <a:ext cx="3200400" cy="457200"/>
          </a:xfrm>
          <a:prstGeom prst="rect">
            <a:avLst/>
          </a:prstGeom>
          <a:noFill/>
        </p:spPr>
        <p:txBody>
          <a:bodyPr wrap="square" anchor="t">
            <a:spAutoFit/>
          </a:bodyPr>
          <a:lstStyle/>
          <a:p>
            <a:pPr algn="l"/>
            <a:r>
              <a:rPr sz="2000" b="1">
                <a:solidFill>
                  <a:srgbClr val="00D4FF"/>
                </a:solidFill>
                <a:latin typeface="Calibri"/>
              </a:rPr>
              <a:t>USE WHEN</a:t>
            </a:r>
          </a:p>
        </p:txBody>
      </p:sp>
      <p:sp>
        <p:nvSpPr>
          <p:cNvPr id="9" name="TextBox 8"/>
          <p:cNvSpPr txBox="1"/>
          <p:nvPr/>
        </p:nvSpPr>
        <p:spPr>
          <a:xfrm>
            <a:off x="457200" y="3337560"/>
            <a:ext cx="11247120" cy="1097280"/>
          </a:xfrm>
          <a:prstGeom prst="rect">
            <a:avLst/>
          </a:prstGeom>
          <a:noFill/>
        </p:spPr>
        <p:txBody>
          <a:bodyPr wrap="square" anchor="t">
            <a:spAutoFit/>
          </a:bodyPr>
          <a:lstStyle/>
          <a:p>
            <a:pPr algn="l"/>
            <a:r>
              <a:rPr sz="2400" b="0">
                <a:solidFill>
                  <a:srgbClr val="FFFFFF"/>
                </a:solidFill>
                <a:latin typeface="Calibri"/>
              </a:rPr>
              <a:t>In-app storage — browsers, phones, every modern airplane.</a:t>
            </a:r>
          </a:p>
        </p:txBody>
      </p:sp>
      <p:sp>
        <p:nvSpPr>
          <p:cNvPr id="10" name="Rounded Rectangle 9"/>
          <p:cNvSpPr/>
          <p:nvPr/>
        </p:nvSpPr>
        <p:spPr>
          <a:xfrm>
            <a:off x="457200" y="4572000"/>
            <a:ext cx="11247120" cy="1554480"/>
          </a:xfrm>
          <a:prstGeom prst="roundRect">
            <a:avLst/>
          </a:prstGeom>
          <a:solidFill>
            <a:srgbClr val="3A1F14"/>
          </a:solidFill>
          <a:ln w="317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681728"/>
            <a:ext cx="10789920" cy="457200"/>
          </a:xfrm>
          <a:prstGeom prst="rect">
            <a:avLst/>
          </a:prstGeom>
          <a:noFill/>
        </p:spPr>
        <p:txBody>
          <a:bodyPr wrap="square" anchor="t">
            <a:spAutoFit/>
          </a:bodyPr>
          <a:lstStyle/>
          <a:p>
            <a:pPr algn="l"/>
            <a:r>
              <a:rPr sz="2000" b="1">
                <a:solidFill>
                  <a:srgbClr val="FF6B35"/>
                </a:solidFill>
                <a:latin typeface="Calibri"/>
              </a:rPr>
              <a:t>⚠  SECURITY GOTCHA</a:t>
            </a:r>
          </a:p>
        </p:txBody>
      </p:sp>
      <p:sp>
        <p:nvSpPr>
          <p:cNvPr id="12" name="TextBox 11"/>
          <p:cNvSpPr txBox="1"/>
          <p:nvPr/>
        </p:nvSpPr>
        <p:spPr>
          <a:xfrm>
            <a:off x="685800" y="5120640"/>
            <a:ext cx="10789920" cy="1005840"/>
          </a:xfrm>
          <a:prstGeom prst="rect">
            <a:avLst/>
          </a:prstGeom>
          <a:noFill/>
        </p:spPr>
        <p:txBody>
          <a:bodyPr wrap="square" anchor="t">
            <a:spAutoFit/>
          </a:bodyPr>
          <a:lstStyle/>
          <a:p>
            <a:pPr algn="l"/>
            <a:r>
              <a:rPr sz="2400" b="0">
                <a:solidFill>
                  <a:srgbClr val="FFFFFF"/>
                </a:solidFill>
                <a:latin typeface="Calibri"/>
              </a:rPr>
              <a:t>DB is a file — attack is 'steal the file'. Mobile pentest world.</a:t>
            </a:r>
          </a:p>
        </p:txBody>
      </p:sp>
      <p:sp>
        <p:nvSpPr>
          <p:cNvPr id="13" name="TextBox 12"/>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14" name="TextBox 13"/>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16 / 44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descr="Family card #10: Data Lakes / Lakehouses. Products: S3 + Athena  •  Delta Lake  •  Iceberg  •  Snowflake. Use case: Schema-on-read instead of schema-on-write. Dump now, query later.. Security gotcha: Giant S3 pools + permissive IAM, no encryption-at-rest enforcement.." title="Family card #10: Data Lakes / Lakehouses. Products: S3 + Athena  •  Delta Lake  "/>
          <p:cNvSpPr/>
          <p:nvPr/>
        </p:nvSpPr>
        <p:spPr>
          <a:xfrm>
            <a:off x="457200" y="365760"/>
            <a:ext cx="1097280" cy="10972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097280" cy="868680"/>
          </a:xfrm>
          <a:prstGeom prst="rect">
            <a:avLst/>
          </a:prstGeom>
          <a:noFill/>
        </p:spPr>
        <p:txBody>
          <a:bodyPr wrap="square" anchor="t">
            <a:spAutoFit/>
          </a:bodyPr>
          <a:lstStyle/>
          <a:p>
            <a:pPr algn="ctr"/>
            <a:r>
              <a:rPr sz="4400" b="1">
                <a:solidFill>
                  <a:srgbClr val="1A1A2E"/>
                </a:solidFill>
                <a:latin typeface="Calibri"/>
              </a:rPr>
              <a:t>10</a:t>
            </a:r>
          </a:p>
        </p:txBody>
      </p:sp>
      <p:sp>
        <p:nvSpPr>
          <p:cNvPr id="4" name="TextBox 3"/>
          <p:cNvSpPr txBox="1"/>
          <p:nvPr/>
        </p:nvSpPr>
        <p:spPr>
          <a:xfrm>
            <a:off x="1737360" y="411480"/>
            <a:ext cx="10058400" cy="1005840"/>
          </a:xfrm>
          <a:prstGeom prst="rect">
            <a:avLst/>
          </a:prstGeom>
          <a:noFill/>
        </p:spPr>
        <p:txBody>
          <a:bodyPr wrap="square" anchor="t">
            <a:spAutoFit/>
          </a:bodyPr>
          <a:lstStyle/>
          <a:p>
            <a:pPr algn="l"/>
            <a:r>
              <a:rPr sz="4600" b="1">
                <a:solidFill>
                  <a:srgbClr val="00FF41"/>
                </a:solidFill>
                <a:latin typeface="Calibri"/>
              </a:rPr>
              <a:t>Data Lakes / Lakehouses</a:t>
            </a:r>
          </a:p>
        </p:txBody>
      </p:sp>
      <p:sp>
        <p:nvSpPr>
          <p:cNvPr id="5" name="Rectangle 4"/>
          <p:cNvSpPr/>
          <p:nvPr/>
        </p:nvSpPr>
        <p:spPr>
          <a:xfrm>
            <a:off x="457200" y="146304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91640"/>
            <a:ext cx="3200400" cy="457200"/>
          </a:xfrm>
          <a:prstGeom prst="rect">
            <a:avLst/>
          </a:prstGeom>
          <a:noFill/>
        </p:spPr>
        <p:txBody>
          <a:bodyPr wrap="square" anchor="t">
            <a:spAutoFit/>
          </a:bodyPr>
          <a:lstStyle/>
          <a:p>
            <a:pPr algn="l"/>
            <a:r>
              <a:rPr sz="2000" b="1">
                <a:solidFill>
                  <a:srgbClr val="00D4FF"/>
                </a:solidFill>
                <a:latin typeface="Calibri"/>
              </a:rPr>
              <a:t>PRODUCTS</a:t>
            </a:r>
          </a:p>
        </p:txBody>
      </p:sp>
      <p:sp>
        <p:nvSpPr>
          <p:cNvPr id="7" name="TextBox 6"/>
          <p:cNvSpPr txBox="1"/>
          <p:nvPr/>
        </p:nvSpPr>
        <p:spPr>
          <a:xfrm>
            <a:off x="457200" y="2103120"/>
            <a:ext cx="11247120" cy="640080"/>
          </a:xfrm>
          <a:prstGeom prst="rect">
            <a:avLst/>
          </a:prstGeom>
          <a:noFill/>
        </p:spPr>
        <p:txBody>
          <a:bodyPr wrap="square" anchor="t">
            <a:spAutoFit/>
          </a:bodyPr>
          <a:lstStyle/>
          <a:p>
            <a:pPr algn="l"/>
            <a:r>
              <a:rPr sz="2800" b="1">
                <a:solidFill>
                  <a:srgbClr val="FFFFFF"/>
                </a:solidFill>
                <a:latin typeface="Calibri"/>
              </a:rPr>
              <a:t>S3 + Athena  •  Delta Lake  •  Iceberg  •  Snowflake</a:t>
            </a:r>
          </a:p>
        </p:txBody>
      </p:sp>
      <p:sp>
        <p:nvSpPr>
          <p:cNvPr id="8" name="TextBox 7"/>
          <p:cNvSpPr txBox="1"/>
          <p:nvPr/>
        </p:nvSpPr>
        <p:spPr>
          <a:xfrm>
            <a:off x="457200" y="2926080"/>
            <a:ext cx="3200400" cy="457200"/>
          </a:xfrm>
          <a:prstGeom prst="rect">
            <a:avLst/>
          </a:prstGeom>
          <a:noFill/>
        </p:spPr>
        <p:txBody>
          <a:bodyPr wrap="square" anchor="t">
            <a:spAutoFit/>
          </a:bodyPr>
          <a:lstStyle/>
          <a:p>
            <a:pPr algn="l"/>
            <a:r>
              <a:rPr sz="2000" b="1">
                <a:solidFill>
                  <a:srgbClr val="00D4FF"/>
                </a:solidFill>
                <a:latin typeface="Calibri"/>
              </a:rPr>
              <a:t>USE WHEN</a:t>
            </a:r>
          </a:p>
        </p:txBody>
      </p:sp>
      <p:sp>
        <p:nvSpPr>
          <p:cNvPr id="9" name="TextBox 8"/>
          <p:cNvSpPr txBox="1"/>
          <p:nvPr/>
        </p:nvSpPr>
        <p:spPr>
          <a:xfrm>
            <a:off x="457200" y="3337560"/>
            <a:ext cx="11247120" cy="1097280"/>
          </a:xfrm>
          <a:prstGeom prst="rect">
            <a:avLst/>
          </a:prstGeom>
          <a:noFill/>
        </p:spPr>
        <p:txBody>
          <a:bodyPr wrap="square" anchor="t">
            <a:spAutoFit/>
          </a:bodyPr>
          <a:lstStyle/>
          <a:p>
            <a:pPr algn="l"/>
            <a:r>
              <a:rPr sz="2400" b="0">
                <a:solidFill>
                  <a:srgbClr val="FFFFFF"/>
                </a:solidFill>
                <a:latin typeface="Calibri"/>
              </a:rPr>
              <a:t>Schema-on-read instead of schema-on-write. Dump now, query later.</a:t>
            </a:r>
          </a:p>
        </p:txBody>
      </p:sp>
      <p:sp>
        <p:nvSpPr>
          <p:cNvPr id="10" name="Rounded Rectangle 9"/>
          <p:cNvSpPr/>
          <p:nvPr/>
        </p:nvSpPr>
        <p:spPr>
          <a:xfrm>
            <a:off x="457200" y="4572000"/>
            <a:ext cx="11247120" cy="1554480"/>
          </a:xfrm>
          <a:prstGeom prst="roundRect">
            <a:avLst/>
          </a:prstGeom>
          <a:solidFill>
            <a:srgbClr val="3A1F14"/>
          </a:solidFill>
          <a:ln w="317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681728"/>
            <a:ext cx="10789920" cy="457200"/>
          </a:xfrm>
          <a:prstGeom prst="rect">
            <a:avLst/>
          </a:prstGeom>
          <a:noFill/>
        </p:spPr>
        <p:txBody>
          <a:bodyPr wrap="square" anchor="t">
            <a:spAutoFit/>
          </a:bodyPr>
          <a:lstStyle/>
          <a:p>
            <a:pPr algn="l"/>
            <a:r>
              <a:rPr sz="2000" b="1">
                <a:solidFill>
                  <a:srgbClr val="FF6B35"/>
                </a:solidFill>
                <a:latin typeface="Calibri"/>
              </a:rPr>
              <a:t>⚠  SECURITY GOTCHA</a:t>
            </a:r>
          </a:p>
        </p:txBody>
      </p:sp>
      <p:sp>
        <p:nvSpPr>
          <p:cNvPr id="12" name="TextBox 11"/>
          <p:cNvSpPr txBox="1"/>
          <p:nvPr/>
        </p:nvSpPr>
        <p:spPr>
          <a:xfrm>
            <a:off x="685800" y="5120640"/>
            <a:ext cx="10789920" cy="1005840"/>
          </a:xfrm>
          <a:prstGeom prst="rect">
            <a:avLst/>
          </a:prstGeom>
          <a:noFill/>
        </p:spPr>
        <p:txBody>
          <a:bodyPr wrap="square" anchor="t">
            <a:spAutoFit/>
          </a:bodyPr>
          <a:lstStyle/>
          <a:p>
            <a:pPr algn="l"/>
            <a:r>
              <a:rPr sz="2400" b="0">
                <a:solidFill>
                  <a:srgbClr val="FFFFFF"/>
                </a:solidFill>
                <a:latin typeface="Calibri"/>
              </a:rPr>
              <a:t>Giant S3 pools + permissive IAM, no encryption-at-rest enforcement.</a:t>
            </a:r>
          </a:p>
        </p:txBody>
      </p:sp>
      <p:sp>
        <p:nvSpPr>
          <p:cNvPr id="13" name="TextBox 12"/>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14" name="TextBox 13"/>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17 / 44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Three-column comparison of database services across AWS, GCP, and Azure: relational, document, warehouse, cache, graph, time-series, and object storage." title="Three-column comparison of database services across AWS, GCP, and Azure: relatio"/>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Cloud DB Services — The Lay of the Land</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554480"/>
            <a:ext cx="3749039" cy="640080"/>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3749039" cy="548640"/>
          </a:xfrm>
          <a:prstGeom prst="rect">
            <a:avLst/>
          </a:prstGeom>
          <a:noFill/>
        </p:spPr>
        <p:txBody>
          <a:bodyPr wrap="square" anchor="t">
            <a:spAutoFit/>
          </a:bodyPr>
          <a:lstStyle/>
          <a:p>
            <a:pPr algn="ctr"/>
            <a:r>
              <a:rPr sz="3200" b="1">
                <a:solidFill>
                  <a:srgbClr val="1A1A2E"/>
                </a:solidFill>
                <a:latin typeface="Calibri"/>
              </a:rPr>
              <a:t>AWS</a:t>
            </a:r>
          </a:p>
        </p:txBody>
      </p:sp>
      <p:sp>
        <p:nvSpPr>
          <p:cNvPr id="6" name="TextBox 5"/>
          <p:cNvSpPr txBox="1"/>
          <p:nvPr/>
        </p:nvSpPr>
        <p:spPr>
          <a:xfrm>
            <a:off x="548640" y="2331720"/>
            <a:ext cx="3566159" cy="457200"/>
          </a:xfrm>
          <a:prstGeom prst="rect">
            <a:avLst/>
          </a:prstGeom>
          <a:noFill/>
        </p:spPr>
        <p:txBody>
          <a:bodyPr wrap="square" anchor="t">
            <a:spAutoFit/>
          </a:bodyPr>
          <a:lstStyle/>
          <a:p>
            <a:pPr algn="l"/>
            <a:r>
              <a:rPr sz="1800" b="0">
                <a:solidFill>
                  <a:srgbClr val="FFFFFF"/>
                </a:solidFill>
                <a:latin typeface="Calibri"/>
              </a:rPr>
              <a:t>● RDS, Aurora</a:t>
            </a:r>
          </a:p>
        </p:txBody>
      </p:sp>
      <p:sp>
        <p:nvSpPr>
          <p:cNvPr id="7" name="TextBox 6"/>
          <p:cNvSpPr txBox="1"/>
          <p:nvPr/>
        </p:nvSpPr>
        <p:spPr>
          <a:xfrm>
            <a:off x="548640" y="2834639"/>
            <a:ext cx="3566159" cy="457200"/>
          </a:xfrm>
          <a:prstGeom prst="rect">
            <a:avLst/>
          </a:prstGeom>
          <a:noFill/>
        </p:spPr>
        <p:txBody>
          <a:bodyPr wrap="square" anchor="t">
            <a:spAutoFit/>
          </a:bodyPr>
          <a:lstStyle/>
          <a:p>
            <a:pPr algn="l"/>
            <a:r>
              <a:rPr sz="1800" b="0">
                <a:solidFill>
                  <a:srgbClr val="FFFFFF"/>
                </a:solidFill>
                <a:latin typeface="Calibri"/>
              </a:rPr>
              <a:t>● DynamoDB, DocumentDB</a:t>
            </a:r>
          </a:p>
        </p:txBody>
      </p:sp>
      <p:sp>
        <p:nvSpPr>
          <p:cNvPr id="8" name="TextBox 7"/>
          <p:cNvSpPr txBox="1"/>
          <p:nvPr/>
        </p:nvSpPr>
        <p:spPr>
          <a:xfrm>
            <a:off x="548640" y="3337560"/>
            <a:ext cx="3566159" cy="457200"/>
          </a:xfrm>
          <a:prstGeom prst="rect">
            <a:avLst/>
          </a:prstGeom>
          <a:noFill/>
        </p:spPr>
        <p:txBody>
          <a:bodyPr wrap="square" anchor="t">
            <a:spAutoFit/>
          </a:bodyPr>
          <a:lstStyle/>
          <a:p>
            <a:pPr algn="l"/>
            <a:r>
              <a:rPr sz="1800" b="0">
                <a:solidFill>
                  <a:srgbClr val="FFFFFF"/>
                </a:solidFill>
                <a:latin typeface="Calibri"/>
              </a:rPr>
              <a:t>● Redshift, S3 + Athena</a:t>
            </a:r>
          </a:p>
        </p:txBody>
      </p:sp>
      <p:sp>
        <p:nvSpPr>
          <p:cNvPr id="9" name="TextBox 8"/>
          <p:cNvSpPr txBox="1"/>
          <p:nvPr/>
        </p:nvSpPr>
        <p:spPr>
          <a:xfrm>
            <a:off x="548640" y="3840480"/>
            <a:ext cx="3566159" cy="457200"/>
          </a:xfrm>
          <a:prstGeom prst="rect">
            <a:avLst/>
          </a:prstGeom>
          <a:noFill/>
        </p:spPr>
        <p:txBody>
          <a:bodyPr wrap="square" anchor="t">
            <a:spAutoFit/>
          </a:bodyPr>
          <a:lstStyle/>
          <a:p>
            <a:pPr algn="l"/>
            <a:r>
              <a:rPr sz="1800" b="0">
                <a:solidFill>
                  <a:srgbClr val="FFFFFF"/>
                </a:solidFill>
                <a:latin typeface="Calibri"/>
              </a:rPr>
              <a:t>● ElastiCache</a:t>
            </a:r>
          </a:p>
        </p:txBody>
      </p:sp>
      <p:sp>
        <p:nvSpPr>
          <p:cNvPr id="10" name="TextBox 9"/>
          <p:cNvSpPr txBox="1"/>
          <p:nvPr/>
        </p:nvSpPr>
        <p:spPr>
          <a:xfrm>
            <a:off x="548640" y="4343400"/>
            <a:ext cx="3566159" cy="457200"/>
          </a:xfrm>
          <a:prstGeom prst="rect">
            <a:avLst/>
          </a:prstGeom>
          <a:noFill/>
        </p:spPr>
        <p:txBody>
          <a:bodyPr wrap="square" anchor="t">
            <a:spAutoFit/>
          </a:bodyPr>
          <a:lstStyle/>
          <a:p>
            <a:pPr algn="l"/>
            <a:r>
              <a:rPr sz="1800" b="0">
                <a:solidFill>
                  <a:srgbClr val="FFFFFF"/>
                </a:solidFill>
                <a:latin typeface="Calibri"/>
              </a:rPr>
              <a:t>● Neptune (graph)</a:t>
            </a:r>
          </a:p>
        </p:txBody>
      </p:sp>
      <p:sp>
        <p:nvSpPr>
          <p:cNvPr id="11" name="TextBox 10"/>
          <p:cNvSpPr txBox="1"/>
          <p:nvPr/>
        </p:nvSpPr>
        <p:spPr>
          <a:xfrm>
            <a:off x="548640" y="4846320"/>
            <a:ext cx="3566159" cy="457200"/>
          </a:xfrm>
          <a:prstGeom prst="rect">
            <a:avLst/>
          </a:prstGeom>
          <a:noFill/>
        </p:spPr>
        <p:txBody>
          <a:bodyPr wrap="square" anchor="t">
            <a:spAutoFit/>
          </a:bodyPr>
          <a:lstStyle/>
          <a:p>
            <a:pPr algn="l"/>
            <a:r>
              <a:rPr sz="1800" b="0">
                <a:solidFill>
                  <a:srgbClr val="FFFFFF"/>
                </a:solidFill>
                <a:latin typeface="Calibri"/>
              </a:rPr>
              <a:t>● Timestream</a:t>
            </a:r>
          </a:p>
        </p:txBody>
      </p:sp>
      <p:sp>
        <p:nvSpPr>
          <p:cNvPr id="12" name="TextBox 11"/>
          <p:cNvSpPr txBox="1"/>
          <p:nvPr/>
        </p:nvSpPr>
        <p:spPr>
          <a:xfrm>
            <a:off x="548640" y="5349240"/>
            <a:ext cx="3566159" cy="457200"/>
          </a:xfrm>
          <a:prstGeom prst="rect">
            <a:avLst/>
          </a:prstGeom>
          <a:noFill/>
        </p:spPr>
        <p:txBody>
          <a:bodyPr wrap="square" anchor="t">
            <a:spAutoFit/>
          </a:bodyPr>
          <a:lstStyle/>
          <a:p>
            <a:pPr algn="l"/>
            <a:r>
              <a:rPr sz="1800" b="0">
                <a:solidFill>
                  <a:srgbClr val="FFFFFF"/>
                </a:solidFill>
                <a:latin typeface="Calibri"/>
              </a:rPr>
              <a:t>● S3 (object store)</a:t>
            </a:r>
          </a:p>
        </p:txBody>
      </p:sp>
      <p:sp>
        <p:nvSpPr>
          <p:cNvPr id="13" name="Rectangle 12"/>
          <p:cNvSpPr/>
          <p:nvPr/>
        </p:nvSpPr>
        <p:spPr>
          <a:xfrm>
            <a:off x="4297680" y="1554480"/>
            <a:ext cx="3749039" cy="64008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0" y="1600200"/>
            <a:ext cx="3749039" cy="548640"/>
          </a:xfrm>
          <a:prstGeom prst="rect">
            <a:avLst/>
          </a:prstGeom>
          <a:noFill/>
        </p:spPr>
        <p:txBody>
          <a:bodyPr wrap="square" anchor="t">
            <a:spAutoFit/>
          </a:bodyPr>
          <a:lstStyle/>
          <a:p>
            <a:pPr algn="ctr"/>
            <a:r>
              <a:rPr sz="3200" b="1">
                <a:solidFill>
                  <a:srgbClr val="1A1A2E"/>
                </a:solidFill>
                <a:latin typeface="Calibri"/>
              </a:rPr>
              <a:t>GCP</a:t>
            </a:r>
          </a:p>
        </p:txBody>
      </p:sp>
      <p:sp>
        <p:nvSpPr>
          <p:cNvPr id="15" name="TextBox 14"/>
          <p:cNvSpPr txBox="1"/>
          <p:nvPr/>
        </p:nvSpPr>
        <p:spPr>
          <a:xfrm>
            <a:off x="4389120" y="2331720"/>
            <a:ext cx="3566159" cy="457200"/>
          </a:xfrm>
          <a:prstGeom prst="rect">
            <a:avLst/>
          </a:prstGeom>
          <a:noFill/>
        </p:spPr>
        <p:txBody>
          <a:bodyPr wrap="square" anchor="t">
            <a:spAutoFit/>
          </a:bodyPr>
          <a:lstStyle/>
          <a:p>
            <a:pPr algn="l"/>
            <a:r>
              <a:rPr sz="1800" b="0">
                <a:solidFill>
                  <a:srgbClr val="FFFFFF"/>
                </a:solidFill>
                <a:latin typeface="Calibri"/>
              </a:rPr>
              <a:t>● Cloud SQL, AlloyDB</a:t>
            </a:r>
          </a:p>
        </p:txBody>
      </p:sp>
      <p:sp>
        <p:nvSpPr>
          <p:cNvPr id="16" name="TextBox 15"/>
          <p:cNvSpPr txBox="1"/>
          <p:nvPr/>
        </p:nvSpPr>
        <p:spPr>
          <a:xfrm>
            <a:off x="4389120" y="2834639"/>
            <a:ext cx="3566159" cy="457200"/>
          </a:xfrm>
          <a:prstGeom prst="rect">
            <a:avLst/>
          </a:prstGeom>
          <a:noFill/>
        </p:spPr>
        <p:txBody>
          <a:bodyPr wrap="square" anchor="t">
            <a:spAutoFit/>
          </a:bodyPr>
          <a:lstStyle/>
          <a:p>
            <a:pPr algn="l"/>
            <a:r>
              <a:rPr sz="1800" b="0">
                <a:solidFill>
                  <a:srgbClr val="FFFFFF"/>
                </a:solidFill>
                <a:latin typeface="Calibri"/>
              </a:rPr>
              <a:t>● Firestore, Bigtable</a:t>
            </a:r>
          </a:p>
        </p:txBody>
      </p:sp>
      <p:sp>
        <p:nvSpPr>
          <p:cNvPr id="17" name="TextBox 16"/>
          <p:cNvSpPr txBox="1"/>
          <p:nvPr/>
        </p:nvSpPr>
        <p:spPr>
          <a:xfrm>
            <a:off x="4389120" y="3337560"/>
            <a:ext cx="3566159" cy="457200"/>
          </a:xfrm>
          <a:prstGeom prst="rect">
            <a:avLst/>
          </a:prstGeom>
          <a:noFill/>
        </p:spPr>
        <p:txBody>
          <a:bodyPr wrap="square" anchor="t">
            <a:spAutoFit/>
          </a:bodyPr>
          <a:lstStyle/>
          <a:p>
            <a:pPr algn="l"/>
            <a:r>
              <a:rPr sz="1800" b="0">
                <a:solidFill>
                  <a:srgbClr val="FFFFFF"/>
                </a:solidFill>
                <a:latin typeface="Calibri"/>
              </a:rPr>
              <a:t>● BigAbfrage</a:t>
            </a:r>
          </a:p>
        </p:txBody>
      </p:sp>
      <p:sp>
        <p:nvSpPr>
          <p:cNvPr id="18" name="TextBox 17"/>
          <p:cNvSpPr txBox="1"/>
          <p:nvPr/>
        </p:nvSpPr>
        <p:spPr>
          <a:xfrm>
            <a:off x="4389120" y="3840480"/>
            <a:ext cx="3566159" cy="457200"/>
          </a:xfrm>
          <a:prstGeom prst="rect">
            <a:avLst/>
          </a:prstGeom>
          <a:noFill/>
        </p:spPr>
        <p:txBody>
          <a:bodyPr wrap="square" anchor="t">
            <a:spAutoFit/>
          </a:bodyPr>
          <a:lstStyle/>
          <a:p>
            <a:pPr algn="l"/>
            <a:r>
              <a:rPr sz="1800" b="0">
                <a:solidFill>
                  <a:srgbClr val="FFFFFF"/>
                </a:solidFill>
                <a:latin typeface="Calibri"/>
              </a:rPr>
              <a:t>● Memorystore</a:t>
            </a:r>
          </a:p>
        </p:txBody>
      </p:sp>
      <p:sp>
        <p:nvSpPr>
          <p:cNvPr id="19" name="TextBox 18"/>
          <p:cNvSpPr txBox="1"/>
          <p:nvPr/>
        </p:nvSpPr>
        <p:spPr>
          <a:xfrm>
            <a:off x="4389120" y="4343400"/>
            <a:ext cx="3566159" cy="457200"/>
          </a:xfrm>
          <a:prstGeom prst="rect">
            <a:avLst/>
          </a:prstGeom>
          <a:noFill/>
        </p:spPr>
        <p:txBody>
          <a:bodyPr wrap="square" anchor="t">
            <a:spAutoFit/>
          </a:bodyPr>
          <a:lstStyle/>
          <a:p>
            <a:pPr algn="l"/>
            <a:r>
              <a:rPr sz="1800" b="0">
                <a:solidFill>
                  <a:srgbClr val="FFFFFF"/>
                </a:solidFill>
                <a:latin typeface="Calibri"/>
              </a:rPr>
              <a:t>● — (coming soon)</a:t>
            </a:r>
          </a:p>
        </p:txBody>
      </p:sp>
      <p:sp>
        <p:nvSpPr>
          <p:cNvPr id="20" name="TextBox 19"/>
          <p:cNvSpPr txBox="1"/>
          <p:nvPr/>
        </p:nvSpPr>
        <p:spPr>
          <a:xfrm>
            <a:off x="4389120" y="4846320"/>
            <a:ext cx="3566159" cy="457200"/>
          </a:xfrm>
          <a:prstGeom prst="rect">
            <a:avLst/>
          </a:prstGeom>
          <a:noFill/>
        </p:spPr>
        <p:txBody>
          <a:bodyPr wrap="square" anchor="t">
            <a:spAutoFit/>
          </a:bodyPr>
          <a:lstStyle/>
          <a:p>
            <a:pPr algn="l"/>
            <a:r>
              <a:rPr sz="1800" b="0">
                <a:solidFill>
                  <a:srgbClr val="FFFFFF"/>
                </a:solidFill>
                <a:latin typeface="Calibri"/>
              </a:rPr>
              <a:t>● — (BYO)</a:t>
            </a:r>
          </a:p>
        </p:txBody>
      </p:sp>
      <p:sp>
        <p:nvSpPr>
          <p:cNvPr id="21" name="TextBox 20"/>
          <p:cNvSpPr txBox="1"/>
          <p:nvPr/>
        </p:nvSpPr>
        <p:spPr>
          <a:xfrm>
            <a:off x="4389120" y="5349240"/>
            <a:ext cx="3566159" cy="457200"/>
          </a:xfrm>
          <a:prstGeom prst="rect">
            <a:avLst/>
          </a:prstGeom>
          <a:noFill/>
        </p:spPr>
        <p:txBody>
          <a:bodyPr wrap="square" anchor="t">
            <a:spAutoFit/>
          </a:bodyPr>
          <a:lstStyle/>
          <a:p>
            <a:pPr algn="l"/>
            <a:r>
              <a:rPr sz="1800" b="0">
                <a:solidFill>
                  <a:srgbClr val="FFFFFF"/>
                </a:solidFill>
                <a:latin typeface="Calibri"/>
              </a:rPr>
              <a:t>● Cloud Storage</a:t>
            </a:r>
          </a:p>
        </p:txBody>
      </p:sp>
      <p:sp>
        <p:nvSpPr>
          <p:cNvPr id="22" name="Rectangle 21"/>
          <p:cNvSpPr/>
          <p:nvPr/>
        </p:nvSpPr>
        <p:spPr>
          <a:xfrm>
            <a:off x="8138160" y="1554480"/>
            <a:ext cx="3749039" cy="6400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38160" y="1600200"/>
            <a:ext cx="3749039" cy="548640"/>
          </a:xfrm>
          <a:prstGeom prst="rect">
            <a:avLst/>
          </a:prstGeom>
          <a:noFill/>
        </p:spPr>
        <p:txBody>
          <a:bodyPr wrap="square" anchor="t">
            <a:spAutoFit/>
          </a:bodyPr>
          <a:lstStyle/>
          <a:p>
            <a:pPr algn="ctr"/>
            <a:r>
              <a:rPr sz="3200" b="1">
                <a:solidFill>
                  <a:srgbClr val="1A1A2E"/>
                </a:solidFill>
                <a:latin typeface="Calibri"/>
              </a:rPr>
              <a:t>Azure</a:t>
            </a:r>
          </a:p>
        </p:txBody>
      </p:sp>
      <p:sp>
        <p:nvSpPr>
          <p:cNvPr id="24" name="TextBox 23"/>
          <p:cNvSpPr txBox="1"/>
          <p:nvPr/>
        </p:nvSpPr>
        <p:spPr>
          <a:xfrm>
            <a:off x="8229600" y="2331720"/>
            <a:ext cx="3566159" cy="457200"/>
          </a:xfrm>
          <a:prstGeom prst="rect">
            <a:avLst/>
          </a:prstGeom>
          <a:noFill/>
        </p:spPr>
        <p:txBody>
          <a:bodyPr wrap="square" anchor="t">
            <a:spAutoFit/>
          </a:bodyPr>
          <a:lstStyle/>
          <a:p>
            <a:pPr algn="l"/>
            <a:r>
              <a:rPr sz="1800" b="0">
                <a:solidFill>
                  <a:srgbClr val="FFFFFF"/>
                </a:solidFill>
                <a:latin typeface="Calibri"/>
              </a:rPr>
              <a:t>● Azure SQL DB</a:t>
            </a:r>
          </a:p>
        </p:txBody>
      </p:sp>
      <p:sp>
        <p:nvSpPr>
          <p:cNvPr id="25" name="TextBox 24"/>
          <p:cNvSpPr txBox="1"/>
          <p:nvPr/>
        </p:nvSpPr>
        <p:spPr>
          <a:xfrm>
            <a:off x="8229600" y="2834639"/>
            <a:ext cx="3566159" cy="457200"/>
          </a:xfrm>
          <a:prstGeom prst="rect">
            <a:avLst/>
          </a:prstGeom>
          <a:noFill/>
        </p:spPr>
        <p:txBody>
          <a:bodyPr wrap="square" anchor="t">
            <a:spAutoFit/>
          </a:bodyPr>
          <a:lstStyle/>
          <a:p>
            <a:pPr algn="l"/>
            <a:r>
              <a:rPr sz="1800" b="0">
                <a:solidFill>
                  <a:srgbClr val="FFFFFF"/>
                </a:solidFill>
                <a:latin typeface="Calibri"/>
              </a:rPr>
              <a:t>● Cosmos DB (shape-shifter)</a:t>
            </a:r>
          </a:p>
        </p:txBody>
      </p:sp>
      <p:sp>
        <p:nvSpPr>
          <p:cNvPr id="26" name="TextBox 25"/>
          <p:cNvSpPr txBox="1"/>
          <p:nvPr/>
        </p:nvSpPr>
        <p:spPr>
          <a:xfrm>
            <a:off x="8229600" y="3337560"/>
            <a:ext cx="3566159" cy="457200"/>
          </a:xfrm>
          <a:prstGeom prst="rect">
            <a:avLst/>
          </a:prstGeom>
          <a:noFill/>
        </p:spPr>
        <p:txBody>
          <a:bodyPr wrap="square" anchor="t">
            <a:spAutoFit/>
          </a:bodyPr>
          <a:lstStyle/>
          <a:p>
            <a:pPr algn="l"/>
            <a:r>
              <a:rPr sz="1800" b="0">
                <a:solidFill>
                  <a:srgbClr val="FFFFFF"/>
                </a:solidFill>
                <a:latin typeface="Calibri"/>
              </a:rPr>
              <a:t>● Synapse Analytics</a:t>
            </a:r>
          </a:p>
        </p:txBody>
      </p:sp>
      <p:sp>
        <p:nvSpPr>
          <p:cNvPr id="27" name="TextBox 26"/>
          <p:cNvSpPr txBox="1"/>
          <p:nvPr/>
        </p:nvSpPr>
        <p:spPr>
          <a:xfrm>
            <a:off x="8229600" y="3840480"/>
            <a:ext cx="3566159" cy="457200"/>
          </a:xfrm>
          <a:prstGeom prst="rect">
            <a:avLst/>
          </a:prstGeom>
          <a:noFill/>
        </p:spPr>
        <p:txBody>
          <a:bodyPr wrap="square" anchor="t">
            <a:spAutoFit/>
          </a:bodyPr>
          <a:lstStyle/>
          <a:p>
            <a:pPr algn="l"/>
            <a:r>
              <a:rPr sz="1800" b="0">
                <a:solidFill>
                  <a:srgbClr val="FFFFFF"/>
                </a:solidFill>
                <a:latin typeface="Calibri"/>
              </a:rPr>
              <a:t>● Azure Cache for Redis</a:t>
            </a:r>
          </a:p>
        </p:txBody>
      </p:sp>
      <p:sp>
        <p:nvSpPr>
          <p:cNvPr id="28" name="TextBox 27"/>
          <p:cNvSpPr txBox="1"/>
          <p:nvPr/>
        </p:nvSpPr>
        <p:spPr>
          <a:xfrm>
            <a:off x="8229600" y="4343400"/>
            <a:ext cx="3566159" cy="457200"/>
          </a:xfrm>
          <a:prstGeom prst="rect">
            <a:avLst/>
          </a:prstGeom>
          <a:noFill/>
        </p:spPr>
        <p:txBody>
          <a:bodyPr wrap="square" anchor="t">
            <a:spAutoFit/>
          </a:bodyPr>
          <a:lstStyle/>
          <a:p>
            <a:pPr algn="l"/>
            <a:r>
              <a:rPr sz="1800" b="0">
                <a:solidFill>
                  <a:srgbClr val="FFFFFF"/>
                </a:solidFill>
                <a:latin typeface="Calibri"/>
              </a:rPr>
              <a:t>● Cosmos DB graph mode</a:t>
            </a:r>
          </a:p>
        </p:txBody>
      </p:sp>
      <p:sp>
        <p:nvSpPr>
          <p:cNvPr id="29" name="TextBox 28"/>
          <p:cNvSpPr txBox="1"/>
          <p:nvPr/>
        </p:nvSpPr>
        <p:spPr>
          <a:xfrm>
            <a:off x="8229600" y="4846320"/>
            <a:ext cx="3566159" cy="457200"/>
          </a:xfrm>
          <a:prstGeom prst="rect">
            <a:avLst/>
          </a:prstGeom>
          <a:noFill/>
        </p:spPr>
        <p:txBody>
          <a:bodyPr wrap="square" anchor="t">
            <a:spAutoFit/>
          </a:bodyPr>
          <a:lstStyle/>
          <a:p>
            <a:pPr algn="l"/>
            <a:r>
              <a:rPr sz="1800" b="0">
                <a:solidFill>
                  <a:srgbClr val="FFFFFF"/>
                </a:solidFill>
                <a:latin typeface="Calibri"/>
              </a:rPr>
              <a:t>● — (BYO)</a:t>
            </a:r>
          </a:p>
        </p:txBody>
      </p:sp>
      <p:sp>
        <p:nvSpPr>
          <p:cNvPr id="30" name="TextBox 29"/>
          <p:cNvSpPr txBox="1"/>
          <p:nvPr/>
        </p:nvSpPr>
        <p:spPr>
          <a:xfrm>
            <a:off x="8229600" y="5349240"/>
            <a:ext cx="3566159" cy="457200"/>
          </a:xfrm>
          <a:prstGeom prst="rect">
            <a:avLst/>
          </a:prstGeom>
          <a:noFill/>
        </p:spPr>
        <p:txBody>
          <a:bodyPr wrap="square" anchor="t">
            <a:spAutoFit/>
          </a:bodyPr>
          <a:lstStyle/>
          <a:p>
            <a:pPr algn="l"/>
            <a:r>
              <a:rPr sz="1800" b="0">
                <a:solidFill>
                  <a:srgbClr val="FFFFFF"/>
                </a:solidFill>
                <a:latin typeface="Calibri"/>
              </a:rPr>
              <a:t>● Blob Storage</a:t>
            </a:r>
          </a:p>
        </p:txBody>
      </p:sp>
      <p:sp>
        <p:nvSpPr>
          <p:cNvPr id="31" name="TextBox 30"/>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32" name="TextBox 31"/>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18 / 44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Cheat-sheet table comparing AWS, GCP, and Azure services across eight database categories." title="Cheat-sheet table comparing AWS, GCP, and Azure services across eight database c"/>
          <p:cNvSpPr txBox="1"/>
          <p:nvPr/>
        </p:nvSpPr>
        <p:spPr>
          <a:xfrm>
            <a:off x="457200" y="320040"/>
            <a:ext cx="11247120" cy="1005840"/>
          </a:xfrm>
          <a:prstGeom prst="rect">
            <a:avLst/>
          </a:prstGeom>
          <a:noFill/>
        </p:spPr>
        <p:txBody>
          <a:bodyPr wrap="square" anchor="t">
            <a:spAutoFit/>
          </a:bodyPr>
          <a:lstStyle/>
          <a:p>
            <a:pPr algn="l"/>
            <a:r>
              <a:rPr sz="3800" b="1">
                <a:solidFill>
                  <a:srgbClr val="00FF41"/>
                </a:solidFill>
                <a:latin typeface="Calibri"/>
              </a:rPr>
              <a:t>Cloud DB Cheat Sheet</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600200"/>
            <a:ext cx="11247120" cy="502920"/>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2651760" cy="502920"/>
          </a:xfrm>
          <a:prstGeom prst="rect">
            <a:avLst/>
          </a:prstGeom>
          <a:noFill/>
        </p:spPr>
        <p:txBody>
          <a:bodyPr wrap="square" anchor="t">
            <a:spAutoFit/>
          </a:bodyPr>
          <a:lstStyle/>
          <a:p>
            <a:pPr algn="l"/>
            <a:r>
              <a:rPr sz="2000" b="1">
                <a:solidFill>
                  <a:srgbClr val="1A1A2E"/>
                </a:solidFill>
                <a:latin typeface="Calibri"/>
              </a:rPr>
              <a:t>CATEGORY</a:t>
            </a:r>
          </a:p>
        </p:txBody>
      </p:sp>
      <p:sp>
        <p:nvSpPr>
          <p:cNvPr id="6" name="TextBox 5"/>
          <p:cNvSpPr txBox="1"/>
          <p:nvPr/>
        </p:nvSpPr>
        <p:spPr>
          <a:xfrm>
            <a:off x="3291840" y="1645920"/>
            <a:ext cx="2560320" cy="502920"/>
          </a:xfrm>
          <a:prstGeom prst="rect">
            <a:avLst/>
          </a:prstGeom>
          <a:noFill/>
        </p:spPr>
        <p:txBody>
          <a:bodyPr wrap="square" anchor="t">
            <a:spAutoFit/>
          </a:bodyPr>
          <a:lstStyle/>
          <a:p>
            <a:pPr algn="l"/>
            <a:r>
              <a:rPr sz="2000" b="1">
                <a:solidFill>
                  <a:srgbClr val="1A1A2E"/>
                </a:solidFill>
                <a:latin typeface="Calibri"/>
              </a:rPr>
              <a:t>AWS</a:t>
            </a:r>
          </a:p>
        </p:txBody>
      </p:sp>
      <p:sp>
        <p:nvSpPr>
          <p:cNvPr id="7" name="TextBox 6"/>
          <p:cNvSpPr txBox="1"/>
          <p:nvPr/>
        </p:nvSpPr>
        <p:spPr>
          <a:xfrm>
            <a:off x="5943600" y="1645920"/>
            <a:ext cx="2560320" cy="502920"/>
          </a:xfrm>
          <a:prstGeom prst="rect">
            <a:avLst/>
          </a:prstGeom>
          <a:noFill/>
        </p:spPr>
        <p:txBody>
          <a:bodyPr wrap="square" anchor="t">
            <a:spAutoFit/>
          </a:bodyPr>
          <a:lstStyle/>
          <a:p>
            <a:pPr algn="l"/>
            <a:r>
              <a:rPr sz="2000" b="1">
                <a:solidFill>
                  <a:srgbClr val="1A1A2E"/>
                </a:solidFill>
                <a:latin typeface="Calibri"/>
              </a:rPr>
              <a:t>GCP</a:t>
            </a:r>
          </a:p>
        </p:txBody>
      </p:sp>
      <p:sp>
        <p:nvSpPr>
          <p:cNvPr id="8" name="TextBox 7"/>
          <p:cNvSpPr txBox="1"/>
          <p:nvPr/>
        </p:nvSpPr>
        <p:spPr>
          <a:xfrm>
            <a:off x="8595360" y="1645920"/>
            <a:ext cx="3108960" cy="502920"/>
          </a:xfrm>
          <a:prstGeom prst="rect">
            <a:avLst/>
          </a:prstGeom>
          <a:noFill/>
        </p:spPr>
        <p:txBody>
          <a:bodyPr wrap="square" anchor="t">
            <a:spAutoFit/>
          </a:bodyPr>
          <a:lstStyle/>
          <a:p>
            <a:pPr algn="l"/>
            <a:r>
              <a:rPr sz="2000" b="1">
                <a:solidFill>
                  <a:srgbClr val="1A1A2E"/>
                </a:solidFill>
                <a:latin typeface="Calibri"/>
              </a:rPr>
              <a:t>AZURE</a:t>
            </a:r>
          </a:p>
        </p:txBody>
      </p:sp>
      <p:sp>
        <p:nvSpPr>
          <p:cNvPr id="9" name="TextBox 8"/>
          <p:cNvSpPr txBox="1"/>
          <p:nvPr/>
        </p:nvSpPr>
        <p:spPr>
          <a:xfrm>
            <a:off x="548640" y="2148839"/>
            <a:ext cx="2651760" cy="502920"/>
          </a:xfrm>
          <a:prstGeom prst="rect">
            <a:avLst/>
          </a:prstGeom>
          <a:noFill/>
        </p:spPr>
        <p:txBody>
          <a:bodyPr wrap="square" anchor="t">
            <a:spAutoFit/>
          </a:bodyPr>
          <a:lstStyle/>
          <a:p>
            <a:pPr algn="l"/>
            <a:r>
              <a:rPr sz="2000" b="1">
                <a:solidFill>
                  <a:srgbClr val="FFFFFF"/>
                </a:solidFill>
                <a:latin typeface="Calibri"/>
              </a:rPr>
              <a:t>Relational</a:t>
            </a:r>
          </a:p>
        </p:txBody>
      </p:sp>
      <p:sp>
        <p:nvSpPr>
          <p:cNvPr id="10" name="TextBox 9"/>
          <p:cNvSpPr txBox="1"/>
          <p:nvPr/>
        </p:nvSpPr>
        <p:spPr>
          <a:xfrm>
            <a:off x="3291840" y="2148839"/>
            <a:ext cx="2560320" cy="502920"/>
          </a:xfrm>
          <a:prstGeom prst="rect">
            <a:avLst/>
          </a:prstGeom>
          <a:noFill/>
        </p:spPr>
        <p:txBody>
          <a:bodyPr wrap="square" anchor="t">
            <a:spAutoFit/>
          </a:bodyPr>
          <a:lstStyle/>
          <a:p>
            <a:pPr algn="l"/>
            <a:r>
              <a:rPr sz="2000" b="0">
                <a:solidFill>
                  <a:srgbClr val="FFFFFF"/>
                </a:solidFill>
                <a:latin typeface="Calibri"/>
              </a:rPr>
              <a:t>RDS / Aurora</a:t>
            </a:r>
          </a:p>
        </p:txBody>
      </p:sp>
      <p:sp>
        <p:nvSpPr>
          <p:cNvPr id="11" name="TextBox 10"/>
          <p:cNvSpPr txBox="1"/>
          <p:nvPr/>
        </p:nvSpPr>
        <p:spPr>
          <a:xfrm>
            <a:off x="5943600" y="2148839"/>
            <a:ext cx="2560320" cy="502920"/>
          </a:xfrm>
          <a:prstGeom prst="rect">
            <a:avLst/>
          </a:prstGeom>
          <a:noFill/>
        </p:spPr>
        <p:txBody>
          <a:bodyPr wrap="square" anchor="t">
            <a:spAutoFit/>
          </a:bodyPr>
          <a:lstStyle/>
          <a:p>
            <a:pPr algn="l"/>
            <a:r>
              <a:rPr sz="2000" b="0">
                <a:solidFill>
                  <a:srgbClr val="FFFFFF"/>
                </a:solidFill>
                <a:latin typeface="Calibri"/>
              </a:rPr>
              <a:t>Cloud SQL / AlloyDB</a:t>
            </a:r>
          </a:p>
        </p:txBody>
      </p:sp>
      <p:sp>
        <p:nvSpPr>
          <p:cNvPr id="12" name="TextBox 11"/>
          <p:cNvSpPr txBox="1"/>
          <p:nvPr/>
        </p:nvSpPr>
        <p:spPr>
          <a:xfrm>
            <a:off x="8595360" y="2148839"/>
            <a:ext cx="3108960" cy="502920"/>
          </a:xfrm>
          <a:prstGeom prst="rect">
            <a:avLst/>
          </a:prstGeom>
          <a:noFill/>
        </p:spPr>
        <p:txBody>
          <a:bodyPr wrap="square" anchor="t">
            <a:spAutoFit/>
          </a:bodyPr>
          <a:lstStyle/>
          <a:p>
            <a:pPr algn="l"/>
            <a:r>
              <a:rPr sz="2000" b="0">
                <a:solidFill>
                  <a:srgbClr val="FFFFFF"/>
                </a:solidFill>
                <a:latin typeface="Calibri"/>
              </a:rPr>
              <a:t>Azure SQL DB</a:t>
            </a:r>
          </a:p>
        </p:txBody>
      </p:sp>
      <p:sp>
        <p:nvSpPr>
          <p:cNvPr id="13" name="Rectangle 12"/>
          <p:cNvSpPr/>
          <p:nvPr/>
        </p:nvSpPr>
        <p:spPr>
          <a:xfrm>
            <a:off x="457200" y="2606040"/>
            <a:ext cx="11247120" cy="50292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651760"/>
            <a:ext cx="2651760" cy="502920"/>
          </a:xfrm>
          <a:prstGeom prst="rect">
            <a:avLst/>
          </a:prstGeom>
          <a:noFill/>
        </p:spPr>
        <p:txBody>
          <a:bodyPr wrap="square" anchor="t">
            <a:spAutoFit/>
          </a:bodyPr>
          <a:lstStyle/>
          <a:p>
            <a:pPr algn="l"/>
            <a:r>
              <a:rPr sz="2000" b="1">
                <a:solidFill>
                  <a:srgbClr val="FFFFFF"/>
                </a:solidFill>
                <a:latin typeface="Calibri"/>
              </a:rPr>
              <a:t>Document/NoSQL</a:t>
            </a:r>
          </a:p>
        </p:txBody>
      </p:sp>
      <p:sp>
        <p:nvSpPr>
          <p:cNvPr id="15" name="TextBox 14"/>
          <p:cNvSpPr txBox="1"/>
          <p:nvPr/>
        </p:nvSpPr>
        <p:spPr>
          <a:xfrm>
            <a:off x="3291840" y="2651760"/>
            <a:ext cx="2560320" cy="502920"/>
          </a:xfrm>
          <a:prstGeom prst="rect">
            <a:avLst/>
          </a:prstGeom>
          <a:noFill/>
        </p:spPr>
        <p:txBody>
          <a:bodyPr wrap="square" anchor="t">
            <a:spAutoFit/>
          </a:bodyPr>
          <a:lstStyle/>
          <a:p>
            <a:pPr algn="l"/>
            <a:r>
              <a:rPr sz="2000" b="0">
                <a:solidFill>
                  <a:srgbClr val="FFFFFF"/>
                </a:solidFill>
                <a:latin typeface="Calibri"/>
              </a:rPr>
              <a:t>DynamoDB / DocDB</a:t>
            </a:r>
          </a:p>
        </p:txBody>
      </p:sp>
      <p:sp>
        <p:nvSpPr>
          <p:cNvPr id="16" name="TextBox 15"/>
          <p:cNvSpPr txBox="1"/>
          <p:nvPr/>
        </p:nvSpPr>
        <p:spPr>
          <a:xfrm>
            <a:off x="5943600" y="2651760"/>
            <a:ext cx="2560320" cy="502920"/>
          </a:xfrm>
          <a:prstGeom prst="rect">
            <a:avLst/>
          </a:prstGeom>
          <a:noFill/>
        </p:spPr>
        <p:txBody>
          <a:bodyPr wrap="square" anchor="t">
            <a:spAutoFit/>
          </a:bodyPr>
          <a:lstStyle/>
          <a:p>
            <a:pPr algn="l"/>
            <a:r>
              <a:rPr sz="2000" b="0">
                <a:solidFill>
                  <a:srgbClr val="FFFFFF"/>
                </a:solidFill>
                <a:latin typeface="Calibri"/>
              </a:rPr>
              <a:t>Firestore / Bigtable</a:t>
            </a:r>
          </a:p>
        </p:txBody>
      </p:sp>
      <p:sp>
        <p:nvSpPr>
          <p:cNvPr id="17" name="TextBox 16"/>
          <p:cNvSpPr txBox="1"/>
          <p:nvPr/>
        </p:nvSpPr>
        <p:spPr>
          <a:xfrm>
            <a:off x="8595360" y="2651760"/>
            <a:ext cx="3108960" cy="502920"/>
          </a:xfrm>
          <a:prstGeom prst="rect">
            <a:avLst/>
          </a:prstGeom>
          <a:noFill/>
        </p:spPr>
        <p:txBody>
          <a:bodyPr wrap="square" anchor="t">
            <a:spAutoFit/>
          </a:bodyPr>
          <a:lstStyle/>
          <a:p>
            <a:pPr algn="l"/>
            <a:r>
              <a:rPr sz="2000" b="0">
                <a:solidFill>
                  <a:srgbClr val="FFFFFF"/>
                </a:solidFill>
                <a:latin typeface="Calibri"/>
              </a:rPr>
              <a:t>Cosmos DB</a:t>
            </a:r>
          </a:p>
        </p:txBody>
      </p:sp>
      <p:sp>
        <p:nvSpPr>
          <p:cNvPr id="18" name="TextBox 17"/>
          <p:cNvSpPr txBox="1"/>
          <p:nvPr/>
        </p:nvSpPr>
        <p:spPr>
          <a:xfrm>
            <a:off x="548640" y="3154680"/>
            <a:ext cx="2651760" cy="502920"/>
          </a:xfrm>
          <a:prstGeom prst="rect">
            <a:avLst/>
          </a:prstGeom>
          <a:noFill/>
        </p:spPr>
        <p:txBody>
          <a:bodyPr wrap="square" anchor="t">
            <a:spAutoFit/>
          </a:bodyPr>
          <a:lstStyle/>
          <a:p>
            <a:pPr algn="l"/>
            <a:r>
              <a:rPr sz="2000" b="1">
                <a:solidFill>
                  <a:srgbClr val="FFFFFF"/>
                </a:solidFill>
                <a:latin typeface="Calibri"/>
              </a:rPr>
              <a:t>Warehouse</a:t>
            </a:r>
          </a:p>
        </p:txBody>
      </p:sp>
      <p:sp>
        <p:nvSpPr>
          <p:cNvPr id="19" name="TextBox 18"/>
          <p:cNvSpPr txBox="1"/>
          <p:nvPr/>
        </p:nvSpPr>
        <p:spPr>
          <a:xfrm>
            <a:off x="3291840" y="3154680"/>
            <a:ext cx="2560320" cy="502920"/>
          </a:xfrm>
          <a:prstGeom prst="rect">
            <a:avLst/>
          </a:prstGeom>
          <a:noFill/>
        </p:spPr>
        <p:txBody>
          <a:bodyPr wrap="square" anchor="t">
            <a:spAutoFit/>
          </a:bodyPr>
          <a:lstStyle/>
          <a:p>
            <a:pPr algn="l"/>
            <a:r>
              <a:rPr sz="2000" b="0">
                <a:solidFill>
                  <a:srgbClr val="FFFFFF"/>
                </a:solidFill>
                <a:latin typeface="Calibri"/>
              </a:rPr>
              <a:t>Redshift / Athena</a:t>
            </a:r>
          </a:p>
        </p:txBody>
      </p:sp>
      <p:sp>
        <p:nvSpPr>
          <p:cNvPr id="20" name="TextBox 19"/>
          <p:cNvSpPr txBox="1"/>
          <p:nvPr/>
        </p:nvSpPr>
        <p:spPr>
          <a:xfrm>
            <a:off x="5943600" y="3154680"/>
            <a:ext cx="2560320" cy="502920"/>
          </a:xfrm>
          <a:prstGeom prst="rect">
            <a:avLst/>
          </a:prstGeom>
          <a:noFill/>
        </p:spPr>
        <p:txBody>
          <a:bodyPr wrap="square" anchor="t">
            <a:spAutoFit/>
          </a:bodyPr>
          <a:lstStyle/>
          <a:p>
            <a:pPr algn="l"/>
            <a:r>
              <a:rPr sz="2000" b="0">
                <a:solidFill>
                  <a:srgbClr val="FFFFFF"/>
                </a:solidFill>
                <a:latin typeface="Calibri"/>
              </a:rPr>
              <a:t>BigAbfrage</a:t>
            </a:r>
          </a:p>
        </p:txBody>
      </p:sp>
      <p:sp>
        <p:nvSpPr>
          <p:cNvPr id="21" name="TextBox 20"/>
          <p:cNvSpPr txBox="1"/>
          <p:nvPr/>
        </p:nvSpPr>
        <p:spPr>
          <a:xfrm>
            <a:off x="8595360" y="3154680"/>
            <a:ext cx="3108960" cy="502920"/>
          </a:xfrm>
          <a:prstGeom prst="rect">
            <a:avLst/>
          </a:prstGeom>
          <a:noFill/>
        </p:spPr>
        <p:txBody>
          <a:bodyPr wrap="square" anchor="t">
            <a:spAutoFit/>
          </a:bodyPr>
          <a:lstStyle/>
          <a:p>
            <a:pPr algn="l"/>
            <a:r>
              <a:rPr sz="2000" b="0">
                <a:solidFill>
                  <a:srgbClr val="FFFFFF"/>
                </a:solidFill>
                <a:latin typeface="Calibri"/>
              </a:rPr>
              <a:t>Synapse</a:t>
            </a:r>
          </a:p>
        </p:txBody>
      </p:sp>
      <p:sp>
        <p:nvSpPr>
          <p:cNvPr id="22" name="Rectangle 21"/>
          <p:cNvSpPr/>
          <p:nvPr/>
        </p:nvSpPr>
        <p:spPr>
          <a:xfrm>
            <a:off x="457200" y="3611880"/>
            <a:ext cx="11247120" cy="50292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3657600"/>
            <a:ext cx="2651760" cy="502920"/>
          </a:xfrm>
          <a:prstGeom prst="rect">
            <a:avLst/>
          </a:prstGeom>
          <a:noFill/>
        </p:spPr>
        <p:txBody>
          <a:bodyPr wrap="square" anchor="t">
            <a:spAutoFit/>
          </a:bodyPr>
          <a:lstStyle/>
          <a:p>
            <a:pPr algn="l"/>
            <a:r>
              <a:rPr sz="2000" b="1">
                <a:solidFill>
                  <a:srgbClr val="FFFFFF"/>
                </a:solidFill>
                <a:latin typeface="Calibri"/>
              </a:rPr>
              <a:t>Cache</a:t>
            </a:r>
          </a:p>
        </p:txBody>
      </p:sp>
      <p:sp>
        <p:nvSpPr>
          <p:cNvPr id="24" name="TextBox 23"/>
          <p:cNvSpPr txBox="1"/>
          <p:nvPr/>
        </p:nvSpPr>
        <p:spPr>
          <a:xfrm>
            <a:off x="3291840" y="3657600"/>
            <a:ext cx="2560320" cy="502920"/>
          </a:xfrm>
          <a:prstGeom prst="rect">
            <a:avLst/>
          </a:prstGeom>
          <a:noFill/>
        </p:spPr>
        <p:txBody>
          <a:bodyPr wrap="square" anchor="t">
            <a:spAutoFit/>
          </a:bodyPr>
          <a:lstStyle/>
          <a:p>
            <a:pPr algn="l"/>
            <a:r>
              <a:rPr sz="2000" b="0">
                <a:solidFill>
                  <a:srgbClr val="FFFFFF"/>
                </a:solidFill>
                <a:latin typeface="Calibri"/>
              </a:rPr>
              <a:t>ElastiCache</a:t>
            </a:r>
          </a:p>
        </p:txBody>
      </p:sp>
      <p:sp>
        <p:nvSpPr>
          <p:cNvPr id="25" name="TextBox 24"/>
          <p:cNvSpPr txBox="1"/>
          <p:nvPr/>
        </p:nvSpPr>
        <p:spPr>
          <a:xfrm>
            <a:off x="5943600" y="3657600"/>
            <a:ext cx="2560320" cy="502920"/>
          </a:xfrm>
          <a:prstGeom prst="rect">
            <a:avLst/>
          </a:prstGeom>
          <a:noFill/>
        </p:spPr>
        <p:txBody>
          <a:bodyPr wrap="square" anchor="t">
            <a:spAutoFit/>
          </a:bodyPr>
          <a:lstStyle/>
          <a:p>
            <a:pPr algn="l"/>
            <a:r>
              <a:rPr sz="2000" b="0">
                <a:solidFill>
                  <a:srgbClr val="FFFFFF"/>
                </a:solidFill>
                <a:latin typeface="Calibri"/>
              </a:rPr>
              <a:t>Memorystore</a:t>
            </a:r>
          </a:p>
        </p:txBody>
      </p:sp>
      <p:sp>
        <p:nvSpPr>
          <p:cNvPr id="26" name="TextBox 25"/>
          <p:cNvSpPr txBox="1"/>
          <p:nvPr/>
        </p:nvSpPr>
        <p:spPr>
          <a:xfrm>
            <a:off x="8595360" y="3657600"/>
            <a:ext cx="3108960" cy="502920"/>
          </a:xfrm>
          <a:prstGeom prst="rect">
            <a:avLst/>
          </a:prstGeom>
          <a:noFill/>
        </p:spPr>
        <p:txBody>
          <a:bodyPr wrap="square" anchor="t">
            <a:spAutoFit/>
          </a:bodyPr>
          <a:lstStyle/>
          <a:p>
            <a:pPr algn="l"/>
            <a:r>
              <a:rPr sz="2000" b="0">
                <a:solidFill>
                  <a:srgbClr val="FFFFFF"/>
                </a:solidFill>
                <a:latin typeface="Calibri"/>
              </a:rPr>
              <a:t>Cache for Redis</a:t>
            </a:r>
          </a:p>
        </p:txBody>
      </p:sp>
      <p:sp>
        <p:nvSpPr>
          <p:cNvPr id="27" name="TextBox 26"/>
          <p:cNvSpPr txBox="1"/>
          <p:nvPr/>
        </p:nvSpPr>
        <p:spPr>
          <a:xfrm>
            <a:off x="548640" y="4160520"/>
            <a:ext cx="2651760" cy="502920"/>
          </a:xfrm>
          <a:prstGeom prst="rect">
            <a:avLst/>
          </a:prstGeom>
          <a:noFill/>
        </p:spPr>
        <p:txBody>
          <a:bodyPr wrap="square" anchor="t">
            <a:spAutoFit/>
          </a:bodyPr>
          <a:lstStyle/>
          <a:p>
            <a:pPr algn="l"/>
            <a:r>
              <a:rPr sz="2000" b="1">
                <a:solidFill>
                  <a:srgbClr val="FFFFFF"/>
                </a:solidFill>
                <a:latin typeface="Calibri"/>
              </a:rPr>
              <a:t>Graph</a:t>
            </a:r>
          </a:p>
        </p:txBody>
      </p:sp>
      <p:sp>
        <p:nvSpPr>
          <p:cNvPr id="28" name="TextBox 27"/>
          <p:cNvSpPr txBox="1"/>
          <p:nvPr/>
        </p:nvSpPr>
        <p:spPr>
          <a:xfrm>
            <a:off x="3291840" y="4160520"/>
            <a:ext cx="2560320" cy="502920"/>
          </a:xfrm>
          <a:prstGeom prst="rect">
            <a:avLst/>
          </a:prstGeom>
          <a:noFill/>
        </p:spPr>
        <p:txBody>
          <a:bodyPr wrap="square" anchor="t">
            <a:spAutoFit/>
          </a:bodyPr>
          <a:lstStyle/>
          <a:p>
            <a:pPr algn="l"/>
            <a:r>
              <a:rPr sz="2000" b="0">
                <a:solidFill>
                  <a:srgbClr val="FFFFFF"/>
                </a:solidFill>
                <a:latin typeface="Calibri"/>
              </a:rPr>
              <a:t>Neptune</a:t>
            </a:r>
          </a:p>
        </p:txBody>
      </p:sp>
      <p:sp>
        <p:nvSpPr>
          <p:cNvPr id="29" name="TextBox 28"/>
          <p:cNvSpPr txBox="1"/>
          <p:nvPr/>
        </p:nvSpPr>
        <p:spPr>
          <a:xfrm>
            <a:off x="5943600" y="4160520"/>
            <a:ext cx="2560320" cy="502920"/>
          </a:xfrm>
          <a:prstGeom prst="rect">
            <a:avLst/>
          </a:prstGeom>
          <a:noFill/>
        </p:spPr>
        <p:txBody>
          <a:bodyPr wrap="square" anchor="t">
            <a:spAutoFit/>
          </a:bodyPr>
          <a:lstStyle/>
          <a:p>
            <a:pPr algn="l"/>
            <a:r>
              <a:rPr sz="2000" b="0">
                <a:solidFill>
                  <a:srgbClr val="FFFFFF"/>
                </a:solidFill>
                <a:latin typeface="Calibri"/>
              </a:rPr>
              <a:t>—</a:t>
            </a:r>
          </a:p>
        </p:txBody>
      </p:sp>
      <p:sp>
        <p:nvSpPr>
          <p:cNvPr id="30" name="TextBox 29"/>
          <p:cNvSpPr txBox="1"/>
          <p:nvPr/>
        </p:nvSpPr>
        <p:spPr>
          <a:xfrm>
            <a:off x="8595360" y="4160520"/>
            <a:ext cx="3108960" cy="502920"/>
          </a:xfrm>
          <a:prstGeom prst="rect">
            <a:avLst/>
          </a:prstGeom>
          <a:noFill/>
        </p:spPr>
        <p:txBody>
          <a:bodyPr wrap="square" anchor="t">
            <a:spAutoFit/>
          </a:bodyPr>
          <a:lstStyle/>
          <a:p>
            <a:pPr algn="l"/>
            <a:r>
              <a:rPr sz="2000" b="0">
                <a:solidFill>
                  <a:srgbClr val="FFFFFF"/>
                </a:solidFill>
                <a:latin typeface="Calibri"/>
              </a:rPr>
              <a:t>Cosmos DB graph</a:t>
            </a:r>
          </a:p>
        </p:txBody>
      </p:sp>
      <p:sp>
        <p:nvSpPr>
          <p:cNvPr id="31" name="Rectangle 30"/>
          <p:cNvSpPr/>
          <p:nvPr/>
        </p:nvSpPr>
        <p:spPr>
          <a:xfrm>
            <a:off x="457200" y="4617720"/>
            <a:ext cx="11247120" cy="50292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4663440"/>
            <a:ext cx="2651760" cy="502920"/>
          </a:xfrm>
          <a:prstGeom prst="rect">
            <a:avLst/>
          </a:prstGeom>
          <a:noFill/>
        </p:spPr>
        <p:txBody>
          <a:bodyPr wrap="square" anchor="t">
            <a:spAutoFit/>
          </a:bodyPr>
          <a:lstStyle/>
          <a:p>
            <a:pPr algn="l"/>
            <a:r>
              <a:rPr sz="2000" b="1">
                <a:solidFill>
                  <a:srgbClr val="FFFFFF"/>
                </a:solidFill>
                <a:latin typeface="Calibri"/>
              </a:rPr>
              <a:t>Zeitreihen</a:t>
            </a:r>
          </a:p>
        </p:txBody>
      </p:sp>
      <p:sp>
        <p:nvSpPr>
          <p:cNvPr id="33" name="TextBox 32"/>
          <p:cNvSpPr txBox="1"/>
          <p:nvPr/>
        </p:nvSpPr>
        <p:spPr>
          <a:xfrm>
            <a:off x="3291840" y="4663440"/>
            <a:ext cx="2560320" cy="502920"/>
          </a:xfrm>
          <a:prstGeom prst="rect">
            <a:avLst/>
          </a:prstGeom>
          <a:noFill/>
        </p:spPr>
        <p:txBody>
          <a:bodyPr wrap="square" anchor="t">
            <a:spAutoFit/>
          </a:bodyPr>
          <a:lstStyle/>
          <a:p>
            <a:pPr algn="l"/>
            <a:r>
              <a:rPr sz="2000" b="0">
                <a:solidFill>
                  <a:srgbClr val="FFFFFF"/>
                </a:solidFill>
                <a:latin typeface="Calibri"/>
              </a:rPr>
              <a:t>Timestream</a:t>
            </a:r>
          </a:p>
        </p:txBody>
      </p:sp>
      <p:sp>
        <p:nvSpPr>
          <p:cNvPr id="34" name="TextBox 33"/>
          <p:cNvSpPr txBox="1"/>
          <p:nvPr/>
        </p:nvSpPr>
        <p:spPr>
          <a:xfrm>
            <a:off x="5943600" y="4663440"/>
            <a:ext cx="2560320" cy="502920"/>
          </a:xfrm>
          <a:prstGeom prst="rect">
            <a:avLst/>
          </a:prstGeom>
          <a:noFill/>
        </p:spPr>
        <p:txBody>
          <a:bodyPr wrap="square" anchor="t">
            <a:spAutoFit/>
          </a:bodyPr>
          <a:lstStyle/>
          <a:p>
            <a:pPr algn="l"/>
            <a:r>
              <a:rPr sz="2000" b="0">
                <a:solidFill>
                  <a:srgbClr val="FFFFFF"/>
                </a:solidFill>
                <a:latin typeface="Calibri"/>
              </a:rPr>
              <a:t>—</a:t>
            </a:r>
          </a:p>
        </p:txBody>
      </p:sp>
      <p:sp>
        <p:nvSpPr>
          <p:cNvPr id="35" name="TextBox 34"/>
          <p:cNvSpPr txBox="1"/>
          <p:nvPr/>
        </p:nvSpPr>
        <p:spPr>
          <a:xfrm>
            <a:off x="8595360" y="4663440"/>
            <a:ext cx="3108960" cy="502920"/>
          </a:xfrm>
          <a:prstGeom prst="rect">
            <a:avLst/>
          </a:prstGeom>
          <a:noFill/>
        </p:spPr>
        <p:txBody>
          <a:bodyPr wrap="square" anchor="t">
            <a:spAutoFit/>
          </a:bodyPr>
          <a:lstStyle/>
          <a:p>
            <a:pPr algn="l"/>
            <a:r>
              <a:rPr sz="2000" b="0">
                <a:solidFill>
                  <a:srgbClr val="FFFFFF"/>
                </a:solidFill>
                <a:latin typeface="Calibri"/>
              </a:rPr>
              <a:t>—</a:t>
            </a:r>
          </a:p>
        </p:txBody>
      </p:sp>
      <p:sp>
        <p:nvSpPr>
          <p:cNvPr id="36" name="TextBox 35"/>
          <p:cNvSpPr txBox="1"/>
          <p:nvPr/>
        </p:nvSpPr>
        <p:spPr>
          <a:xfrm>
            <a:off x="548640" y="5166360"/>
            <a:ext cx="2651760" cy="502920"/>
          </a:xfrm>
          <a:prstGeom prst="rect">
            <a:avLst/>
          </a:prstGeom>
          <a:noFill/>
        </p:spPr>
        <p:txBody>
          <a:bodyPr wrap="square" anchor="t">
            <a:spAutoFit/>
          </a:bodyPr>
          <a:lstStyle/>
          <a:p>
            <a:pPr algn="l"/>
            <a:r>
              <a:rPr sz="2000" b="1">
                <a:solidFill>
                  <a:srgbClr val="FFFFFF"/>
                </a:solidFill>
                <a:latin typeface="Calibri"/>
              </a:rPr>
              <a:t>Object Storage</a:t>
            </a:r>
          </a:p>
        </p:txBody>
      </p:sp>
      <p:sp>
        <p:nvSpPr>
          <p:cNvPr id="37" name="TextBox 36"/>
          <p:cNvSpPr txBox="1"/>
          <p:nvPr/>
        </p:nvSpPr>
        <p:spPr>
          <a:xfrm>
            <a:off x="3291840" y="5166360"/>
            <a:ext cx="2560320" cy="502920"/>
          </a:xfrm>
          <a:prstGeom prst="rect">
            <a:avLst/>
          </a:prstGeom>
          <a:noFill/>
        </p:spPr>
        <p:txBody>
          <a:bodyPr wrap="square" anchor="t">
            <a:spAutoFit/>
          </a:bodyPr>
          <a:lstStyle/>
          <a:p>
            <a:pPr algn="l"/>
            <a:r>
              <a:rPr sz="2000" b="0">
                <a:solidFill>
                  <a:srgbClr val="FFFFFF"/>
                </a:solidFill>
                <a:latin typeface="Calibri"/>
              </a:rPr>
              <a:t>S3</a:t>
            </a:r>
          </a:p>
        </p:txBody>
      </p:sp>
      <p:sp>
        <p:nvSpPr>
          <p:cNvPr id="38" name="TextBox 37"/>
          <p:cNvSpPr txBox="1"/>
          <p:nvPr/>
        </p:nvSpPr>
        <p:spPr>
          <a:xfrm>
            <a:off x="5943600" y="5166360"/>
            <a:ext cx="2560320" cy="502920"/>
          </a:xfrm>
          <a:prstGeom prst="rect">
            <a:avLst/>
          </a:prstGeom>
          <a:noFill/>
        </p:spPr>
        <p:txBody>
          <a:bodyPr wrap="square" anchor="t">
            <a:spAutoFit/>
          </a:bodyPr>
          <a:lstStyle/>
          <a:p>
            <a:pPr algn="l"/>
            <a:r>
              <a:rPr sz="2000" b="0">
                <a:solidFill>
                  <a:srgbClr val="FFFFFF"/>
                </a:solidFill>
                <a:latin typeface="Calibri"/>
              </a:rPr>
              <a:t>Cloud Storage</a:t>
            </a:r>
          </a:p>
        </p:txBody>
      </p:sp>
      <p:sp>
        <p:nvSpPr>
          <p:cNvPr id="39" name="TextBox 38"/>
          <p:cNvSpPr txBox="1"/>
          <p:nvPr/>
        </p:nvSpPr>
        <p:spPr>
          <a:xfrm>
            <a:off x="8595360" y="5166360"/>
            <a:ext cx="3108960" cy="502920"/>
          </a:xfrm>
          <a:prstGeom prst="rect">
            <a:avLst/>
          </a:prstGeom>
          <a:noFill/>
        </p:spPr>
        <p:txBody>
          <a:bodyPr wrap="square" anchor="t">
            <a:spAutoFit/>
          </a:bodyPr>
          <a:lstStyle/>
          <a:p>
            <a:pPr algn="l"/>
            <a:r>
              <a:rPr sz="2000" b="0">
                <a:solidFill>
                  <a:srgbClr val="FFFFFF"/>
                </a:solidFill>
                <a:latin typeface="Calibri"/>
              </a:rPr>
              <a:t>Blob Storage</a:t>
            </a:r>
          </a:p>
        </p:txBody>
      </p:sp>
      <p:sp>
        <p:nvSpPr>
          <p:cNvPr id="40" name="TextBox 39"/>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41" name="TextBox 40"/>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19 / 44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Two-column diagram contrasting what the cloud vendor owns (hypervisor, engine, hardware) versus what the customer owns (config, IAM, data, encryption)." title="Two-column diagram contrasting what the cloud vendor owns (hypervisor, engine, h"/>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Modell der Geteilten Verantwortung</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828800"/>
            <a:ext cx="5577840" cy="4114800"/>
          </a:xfrm>
          <a:prstGeom prst="roundRect">
            <a:avLst/>
          </a:prstGeom>
          <a:solidFill>
            <a:srgbClr val="122A18"/>
          </a:solidFill>
          <a:ln w="38100">
            <a:solidFill>
              <a:srgbClr val="00FF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65960"/>
            <a:ext cx="5394960" cy="640080"/>
          </a:xfrm>
          <a:prstGeom prst="rect">
            <a:avLst/>
          </a:prstGeom>
          <a:noFill/>
        </p:spPr>
        <p:txBody>
          <a:bodyPr wrap="square" anchor="t">
            <a:spAutoFit/>
          </a:bodyPr>
          <a:lstStyle/>
          <a:p>
            <a:pPr algn="l"/>
            <a:r>
              <a:rPr sz="2400" b="1">
                <a:solidFill>
                  <a:srgbClr val="00FF41"/>
                </a:solidFill>
                <a:latin typeface="Calibri"/>
              </a:rPr>
              <a:t>✓  CLOUD VENDOR OWNS</a:t>
            </a:r>
          </a:p>
        </p:txBody>
      </p:sp>
      <p:sp>
        <p:nvSpPr>
          <p:cNvPr id="6" name="TextBox 5"/>
          <p:cNvSpPr txBox="1"/>
          <p:nvPr/>
        </p:nvSpPr>
        <p:spPr>
          <a:xfrm>
            <a:off x="640080" y="2697480"/>
            <a:ext cx="5303520" cy="3108960"/>
          </a:xfrm>
          <a:prstGeom prst="rect">
            <a:avLst/>
          </a:prstGeom>
          <a:noFill/>
        </p:spPr>
        <p:txBody>
          <a:bodyPr wrap="square">
            <a:spAutoFit/>
          </a:bodyPr>
          <a:lstStyle/>
          <a:p>
            <a:pPr algn="l">
              <a:lnSpc>
                <a:spcPct val="140000"/>
              </a:lnSpc>
            </a:pPr>
            <a:r>
              <a:rPr sz="2400" b="1">
                <a:solidFill>
                  <a:srgbClr val="00D4FF"/>
                </a:solidFill>
                <a:latin typeface="Calibri"/>
              </a:rPr>
              <a:t>● </a:t>
            </a:r>
            <a:r>
              <a:rPr sz="2400">
                <a:solidFill>
                  <a:srgbClr val="FFFFFF"/>
                </a:solidFill>
                <a:latin typeface="Calibri"/>
              </a:rPr>
              <a:t>Hypervisor &amp; metal</a:t>
            </a:r>
          </a:p>
          <a:p>
            <a:pPr algn="l">
              <a:lnSpc>
                <a:spcPct val="140000"/>
              </a:lnSpc>
            </a:pPr>
            <a:r>
              <a:rPr sz="2400" b="1">
                <a:solidFill>
                  <a:srgbClr val="00D4FF"/>
                </a:solidFill>
                <a:latin typeface="Calibri"/>
              </a:rPr>
              <a:t>● </a:t>
            </a:r>
            <a:r>
              <a:rPr sz="2400">
                <a:solidFill>
                  <a:srgbClr val="FFFFFF"/>
                </a:solidFill>
                <a:latin typeface="Calibri"/>
              </a:rPr>
              <a:t>DB engine patches</a:t>
            </a:r>
          </a:p>
          <a:p>
            <a:pPr algn="l">
              <a:lnSpc>
                <a:spcPct val="140000"/>
              </a:lnSpc>
            </a:pPr>
            <a:r>
              <a:rPr sz="2400" b="1">
                <a:solidFill>
                  <a:srgbClr val="00D4FF"/>
                </a:solidFill>
                <a:latin typeface="Calibri"/>
              </a:rPr>
              <a:t>● </a:t>
            </a:r>
            <a:r>
              <a:rPr sz="2400">
                <a:solidFill>
                  <a:srgbClr val="FFFFFF"/>
                </a:solidFill>
                <a:latin typeface="Calibri"/>
              </a:rPr>
              <a:t>Physical security</a:t>
            </a:r>
          </a:p>
          <a:p>
            <a:pPr algn="l">
              <a:lnSpc>
                <a:spcPct val="140000"/>
              </a:lnSpc>
            </a:pPr>
            <a:r>
              <a:rPr sz="2400" b="1">
                <a:solidFill>
                  <a:srgbClr val="00D4FF"/>
                </a:solidFill>
                <a:latin typeface="Calibri"/>
              </a:rPr>
              <a:t>● </a:t>
            </a:r>
            <a:r>
              <a:rPr sz="2400">
                <a:solidFill>
                  <a:srgbClr val="FFFFFF"/>
                </a:solidFill>
                <a:latin typeface="Calibri"/>
              </a:rPr>
              <a:t>Underlying network</a:t>
            </a:r>
          </a:p>
        </p:txBody>
      </p:sp>
      <p:sp>
        <p:nvSpPr>
          <p:cNvPr id="7" name="Rounded Rectangle 6"/>
          <p:cNvSpPr/>
          <p:nvPr/>
        </p:nvSpPr>
        <p:spPr>
          <a:xfrm>
            <a:off x="6172200" y="1828800"/>
            <a:ext cx="5577840" cy="4114800"/>
          </a:xfrm>
          <a:prstGeom prst="roundRect">
            <a:avLst/>
          </a:prstGeom>
          <a:solidFill>
            <a:srgbClr val="3A1F14"/>
          </a:solidFill>
          <a:ln w="381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63640" y="1965960"/>
            <a:ext cx="5394960" cy="640080"/>
          </a:xfrm>
          <a:prstGeom prst="rect">
            <a:avLst/>
          </a:prstGeom>
          <a:noFill/>
        </p:spPr>
        <p:txBody>
          <a:bodyPr wrap="square" anchor="t">
            <a:spAutoFit/>
          </a:bodyPr>
          <a:lstStyle/>
          <a:p>
            <a:pPr algn="l"/>
            <a:r>
              <a:rPr sz="2400" b="1">
                <a:solidFill>
                  <a:srgbClr val="FF6B35"/>
                </a:solidFill>
                <a:latin typeface="Calibri"/>
              </a:rPr>
              <a:t>⚠  YOU OWN</a:t>
            </a:r>
          </a:p>
        </p:txBody>
      </p:sp>
      <p:sp>
        <p:nvSpPr>
          <p:cNvPr id="9" name="TextBox 8"/>
          <p:cNvSpPr txBox="1"/>
          <p:nvPr/>
        </p:nvSpPr>
        <p:spPr>
          <a:xfrm>
            <a:off x="6355080" y="2697480"/>
            <a:ext cx="5303520" cy="3108960"/>
          </a:xfrm>
          <a:prstGeom prst="rect">
            <a:avLst/>
          </a:prstGeom>
          <a:noFill/>
        </p:spPr>
        <p:txBody>
          <a:bodyPr wrap="square">
            <a:spAutoFit/>
          </a:bodyPr>
          <a:lstStyle/>
          <a:p>
            <a:pPr algn="l">
              <a:lnSpc>
                <a:spcPct val="140000"/>
              </a:lnSpc>
            </a:pPr>
            <a:r>
              <a:rPr sz="2400" b="1">
                <a:solidFill>
                  <a:srgbClr val="00D4FF"/>
                </a:solidFill>
                <a:latin typeface="Calibri"/>
              </a:rPr>
              <a:t>● </a:t>
            </a:r>
            <a:r>
              <a:rPr sz="2400">
                <a:solidFill>
                  <a:srgbClr val="FFFFFF"/>
                </a:solidFill>
                <a:latin typeface="Calibri"/>
              </a:rPr>
              <a:t>Configuration</a:t>
            </a:r>
          </a:p>
          <a:p>
            <a:pPr algn="l">
              <a:lnSpc>
                <a:spcPct val="140000"/>
              </a:lnSpc>
            </a:pPr>
            <a:r>
              <a:rPr sz="2400" b="1">
                <a:solidFill>
                  <a:srgbClr val="00D4FF"/>
                </a:solidFill>
                <a:latin typeface="Calibri"/>
              </a:rPr>
              <a:t>● </a:t>
            </a:r>
            <a:r>
              <a:rPr sz="2400">
                <a:solidFill>
                  <a:srgbClr val="FFFFFF"/>
                </a:solidFill>
                <a:latin typeface="Calibri"/>
              </a:rPr>
              <a:t>Access policies (IAM)</a:t>
            </a:r>
          </a:p>
          <a:p>
            <a:pPr algn="l">
              <a:lnSpc>
                <a:spcPct val="140000"/>
              </a:lnSpc>
            </a:pPr>
            <a:r>
              <a:rPr sz="2400" b="1">
                <a:solidFill>
                  <a:srgbClr val="00D4FF"/>
                </a:solidFill>
                <a:latin typeface="Calibri"/>
              </a:rPr>
              <a:t>● </a:t>
            </a:r>
            <a:r>
              <a:rPr sz="2400">
                <a:solidFill>
                  <a:srgbClr val="FFFFFF"/>
                </a:solidFill>
                <a:latin typeface="Calibri"/>
              </a:rPr>
              <a:t>Data itself</a:t>
            </a:r>
          </a:p>
          <a:p>
            <a:pPr algn="l">
              <a:lnSpc>
                <a:spcPct val="140000"/>
              </a:lnSpc>
            </a:pPr>
            <a:r>
              <a:rPr sz="2400" b="1">
                <a:solidFill>
                  <a:srgbClr val="00D4FF"/>
                </a:solidFill>
                <a:latin typeface="Calibri"/>
              </a:rPr>
              <a:t>● </a:t>
            </a:r>
            <a:r>
              <a:rPr sz="2400">
                <a:solidFill>
                  <a:srgbClr val="FFFFFF"/>
                </a:solidFill>
                <a:latin typeface="Calibri"/>
              </a:rPr>
              <a:t>Encryption choices</a:t>
            </a:r>
          </a:p>
        </p:txBody>
      </p:sp>
      <p:sp>
        <p:nvSpPr>
          <p:cNvPr id="10" name="TextBox 9"/>
          <p:cNvSpPr txBox="1"/>
          <p:nvPr/>
        </p:nvSpPr>
        <p:spPr>
          <a:xfrm>
            <a:off x="457200" y="6035040"/>
            <a:ext cx="11247120" cy="457200"/>
          </a:xfrm>
          <a:prstGeom prst="rect">
            <a:avLst/>
          </a:prstGeom>
          <a:noFill/>
        </p:spPr>
        <p:txBody>
          <a:bodyPr wrap="square" anchor="t">
            <a:spAutoFit/>
          </a:bodyPr>
          <a:lstStyle/>
          <a:p>
            <a:pPr algn="ctr"/>
            <a:r>
              <a:rPr sz="2200" b="1">
                <a:solidFill>
                  <a:srgbClr val="00D4FF"/>
                </a:solidFill>
                <a:latin typeface="Calibri"/>
              </a:rPr>
              <a:t>Almost every cloud DB breach = customer misconfiguration.</a:t>
            </a:r>
          </a:p>
        </p:txBody>
      </p:sp>
      <p:sp>
        <p:nvSpPr>
          <p:cNvPr id="11" name="TextBox 10"/>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12" name="TextBox 11"/>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20 / 44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Table of common database ports: MySQL 3306, PostgreSQL 5432, MS SQL 1433, MongoDB 27017, Redis 6379, Elasticsearch 9200, Cassandra 9042." title="Table of common database ports: MySQL 3306, PostgreSQL 5432, MS SQL 1433, MongoD"/>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Common DB Ports — Burn These In</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2286000" cy="548640"/>
          </a:xfrm>
          <a:prstGeom prst="rect">
            <a:avLst/>
          </a:prstGeom>
          <a:noFill/>
        </p:spPr>
        <p:txBody>
          <a:bodyPr wrap="square" anchor="t">
            <a:spAutoFit/>
          </a:bodyPr>
          <a:lstStyle/>
          <a:p>
            <a:pPr algn="r"/>
            <a:r>
              <a:rPr sz="3600" b="1">
                <a:solidFill>
                  <a:srgbClr val="00FF41"/>
                </a:solidFill>
                <a:latin typeface="Calibri"/>
              </a:rPr>
              <a:t>3306</a:t>
            </a:r>
          </a:p>
        </p:txBody>
      </p:sp>
      <p:sp>
        <p:nvSpPr>
          <p:cNvPr id="5" name="TextBox 4"/>
          <p:cNvSpPr txBox="1"/>
          <p:nvPr/>
        </p:nvSpPr>
        <p:spPr>
          <a:xfrm>
            <a:off x="3840480" y="1645920"/>
            <a:ext cx="548640" cy="548640"/>
          </a:xfrm>
          <a:prstGeom prst="rect">
            <a:avLst/>
          </a:prstGeom>
          <a:noFill/>
        </p:spPr>
        <p:txBody>
          <a:bodyPr wrap="square" anchor="t">
            <a:spAutoFit/>
          </a:bodyPr>
          <a:lstStyle/>
          <a:p>
            <a:pPr algn="l"/>
            <a:r>
              <a:rPr sz="2800" b="0">
                <a:solidFill>
                  <a:srgbClr val="00D4FF"/>
                </a:solidFill>
                <a:latin typeface="Calibri"/>
              </a:rPr>
              <a:t>▶</a:t>
            </a:r>
          </a:p>
        </p:txBody>
      </p:sp>
      <p:sp>
        <p:nvSpPr>
          <p:cNvPr id="6" name="TextBox 5"/>
          <p:cNvSpPr txBox="1"/>
          <p:nvPr/>
        </p:nvSpPr>
        <p:spPr>
          <a:xfrm>
            <a:off x="4480560" y="1645920"/>
            <a:ext cx="6400800" cy="548640"/>
          </a:xfrm>
          <a:prstGeom prst="rect">
            <a:avLst/>
          </a:prstGeom>
          <a:noFill/>
        </p:spPr>
        <p:txBody>
          <a:bodyPr wrap="square" anchor="t">
            <a:spAutoFit/>
          </a:bodyPr>
          <a:lstStyle/>
          <a:p>
            <a:pPr algn="l"/>
            <a:r>
              <a:rPr sz="3200" b="1">
                <a:solidFill>
                  <a:srgbClr val="FFFFFF"/>
                </a:solidFill>
                <a:latin typeface="Calibri"/>
              </a:rPr>
              <a:t>MySQL / MariaDB</a:t>
            </a:r>
          </a:p>
        </p:txBody>
      </p:sp>
      <p:sp>
        <p:nvSpPr>
          <p:cNvPr id="7" name="TextBox 6"/>
          <p:cNvSpPr txBox="1"/>
          <p:nvPr/>
        </p:nvSpPr>
        <p:spPr>
          <a:xfrm>
            <a:off x="1371600" y="2212848"/>
            <a:ext cx="2286000" cy="548640"/>
          </a:xfrm>
          <a:prstGeom prst="rect">
            <a:avLst/>
          </a:prstGeom>
          <a:noFill/>
        </p:spPr>
        <p:txBody>
          <a:bodyPr wrap="square" anchor="t">
            <a:spAutoFit/>
          </a:bodyPr>
          <a:lstStyle/>
          <a:p>
            <a:pPr algn="r"/>
            <a:r>
              <a:rPr sz="3600" b="1">
                <a:solidFill>
                  <a:srgbClr val="00FF41"/>
                </a:solidFill>
                <a:latin typeface="Calibri"/>
              </a:rPr>
              <a:t>5432</a:t>
            </a:r>
          </a:p>
        </p:txBody>
      </p:sp>
      <p:sp>
        <p:nvSpPr>
          <p:cNvPr id="8" name="TextBox 7"/>
          <p:cNvSpPr txBox="1"/>
          <p:nvPr/>
        </p:nvSpPr>
        <p:spPr>
          <a:xfrm>
            <a:off x="3840480" y="2212848"/>
            <a:ext cx="548640" cy="548640"/>
          </a:xfrm>
          <a:prstGeom prst="rect">
            <a:avLst/>
          </a:prstGeom>
          <a:noFill/>
        </p:spPr>
        <p:txBody>
          <a:bodyPr wrap="square" anchor="t">
            <a:spAutoFit/>
          </a:bodyPr>
          <a:lstStyle/>
          <a:p>
            <a:pPr algn="l"/>
            <a:r>
              <a:rPr sz="2800" b="0">
                <a:solidFill>
                  <a:srgbClr val="00D4FF"/>
                </a:solidFill>
                <a:latin typeface="Calibri"/>
              </a:rPr>
              <a:t>▶</a:t>
            </a:r>
          </a:p>
        </p:txBody>
      </p:sp>
      <p:sp>
        <p:nvSpPr>
          <p:cNvPr id="9" name="TextBox 8"/>
          <p:cNvSpPr txBox="1"/>
          <p:nvPr/>
        </p:nvSpPr>
        <p:spPr>
          <a:xfrm>
            <a:off x="4480560" y="2212848"/>
            <a:ext cx="6400800" cy="548640"/>
          </a:xfrm>
          <a:prstGeom prst="rect">
            <a:avLst/>
          </a:prstGeom>
          <a:noFill/>
        </p:spPr>
        <p:txBody>
          <a:bodyPr wrap="square" anchor="t">
            <a:spAutoFit/>
          </a:bodyPr>
          <a:lstStyle/>
          <a:p>
            <a:pPr algn="l"/>
            <a:r>
              <a:rPr sz="3200" b="1">
                <a:solidFill>
                  <a:srgbClr val="FFFFFF"/>
                </a:solidFill>
                <a:latin typeface="Calibri"/>
              </a:rPr>
              <a:t>PostgreSQL</a:t>
            </a:r>
          </a:p>
        </p:txBody>
      </p:sp>
      <p:sp>
        <p:nvSpPr>
          <p:cNvPr id="10" name="TextBox 9"/>
          <p:cNvSpPr txBox="1"/>
          <p:nvPr/>
        </p:nvSpPr>
        <p:spPr>
          <a:xfrm>
            <a:off x="1371600" y="2779776"/>
            <a:ext cx="2286000" cy="548640"/>
          </a:xfrm>
          <a:prstGeom prst="rect">
            <a:avLst/>
          </a:prstGeom>
          <a:noFill/>
        </p:spPr>
        <p:txBody>
          <a:bodyPr wrap="square" anchor="t">
            <a:spAutoFit/>
          </a:bodyPr>
          <a:lstStyle/>
          <a:p>
            <a:pPr algn="r"/>
            <a:r>
              <a:rPr sz="3600" b="1">
                <a:solidFill>
                  <a:srgbClr val="00FF41"/>
                </a:solidFill>
                <a:latin typeface="Calibri"/>
              </a:rPr>
              <a:t>1433</a:t>
            </a:r>
          </a:p>
        </p:txBody>
      </p:sp>
      <p:sp>
        <p:nvSpPr>
          <p:cNvPr id="11" name="TextBox 10"/>
          <p:cNvSpPr txBox="1"/>
          <p:nvPr/>
        </p:nvSpPr>
        <p:spPr>
          <a:xfrm>
            <a:off x="3840480" y="2779776"/>
            <a:ext cx="548640" cy="548640"/>
          </a:xfrm>
          <a:prstGeom prst="rect">
            <a:avLst/>
          </a:prstGeom>
          <a:noFill/>
        </p:spPr>
        <p:txBody>
          <a:bodyPr wrap="square" anchor="t">
            <a:spAutoFit/>
          </a:bodyPr>
          <a:lstStyle/>
          <a:p>
            <a:pPr algn="l"/>
            <a:r>
              <a:rPr sz="2800" b="0">
                <a:solidFill>
                  <a:srgbClr val="00D4FF"/>
                </a:solidFill>
                <a:latin typeface="Calibri"/>
              </a:rPr>
              <a:t>▶</a:t>
            </a:r>
          </a:p>
        </p:txBody>
      </p:sp>
      <p:sp>
        <p:nvSpPr>
          <p:cNvPr id="12" name="TextBox 11"/>
          <p:cNvSpPr txBox="1"/>
          <p:nvPr/>
        </p:nvSpPr>
        <p:spPr>
          <a:xfrm>
            <a:off x="4480560" y="2779776"/>
            <a:ext cx="6400800" cy="548640"/>
          </a:xfrm>
          <a:prstGeom prst="rect">
            <a:avLst/>
          </a:prstGeom>
          <a:noFill/>
        </p:spPr>
        <p:txBody>
          <a:bodyPr wrap="square" anchor="t">
            <a:spAutoFit/>
          </a:bodyPr>
          <a:lstStyle/>
          <a:p>
            <a:pPr algn="l"/>
            <a:r>
              <a:rPr sz="3200" b="1">
                <a:solidFill>
                  <a:srgbClr val="FFFFFF"/>
                </a:solidFill>
                <a:latin typeface="Calibri"/>
              </a:rPr>
              <a:t>Microsoft SQL Server</a:t>
            </a:r>
          </a:p>
        </p:txBody>
      </p:sp>
      <p:sp>
        <p:nvSpPr>
          <p:cNvPr id="13" name="TextBox 12"/>
          <p:cNvSpPr txBox="1"/>
          <p:nvPr/>
        </p:nvSpPr>
        <p:spPr>
          <a:xfrm>
            <a:off x="1371600" y="3346704"/>
            <a:ext cx="2286000" cy="548640"/>
          </a:xfrm>
          <a:prstGeom prst="rect">
            <a:avLst/>
          </a:prstGeom>
          <a:noFill/>
        </p:spPr>
        <p:txBody>
          <a:bodyPr wrap="square" anchor="t">
            <a:spAutoFit/>
          </a:bodyPr>
          <a:lstStyle/>
          <a:p>
            <a:pPr algn="r"/>
            <a:r>
              <a:rPr sz="3600" b="1">
                <a:solidFill>
                  <a:srgbClr val="00FF41"/>
                </a:solidFill>
                <a:latin typeface="Calibri"/>
              </a:rPr>
              <a:t>27017</a:t>
            </a:r>
          </a:p>
        </p:txBody>
      </p:sp>
      <p:sp>
        <p:nvSpPr>
          <p:cNvPr id="14" name="TextBox 13"/>
          <p:cNvSpPr txBox="1"/>
          <p:nvPr/>
        </p:nvSpPr>
        <p:spPr>
          <a:xfrm>
            <a:off x="3840480" y="3346704"/>
            <a:ext cx="548640" cy="548640"/>
          </a:xfrm>
          <a:prstGeom prst="rect">
            <a:avLst/>
          </a:prstGeom>
          <a:noFill/>
        </p:spPr>
        <p:txBody>
          <a:bodyPr wrap="square" anchor="t">
            <a:spAutoFit/>
          </a:bodyPr>
          <a:lstStyle/>
          <a:p>
            <a:pPr algn="l"/>
            <a:r>
              <a:rPr sz="2800" b="0">
                <a:solidFill>
                  <a:srgbClr val="00D4FF"/>
                </a:solidFill>
                <a:latin typeface="Calibri"/>
              </a:rPr>
              <a:t>▶</a:t>
            </a:r>
          </a:p>
        </p:txBody>
      </p:sp>
      <p:sp>
        <p:nvSpPr>
          <p:cNvPr id="15" name="TextBox 14"/>
          <p:cNvSpPr txBox="1"/>
          <p:nvPr/>
        </p:nvSpPr>
        <p:spPr>
          <a:xfrm>
            <a:off x="4480560" y="3346704"/>
            <a:ext cx="6400800" cy="548640"/>
          </a:xfrm>
          <a:prstGeom prst="rect">
            <a:avLst/>
          </a:prstGeom>
          <a:noFill/>
        </p:spPr>
        <p:txBody>
          <a:bodyPr wrap="square" anchor="t">
            <a:spAutoFit/>
          </a:bodyPr>
          <a:lstStyle/>
          <a:p>
            <a:pPr algn="l"/>
            <a:r>
              <a:rPr sz="3200" b="1">
                <a:solidFill>
                  <a:srgbClr val="FFFFFF"/>
                </a:solidFill>
                <a:latin typeface="Calibri"/>
              </a:rPr>
              <a:t>MongoDB</a:t>
            </a:r>
          </a:p>
        </p:txBody>
      </p:sp>
      <p:sp>
        <p:nvSpPr>
          <p:cNvPr id="16" name="TextBox 15"/>
          <p:cNvSpPr txBox="1"/>
          <p:nvPr/>
        </p:nvSpPr>
        <p:spPr>
          <a:xfrm>
            <a:off x="1371600" y="3913632"/>
            <a:ext cx="2286000" cy="548640"/>
          </a:xfrm>
          <a:prstGeom prst="rect">
            <a:avLst/>
          </a:prstGeom>
          <a:noFill/>
        </p:spPr>
        <p:txBody>
          <a:bodyPr wrap="square" anchor="t">
            <a:spAutoFit/>
          </a:bodyPr>
          <a:lstStyle/>
          <a:p>
            <a:pPr algn="r"/>
            <a:r>
              <a:rPr sz="3600" b="1">
                <a:solidFill>
                  <a:srgbClr val="00FF41"/>
                </a:solidFill>
                <a:latin typeface="Calibri"/>
              </a:rPr>
              <a:t>6379</a:t>
            </a:r>
          </a:p>
        </p:txBody>
      </p:sp>
      <p:sp>
        <p:nvSpPr>
          <p:cNvPr id="17" name="TextBox 16"/>
          <p:cNvSpPr txBox="1"/>
          <p:nvPr/>
        </p:nvSpPr>
        <p:spPr>
          <a:xfrm>
            <a:off x="3840480" y="3913632"/>
            <a:ext cx="548640" cy="548640"/>
          </a:xfrm>
          <a:prstGeom prst="rect">
            <a:avLst/>
          </a:prstGeom>
          <a:noFill/>
        </p:spPr>
        <p:txBody>
          <a:bodyPr wrap="square" anchor="t">
            <a:spAutoFit/>
          </a:bodyPr>
          <a:lstStyle/>
          <a:p>
            <a:pPr algn="l"/>
            <a:r>
              <a:rPr sz="2800" b="0">
                <a:solidFill>
                  <a:srgbClr val="00D4FF"/>
                </a:solidFill>
                <a:latin typeface="Calibri"/>
              </a:rPr>
              <a:t>▶</a:t>
            </a:r>
          </a:p>
        </p:txBody>
      </p:sp>
      <p:sp>
        <p:nvSpPr>
          <p:cNvPr id="18" name="TextBox 17"/>
          <p:cNvSpPr txBox="1"/>
          <p:nvPr/>
        </p:nvSpPr>
        <p:spPr>
          <a:xfrm>
            <a:off x="4480560" y="3913632"/>
            <a:ext cx="6400800" cy="548640"/>
          </a:xfrm>
          <a:prstGeom prst="rect">
            <a:avLst/>
          </a:prstGeom>
          <a:noFill/>
        </p:spPr>
        <p:txBody>
          <a:bodyPr wrap="square" anchor="t">
            <a:spAutoFit/>
          </a:bodyPr>
          <a:lstStyle/>
          <a:p>
            <a:pPr algn="l"/>
            <a:r>
              <a:rPr sz="3200" b="1">
                <a:solidFill>
                  <a:srgbClr val="FFFFFF"/>
                </a:solidFill>
                <a:latin typeface="Calibri"/>
              </a:rPr>
              <a:t>Redis</a:t>
            </a:r>
          </a:p>
        </p:txBody>
      </p:sp>
      <p:sp>
        <p:nvSpPr>
          <p:cNvPr id="19" name="TextBox 18"/>
          <p:cNvSpPr txBox="1"/>
          <p:nvPr/>
        </p:nvSpPr>
        <p:spPr>
          <a:xfrm>
            <a:off x="1371600" y="4480560"/>
            <a:ext cx="2286000" cy="548640"/>
          </a:xfrm>
          <a:prstGeom prst="rect">
            <a:avLst/>
          </a:prstGeom>
          <a:noFill/>
        </p:spPr>
        <p:txBody>
          <a:bodyPr wrap="square" anchor="t">
            <a:spAutoFit/>
          </a:bodyPr>
          <a:lstStyle/>
          <a:p>
            <a:pPr algn="r"/>
            <a:r>
              <a:rPr sz="3600" b="1">
                <a:solidFill>
                  <a:srgbClr val="00FF41"/>
                </a:solidFill>
                <a:latin typeface="Calibri"/>
              </a:rPr>
              <a:t>9200</a:t>
            </a:r>
          </a:p>
        </p:txBody>
      </p:sp>
      <p:sp>
        <p:nvSpPr>
          <p:cNvPr id="20" name="TextBox 19"/>
          <p:cNvSpPr txBox="1"/>
          <p:nvPr/>
        </p:nvSpPr>
        <p:spPr>
          <a:xfrm>
            <a:off x="3840480" y="4480560"/>
            <a:ext cx="548640" cy="548640"/>
          </a:xfrm>
          <a:prstGeom prst="rect">
            <a:avLst/>
          </a:prstGeom>
          <a:noFill/>
        </p:spPr>
        <p:txBody>
          <a:bodyPr wrap="square" anchor="t">
            <a:spAutoFit/>
          </a:bodyPr>
          <a:lstStyle/>
          <a:p>
            <a:pPr algn="l"/>
            <a:r>
              <a:rPr sz="2800" b="0">
                <a:solidFill>
                  <a:srgbClr val="00D4FF"/>
                </a:solidFill>
                <a:latin typeface="Calibri"/>
              </a:rPr>
              <a:t>▶</a:t>
            </a:r>
          </a:p>
        </p:txBody>
      </p:sp>
      <p:sp>
        <p:nvSpPr>
          <p:cNvPr id="21" name="TextBox 20"/>
          <p:cNvSpPr txBox="1"/>
          <p:nvPr/>
        </p:nvSpPr>
        <p:spPr>
          <a:xfrm>
            <a:off x="4480560" y="4480560"/>
            <a:ext cx="6400800" cy="548640"/>
          </a:xfrm>
          <a:prstGeom prst="rect">
            <a:avLst/>
          </a:prstGeom>
          <a:noFill/>
        </p:spPr>
        <p:txBody>
          <a:bodyPr wrap="square" anchor="t">
            <a:spAutoFit/>
          </a:bodyPr>
          <a:lstStyle/>
          <a:p>
            <a:pPr algn="l"/>
            <a:r>
              <a:rPr sz="3200" b="1">
                <a:solidFill>
                  <a:srgbClr val="FFFFFF"/>
                </a:solidFill>
                <a:latin typeface="Calibri"/>
              </a:rPr>
              <a:t>Elasticsearch</a:t>
            </a:r>
          </a:p>
        </p:txBody>
      </p:sp>
      <p:sp>
        <p:nvSpPr>
          <p:cNvPr id="22" name="TextBox 21"/>
          <p:cNvSpPr txBox="1"/>
          <p:nvPr/>
        </p:nvSpPr>
        <p:spPr>
          <a:xfrm>
            <a:off x="1371600" y="5047488"/>
            <a:ext cx="2286000" cy="548640"/>
          </a:xfrm>
          <a:prstGeom prst="rect">
            <a:avLst/>
          </a:prstGeom>
          <a:noFill/>
        </p:spPr>
        <p:txBody>
          <a:bodyPr wrap="square" anchor="t">
            <a:spAutoFit/>
          </a:bodyPr>
          <a:lstStyle/>
          <a:p>
            <a:pPr algn="r"/>
            <a:r>
              <a:rPr sz="3600" b="1">
                <a:solidFill>
                  <a:srgbClr val="00FF41"/>
                </a:solidFill>
                <a:latin typeface="Calibri"/>
              </a:rPr>
              <a:t>9042</a:t>
            </a:r>
          </a:p>
        </p:txBody>
      </p:sp>
      <p:sp>
        <p:nvSpPr>
          <p:cNvPr id="23" name="TextBox 22"/>
          <p:cNvSpPr txBox="1"/>
          <p:nvPr/>
        </p:nvSpPr>
        <p:spPr>
          <a:xfrm>
            <a:off x="3840480" y="5047488"/>
            <a:ext cx="548640" cy="548640"/>
          </a:xfrm>
          <a:prstGeom prst="rect">
            <a:avLst/>
          </a:prstGeom>
          <a:noFill/>
        </p:spPr>
        <p:txBody>
          <a:bodyPr wrap="square" anchor="t">
            <a:spAutoFit/>
          </a:bodyPr>
          <a:lstStyle/>
          <a:p>
            <a:pPr algn="l"/>
            <a:r>
              <a:rPr sz="2800" b="0">
                <a:solidFill>
                  <a:srgbClr val="00D4FF"/>
                </a:solidFill>
                <a:latin typeface="Calibri"/>
              </a:rPr>
              <a:t>▶</a:t>
            </a:r>
          </a:p>
        </p:txBody>
      </p:sp>
      <p:sp>
        <p:nvSpPr>
          <p:cNvPr id="24" name="TextBox 23"/>
          <p:cNvSpPr txBox="1"/>
          <p:nvPr/>
        </p:nvSpPr>
        <p:spPr>
          <a:xfrm>
            <a:off x="4480560" y="5047488"/>
            <a:ext cx="6400800" cy="548640"/>
          </a:xfrm>
          <a:prstGeom prst="rect">
            <a:avLst/>
          </a:prstGeom>
          <a:noFill/>
        </p:spPr>
        <p:txBody>
          <a:bodyPr wrap="square" anchor="t">
            <a:spAutoFit/>
          </a:bodyPr>
          <a:lstStyle/>
          <a:p>
            <a:pPr algn="l"/>
            <a:r>
              <a:rPr sz="3200" b="1">
                <a:solidFill>
                  <a:srgbClr val="FFFFFF"/>
                </a:solidFill>
                <a:latin typeface="Calibri"/>
              </a:rPr>
              <a:t>Cassandra</a:t>
            </a:r>
          </a:p>
        </p:txBody>
      </p:sp>
      <p:sp>
        <p:nvSpPr>
          <p:cNvPr id="25" name="TextBox 24"/>
          <p:cNvSpPr txBox="1"/>
          <p:nvPr/>
        </p:nvSpPr>
        <p:spPr>
          <a:xfrm>
            <a:off x="457200" y="5989320"/>
            <a:ext cx="11247120" cy="365760"/>
          </a:xfrm>
          <a:prstGeom prst="rect">
            <a:avLst/>
          </a:prstGeom>
          <a:noFill/>
        </p:spPr>
        <p:txBody>
          <a:bodyPr wrap="square" anchor="t">
            <a:spAutoFit/>
          </a:bodyPr>
          <a:lstStyle/>
          <a:p>
            <a:pPr algn="ctr"/>
            <a:r>
              <a:rPr sz="2200" b="1">
                <a:solidFill>
                  <a:srgbClr val="FF6B35"/>
                </a:solidFill>
                <a:latin typeface="Calibri"/>
              </a:rPr>
              <a:t>Any of these exposed to the internet = a finding. Every time.</a:t>
            </a:r>
          </a:p>
        </p:txBody>
      </p:sp>
      <p:sp>
        <p:nvSpPr>
          <p:cNvPr id="26" name="TextBox 25"/>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27" name="TextBox 26"/>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21 / 44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Statement slide: Markdown files are now a database — the kind an LLM reads from via embeddings and RAG." title="Statement slide: Markdown files are now a database — the kind an LLM reads from "/>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Your Notes Are a Database Now</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0"/>
            <a:ext cx="11247120" cy="914400"/>
          </a:xfrm>
          <a:prstGeom prst="rect">
            <a:avLst/>
          </a:prstGeom>
          <a:noFill/>
        </p:spPr>
        <p:txBody>
          <a:bodyPr wrap="square" anchor="t">
            <a:spAutoFit/>
          </a:bodyPr>
          <a:lstStyle/>
          <a:p>
            <a:pPr algn="ctr"/>
            <a:r>
              <a:rPr sz="4400" b="0">
                <a:solidFill>
                  <a:srgbClr val="FFFFFF"/>
                </a:solidFill>
                <a:latin typeface="Calibri"/>
              </a:rPr>
              <a:t>Markdown files are now</a:t>
            </a:r>
          </a:p>
        </p:txBody>
      </p:sp>
      <p:sp>
        <p:nvSpPr>
          <p:cNvPr id="5" name="TextBox 4"/>
          <p:cNvSpPr txBox="1"/>
          <p:nvPr/>
        </p:nvSpPr>
        <p:spPr>
          <a:xfrm>
            <a:off x="457200" y="2834640"/>
            <a:ext cx="11247120" cy="914400"/>
          </a:xfrm>
          <a:prstGeom prst="rect">
            <a:avLst/>
          </a:prstGeom>
          <a:noFill/>
        </p:spPr>
        <p:txBody>
          <a:bodyPr wrap="square" anchor="t">
            <a:spAutoFit/>
          </a:bodyPr>
          <a:lstStyle/>
          <a:p>
            <a:pPr algn="ctr"/>
            <a:r>
              <a:rPr sz="4400" b="1">
                <a:solidFill>
                  <a:srgbClr val="00FF41"/>
                </a:solidFill>
                <a:latin typeface="Calibri"/>
              </a:rPr>
              <a:t>the database an LLM reads from.</a:t>
            </a:r>
          </a:p>
        </p:txBody>
      </p:sp>
      <p:sp>
        <p:nvSpPr>
          <p:cNvPr id="6" name="TextBox 5"/>
          <p:cNvSpPr txBox="1"/>
          <p:nvPr/>
        </p:nvSpPr>
        <p:spPr>
          <a:xfrm>
            <a:off x="457200" y="4206240"/>
            <a:ext cx="11247120" cy="548640"/>
          </a:xfrm>
          <a:prstGeom prst="rect">
            <a:avLst/>
          </a:prstGeom>
          <a:noFill/>
        </p:spPr>
        <p:txBody>
          <a:bodyPr wrap="square" anchor="t">
            <a:spAutoFit/>
          </a:bodyPr>
          <a:lstStyle/>
          <a:p>
            <a:pPr algn="ctr"/>
            <a:r>
              <a:rPr sz="2400" b="0">
                <a:solidFill>
                  <a:srgbClr val="00D4FF"/>
                </a:solidFill>
                <a:latin typeface="Calibri"/>
              </a:rPr>
              <a:t>Obsidian-Tresore  •  Wiki exports  •  Meeting notes  •  GitHub docs</a:t>
            </a:r>
          </a:p>
        </p:txBody>
      </p:sp>
      <p:sp>
        <p:nvSpPr>
          <p:cNvPr id="7" name="TextBox 6"/>
          <p:cNvSpPr txBox="1"/>
          <p:nvPr/>
        </p:nvSpPr>
        <p:spPr>
          <a:xfrm>
            <a:off x="457200" y="4937760"/>
            <a:ext cx="11247120" cy="914400"/>
          </a:xfrm>
          <a:prstGeom prst="rect">
            <a:avLst/>
          </a:prstGeom>
          <a:noFill/>
        </p:spPr>
        <p:txBody>
          <a:bodyPr wrap="square" anchor="t">
            <a:spAutoFit/>
          </a:bodyPr>
          <a:lstStyle/>
          <a:p>
            <a:pPr algn="ctr"/>
            <a:r>
              <a:rPr sz="2600" b="0">
                <a:solidFill>
                  <a:srgbClr val="CCCCD6"/>
                </a:solidFill>
                <a:latin typeface="Calibri"/>
              </a:rPr>
              <a:t>Embedded → Vector DB → LLM context → answer to user</a:t>
            </a:r>
          </a:p>
        </p:txBody>
      </p:sp>
      <p:sp>
        <p:nvSpPr>
          <p:cNvPr id="8" name="TextBox 7"/>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9" name="TextBox 8"/>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22 / 44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Pipeline diagram: markdown files → embedder → vector DB → LLM prompt → answer. The trust boundary sits between authors and the embedder." title="Pipeline diagram: markdown files → embedder → vector DB → LLM prompt → answer. T"/>
          <p:cNvSpPr txBox="1"/>
          <p:nvPr/>
        </p:nvSpPr>
        <p:spPr>
          <a:xfrm>
            <a:off x="457200" y="320040"/>
            <a:ext cx="11247120" cy="1005840"/>
          </a:xfrm>
          <a:prstGeom prst="rect">
            <a:avLst/>
          </a:prstGeom>
          <a:noFill/>
        </p:spPr>
        <p:txBody>
          <a:bodyPr wrap="square" anchor="t">
            <a:spAutoFit/>
          </a:bodyPr>
          <a:lstStyle/>
          <a:p>
            <a:pPr algn="l"/>
            <a:r>
              <a:rPr sz="3600" b="1">
                <a:solidFill>
                  <a:srgbClr val="00FF41"/>
                </a:solidFill>
                <a:latin typeface="Calibri"/>
              </a:rPr>
              <a:t>RAG Pipeline — Where's the Trust Boundary?</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377440"/>
            <a:ext cx="1920240" cy="1097280"/>
          </a:xfrm>
          <a:prstGeom prst="roundRect">
            <a:avLst/>
          </a:prstGeom>
          <a:solidFill>
            <a:srgbClr val="24243E"/>
          </a:solidFill>
          <a:ln w="381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651760"/>
            <a:ext cx="1920240" cy="640080"/>
          </a:xfrm>
          <a:prstGeom prst="rect">
            <a:avLst/>
          </a:prstGeom>
          <a:noFill/>
        </p:spPr>
        <p:txBody>
          <a:bodyPr wrap="square" anchor="t">
            <a:spAutoFit/>
          </a:bodyPr>
          <a:lstStyle/>
          <a:p>
            <a:pPr algn="ctr"/>
            <a:r>
              <a:rPr sz="2200" b="1">
                <a:solidFill>
                  <a:srgbClr val="00D4FF"/>
                </a:solidFill>
                <a:latin typeface="Calibri"/>
              </a:rPr>
              <a:t>.md files</a:t>
            </a:r>
          </a:p>
        </p:txBody>
      </p:sp>
      <p:sp>
        <p:nvSpPr>
          <p:cNvPr id="6" name="TextBox 5"/>
          <p:cNvSpPr txBox="1"/>
          <p:nvPr/>
        </p:nvSpPr>
        <p:spPr>
          <a:xfrm>
            <a:off x="2395728" y="2651760"/>
            <a:ext cx="365760" cy="640080"/>
          </a:xfrm>
          <a:prstGeom prst="rect">
            <a:avLst/>
          </a:prstGeom>
          <a:noFill/>
        </p:spPr>
        <p:txBody>
          <a:bodyPr wrap="square" anchor="t">
            <a:spAutoFit/>
          </a:bodyPr>
          <a:lstStyle/>
          <a:p>
            <a:pPr algn="ctr"/>
            <a:r>
              <a:rPr sz="2800" b="1">
                <a:solidFill>
                  <a:srgbClr val="FF6B35"/>
                </a:solidFill>
                <a:latin typeface="Calibri"/>
              </a:rPr>
              <a:t>▶</a:t>
            </a:r>
          </a:p>
        </p:txBody>
      </p:sp>
      <p:sp>
        <p:nvSpPr>
          <p:cNvPr id="7" name="Rounded Rectangle 6"/>
          <p:cNvSpPr/>
          <p:nvPr/>
        </p:nvSpPr>
        <p:spPr>
          <a:xfrm>
            <a:off x="2743200" y="2377440"/>
            <a:ext cx="1920240" cy="1097280"/>
          </a:xfrm>
          <a:prstGeom prst="roundRect">
            <a:avLst/>
          </a:prstGeom>
          <a:solidFill>
            <a:srgbClr val="24243E"/>
          </a:solidFill>
          <a:ln w="381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0" y="2651760"/>
            <a:ext cx="1920240" cy="640080"/>
          </a:xfrm>
          <a:prstGeom prst="rect">
            <a:avLst/>
          </a:prstGeom>
          <a:noFill/>
        </p:spPr>
        <p:txBody>
          <a:bodyPr wrap="square" anchor="t">
            <a:spAutoFit/>
          </a:bodyPr>
          <a:lstStyle/>
          <a:p>
            <a:pPr algn="ctr"/>
            <a:r>
              <a:rPr sz="2200" b="1">
                <a:solidFill>
                  <a:srgbClr val="FFFFFF"/>
                </a:solidFill>
                <a:latin typeface="Calibri"/>
              </a:rPr>
              <a:t>Embedder</a:t>
            </a:r>
          </a:p>
        </p:txBody>
      </p:sp>
      <p:sp>
        <p:nvSpPr>
          <p:cNvPr id="9" name="TextBox 8"/>
          <p:cNvSpPr txBox="1"/>
          <p:nvPr/>
        </p:nvSpPr>
        <p:spPr>
          <a:xfrm>
            <a:off x="4681727" y="2651760"/>
            <a:ext cx="365760" cy="640080"/>
          </a:xfrm>
          <a:prstGeom prst="rect">
            <a:avLst/>
          </a:prstGeom>
          <a:noFill/>
        </p:spPr>
        <p:txBody>
          <a:bodyPr wrap="square" anchor="t">
            <a:spAutoFit/>
          </a:bodyPr>
          <a:lstStyle/>
          <a:p>
            <a:pPr algn="ctr"/>
            <a:r>
              <a:rPr sz="2800" b="1">
                <a:solidFill>
                  <a:srgbClr val="FF6B35"/>
                </a:solidFill>
                <a:latin typeface="Calibri"/>
              </a:rPr>
              <a:t>▶</a:t>
            </a:r>
          </a:p>
        </p:txBody>
      </p:sp>
      <p:sp>
        <p:nvSpPr>
          <p:cNvPr id="10" name="Rounded Rectangle 9"/>
          <p:cNvSpPr/>
          <p:nvPr/>
        </p:nvSpPr>
        <p:spPr>
          <a:xfrm>
            <a:off x="5029200" y="2377440"/>
            <a:ext cx="1920240" cy="1097280"/>
          </a:xfrm>
          <a:prstGeom prst="roundRect">
            <a:avLst/>
          </a:prstGeom>
          <a:solidFill>
            <a:srgbClr val="24243E"/>
          </a:solidFill>
          <a:ln w="38100">
            <a:solidFill>
              <a:srgbClr val="00FF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0" y="2651760"/>
            <a:ext cx="1920240" cy="640080"/>
          </a:xfrm>
          <a:prstGeom prst="rect">
            <a:avLst/>
          </a:prstGeom>
          <a:noFill/>
        </p:spPr>
        <p:txBody>
          <a:bodyPr wrap="square" anchor="t">
            <a:spAutoFit/>
          </a:bodyPr>
          <a:lstStyle/>
          <a:p>
            <a:pPr algn="ctr"/>
            <a:r>
              <a:rPr sz="2200" b="1">
                <a:solidFill>
                  <a:srgbClr val="00FF41"/>
                </a:solidFill>
                <a:latin typeface="Calibri"/>
              </a:rPr>
              <a:t>Vector DB</a:t>
            </a:r>
          </a:p>
        </p:txBody>
      </p:sp>
      <p:sp>
        <p:nvSpPr>
          <p:cNvPr id="12" name="TextBox 11"/>
          <p:cNvSpPr txBox="1"/>
          <p:nvPr/>
        </p:nvSpPr>
        <p:spPr>
          <a:xfrm>
            <a:off x="6967727" y="2651760"/>
            <a:ext cx="365760" cy="640080"/>
          </a:xfrm>
          <a:prstGeom prst="rect">
            <a:avLst/>
          </a:prstGeom>
          <a:noFill/>
        </p:spPr>
        <p:txBody>
          <a:bodyPr wrap="square" anchor="t">
            <a:spAutoFit/>
          </a:bodyPr>
          <a:lstStyle/>
          <a:p>
            <a:pPr algn="ctr"/>
            <a:r>
              <a:rPr sz="2800" b="1">
                <a:solidFill>
                  <a:srgbClr val="FF6B35"/>
                </a:solidFill>
                <a:latin typeface="Calibri"/>
              </a:rPr>
              <a:t>▶</a:t>
            </a:r>
          </a:p>
        </p:txBody>
      </p:sp>
      <p:sp>
        <p:nvSpPr>
          <p:cNvPr id="13" name="Rounded Rectangle 12"/>
          <p:cNvSpPr/>
          <p:nvPr/>
        </p:nvSpPr>
        <p:spPr>
          <a:xfrm>
            <a:off x="7315200" y="2377440"/>
            <a:ext cx="1920240" cy="1097280"/>
          </a:xfrm>
          <a:prstGeom prst="roundRect">
            <a:avLst/>
          </a:prstGeom>
          <a:solidFill>
            <a:srgbClr val="24243E"/>
          </a:solidFill>
          <a:ln w="381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0" y="2651760"/>
            <a:ext cx="1920240" cy="640080"/>
          </a:xfrm>
          <a:prstGeom prst="rect">
            <a:avLst/>
          </a:prstGeom>
          <a:noFill/>
        </p:spPr>
        <p:txBody>
          <a:bodyPr wrap="square" anchor="t">
            <a:spAutoFit/>
          </a:bodyPr>
          <a:lstStyle/>
          <a:p>
            <a:pPr algn="ctr"/>
            <a:r>
              <a:rPr sz="2200" b="1">
                <a:solidFill>
                  <a:srgbClr val="FFFFFF"/>
                </a:solidFill>
                <a:latin typeface="Calibri"/>
              </a:rPr>
              <a:t>LLM prompt</a:t>
            </a:r>
          </a:p>
        </p:txBody>
      </p:sp>
      <p:sp>
        <p:nvSpPr>
          <p:cNvPr id="15" name="TextBox 14"/>
          <p:cNvSpPr txBox="1"/>
          <p:nvPr/>
        </p:nvSpPr>
        <p:spPr>
          <a:xfrm>
            <a:off x="9253728" y="2651760"/>
            <a:ext cx="365760" cy="640080"/>
          </a:xfrm>
          <a:prstGeom prst="rect">
            <a:avLst/>
          </a:prstGeom>
          <a:noFill/>
        </p:spPr>
        <p:txBody>
          <a:bodyPr wrap="square" anchor="t">
            <a:spAutoFit/>
          </a:bodyPr>
          <a:lstStyle/>
          <a:p>
            <a:pPr algn="ctr"/>
            <a:r>
              <a:rPr sz="2800" b="1">
                <a:solidFill>
                  <a:srgbClr val="FF6B35"/>
                </a:solidFill>
                <a:latin typeface="Calibri"/>
              </a:rPr>
              <a:t>▶</a:t>
            </a:r>
          </a:p>
        </p:txBody>
      </p:sp>
      <p:sp>
        <p:nvSpPr>
          <p:cNvPr id="16" name="Rounded Rectangle 15"/>
          <p:cNvSpPr/>
          <p:nvPr/>
        </p:nvSpPr>
        <p:spPr>
          <a:xfrm>
            <a:off x="9601200" y="2377440"/>
            <a:ext cx="1920240" cy="1097280"/>
          </a:xfrm>
          <a:prstGeom prst="roundRect">
            <a:avLst/>
          </a:prstGeom>
          <a:solidFill>
            <a:srgbClr val="24243E"/>
          </a:solidFill>
          <a:ln w="381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0" y="2651760"/>
            <a:ext cx="1920240" cy="640080"/>
          </a:xfrm>
          <a:prstGeom prst="rect">
            <a:avLst/>
          </a:prstGeom>
          <a:noFill/>
        </p:spPr>
        <p:txBody>
          <a:bodyPr wrap="square" anchor="t">
            <a:spAutoFit/>
          </a:bodyPr>
          <a:lstStyle/>
          <a:p>
            <a:pPr algn="ctr"/>
            <a:r>
              <a:rPr sz="2200" b="1">
                <a:solidFill>
                  <a:srgbClr val="00D4FF"/>
                </a:solidFill>
                <a:latin typeface="Calibri"/>
              </a:rPr>
              <a:t>Answer</a:t>
            </a:r>
          </a:p>
        </p:txBody>
      </p:sp>
      <p:sp>
        <p:nvSpPr>
          <p:cNvPr id="18" name="Rectangle 17"/>
          <p:cNvSpPr/>
          <p:nvPr/>
        </p:nvSpPr>
        <p:spPr>
          <a:xfrm>
            <a:off x="2286000" y="2103120"/>
            <a:ext cx="54864" cy="1645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840480"/>
            <a:ext cx="2743200" cy="457200"/>
          </a:xfrm>
          <a:prstGeom prst="rect">
            <a:avLst/>
          </a:prstGeom>
          <a:noFill/>
        </p:spPr>
        <p:txBody>
          <a:bodyPr wrap="square" anchor="t">
            <a:spAutoFit/>
          </a:bodyPr>
          <a:lstStyle/>
          <a:p>
            <a:pPr algn="ctr"/>
            <a:r>
              <a:rPr sz="1800" b="1">
                <a:solidFill>
                  <a:srgbClr val="FF6B35"/>
                </a:solidFill>
                <a:latin typeface="Calibri"/>
              </a:rPr>
              <a:t>⚠ TRUST BOUNDARY</a:t>
            </a:r>
          </a:p>
        </p:txBody>
      </p:sp>
      <p:sp>
        <p:nvSpPr>
          <p:cNvPr id="20" name="TextBox 19"/>
          <p:cNvSpPr txBox="1"/>
          <p:nvPr/>
        </p:nvSpPr>
        <p:spPr>
          <a:xfrm>
            <a:off x="457200" y="4846320"/>
            <a:ext cx="11247120" cy="1371600"/>
          </a:xfrm>
          <a:prstGeom prst="rect">
            <a:avLst/>
          </a:prstGeom>
          <a:noFill/>
        </p:spPr>
        <p:txBody>
          <a:bodyPr wrap="square" anchor="t">
            <a:spAutoFit/>
          </a:bodyPr>
          <a:lstStyle/>
          <a:p>
            <a:pPr algn="ctr"/>
            <a:r>
              <a:rPr sz="2600" b="1">
                <a:solidFill>
                  <a:srgbClr val="FFFFFF"/>
                </a:solidFill>
                <a:latin typeface="Calibri"/>
              </a:rPr>
              <a:t>If anyone can edit those .md files, anyone can plant</a:t>
            </a:r>
          </a:p>
          <a:p>
            <a:pPr algn="ctr"/>
            <a:r>
              <a:rPr sz="2600" b="1">
                <a:solidFill>
                  <a:srgbClr val="FFFFFF"/>
                </a:solidFill>
                <a:latin typeface="Calibri"/>
              </a:rPr>
              <a:t>content the AI will quote as authoritative.</a:t>
            </a:r>
          </a:p>
        </p:txBody>
      </p:sp>
      <p:sp>
        <p:nvSpPr>
          <p:cNvPr id="21" name="TextBox 20"/>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22" name="TextBox 21"/>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23 / 44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Takeaway slide: Treat markdown like a database — because to the LLM, it is. Apply access control, code review, and diff tracking." title="Takeaway slide: Treat markdown like a database — because to the LLM, it is. Appl"/>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The Takeaway</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0"/>
            <a:ext cx="11247120" cy="1371600"/>
          </a:xfrm>
          <a:prstGeom prst="rect">
            <a:avLst/>
          </a:prstGeom>
          <a:noFill/>
        </p:spPr>
        <p:txBody>
          <a:bodyPr wrap="square" anchor="t">
            <a:spAutoFit/>
          </a:bodyPr>
          <a:lstStyle/>
          <a:p>
            <a:pPr algn="ctr"/>
            <a:r>
              <a:rPr sz="5400" b="1">
                <a:solidFill>
                  <a:srgbClr val="00FF41"/>
                </a:solidFill>
                <a:latin typeface="Calibri"/>
              </a:rPr>
              <a:t>Treat markdown like a database.</a:t>
            </a:r>
          </a:p>
        </p:txBody>
      </p:sp>
      <p:sp>
        <p:nvSpPr>
          <p:cNvPr id="5" name="TextBox 4"/>
          <p:cNvSpPr txBox="1"/>
          <p:nvPr/>
        </p:nvSpPr>
        <p:spPr>
          <a:xfrm>
            <a:off x="457200" y="3383280"/>
            <a:ext cx="11247120" cy="914400"/>
          </a:xfrm>
          <a:prstGeom prst="rect">
            <a:avLst/>
          </a:prstGeom>
          <a:noFill/>
        </p:spPr>
        <p:txBody>
          <a:bodyPr wrap="square" anchor="t">
            <a:spAutoFit/>
          </a:bodyPr>
          <a:lstStyle/>
          <a:p>
            <a:pPr algn="ctr"/>
            <a:r>
              <a:rPr sz="4200" b="0">
                <a:solidFill>
                  <a:srgbClr val="FFFFFF"/>
                </a:solidFill>
                <a:latin typeface="Calibri"/>
              </a:rPr>
              <a:t>Because to the LLM, it is.</a:t>
            </a:r>
          </a:p>
        </p:txBody>
      </p:sp>
      <p:sp>
        <p:nvSpPr>
          <p:cNvPr id="6" name="TextBox 5"/>
          <p:cNvSpPr txBox="1"/>
          <p:nvPr/>
        </p:nvSpPr>
        <p:spPr>
          <a:xfrm>
            <a:off x="1828800" y="4572000"/>
            <a:ext cx="8503920" cy="1828800"/>
          </a:xfrm>
          <a:prstGeom prst="rect">
            <a:avLst/>
          </a:prstGeom>
          <a:noFill/>
        </p:spPr>
        <p:txBody>
          <a:bodyPr wrap="square">
            <a:spAutoFit/>
          </a:bodyPr>
          <a:lstStyle/>
          <a:p>
            <a:pPr algn="l">
              <a:lnSpc>
                <a:spcPct val="140000"/>
              </a:lnSpc>
            </a:pPr>
            <a:r>
              <a:rPr sz="2400" b="1">
                <a:solidFill>
                  <a:srgbClr val="00D4FF"/>
                </a:solidFill>
                <a:latin typeface="Calibri"/>
              </a:rPr>
              <a:t>▶ </a:t>
            </a:r>
            <a:r>
              <a:rPr sz="2400">
                <a:solidFill>
                  <a:srgbClr val="FFFFFF"/>
                </a:solidFill>
                <a:latin typeface="Calibri"/>
              </a:rPr>
              <a:t>Access control on the docs folder.</a:t>
            </a:r>
          </a:p>
          <a:p>
            <a:pPr algn="l">
              <a:lnSpc>
                <a:spcPct val="140000"/>
              </a:lnSpc>
            </a:pPr>
            <a:r>
              <a:rPr sz="2400" b="1">
                <a:solidFill>
                  <a:srgbClr val="00D4FF"/>
                </a:solidFill>
                <a:latin typeface="Calibri"/>
              </a:rPr>
              <a:t>▶ </a:t>
            </a:r>
            <a:r>
              <a:rPr sz="2400">
                <a:solidFill>
                  <a:srgbClr val="FFFFFF"/>
                </a:solidFill>
                <a:latin typeface="Calibri"/>
              </a:rPr>
              <a:t>Code review on .md changes.</a:t>
            </a:r>
          </a:p>
          <a:p>
            <a:pPr algn="l">
              <a:lnSpc>
                <a:spcPct val="140000"/>
              </a:lnSpc>
            </a:pPr>
            <a:r>
              <a:rPr sz="2400" b="1">
                <a:solidFill>
                  <a:srgbClr val="00D4FF"/>
                </a:solidFill>
                <a:latin typeface="Calibri"/>
              </a:rPr>
              <a:t>▶ </a:t>
            </a:r>
            <a:r>
              <a:rPr sz="2400">
                <a:solidFill>
                  <a:srgbClr val="FFFFFF"/>
                </a:solidFill>
                <a:latin typeface="Calibri"/>
              </a:rPr>
              <a:t>Diff tracking on the wiki.</a:t>
            </a:r>
          </a:p>
        </p:txBody>
      </p:sp>
      <p:sp>
        <p:nvSpPr>
          <p:cNvPr id="7" name="TextBox 6"/>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8" name="TextBox 7"/>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24 / 44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Section divider: SECURITY. What's actually getting hit in 2026" title="Section divider: SECURITY. What's actually getting hit in 2026"/>
          <p:cNvSpPr txBox="1"/>
          <p:nvPr/>
        </p:nvSpPr>
        <p:spPr>
          <a:xfrm>
            <a:off x="457200" y="2560320"/>
            <a:ext cx="11247120" cy="1645920"/>
          </a:xfrm>
          <a:prstGeom prst="rect">
            <a:avLst/>
          </a:prstGeom>
          <a:noFill/>
        </p:spPr>
        <p:txBody>
          <a:bodyPr wrap="square" anchor="t">
            <a:spAutoFit/>
          </a:bodyPr>
          <a:lstStyle/>
          <a:p>
            <a:pPr algn="ctr"/>
            <a:r>
              <a:rPr sz="9600" b="1">
                <a:solidFill>
                  <a:srgbClr val="00FF41"/>
                </a:solidFill>
                <a:latin typeface="Calibri"/>
              </a:rPr>
              <a:t>SECURITY</a:t>
            </a:r>
          </a:p>
        </p:txBody>
      </p:sp>
      <p:sp>
        <p:nvSpPr>
          <p:cNvPr id="3" name="Rectangle 2"/>
          <p:cNvSpPr/>
          <p:nvPr/>
        </p:nvSpPr>
        <p:spPr>
          <a:xfrm>
            <a:off x="4724704" y="4297680"/>
            <a:ext cx="2743200" cy="9144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0"/>
            <a:ext cx="11247120" cy="731520"/>
          </a:xfrm>
          <a:prstGeom prst="rect">
            <a:avLst/>
          </a:prstGeom>
          <a:noFill/>
        </p:spPr>
        <p:txBody>
          <a:bodyPr wrap="square" anchor="t">
            <a:spAutoFit/>
          </a:bodyPr>
          <a:lstStyle/>
          <a:p>
            <a:pPr algn="ctr"/>
            <a:r>
              <a:rPr sz="3200" b="0">
                <a:solidFill>
                  <a:srgbClr val="FFFFFF"/>
                </a:solidFill>
                <a:latin typeface="Calibri"/>
              </a:rPr>
              <a:t>What's actually getting hit in 2026</a:t>
            </a:r>
          </a:p>
        </p:txBody>
      </p:sp>
      <p:sp>
        <p:nvSpPr>
          <p:cNvPr id="5" name="TextBox 4"/>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6" name="TextBox 5"/>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25 / 44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Reference to xkcd #327 'Exploits of a Mom' (Bobby Tables): a mother names her son Robert'); DROP TABLE Students;-- and the school's student table is dropped. URL: https://xkcd.com/327/" title="Reference to xkcd #327 'Exploits of a Mom' (Bobby Tables): a mother names her so"/>
          <p:cNvSpPr txBox="1"/>
          <p:nvPr/>
        </p:nvSpPr>
        <p:spPr>
          <a:xfrm>
            <a:off x="457200" y="320040"/>
            <a:ext cx="11247120" cy="1005840"/>
          </a:xfrm>
          <a:prstGeom prst="rect">
            <a:avLst/>
          </a:prstGeom>
          <a:noFill/>
        </p:spPr>
        <p:txBody>
          <a:bodyPr wrap="square" anchor="t">
            <a:spAutoFit/>
          </a:bodyPr>
          <a:lstStyle/>
          <a:p>
            <a:pPr algn="l"/>
            <a:r>
              <a:rPr sz="3800" b="1">
                <a:solidFill>
                  <a:srgbClr val="00FF41"/>
                </a:solidFill>
                <a:latin typeface="Calibri"/>
              </a:rPr>
              <a:t>xkcd #327 — Bobby Tables</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737360"/>
            <a:ext cx="11247120" cy="3200400"/>
          </a:xfrm>
          <a:prstGeom prst="rect">
            <a:avLst/>
          </a:prstGeom>
          <a:solidFill>
            <a:srgbClr val="24243E"/>
          </a:solidFill>
          <a:ln w="254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920240"/>
            <a:ext cx="10698480" cy="548640"/>
          </a:xfrm>
          <a:prstGeom prst="rect">
            <a:avLst/>
          </a:prstGeom>
          <a:noFill/>
        </p:spPr>
        <p:txBody>
          <a:bodyPr wrap="square" anchor="t">
            <a:spAutoFit/>
          </a:bodyPr>
          <a:lstStyle/>
          <a:p>
            <a:pPr algn="l"/>
            <a:r>
              <a:rPr sz="2400" b="0">
                <a:solidFill>
                  <a:srgbClr val="FFFFFF"/>
                </a:solidFill>
                <a:latin typeface="Calibri"/>
              </a:rPr>
              <a:t>School:  "Hi, this is your son's school. We're having</a:t>
            </a:r>
          </a:p>
        </p:txBody>
      </p:sp>
      <p:sp>
        <p:nvSpPr>
          <p:cNvPr id="6" name="TextBox 5"/>
          <p:cNvSpPr txBox="1"/>
          <p:nvPr/>
        </p:nvSpPr>
        <p:spPr>
          <a:xfrm>
            <a:off x="731520" y="2514600"/>
            <a:ext cx="10698480" cy="548640"/>
          </a:xfrm>
          <a:prstGeom prst="rect">
            <a:avLst/>
          </a:prstGeom>
          <a:noFill/>
        </p:spPr>
        <p:txBody>
          <a:bodyPr wrap="square" anchor="t">
            <a:spAutoFit/>
          </a:bodyPr>
          <a:lstStyle/>
          <a:p>
            <a:pPr algn="l"/>
            <a:r>
              <a:rPr sz="2400" b="0">
                <a:solidFill>
                  <a:srgbClr val="FFFFFF"/>
                </a:solidFill>
                <a:latin typeface="Calibri"/>
              </a:rPr>
              <a:t>         some computer trouble."</a:t>
            </a:r>
          </a:p>
        </p:txBody>
      </p:sp>
      <p:sp>
        <p:nvSpPr>
          <p:cNvPr id="7" name="TextBox 6"/>
          <p:cNvSpPr txBox="1"/>
          <p:nvPr/>
        </p:nvSpPr>
        <p:spPr>
          <a:xfrm>
            <a:off x="731520" y="3154680"/>
            <a:ext cx="10698480" cy="548640"/>
          </a:xfrm>
          <a:prstGeom prst="rect">
            <a:avLst/>
          </a:prstGeom>
          <a:noFill/>
        </p:spPr>
        <p:txBody>
          <a:bodyPr wrap="square" anchor="t">
            <a:spAutoFit/>
          </a:bodyPr>
          <a:lstStyle/>
          <a:p>
            <a:pPr algn="l"/>
            <a:r>
              <a:rPr sz="2400" b="0">
                <a:solidFill>
                  <a:srgbClr val="FFFFFF"/>
                </a:solidFill>
                <a:latin typeface="Calibri"/>
              </a:rPr>
              <a:t>Mom:     "Oh dear — did he break something?"</a:t>
            </a:r>
          </a:p>
        </p:txBody>
      </p:sp>
      <p:sp>
        <p:nvSpPr>
          <p:cNvPr id="8" name="TextBox 7"/>
          <p:cNvSpPr txBox="1"/>
          <p:nvPr/>
        </p:nvSpPr>
        <p:spPr>
          <a:xfrm>
            <a:off x="731520" y="3794760"/>
            <a:ext cx="10698480" cy="548640"/>
          </a:xfrm>
          <a:prstGeom prst="rect">
            <a:avLst/>
          </a:prstGeom>
          <a:noFill/>
        </p:spPr>
        <p:txBody>
          <a:bodyPr wrap="square" anchor="t">
            <a:spAutoFit/>
          </a:bodyPr>
          <a:lstStyle/>
          <a:p>
            <a:pPr algn="l"/>
            <a:r>
              <a:rPr sz="2400" b="0">
                <a:solidFill>
                  <a:srgbClr val="00FF41"/>
                </a:solidFill>
                <a:latin typeface="Calibri"/>
              </a:rPr>
              <a:t>School:  "Did you really name your son  Robert');</a:t>
            </a:r>
          </a:p>
        </p:txBody>
      </p:sp>
      <p:sp>
        <p:nvSpPr>
          <p:cNvPr id="9" name="TextBox 8"/>
          <p:cNvSpPr txBox="1"/>
          <p:nvPr/>
        </p:nvSpPr>
        <p:spPr>
          <a:xfrm>
            <a:off x="731520" y="4297680"/>
            <a:ext cx="10698480" cy="548640"/>
          </a:xfrm>
          <a:prstGeom prst="rect">
            <a:avLst/>
          </a:prstGeom>
          <a:noFill/>
        </p:spPr>
        <p:txBody>
          <a:bodyPr wrap="square" anchor="t">
            <a:spAutoFit/>
          </a:bodyPr>
          <a:lstStyle/>
          <a:p>
            <a:pPr algn="l"/>
            <a:r>
              <a:rPr sz="2400" b="1">
                <a:solidFill>
                  <a:srgbClr val="FF6B35"/>
                </a:solidFill>
                <a:latin typeface="Calibri"/>
              </a:rPr>
              <a:t>         DROP TABLE Students;--  ?"</a:t>
            </a:r>
          </a:p>
        </p:txBody>
      </p:sp>
      <p:sp>
        <p:nvSpPr>
          <p:cNvPr id="10" name="TextBox 9"/>
          <p:cNvSpPr txBox="1"/>
          <p:nvPr/>
        </p:nvSpPr>
        <p:spPr>
          <a:xfrm>
            <a:off x="457200" y="5212080"/>
            <a:ext cx="11247120" cy="548640"/>
          </a:xfrm>
          <a:prstGeom prst="rect">
            <a:avLst/>
          </a:prstGeom>
          <a:noFill/>
        </p:spPr>
        <p:txBody>
          <a:bodyPr wrap="square" anchor="t">
            <a:spAutoFit/>
          </a:bodyPr>
          <a:lstStyle/>
          <a:p>
            <a:pPr algn="ctr"/>
            <a:r>
              <a:rPr sz="2800" b="1">
                <a:solidFill>
                  <a:srgbClr val="00D4FF"/>
                </a:solidFill>
                <a:latin typeface="Calibri"/>
              </a:rPr>
              <a:t>https://xkcd.com/327/</a:t>
            </a:r>
          </a:p>
        </p:txBody>
      </p:sp>
      <p:sp>
        <p:nvSpPr>
          <p:cNvPr id="11" name="TextBox 10"/>
          <p:cNvSpPr txBox="1"/>
          <p:nvPr/>
        </p:nvSpPr>
        <p:spPr>
          <a:xfrm>
            <a:off x="457200" y="5760720"/>
            <a:ext cx="11247120" cy="457200"/>
          </a:xfrm>
          <a:prstGeom prst="rect">
            <a:avLst/>
          </a:prstGeom>
          <a:noFill/>
        </p:spPr>
        <p:txBody>
          <a:bodyPr wrap="square" anchor="t">
            <a:spAutoFit/>
          </a:bodyPr>
          <a:lstStyle/>
          <a:p>
            <a:pPr algn="ctr"/>
            <a:r>
              <a:rPr sz="2200" b="0">
                <a:solidFill>
                  <a:srgbClr val="CCCCD6"/>
                </a:solidFill>
                <a:latin typeface="Calibri"/>
              </a:rPr>
              <a:t>The mechanism: string concatenation in queries.</a:t>
            </a:r>
          </a:p>
        </p:txBody>
      </p:sp>
      <p:sp>
        <p:nvSpPr>
          <p:cNvPr id="12" name="TextBox 11"/>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13" name="TextBox 12"/>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26 / 44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Statement slide: The database attack surface has expanded, not shrunk. SQL injection is largely fixed; eleven newer categories now dominate." title="Statement slide: The database attack surface has expanded, not shrunk. SQL injec"/>
          <p:cNvSpPr txBox="1"/>
          <p:nvPr/>
        </p:nvSpPr>
        <p:spPr>
          <a:xfrm>
            <a:off x="457200" y="2286000"/>
            <a:ext cx="11247120" cy="1371600"/>
          </a:xfrm>
          <a:prstGeom prst="rect">
            <a:avLst/>
          </a:prstGeom>
          <a:noFill/>
        </p:spPr>
        <p:txBody>
          <a:bodyPr wrap="square" anchor="t">
            <a:spAutoFit/>
          </a:bodyPr>
          <a:lstStyle/>
          <a:p>
            <a:pPr algn="ctr"/>
            <a:r>
              <a:rPr sz="5400" b="0">
                <a:solidFill>
                  <a:srgbClr val="FFFFFF"/>
                </a:solidFill>
                <a:latin typeface="Calibri"/>
              </a:rPr>
              <a:t>The attack surface has</a:t>
            </a:r>
          </a:p>
        </p:txBody>
      </p:sp>
      <p:sp>
        <p:nvSpPr>
          <p:cNvPr id="3" name="TextBox 2"/>
          <p:cNvSpPr txBox="1"/>
          <p:nvPr/>
        </p:nvSpPr>
        <p:spPr>
          <a:xfrm>
            <a:off x="457200" y="3200400"/>
            <a:ext cx="11247120" cy="1371600"/>
          </a:xfrm>
          <a:prstGeom prst="rect">
            <a:avLst/>
          </a:prstGeom>
          <a:noFill/>
        </p:spPr>
        <p:txBody>
          <a:bodyPr wrap="square" anchor="t">
            <a:spAutoFit/>
          </a:bodyPr>
          <a:lstStyle/>
          <a:p>
            <a:pPr algn="ctr"/>
            <a:r>
              <a:rPr sz="7200" b="1">
                <a:solidFill>
                  <a:srgbClr val="FF6B35"/>
                </a:solidFill>
                <a:latin typeface="Calibri"/>
              </a:rPr>
              <a:t>EXPANDED, not shrunk.</a:t>
            </a:r>
          </a:p>
        </p:txBody>
      </p:sp>
      <p:sp>
        <p:nvSpPr>
          <p:cNvPr id="4" name="TextBox 3"/>
          <p:cNvSpPr txBox="1"/>
          <p:nvPr/>
        </p:nvSpPr>
        <p:spPr>
          <a:xfrm>
            <a:off x="457200" y="4846320"/>
            <a:ext cx="11247120" cy="548640"/>
          </a:xfrm>
          <a:prstGeom prst="rect">
            <a:avLst/>
          </a:prstGeom>
          <a:noFill/>
        </p:spPr>
        <p:txBody>
          <a:bodyPr wrap="square" anchor="t">
            <a:spAutoFit/>
          </a:bodyPr>
          <a:lstStyle/>
          <a:p>
            <a:pPr algn="ctr"/>
            <a:r>
              <a:rPr sz="2600" b="0">
                <a:solidFill>
                  <a:srgbClr val="00D4FF"/>
                </a:solidFill>
                <a:latin typeface="Calibri"/>
              </a:rPr>
              <a:t>SQL injection was fixed. Eleven new categories took its place.</a:t>
            </a:r>
          </a:p>
        </p:txBody>
      </p:sp>
      <p:sp>
        <p:nvSpPr>
          <p:cNvPr id="5" name="TextBox 4"/>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6" name="TextBox 5"/>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27 / 44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Attack category: NoSQL Injection. MongoDB JSON queries + raw user input = SQLi reborn. Key points: Login bypass: { username: 'alice', password: { $ne: 'x' } } | $where lets you inject JavaScript straight into the DB. | Couchbase N1QL is SQL-flavored — classic SQLi patterns apply. | Principle: ANY interpreter can be injected, not just SQL." title="Attack category: NoSQL Injection. MongoDB JSON queries + raw user input = SQLi r"/>
          <p:cNvSpPr txBox="1"/>
          <p:nvPr/>
        </p:nvSpPr>
        <p:spPr>
          <a:xfrm>
            <a:off x="457200" y="365760"/>
            <a:ext cx="731520" cy="914400"/>
          </a:xfrm>
          <a:prstGeom prst="rect">
            <a:avLst/>
          </a:prstGeom>
          <a:noFill/>
        </p:spPr>
        <p:txBody>
          <a:bodyPr wrap="square" anchor="t">
            <a:spAutoFit/>
          </a:bodyPr>
          <a:lstStyle/>
          <a:p>
            <a:pPr algn="l"/>
            <a:r>
              <a:rPr sz="5400" b="0">
                <a:solidFill>
                  <a:srgbClr val="FF6B35"/>
                </a:solidFill>
                <a:latin typeface="Calibri"/>
              </a:rPr>
              <a:t>⚠</a:t>
            </a:r>
          </a:p>
        </p:txBody>
      </p:sp>
      <p:sp>
        <p:nvSpPr>
          <p:cNvPr id="3" name="TextBox 2"/>
          <p:cNvSpPr txBox="1"/>
          <p:nvPr/>
        </p:nvSpPr>
        <p:spPr>
          <a:xfrm>
            <a:off x="1280160" y="411480"/>
            <a:ext cx="10424160" cy="1005840"/>
          </a:xfrm>
          <a:prstGeom prst="rect">
            <a:avLst/>
          </a:prstGeom>
          <a:noFill/>
        </p:spPr>
        <p:txBody>
          <a:bodyPr wrap="square" anchor="t">
            <a:spAutoFit/>
          </a:bodyPr>
          <a:lstStyle/>
          <a:p>
            <a:pPr algn="l"/>
            <a:r>
              <a:rPr sz="4200" b="1">
                <a:solidFill>
                  <a:srgbClr val="FF6B35"/>
                </a:solidFill>
                <a:latin typeface="Calibri"/>
              </a:rPr>
              <a:t>NoSQL-Injection</a:t>
            </a:r>
          </a:p>
        </p:txBody>
      </p:sp>
      <p:sp>
        <p:nvSpPr>
          <p:cNvPr id="4" name="Rectangle 3"/>
          <p:cNvSpPr/>
          <p:nvPr/>
        </p:nvSpPr>
        <p:spPr>
          <a:xfrm>
            <a:off x="457200" y="1417320"/>
            <a:ext cx="18288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11247120" cy="822960"/>
          </a:xfrm>
          <a:prstGeom prst="rect">
            <a:avLst/>
          </a:prstGeom>
          <a:noFill/>
        </p:spPr>
        <p:txBody>
          <a:bodyPr wrap="square" anchor="t">
            <a:spAutoFit/>
          </a:bodyPr>
          <a:lstStyle/>
          <a:p>
            <a:pPr algn="l"/>
            <a:r>
              <a:rPr sz="2400" b="0">
                <a:solidFill>
                  <a:srgbClr val="00D4FF"/>
                </a:solidFill>
                <a:latin typeface="Calibri"/>
              </a:rPr>
              <a:t>MongoDB JSON queries + raw user input = SQLi reborn.</a:t>
            </a:r>
          </a:p>
        </p:txBody>
      </p:sp>
      <p:sp>
        <p:nvSpPr>
          <p:cNvPr id="6" name="TextBox 5"/>
          <p:cNvSpPr txBox="1"/>
          <p:nvPr/>
        </p:nvSpPr>
        <p:spPr>
          <a:xfrm>
            <a:off x="640080" y="2606040"/>
            <a:ext cx="10972800" cy="3291840"/>
          </a:xfrm>
          <a:prstGeom prst="rect">
            <a:avLst/>
          </a:prstGeom>
          <a:noFill/>
        </p:spPr>
        <p:txBody>
          <a:bodyPr wrap="square">
            <a:spAutoFit/>
          </a:bodyPr>
          <a:lstStyle/>
          <a:p>
            <a:pPr algn="l">
              <a:lnSpc>
                <a:spcPct val="140000"/>
              </a:lnSpc>
            </a:pPr>
            <a:r>
              <a:rPr sz="2300" b="1">
                <a:solidFill>
                  <a:srgbClr val="00D4FF"/>
                </a:solidFill>
                <a:latin typeface="Calibri"/>
              </a:rPr>
              <a:t>● </a:t>
            </a:r>
            <a:r>
              <a:rPr sz="2300">
                <a:solidFill>
                  <a:srgbClr val="FFFFFF"/>
                </a:solidFill>
                <a:latin typeface="Calibri"/>
              </a:rPr>
              <a:t>Login bypass: { username: 'alice', password: { $ne: 'x' } }</a:t>
            </a:r>
          </a:p>
          <a:p>
            <a:pPr algn="l">
              <a:lnSpc>
                <a:spcPct val="140000"/>
              </a:lnSpc>
            </a:pPr>
            <a:r>
              <a:rPr sz="2300" b="1">
                <a:solidFill>
                  <a:srgbClr val="00D4FF"/>
                </a:solidFill>
                <a:latin typeface="Calibri"/>
              </a:rPr>
              <a:t>● </a:t>
            </a:r>
            <a:r>
              <a:rPr sz="2300">
                <a:solidFill>
                  <a:srgbClr val="FFFFFF"/>
                </a:solidFill>
                <a:latin typeface="Calibri"/>
              </a:rPr>
              <a:t>$where lets you inject JavaScript straight into the DB.</a:t>
            </a:r>
          </a:p>
          <a:p>
            <a:pPr algn="l">
              <a:lnSpc>
                <a:spcPct val="140000"/>
              </a:lnSpc>
            </a:pPr>
            <a:r>
              <a:rPr sz="2300" b="1">
                <a:solidFill>
                  <a:srgbClr val="00D4FF"/>
                </a:solidFill>
                <a:latin typeface="Calibri"/>
              </a:rPr>
              <a:t>● </a:t>
            </a:r>
            <a:r>
              <a:rPr sz="2300">
                <a:solidFill>
                  <a:srgbClr val="FFFFFF"/>
                </a:solidFill>
                <a:latin typeface="Calibri"/>
              </a:rPr>
              <a:t>Couchbase N1QL is SQL-flavored — classic SQLi patterns apply.</a:t>
            </a:r>
          </a:p>
          <a:p>
            <a:pPr algn="l">
              <a:lnSpc>
                <a:spcPct val="140000"/>
              </a:lnSpc>
            </a:pPr>
            <a:r>
              <a:rPr sz="2300" b="1">
                <a:solidFill>
                  <a:srgbClr val="00D4FF"/>
                </a:solidFill>
                <a:latin typeface="Calibri"/>
              </a:rPr>
              <a:t>● </a:t>
            </a:r>
            <a:r>
              <a:rPr sz="2300">
                <a:solidFill>
                  <a:srgbClr val="FFFFFF"/>
                </a:solidFill>
                <a:latin typeface="Calibri"/>
              </a:rPr>
              <a:t>Principle: ANY interpreter can be injected, not just SQL.</a:t>
            </a:r>
          </a:p>
        </p:txBody>
      </p:sp>
      <p:sp>
        <p:nvSpPr>
          <p:cNvPr id="7" name="TextBox 6"/>
          <p:cNvSpPr txBox="1"/>
          <p:nvPr/>
        </p:nvSpPr>
        <p:spPr>
          <a:xfrm>
            <a:off x="457200" y="5989320"/>
            <a:ext cx="11247120" cy="365760"/>
          </a:xfrm>
          <a:prstGeom prst="rect">
            <a:avLst/>
          </a:prstGeom>
          <a:noFill/>
        </p:spPr>
        <p:txBody>
          <a:bodyPr wrap="square" anchor="t">
            <a:spAutoFit/>
          </a:bodyPr>
          <a:lstStyle/>
          <a:p>
            <a:pPr algn="ctr"/>
            <a:r>
              <a:rPr sz="1600" b="0">
                <a:solidFill>
                  <a:srgbClr val="CCCCD6"/>
                </a:solidFill>
                <a:latin typeface="Calibri"/>
              </a:rPr>
              <a:t>OWASP Top 10 2017: 'Dynamic queries... used directly in the interpreter.'</a:t>
            </a:r>
          </a:p>
        </p:txBody>
      </p:sp>
      <p:sp>
        <p:nvSpPr>
          <p:cNvPr id="8" name="TextBox 7"/>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9" name="TextBox 8"/>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28 / 44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Attack category: Exposed &amp; Misconfigured Databases. Shodan and Censys are full of databases that should not be there. Key points: MongoDB bound to 0.0.0.0 with no auth. | Elasticsearch clusters wide open. Redis with no password. | Postgres pg_hba.conf set to 'host all all 0.0.0.0/0 trust'. | Meow attacks (2020): bots wiped thousands of open DBs for fun." title="Attack category: Exposed &amp; Misconfigured Databases. Shodan and Censys are full o"/>
          <p:cNvSpPr txBox="1"/>
          <p:nvPr/>
        </p:nvSpPr>
        <p:spPr>
          <a:xfrm>
            <a:off x="457200" y="365760"/>
            <a:ext cx="731520" cy="914400"/>
          </a:xfrm>
          <a:prstGeom prst="rect">
            <a:avLst/>
          </a:prstGeom>
          <a:noFill/>
        </p:spPr>
        <p:txBody>
          <a:bodyPr wrap="square" anchor="t">
            <a:spAutoFit/>
          </a:bodyPr>
          <a:lstStyle/>
          <a:p>
            <a:pPr algn="l"/>
            <a:r>
              <a:rPr sz="5400" b="0">
                <a:solidFill>
                  <a:srgbClr val="FF6B35"/>
                </a:solidFill>
                <a:latin typeface="Calibri"/>
              </a:rPr>
              <a:t>⚠</a:t>
            </a:r>
          </a:p>
        </p:txBody>
      </p:sp>
      <p:sp>
        <p:nvSpPr>
          <p:cNvPr id="3" name="TextBox 2"/>
          <p:cNvSpPr txBox="1"/>
          <p:nvPr/>
        </p:nvSpPr>
        <p:spPr>
          <a:xfrm>
            <a:off x="1280160" y="411480"/>
            <a:ext cx="10424160" cy="1005840"/>
          </a:xfrm>
          <a:prstGeom prst="rect">
            <a:avLst/>
          </a:prstGeom>
          <a:noFill/>
        </p:spPr>
        <p:txBody>
          <a:bodyPr wrap="square" anchor="t">
            <a:spAutoFit/>
          </a:bodyPr>
          <a:lstStyle/>
          <a:p>
            <a:pPr algn="l"/>
            <a:r>
              <a:rPr sz="4200" b="1">
                <a:solidFill>
                  <a:srgbClr val="FF6B35"/>
                </a:solidFill>
                <a:latin typeface="Calibri"/>
              </a:rPr>
              <a:t>Exponierte und Fehlkonfigurierte Datenbanken</a:t>
            </a:r>
          </a:p>
        </p:txBody>
      </p:sp>
      <p:sp>
        <p:nvSpPr>
          <p:cNvPr id="4" name="Rectangle 3"/>
          <p:cNvSpPr/>
          <p:nvPr/>
        </p:nvSpPr>
        <p:spPr>
          <a:xfrm>
            <a:off x="457200" y="1417320"/>
            <a:ext cx="18288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11247120" cy="822960"/>
          </a:xfrm>
          <a:prstGeom prst="rect">
            <a:avLst/>
          </a:prstGeom>
          <a:noFill/>
        </p:spPr>
        <p:txBody>
          <a:bodyPr wrap="square" anchor="t">
            <a:spAutoFit/>
          </a:bodyPr>
          <a:lstStyle/>
          <a:p>
            <a:pPr algn="l"/>
            <a:r>
              <a:rPr sz="2400" b="0">
                <a:solidFill>
                  <a:srgbClr val="00D4FF"/>
                </a:solidFill>
                <a:latin typeface="Calibri"/>
              </a:rPr>
              <a:t>Shodan and Censys are full of databases that should not be there.</a:t>
            </a:r>
          </a:p>
        </p:txBody>
      </p:sp>
      <p:sp>
        <p:nvSpPr>
          <p:cNvPr id="6" name="TextBox 5"/>
          <p:cNvSpPr txBox="1"/>
          <p:nvPr/>
        </p:nvSpPr>
        <p:spPr>
          <a:xfrm>
            <a:off x="640080" y="2606040"/>
            <a:ext cx="10972800" cy="3291840"/>
          </a:xfrm>
          <a:prstGeom prst="rect">
            <a:avLst/>
          </a:prstGeom>
          <a:noFill/>
        </p:spPr>
        <p:txBody>
          <a:bodyPr wrap="square">
            <a:spAutoFit/>
          </a:bodyPr>
          <a:lstStyle/>
          <a:p>
            <a:pPr algn="l">
              <a:lnSpc>
                <a:spcPct val="140000"/>
              </a:lnSpc>
            </a:pPr>
            <a:r>
              <a:rPr sz="2300" b="1">
                <a:solidFill>
                  <a:srgbClr val="00D4FF"/>
                </a:solidFill>
                <a:latin typeface="Calibri"/>
              </a:rPr>
              <a:t>● </a:t>
            </a:r>
            <a:r>
              <a:rPr sz="2300">
                <a:solidFill>
                  <a:srgbClr val="FFFFFF"/>
                </a:solidFill>
                <a:latin typeface="Calibri"/>
              </a:rPr>
              <a:t>MongoDB bound to 0.0.0.0 with no auth.</a:t>
            </a:r>
          </a:p>
          <a:p>
            <a:pPr algn="l">
              <a:lnSpc>
                <a:spcPct val="140000"/>
              </a:lnSpc>
            </a:pPr>
            <a:r>
              <a:rPr sz="2300" b="1">
                <a:solidFill>
                  <a:srgbClr val="00D4FF"/>
                </a:solidFill>
                <a:latin typeface="Calibri"/>
              </a:rPr>
              <a:t>● </a:t>
            </a:r>
            <a:r>
              <a:rPr sz="2300">
                <a:solidFill>
                  <a:srgbClr val="FFFFFF"/>
                </a:solidFill>
                <a:latin typeface="Calibri"/>
              </a:rPr>
              <a:t>Elasticsearch clusters wide open. Redis with no password.</a:t>
            </a:r>
          </a:p>
          <a:p>
            <a:pPr algn="l">
              <a:lnSpc>
                <a:spcPct val="140000"/>
              </a:lnSpc>
            </a:pPr>
            <a:r>
              <a:rPr sz="2300" b="1">
                <a:solidFill>
                  <a:srgbClr val="00D4FF"/>
                </a:solidFill>
                <a:latin typeface="Calibri"/>
              </a:rPr>
              <a:t>● </a:t>
            </a:r>
            <a:r>
              <a:rPr sz="2300">
                <a:solidFill>
                  <a:srgbClr val="FFFFFF"/>
                </a:solidFill>
                <a:latin typeface="Calibri"/>
              </a:rPr>
              <a:t>Postgres pg_hba.conf set to 'host all all 0.0.0.0/0 trust'.</a:t>
            </a:r>
          </a:p>
          <a:p>
            <a:pPr algn="l">
              <a:lnSpc>
                <a:spcPct val="140000"/>
              </a:lnSpc>
            </a:pPr>
            <a:r>
              <a:rPr sz="2300" b="1">
                <a:solidFill>
                  <a:srgbClr val="00D4FF"/>
                </a:solidFill>
                <a:latin typeface="Calibri"/>
              </a:rPr>
              <a:t>● </a:t>
            </a:r>
            <a:r>
              <a:rPr sz="2300">
                <a:solidFill>
                  <a:srgbClr val="FFFFFF"/>
                </a:solidFill>
                <a:latin typeface="Calibri"/>
              </a:rPr>
              <a:t>Meow attacks (2020): bots wiped thousands of open DBs for fun.</a:t>
            </a:r>
          </a:p>
        </p:txBody>
      </p:sp>
      <p:sp>
        <p:nvSpPr>
          <p:cNvPr id="7" name="TextBox 6"/>
          <p:cNvSpPr txBox="1"/>
          <p:nvPr/>
        </p:nvSpPr>
        <p:spPr>
          <a:xfrm>
            <a:off x="457200" y="5989320"/>
            <a:ext cx="11247120" cy="365760"/>
          </a:xfrm>
          <a:prstGeom prst="rect">
            <a:avLst/>
          </a:prstGeom>
          <a:noFill/>
        </p:spPr>
        <p:txBody>
          <a:bodyPr wrap="square" anchor="t">
            <a:spAutoFit/>
          </a:bodyPr>
          <a:lstStyle/>
          <a:p>
            <a:pPr algn="ctr"/>
            <a:r>
              <a:rPr sz="1600" b="0">
                <a:solidFill>
                  <a:srgbClr val="CCCCD6"/>
                </a:solidFill>
                <a:latin typeface="Calibri"/>
              </a:rPr>
              <a:t>Action item: find what your org has bound to public interfaces. Today.</a:t>
            </a:r>
          </a:p>
        </p:txBody>
      </p:sp>
      <p:sp>
        <p:nvSpPr>
          <p:cNvPr id="8" name="TextBox 7"/>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9" name="TextBox 8"/>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29 / 44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Attack category: Cloud Misconfigurations. In cloud, the bug is rarely the engine. It's the policy around it. Key points: Public S3 buckets containing DB dumps (Capital One pattern). | RDS snapshots marked public during a 2 a.m. debug session. | Lambda with s3:* on * because it 'worked the first time'. | Security groups: 0.0.0.0/0 on port 5432." title="Attack category: Cloud Misconfigurations. In cloud, the bug is rarely the engine"/>
          <p:cNvSpPr txBox="1"/>
          <p:nvPr/>
        </p:nvSpPr>
        <p:spPr>
          <a:xfrm>
            <a:off x="457200" y="365760"/>
            <a:ext cx="731520" cy="914400"/>
          </a:xfrm>
          <a:prstGeom prst="rect">
            <a:avLst/>
          </a:prstGeom>
          <a:noFill/>
        </p:spPr>
        <p:txBody>
          <a:bodyPr wrap="square" anchor="t">
            <a:spAutoFit/>
          </a:bodyPr>
          <a:lstStyle/>
          <a:p>
            <a:pPr algn="l"/>
            <a:r>
              <a:rPr sz="5400" b="0">
                <a:solidFill>
                  <a:srgbClr val="FF6B35"/>
                </a:solidFill>
                <a:latin typeface="Calibri"/>
              </a:rPr>
              <a:t>⚠</a:t>
            </a:r>
          </a:p>
        </p:txBody>
      </p:sp>
      <p:sp>
        <p:nvSpPr>
          <p:cNvPr id="3" name="TextBox 2"/>
          <p:cNvSpPr txBox="1"/>
          <p:nvPr/>
        </p:nvSpPr>
        <p:spPr>
          <a:xfrm>
            <a:off x="1280160" y="411480"/>
            <a:ext cx="10424160" cy="1005840"/>
          </a:xfrm>
          <a:prstGeom prst="rect">
            <a:avLst/>
          </a:prstGeom>
          <a:noFill/>
        </p:spPr>
        <p:txBody>
          <a:bodyPr wrap="square" anchor="t">
            <a:spAutoFit/>
          </a:bodyPr>
          <a:lstStyle/>
          <a:p>
            <a:pPr algn="l"/>
            <a:r>
              <a:rPr sz="4200" b="1">
                <a:solidFill>
                  <a:srgbClr val="FF6B35"/>
                </a:solidFill>
                <a:latin typeface="Calibri"/>
              </a:rPr>
              <a:t>Cloud-Fehlkonfigurationen</a:t>
            </a:r>
          </a:p>
        </p:txBody>
      </p:sp>
      <p:sp>
        <p:nvSpPr>
          <p:cNvPr id="4" name="Rectangle 3"/>
          <p:cNvSpPr/>
          <p:nvPr/>
        </p:nvSpPr>
        <p:spPr>
          <a:xfrm>
            <a:off x="457200" y="1417320"/>
            <a:ext cx="18288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11247120" cy="822960"/>
          </a:xfrm>
          <a:prstGeom prst="rect">
            <a:avLst/>
          </a:prstGeom>
          <a:noFill/>
        </p:spPr>
        <p:txBody>
          <a:bodyPr wrap="square" anchor="t">
            <a:spAutoFit/>
          </a:bodyPr>
          <a:lstStyle/>
          <a:p>
            <a:pPr algn="l"/>
            <a:r>
              <a:rPr sz="2400" b="0">
                <a:solidFill>
                  <a:srgbClr val="00D4FF"/>
                </a:solidFill>
                <a:latin typeface="Calibri"/>
              </a:rPr>
              <a:t>In cloud, the bug is rarely the engine. It's the policy around it.</a:t>
            </a:r>
          </a:p>
        </p:txBody>
      </p:sp>
      <p:sp>
        <p:nvSpPr>
          <p:cNvPr id="6" name="TextBox 5"/>
          <p:cNvSpPr txBox="1"/>
          <p:nvPr/>
        </p:nvSpPr>
        <p:spPr>
          <a:xfrm>
            <a:off x="640080" y="2606040"/>
            <a:ext cx="10972800" cy="3291840"/>
          </a:xfrm>
          <a:prstGeom prst="rect">
            <a:avLst/>
          </a:prstGeom>
          <a:noFill/>
        </p:spPr>
        <p:txBody>
          <a:bodyPr wrap="square">
            <a:spAutoFit/>
          </a:bodyPr>
          <a:lstStyle/>
          <a:p>
            <a:pPr algn="l">
              <a:lnSpc>
                <a:spcPct val="140000"/>
              </a:lnSpc>
            </a:pPr>
            <a:r>
              <a:rPr sz="2300" b="1">
                <a:solidFill>
                  <a:srgbClr val="00D4FF"/>
                </a:solidFill>
                <a:latin typeface="Calibri"/>
              </a:rPr>
              <a:t>● </a:t>
            </a:r>
            <a:r>
              <a:rPr sz="2300">
                <a:solidFill>
                  <a:srgbClr val="FFFFFF"/>
                </a:solidFill>
                <a:latin typeface="Calibri"/>
              </a:rPr>
              <a:t>Public S3 buckets full of DB dumps (Accenture, Verizon, etc.).</a:t>
            </a:r>
          </a:p>
          <a:p>
            <a:pPr algn="l">
              <a:lnSpc>
                <a:spcPct val="140000"/>
              </a:lnSpc>
            </a:pPr>
            <a:r>
              <a:rPr sz="2300" b="1">
                <a:solidFill>
                  <a:srgbClr val="00D4FF"/>
                </a:solidFill>
                <a:latin typeface="Calibri"/>
              </a:rPr>
              <a:t>● </a:t>
            </a:r>
            <a:r>
              <a:rPr sz="2300">
                <a:solidFill>
                  <a:srgbClr val="FFFFFF"/>
                </a:solidFill>
                <a:latin typeface="Calibri"/>
              </a:rPr>
              <a:t>Capital One 2019: SSRF tricked a WAF into leaking its IAM creds → S3.</a:t>
            </a:r>
          </a:p>
          <a:p>
            <a:pPr algn="l">
              <a:lnSpc>
                <a:spcPct val="140000"/>
              </a:lnSpc>
            </a:pPr>
            <a:r>
              <a:rPr sz="2300" b="1">
                <a:solidFill>
                  <a:srgbClr val="00D4FF"/>
                </a:solidFill>
                <a:latin typeface="Calibri"/>
              </a:rPr>
              <a:t>● </a:t>
            </a:r>
            <a:r>
              <a:rPr sz="2300">
                <a:solidFill>
                  <a:srgbClr val="FFFFFF"/>
                </a:solidFill>
                <a:latin typeface="Calibri"/>
              </a:rPr>
              <a:t>Lambda with s3:* on * because it 'worked the first time'.</a:t>
            </a:r>
          </a:p>
          <a:p>
            <a:pPr algn="l">
              <a:lnSpc>
                <a:spcPct val="140000"/>
              </a:lnSpc>
            </a:pPr>
            <a:r>
              <a:rPr sz="2300" b="1">
                <a:solidFill>
                  <a:srgbClr val="00D4FF"/>
                </a:solidFill>
                <a:latin typeface="Calibri"/>
              </a:rPr>
              <a:t>● </a:t>
            </a:r>
            <a:r>
              <a:rPr sz="2300">
                <a:solidFill>
                  <a:srgbClr val="FFFFFF"/>
                </a:solidFill>
                <a:latin typeface="Calibri"/>
              </a:rPr>
              <a:t>Security groups: 0.0.0.0/0 on port 5432.</a:t>
            </a:r>
          </a:p>
        </p:txBody>
      </p:sp>
      <p:sp>
        <p:nvSpPr>
          <p:cNvPr id="7" name="TextBox 6"/>
          <p:cNvSpPr txBox="1"/>
          <p:nvPr/>
        </p:nvSpPr>
        <p:spPr>
          <a:xfrm>
            <a:off x="457200" y="5989320"/>
            <a:ext cx="11247120" cy="365760"/>
          </a:xfrm>
          <a:prstGeom prst="rect">
            <a:avLst/>
          </a:prstGeom>
          <a:noFill/>
        </p:spPr>
        <p:txBody>
          <a:bodyPr wrap="square" anchor="t">
            <a:spAutoFit/>
          </a:bodyPr>
          <a:lstStyle/>
          <a:p>
            <a:pPr algn="ctr"/>
            <a:r>
              <a:rPr sz="1600" b="0">
                <a:solidFill>
                  <a:srgbClr val="CCCCD6"/>
                </a:solidFill>
                <a:latin typeface="Calibri"/>
              </a:rPr>
              <a:t>AWS Admin: 'Get rid of the Root Account, use IAM wherever necessary.'</a:t>
            </a:r>
          </a:p>
        </p:txBody>
      </p:sp>
      <p:sp>
        <p:nvSpPr>
          <p:cNvPr id="8" name="TextBox 7"/>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9" name="TextBox 8"/>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30 / 44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Attack category: Privilege Escalation: DB → OS. Database accounts can become shell access. Three classic moves. Key points: MS SQL: xp_cmdshell — runs shell commands as the DB process. | PostgreSQL: COPY ... TO PROGRAM — pipes output to a shell. | MySQL: load a UDF .so file → sys_exec on the OS. | Pattern: every privileged DB feature is part of the attack surface." title="Attack category: Privilege Escalation: DB → OS. Database accounts can become she"/>
          <p:cNvSpPr txBox="1"/>
          <p:nvPr/>
        </p:nvSpPr>
        <p:spPr>
          <a:xfrm>
            <a:off x="457200" y="365760"/>
            <a:ext cx="731520" cy="914400"/>
          </a:xfrm>
          <a:prstGeom prst="rect">
            <a:avLst/>
          </a:prstGeom>
          <a:noFill/>
        </p:spPr>
        <p:txBody>
          <a:bodyPr wrap="square" anchor="t">
            <a:spAutoFit/>
          </a:bodyPr>
          <a:lstStyle/>
          <a:p>
            <a:pPr algn="l"/>
            <a:r>
              <a:rPr sz="5400" b="0">
                <a:solidFill>
                  <a:srgbClr val="FF6B35"/>
                </a:solidFill>
                <a:latin typeface="Calibri"/>
              </a:rPr>
              <a:t>⚠</a:t>
            </a:r>
          </a:p>
        </p:txBody>
      </p:sp>
      <p:sp>
        <p:nvSpPr>
          <p:cNvPr id="3" name="TextBox 2"/>
          <p:cNvSpPr txBox="1"/>
          <p:nvPr/>
        </p:nvSpPr>
        <p:spPr>
          <a:xfrm>
            <a:off x="1280160" y="411480"/>
            <a:ext cx="10424160" cy="1005840"/>
          </a:xfrm>
          <a:prstGeom prst="rect">
            <a:avLst/>
          </a:prstGeom>
          <a:noFill/>
        </p:spPr>
        <p:txBody>
          <a:bodyPr wrap="square" anchor="t">
            <a:spAutoFit/>
          </a:bodyPr>
          <a:lstStyle/>
          <a:p>
            <a:pPr algn="l"/>
            <a:r>
              <a:rPr sz="4200" b="1">
                <a:solidFill>
                  <a:srgbClr val="FF6B35"/>
                </a:solidFill>
                <a:latin typeface="Calibri"/>
              </a:rPr>
              <a:t>Privilegien-Eskalation: DB → OS</a:t>
            </a:r>
          </a:p>
        </p:txBody>
      </p:sp>
      <p:sp>
        <p:nvSpPr>
          <p:cNvPr id="4" name="Rectangle 3"/>
          <p:cNvSpPr/>
          <p:nvPr/>
        </p:nvSpPr>
        <p:spPr>
          <a:xfrm>
            <a:off x="457200" y="1417320"/>
            <a:ext cx="18288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11247120" cy="822960"/>
          </a:xfrm>
          <a:prstGeom prst="rect">
            <a:avLst/>
          </a:prstGeom>
          <a:noFill/>
        </p:spPr>
        <p:txBody>
          <a:bodyPr wrap="square" anchor="t">
            <a:spAutoFit/>
          </a:bodyPr>
          <a:lstStyle/>
          <a:p>
            <a:pPr algn="l"/>
            <a:r>
              <a:rPr sz="2400" b="0">
                <a:solidFill>
                  <a:srgbClr val="00D4FF"/>
                </a:solidFill>
                <a:latin typeface="Calibri"/>
              </a:rPr>
              <a:t>Database accounts can become shell access. Three classic moves.</a:t>
            </a:r>
          </a:p>
        </p:txBody>
      </p:sp>
      <p:sp>
        <p:nvSpPr>
          <p:cNvPr id="6" name="TextBox 5"/>
          <p:cNvSpPr txBox="1"/>
          <p:nvPr/>
        </p:nvSpPr>
        <p:spPr>
          <a:xfrm>
            <a:off x="640080" y="2606040"/>
            <a:ext cx="10972800" cy="3291840"/>
          </a:xfrm>
          <a:prstGeom prst="rect">
            <a:avLst/>
          </a:prstGeom>
          <a:noFill/>
        </p:spPr>
        <p:txBody>
          <a:bodyPr wrap="square">
            <a:spAutoFit/>
          </a:bodyPr>
          <a:lstStyle/>
          <a:p>
            <a:pPr algn="l">
              <a:lnSpc>
                <a:spcPct val="140000"/>
              </a:lnSpc>
            </a:pPr>
            <a:r>
              <a:rPr sz="2300" b="1">
                <a:solidFill>
                  <a:srgbClr val="00D4FF"/>
                </a:solidFill>
                <a:latin typeface="Calibri"/>
              </a:rPr>
              <a:t>● </a:t>
            </a:r>
            <a:r>
              <a:rPr sz="2300">
                <a:solidFill>
                  <a:srgbClr val="FFFFFF"/>
                </a:solidFill>
                <a:latin typeface="Calibri"/>
              </a:rPr>
              <a:t>MS SQL: xp_cmdshell — runs shell commands as the DB process.</a:t>
            </a:r>
          </a:p>
          <a:p>
            <a:pPr algn="l">
              <a:lnSpc>
                <a:spcPct val="140000"/>
              </a:lnSpc>
            </a:pPr>
            <a:r>
              <a:rPr sz="2300" b="1">
                <a:solidFill>
                  <a:srgbClr val="00D4FF"/>
                </a:solidFill>
                <a:latin typeface="Calibri"/>
              </a:rPr>
              <a:t>● </a:t>
            </a:r>
            <a:r>
              <a:rPr sz="2300">
                <a:solidFill>
                  <a:srgbClr val="FFFFFF"/>
                </a:solidFill>
                <a:latin typeface="Calibri"/>
              </a:rPr>
              <a:t>PostgreSQL: COPY ... TO PROGRAM — pipes output to a shell.</a:t>
            </a:r>
          </a:p>
          <a:p>
            <a:pPr algn="l">
              <a:lnSpc>
                <a:spcPct val="140000"/>
              </a:lnSpc>
            </a:pPr>
            <a:r>
              <a:rPr sz="2300" b="1">
                <a:solidFill>
                  <a:srgbClr val="00D4FF"/>
                </a:solidFill>
                <a:latin typeface="Calibri"/>
              </a:rPr>
              <a:t>● </a:t>
            </a:r>
            <a:r>
              <a:rPr sz="2300">
                <a:solidFill>
                  <a:srgbClr val="FFFFFF"/>
                </a:solidFill>
                <a:latin typeface="Calibri"/>
              </a:rPr>
              <a:t>MySQL: load a UDF .so file → sys_exec on the OS.</a:t>
            </a:r>
          </a:p>
          <a:p>
            <a:pPr algn="l">
              <a:lnSpc>
                <a:spcPct val="140000"/>
              </a:lnSpc>
            </a:pPr>
            <a:r>
              <a:rPr sz="2300" b="1">
                <a:solidFill>
                  <a:srgbClr val="00D4FF"/>
                </a:solidFill>
                <a:latin typeface="Calibri"/>
              </a:rPr>
              <a:t>● </a:t>
            </a:r>
            <a:r>
              <a:rPr sz="2300">
                <a:solidFill>
                  <a:srgbClr val="FFFFFF"/>
                </a:solidFill>
                <a:latin typeface="Calibri"/>
              </a:rPr>
              <a:t>Pattern: every privileged DB feature is part of the attack surface.</a:t>
            </a:r>
          </a:p>
        </p:txBody>
      </p:sp>
      <p:sp>
        <p:nvSpPr>
          <p:cNvPr id="7" name="TextBox 6"/>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8" name="TextBox 7"/>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31 / 44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Attack category: Data Lake Security Gaps. Everything ends up in S3 — including things you didn't mean to put there. Key points: Permissive IAM leaks from compute roles to humans. | No encryption-at-rest enforcement on bucket keys. | No write-side validation — anyone can drop poisoned data. | First question: WHO can write to the lake? WHO can read?" title="Attack category: Data Lake Security Gaps. Everything ends up in S3 — including t"/>
          <p:cNvSpPr txBox="1"/>
          <p:nvPr/>
        </p:nvSpPr>
        <p:spPr>
          <a:xfrm>
            <a:off x="457200" y="365760"/>
            <a:ext cx="731520" cy="914400"/>
          </a:xfrm>
          <a:prstGeom prst="rect">
            <a:avLst/>
          </a:prstGeom>
          <a:noFill/>
        </p:spPr>
        <p:txBody>
          <a:bodyPr wrap="square" anchor="t">
            <a:spAutoFit/>
          </a:bodyPr>
          <a:lstStyle/>
          <a:p>
            <a:pPr algn="l"/>
            <a:r>
              <a:rPr sz="5400" b="0">
                <a:solidFill>
                  <a:srgbClr val="FF6B35"/>
                </a:solidFill>
                <a:latin typeface="Calibri"/>
              </a:rPr>
              <a:t>⚠</a:t>
            </a:r>
          </a:p>
        </p:txBody>
      </p:sp>
      <p:sp>
        <p:nvSpPr>
          <p:cNvPr id="3" name="TextBox 2"/>
          <p:cNvSpPr txBox="1"/>
          <p:nvPr/>
        </p:nvSpPr>
        <p:spPr>
          <a:xfrm>
            <a:off x="1280160" y="411480"/>
            <a:ext cx="10424160" cy="1005840"/>
          </a:xfrm>
          <a:prstGeom prst="rect">
            <a:avLst/>
          </a:prstGeom>
          <a:noFill/>
        </p:spPr>
        <p:txBody>
          <a:bodyPr wrap="square" anchor="t">
            <a:spAutoFit/>
          </a:bodyPr>
          <a:lstStyle/>
          <a:p>
            <a:pPr algn="l"/>
            <a:r>
              <a:rPr sz="4200" b="1">
                <a:solidFill>
                  <a:srgbClr val="FF6B35"/>
                </a:solidFill>
                <a:latin typeface="Calibri"/>
              </a:rPr>
              <a:t>Data-Lake-Sicherheitslücken</a:t>
            </a:r>
          </a:p>
        </p:txBody>
      </p:sp>
      <p:sp>
        <p:nvSpPr>
          <p:cNvPr id="4" name="Rectangle 3"/>
          <p:cNvSpPr/>
          <p:nvPr/>
        </p:nvSpPr>
        <p:spPr>
          <a:xfrm>
            <a:off x="457200" y="1417320"/>
            <a:ext cx="18288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11247120" cy="822960"/>
          </a:xfrm>
          <a:prstGeom prst="rect">
            <a:avLst/>
          </a:prstGeom>
          <a:noFill/>
        </p:spPr>
        <p:txBody>
          <a:bodyPr wrap="square" anchor="t">
            <a:spAutoFit/>
          </a:bodyPr>
          <a:lstStyle/>
          <a:p>
            <a:pPr algn="l"/>
            <a:r>
              <a:rPr sz="2400" b="0">
                <a:solidFill>
                  <a:srgbClr val="00D4FF"/>
                </a:solidFill>
                <a:latin typeface="Calibri"/>
              </a:rPr>
              <a:t>Everything ends up in S3 — including things you didn't mean to put there.</a:t>
            </a:r>
          </a:p>
        </p:txBody>
      </p:sp>
      <p:sp>
        <p:nvSpPr>
          <p:cNvPr id="6" name="TextBox 5"/>
          <p:cNvSpPr txBox="1"/>
          <p:nvPr/>
        </p:nvSpPr>
        <p:spPr>
          <a:xfrm>
            <a:off x="640080" y="2606040"/>
            <a:ext cx="10972800" cy="3291840"/>
          </a:xfrm>
          <a:prstGeom prst="rect">
            <a:avLst/>
          </a:prstGeom>
          <a:noFill/>
        </p:spPr>
        <p:txBody>
          <a:bodyPr wrap="square">
            <a:spAutoFit/>
          </a:bodyPr>
          <a:lstStyle/>
          <a:p>
            <a:pPr algn="l">
              <a:lnSpc>
                <a:spcPct val="140000"/>
              </a:lnSpc>
            </a:pPr>
            <a:r>
              <a:rPr sz="2300" b="1">
                <a:solidFill>
                  <a:srgbClr val="00D4FF"/>
                </a:solidFill>
                <a:latin typeface="Calibri"/>
              </a:rPr>
              <a:t>● </a:t>
            </a:r>
            <a:r>
              <a:rPr sz="2300">
                <a:solidFill>
                  <a:srgbClr val="FFFFFF"/>
                </a:solidFill>
                <a:latin typeface="Calibri"/>
              </a:rPr>
              <a:t>Permissive IAM leaks from compute roles to humans.</a:t>
            </a:r>
          </a:p>
          <a:p>
            <a:pPr algn="l">
              <a:lnSpc>
                <a:spcPct val="140000"/>
              </a:lnSpc>
            </a:pPr>
            <a:r>
              <a:rPr sz="2300" b="1">
                <a:solidFill>
                  <a:srgbClr val="00D4FF"/>
                </a:solidFill>
                <a:latin typeface="Calibri"/>
              </a:rPr>
              <a:t>● </a:t>
            </a:r>
            <a:r>
              <a:rPr sz="2300">
                <a:solidFill>
                  <a:srgbClr val="FFFFFF"/>
                </a:solidFill>
                <a:latin typeface="Calibri"/>
              </a:rPr>
              <a:t>No encryption-at-rest enforcement on bucket keys.</a:t>
            </a:r>
          </a:p>
          <a:p>
            <a:pPr algn="l">
              <a:lnSpc>
                <a:spcPct val="140000"/>
              </a:lnSpc>
            </a:pPr>
            <a:r>
              <a:rPr sz="2300" b="1">
                <a:solidFill>
                  <a:srgbClr val="00D4FF"/>
                </a:solidFill>
                <a:latin typeface="Calibri"/>
              </a:rPr>
              <a:t>● </a:t>
            </a:r>
            <a:r>
              <a:rPr sz="2300">
                <a:solidFill>
                  <a:srgbClr val="FFFFFF"/>
                </a:solidFill>
                <a:latin typeface="Calibri"/>
              </a:rPr>
              <a:t>No write-side validation — anyone can drop poisoned data.</a:t>
            </a:r>
          </a:p>
          <a:p>
            <a:pPr algn="l">
              <a:lnSpc>
                <a:spcPct val="140000"/>
              </a:lnSpc>
            </a:pPr>
            <a:r>
              <a:rPr sz="2300" b="1">
                <a:solidFill>
                  <a:srgbClr val="00D4FF"/>
                </a:solidFill>
                <a:latin typeface="Calibri"/>
              </a:rPr>
              <a:t>● </a:t>
            </a:r>
            <a:r>
              <a:rPr sz="2300">
                <a:solidFill>
                  <a:srgbClr val="FFFFFF"/>
                </a:solidFill>
                <a:latin typeface="Calibri"/>
              </a:rPr>
              <a:t>First question: WHO can write to the lake? WHO can read?</a:t>
            </a:r>
          </a:p>
        </p:txBody>
      </p:sp>
      <p:sp>
        <p:nvSpPr>
          <p:cNvPr id="7" name="TextBox 6"/>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8" name="TextBox 7"/>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32 / 44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Attack category: Ransomware Loves Databases. The DB is the thing the business needs back — maximum leverage. Key points: Encrypt the live database. | Encrypt the BACKUPS (otherwise customer just restores). | Exfil a copy first — extort with disclosure even if they restore. | Defense: offline, immutable backups + tested restores." title="Attack category: Ransomware Loves Databases. The DB is the thing the business ne"/>
          <p:cNvSpPr txBox="1"/>
          <p:nvPr/>
        </p:nvSpPr>
        <p:spPr>
          <a:xfrm>
            <a:off x="457200" y="365760"/>
            <a:ext cx="731520" cy="914400"/>
          </a:xfrm>
          <a:prstGeom prst="rect">
            <a:avLst/>
          </a:prstGeom>
          <a:noFill/>
        </p:spPr>
        <p:txBody>
          <a:bodyPr wrap="square" anchor="t">
            <a:spAutoFit/>
          </a:bodyPr>
          <a:lstStyle/>
          <a:p>
            <a:pPr algn="l"/>
            <a:r>
              <a:rPr sz="5400" b="0">
                <a:solidFill>
                  <a:srgbClr val="FF6B35"/>
                </a:solidFill>
                <a:latin typeface="Calibri"/>
              </a:rPr>
              <a:t>⚠</a:t>
            </a:r>
          </a:p>
        </p:txBody>
      </p:sp>
      <p:sp>
        <p:nvSpPr>
          <p:cNvPr id="3" name="TextBox 2"/>
          <p:cNvSpPr txBox="1"/>
          <p:nvPr/>
        </p:nvSpPr>
        <p:spPr>
          <a:xfrm>
            <a:off x="1280160" y="411480"/>
            <a:ext cx="10424160" cy="1005840"/>
          </a:xfrm>
          <a:prstGeom prst="rect">
            <a:avLst/>
          </a:prstGeom>
          <a:noFill/>
        </p:spPr>
        <p:txBody>
          <a:bodyPr wrap="square" anchor="t">
            <a:spAutoFit/>
          </a:bodyPr>
          <a:lstStyle/>
          <a:p>
            <a:pPr algn="l"/>
            <a:r>
              <a:rPr sz="4200" b="1">
                <a:solidFill>
                  <a:srgbClr val="FF6B35"/>
                </a:solidFill>
                <a:latin typeface="Calibri"/>
              </a:rPr>
              <a:t>Ransomware Loves Databases</a:t>
            </a:r>
          </a:p>
        </p:txBody>
      </p:sp>
      <p:sp>
        <p:nvSpPr>
          <p:cNvPr id="4" name="Rectangle 3"/>
          <p:cNvSpPr/>
          <p:nvPr/>
        </p:nvSpPr>
        <p:spPr>
          <a:xfrm>
            <a:off x="457200" y="1417320"/>
            <a:ext cx="18288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11247120" cy="822960"/>
          </a:xfrm>
          <a:prstGeom prst="rect">
            <a:avLst/>
          </a:prstGeom>
          <a:noFill/>
        </p:spPr>
        <p:txBody>
          <a:bodyPr wrap="square" anchor="t">
            <a:spAutoFit/>
          </a:bodyPr>
          <a:lstStyle/>
          <a:p>
            <a:pPr algn="l"/>
            <a:r>
              <a:rPr sz="2400" b="0">
                <a:solidFill>
                  <a:srgbClr val="00D4FF"/>
                </a:solidFill>
                <a:latin typeface="Calibri"/>
              </a:rPr>
              <a:t>The DB is the thing the business needs back — maximum leverage.</a:t>
            </a:r>
          </a:p>
        </p:txBody>
      </p:sp>
      <p:sp>
        <p:nvSpPr>
          <p:cNvPr id="6" name="TextBox 5"/>
          <p:cNvSpPr txBox="1"/>
          <p:nvPr/>
        </p:nvSpPr>
        <p:spPr>
          <a:xfrm>
            <a:off x="640080" y="2606040"/>
            <a:ext cx="10972800" cy="3291840"/>
          </a:xfrm>
          <a:prstGeom prst="rect">
            <a:avLst/>
          </a:prstGeom>
          <a:noFill/>
        </p:spPr>
        <p:txBody>
          <a:bodyPr wrap="square">
            <a:spAutoFit/>
          </a:bodyPr>
          <a:lstStyle/>
          <a:p>
            <a:pPr algn="l">
              <a:lnSpc>
                <a:spcPct val="140000"/>
              </a:lnSpc>
            </a:pPr>
            <a:r>
              <a:rPr sz="2300" b="1">
                <a:solidFill>
                  <a:srgbClr val="00D4FF"/>
                </a:solidFill>
                <a:latin typeface="Calibri"/>
              </a:rPr>
              <a:t>● </a:t>
            </a:r>
            <a:r>
              <a:rPr sz="2300">
                <a:solidFill>
                  <a:srgbClr val="FFFFFF"/>
                </a:solidFill>
                <a:latin typeface="Calibri"/>
              </a:rPr>
              <a:t>Encrypt the live database.</a:t>
            </a:r>
          </a:p>
          <a:p>
            <a:pPr algn="l">
              <a:lnSpc>
                <a:spcPct val="140000"/>
              </a:lnSpc>
            </a:pPr>
            <a:r>
              <a:rPr sz="2300" b="1">
                <a:solidFill>
                  <a:srgbClr val="00D4FF"/>
                </a:solidFill>
                <a:latin typeface="Calibri"/>
              </a:rPr>
              <a:t>● </a:t>
            </a:r>
            <a:r>
              <a:rPr sz="2300">
                <a:solidFill>
                  <a:srgbClr val="FFFFFF"/>
                </a:solidFill>
                <a:latin typeface="Calibri"/>
              </a:rPr>
              <a:t>Encrypt the BACKUPS (otherwise customer just restores).</a:t>
            </a:r>
          </a:p>
          <a:p>
            <a:pPr algn="l">
              <a:lnSpc>
                <a:spcPct val="140000"/>
              </a:lnSpc>
            </a:pPr>
            <a:r>
              <a:rPr sz="2300" b="1">
                <a:solidFill>
                  <a:srgbClr val="00D4FF"/>
                </a:solidFill>
                <a:latin typeface="Calibri"/>
              </a:rPr>
              <a:t>● </a:t>
            </a:r>
            <a:r>
              <a:rPr sz="2300">
                <a:solidFill>
                  <a:srgbClr val="FFFFFF"/>
                </a:solidFill>
                <a:latin typeface="Calibri"/>
              </a:rPr>
              <a:t>Exfil a copy first — extort with disclosure even if they restore.</a:t>
            </a:r>
          </a:p>
          <a:p>
            <a:pPr algn="l">
              <a:lnSpc>
                <a:spcPct val="140000"/>
              </a:lnSpc>
            </a:pPr>
            <a:r>
              <a:rPr sz="2300" b="1">
                <a:solidFill>
                  <a:srgbClr val="00D4FF"/>
                </a:solidFill>
                <a:latin typeface="Calibri"/>
              </a:rPr>
              <a:t>● </a:t>
            </a:r>
            <a:r>
              <a:rPr sz="2300">
                <a:solidFill>
                  <a:srgbClr val="FFFFFF"/>
                </a:solidFill>
                <a:latin typeface="Calibri"/>
              </a:rPr>
              <a:t>Defense: offline, immutable backups + tested restores.</a:t>
            </a:r>
          </a:p>
        </p:txBody>
      </p:sp>
      <p:sp>
        <p:nvSpPr>
          <p:cNvPr id="7" name="TextBox 6"/>
          <p:cNvSpPr txBox="1"/>
          <p:nvPr/>
        </p:nvSpPr>
        <p:spPr>
          <a:xfrm>
            <a:off x="457200" y="5989320"/>
            <a:ext cx="11247120" cy="365760"/>
          </a:xfrm>
          <a:prstGeom prst="rect">
            <a:avLst/>
          </a:prstGeom>
          <a:noFill/>
        </p:spPr>
        <p:txBody>
          <a:bodyPr wrap="square" anchor="t">
            <a:spAutoFit/>
          </a:bodyPr>
          <a:lstStyle/>
          <a:p>
            <a:pPr algn="ctr"/>
            <a:r>
              <a:rPr sz="1600" b="0">
                <a:solidFill>
                  <a:srgbClr val="CCCCD6"/>
                </a:solidFill>
                <a:latin typeface="Calibri"/>
              </a:rPr>
              <a:t>Cybersecurity A&amp;D: WannaCry — patch was out 59 days prior.</a:t>
            </a:r>
          </a:p>
        </p:txBody>
      </p:sp>
      <p:sp>
        <p:nvSpPr>
          <p:cNvPr id="8" name="TextBox 7"/>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9" name="TextBox 8"/>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33 / 44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Attack category: Credential Attacks. Default creds and leaked connection strings — two old, durable bugs. Key points: Redis: no password by default for years. | Elastic: no auth in the free tier — also for years. | Connection strings (postgres://user:pass@host) committed to Git. | Pre-commit secret scanning — fix this week." title="Attack category: Credential Attacks. Default creds and leaked connection strings"/>
          <p:cNvSpPr txBox="1"/>
          <p:nvPr/>
        </p:nvSpPr>
        <p:spPr>
          <a:xfrm>
            <a:off x="457200" y="365760"/>
            <a:ext cx="731520" cy="914400"/>
          </a:xfrm>
          <a:prstGeom prst="rect">
            <a:avLst/>
          </a:prstGeom>
          <a:noFill/>
        </p:spPr>
        <p:txBody>
          <a:bodyPr wrap="square" anchor="t">
            <a:spAutoFit/>
          </a:bodyPr>
          <a:lstStyle/>
          <a:p>
            <a:pPr algn="l"/>
            <a:r>
              <a:rPr sz="5400" b="0">
                <a:solidFill>
                  <a:srgbClr val="FF6B35"/>
                </a:solidFill>
                <a:latin typeface="Calibri"/>
              </a:rPr>
              <a:t>⚠</a:t>
            </a:r>
          </a:p>
        </p:txBody>
      </p:sp>
      <p:sp>
        <p:nvSpPr>
          <p:cNvPr id="3" name="TextBox 2"/>
          <p:cNvSpPr txBox="1"/>
          <p:nvPr/>
        </p:nvSpPr>
        <p:spPr>
          <a:xfrm>
            <a:off x="1280160" y="411480"/>
            <a:ext cx="10424160" cy="1005840"/>
          </a:xfrm>
          <a:prstGeom prst="rect">
            <a:avLst/>
          </a:prstGeom>
          <a:noFill/>
        </p:spPr>
        <p:txBody>
          <a:bodyPr wrap="square" anchor="t">
            <a:spAutoFit/>
          </a:bodyPr>
          <a:lstStyle/>
          <a:p>
            <a:pPr algn="l"/>
            <a:r>
              <a:rPr sz="4200" b="1">
                <a:solidFill>
                  <a:srgbClr val="FF6B35"/>
                </a:solidFill>
                <a:latin typeface="Calibri"/>
              </a:rPr>
              <a:t>Angriffe auf Anmeldedaten</a:t>
            </a:r>
          </a:p>
        </p:txBody>
      </p:sp>
      <p:sp>
        <p:nvSpPr>
          <p:cNvPr id="4" name="Rectangle 3"/>
          <p:cNvSpPr/>
          <p:nvPr/>
        </p:nvSpPr>
        <p:spPr>
          <a:xfrm>
            <a:off x="457200" y="1417320"/>
            <a:ext cx="18288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11247120" cy="822960"/>
          </a:xfrm>
          <a:prstGeom prst="rect">
            <a:avLst/>
          </a:prstGeom>
          <a:noFill/>
        </p:spPr>
        <p:txBody>
          <a:bodyPr wrap="square" anchor="t">
            <a:spAutoFit/>
          </a:bodyPr>
          <a:lstStyle/>
          <a:p>
            <a:pPr algn="l"/>
            <a:r>
              <a:rPr sz="2400" b="0">
                <a:solidFill>
                  <a:srgbClr val="00D4FF"/>
                </a:solidFill>
                <a:latin typeface="Calibri"/>
              </a:rPr>
              <a:t>Default creds and leaked connection strings — two old, durable bugs.</a:t>
            </a:r>
          </a:p>
        </p:txBody>
      </p:sp>
      <p:sp>
        <p:nvSpPr>
          <p:cNvPr id="6" name="TextBox 5"/>
          <p:cNvSpPr txBox="1"/>
          <p:nvPr/>
        </p:nvSpPr>
        <p:spPr>
          <a:xfrm>
            <a:off x="640080" y="2606040"/>
            <a:ext cx="10972800" cy="3291840"/>
          </a:xfrm>
          <a:prstGeom prst="rect">
            <a:avLst/>
          </a:prstGeom>
          <a:noFill/>
        </p:spPr>
        <p:txBody>
          <a:bodyPr wrap="square">
            <a:spAutoFit/>
          </a:bodyPr>
          <a:lstStyle/>
          <a:p>
            <a:pPr algn="l">
              <a:lnSpc>
                <a:spcPct val="140000"/>
              </a:lnSpc>
            </a:pPr>
            <a:r>
              <a:rPr sz="2300" b="1">
                <a:solidFill>
                  <a:srgbClr val="00D4FF"/>
                </a:solidFill>
                <a:latin typeface="Calibri"/>
              </a:rPr>
              <a:t>● </a:t>
            </a:r>
            <a:r>
              <a:rPr sz="2300">
                <a:solidFill>
                  <a:srgbClr val="FFFFFF"/>
                </a:solidFill>
                <a:latin typeface="Calibri"/>
              </a:rPr>
              <a:t>Redis: no password by default for years.</a:t>
            </a:r>
          </a:p>
          <a:p>
            <a:pPr algn="l">
              <a:lnSpc>
                <a:spcPct val="140000"/>
              </a:lnSpc>
            </a:pPr>
            <a:r>
              <a:rPr sz="2300" b="1">
                <a:solidFill>
                  <a:srgbClr val="00D4FF"/>
                </a:solidFill>
                <a:latin typeface="Calibri"/>
              </a:rPr>
              <a:t>● </a:t>
            </a:r>
            <a:r>
              <a:rPr sz="2300">
                <a:solidFill>
                  <a:srgbClr val="FFFFFF"/>
                </a:solidFill>
                <a:latin typeface="Calibri"/>
              </a:rPr>
              <a:t>Elastic: no auth in the free tier — also for years.</a:t>
            </a:r>
          </a:p>
          <a:p>
            <a:pPr algn="l">
              <a:lnSpc>
                <a:spcPct val="140000"/>
              </a:lnSpc>
            </a:pPr>
            <a:r>
              <a:rPr sz="2300" b="1">
                <a:solidFill>
                  <a:srgbClr val="00D4FF"/>
                </a:solidFill>
                <a:latin typeface="Calibri"/>
              </a:rPr>
              <a:t>● </a:t>
            </a:r>
            <a:r>
              <a:rPr sz="2300">
                <a:solidFill>
                  <a:srgbClr val="FFFFFF"/>
                </a:solidFill>
                <a:latin typeface="Calibri"/>
              </a:rPr>
              <a:t>Connection strings (postgres://user:pass@host) committed to Git.</a:t>
            </a:r>
          </a:p>
          <a:p>
            <a:pPr algn="l">
              <a:lnSpc>
                <a:spcPct val="140000"/>
              </a:lnSpc>
            </a:pPr>
            <a:r>
              <a:rPr sz="2300" b="1">
                <a:solidFill>
                  <a:srgbClr val="00D4FF"/>
                </a:solidFill>
                <a:latin typeface="Calibri"/>
              </a:rPr>
              <a:t>● </a:t>
            </a:r>
            <a:r>
              <a:rPr sz="2300">
                <a:solidFill>
                  <a:srgbClr val="FFFFFF"/>
                </a:solidFill>
                <a:latin typeface="Calibri"/>
              </a:rPr>
              <a:t>Pre-commit secret scanning — fix this week.</a:t>
            </a:r>
          </a:p>
        </p:txBody>
      </p:sp>
      <p:sp>
        <p:nvSpPr>
          <p:cNvPr id="7" name="TextBox 6"/>
          <p:cNvSpPr txBox="1"/>
          <p:nvPr/>
        </p:nvSpPr>
        <p:spPr>
          <a:xfrm>
            <a:off x="457200" y="5989320"/>
            <a:ext cx="11247120" cy="365760"/>
          </a:xfrm>
          <a:prstGeom prst="rect">
            <a:avLst/>
          </a:prstGeom>
          <a:noFill/>
        </p:spPr>
        <p:txBody>
          <a:bodyPr wrap="square" anchor="t">
            <a:spAutoFit/>
          </a:bodyPr>
          <a:lstStyle/>
          <a:p>
            <a:pPr algn="ctr"/>
            <a:r>
              <a:rPr sz="1600" b="0">
                <a:solidFill>
                  <a:srgbClr val="CCCCD6"/>
                </a:solidFill>
                <a:latin typeface="Calibri"/>
              </a:rPr>
              <a:t>Cybersecurity A&amp;D: stolen credentials = preferred vector for organized crime.</a:t>
            </a:r>
          </a:p>
        </p:txBody>
      </p:sp>
      <p:sp>
        <p:nvSpPr>
          <p:cNvPr id="8" name="TextBox 7"/>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9" name="TextBox 8"/>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34 / 44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Attack category: Supply Chain — The DB Libraries You Trust. Your DB driver came from npm/PyPI/Maven. So did everyone else's. Key points: Malicious npm packages posing as ORMs / drivers. | Trojanized Docker Hub images for popular databases. | Compromised PostgreSQL extensions / MySQL plugins. | Extensions run with DB privileges — usually a lot." title="Attack category: Supply Chain — The DB Libraries You Trust. Your DB driver came "/>
          <p:cNvSpPr txBox="1"/>
          <p:nvPr/>
        </p:nvSpPr>
        <p:spPr>
          <a:xfrm>
            <a:off x="457200" y="365760"/>
            <a:ext cx="731520" cy="914400"/>
          </a:xfrm>
          <a:prstGeom prst="rect">
            <a:avLst/>
          </a:prstGeom>
          <a:noFill/>
        </p:spPr>
        <p:txBody>
          <a:bodyPr wrap="square" anchor="t">
            <a:spAutoFit/>
          </a:bodyPr>
          <a:lstStyle/>
          <a:p>
            <a:pPr algn="l"/>
            <a:r>
              <a:rPr sz="5400" b="0">
                <a:solidFill>
                  <a:srgbClr val="FF6B35"/>
                </a:solidFill>
                <a:latin typeface="Calibri"/>
              </a:rPr>
              <a:t>⚠</a:t>
            </a:r>
          </a:p>
        </p:txBody>
      </p:sp>
      <p:sp>
        <p:nvSpPr>
          <p:cNvPr id="3" name="TextBox 2"/>
          <p:cNvSpPr txBox="1"/>
          <p:nvPr/>
        </p:nvSpPr>
        <p:spPr>
          <a:xfrm>
            <a:off x="1280160" y="411480"/>
            <a:ext cx="10424160" cy="1005840"/>
          </a:xfrm>
          <a:prstGeom prst="rect">
            <a:avLst/>
          </a:prstGeom>
          <a:noFill/>
        </p:spPr>
        <p:txBody>
          <a:bodyPr wrap="square" anchor="t">
            <a:spAutoFit/>
          </a:bodyPr>
          <a:lstStyle/>
          <a:p>
            <a:pPr algn="l"/>
            <a:r>
              <a:rPr sz="4200" b="1">
                <a:solidFill>
                  <a:srgbClr val="FF6B35"/>
                </a:solidFill>
                <a:latin typeface="Calibri"/>
              </a:rPr>
              <a:t>Supply Chain — The DB Libraries You Trust</a:t>
            </a:r>
          </a:p>
        </p:txBody>
      </p:sp>
      <p:sp>
        <p:nvSpPr>
          <p:cNvPr id="4" name="Rectangle 3"/>
          <p:cNvSpPr/>
          <p:nvPr/>
        </p:nvSpPr>
        <p:spPr>
          <a:xfrm>
            <a:off x="457200" y="1417320"/>
            <a:ext cx="18288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11247120" cy="822960"/>
          </a:xfrm>
          <a:prstGeom prst="rect">
            <a:avLst/>
          </a:prstGeom>
          <a:noFill/>
        </p:spPr>
        <p:txBody>
          <a:bodyPr wrap="square" anchor="t">
            <a:spAutoFit/>
          </a:bodyPr>
          <a:lstStyle/>
          <a:p>
            <a:pPr algn="l"/>
            <a:r>
              <a:rPr sz="2400" b="0">
                <a:solidFill>
                  <a:srgbClr val="00D4FF"/>
                </a:solidFill>
                <a:latin typeface="Calibri"/>
              </a:rPr>
              <a:t>Your DB driver came from npm/PyPI/Maven. So did everyone else's.</a:t>
            </a:r>
          </a:p>
        </p:txBody>
      </p:sp>
      <p:sp>
        <p:nvSpPr>
          <p:cNvPr id="6" name="TextBox 5"/>
          <p:cNvSpPr txBox="1"/>
          <p:nvPr/>
        </p:nvSpPr>
        <p:spPr>
          <a:xfrm>
            <a:off x="640080" y="2606040"/>
            <a:ext cx="10972800" cy="3291840"/>
          </a:xfrm>
          <a:prstGeom prst="rect">
            <a:avLst/>
          </a:prstGeom>
          <a:noFill/>
        </p:spPr>
        <p:txBody>
          <a:bodyPr wrap="square">
            <a:spAutoFit/>
          </a:bodyPr>
          <a:lstStyle/>
          <a:p>
            <a:pPr algn="l">
              <a:lnSpc>
                <a:spcPct val="140000"/>
              </a:lnSpc>
            </a:pPr>
            <a:r>
              <a:rPr sz="2300" b="1">
                <a:solidFill>
                  <a:srgbClr val="00D4FF"/>
                </a:solidFill>
                <a:latin typeface="Calibri"/>
              </a:rPr>
              <a:t>● </a:t>
            </a:r>
            <a:r>
              <a:rPr sz="2300">
                <a:solidFill>
                  <a:srgbClr val="FFFFFF"/>
                </a:solidFill>
                <a:latin typeface="Calibri"/>
              </a:rPr>
              <a:t>Malicious npm packages posing as ORMs / drivers.</a:t>
            </a:r>
          </a:p>
          <a:p>
            <a:pPr algn="l">
              <a:lnSpc>
                <a:spcPct val="140000"/>
              </a:lnSpc>
            </a:pPr>
            <a:r>
              <a:rPr sz="2300" b="1">
                <a:solidFill>
                  <a:srgbClr val="00D4FF"/>
                </a:solidFill>
                <a:latin typeface="Calibri"/>
              </a:rPr>
              <a:t>● </a:t>
            </a:r>
            <a:r>
              <a:rPr sz="2300">
                <a:solidFill>
                  <a:srgbClr val="FFFFFF"/>
                </a:solidFill>
                <a:latin typeface="Calibri"/>
              </a:rPr>
              <a:t>Trojanized Docker Hub images for popular databases.</a:t>
            </a:r>
          </a:p>
          <a:p>
            <a:pPr algn="l">
              <a:lnSpc>
                <a:spcPct val="140000"/>
              </a:lnSpc>
            </a:pPr>
            <a:r>
              <a:rPr sz="2300" b="1">
                <a:solidFill>
                  <a:srgbClr val="00D4FF"/>
                </a:solidFill>
                <a:latin typeface="Calibri"/>
              </a:rPr>
              <a:t>● </a:t>
            </a:r>
            <a:r>
              <a:rPr sz="2300">
                <a:solidFill>
                  <a:srgbClr val="FFFFFF"/>
                </a:solidFill>
                <a:latin typeface="Calibri"/>
              </a:rPr>
              <a:t>Compromised PostgreSQL extensions / MySQL plugins.</a:t>
            </a:r>
          </a:p>
          <a:p>
            <a:pPr algn="l">
              <a:lnSpc>
                <a:spcPct val="140000"/>
              </a:lnSpc>
            </a:pPr>
            <a:r>
              <a:rPr sz="2300" b="1">
                <a:solidFill>
                  <a:srgbClr val="00D4FF"/>
                </a:solidFill>
                <a:latin typeface="Calibri"/>
              </a:rPr>
              <a:t>● </a:t>
            </a:r>
            <a:r>
              <a:rPr sz="2300">
                <a:solidFill>
                  <a:srgbClr val="FFFFFF"/>
                </a:solidFill>
                <a:latin typeface="Calibri"/>
              </a:rPr>
              <a:t>Extensions run with DB privileges — usually a lot.</a:t>
            </a:r>
          </a:p>
        </p:txBody>
      </p:sp>
      <p:sp>
        <p:nvSpPr>
          <p:cNvPr id="7" name="TextBox 6"/>
          <p:cNvSpPr txBox="1"/>
          <p:nvPr/>
        </p:nvSpPr>
        <p:spPr>
          <a:xfrm>
            <a:off x="457200" y="5989320"/>
            <a:ext cx="11247120" cy="365760"/>
          </a:xfrm>
          <a:prstGeom prst="rect">
            <a:avLst/>
          </a:prstGeom>
          <a:noFill/>
        </p:spPr>
        <p:txBody>
          <a:bodyPr wrap="square" anchor="t">
            <a:spAutoFit/>
          </a:bodyPr>
          <a:lstStyle/>
          <a:p>
            <a:pPr algn="ctr"/>
            <a:r>
              <a:rPr sz="1600" b="0">
                <a:solidFill>
                  <a:srgbClr val="CCCCD6"/>
                </a:solidFill>
                <a:latin typeface="Calibri"/>
              </a:rPr>
              <a:t>Shostack: 'Threats tend to cluster around trust boundaries.'</a:t>
            </a:r>
          </a:p>
        </p:txBody>
      </p:sp>
      <p:sp>
        <p:nvSpPr>
          <p:cNvPr id="8" name="TextBox 7"/>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9" name="TextBox 8"/>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35 / 44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Attack category: RAG / LLM Data Poisoning. Stored XSS for the AI era. Write into the knowledge base → LLM quotes it. Key points: Poisoned support article: 'To reset, send your password to...' | Poisoned internal doc: 'Company policy is to wire transfer to...' | Prompt injection embedded in retrieved documents. | Defense: strict write ACLs, provenance tags, human-in-the-loop." title="Attack category: RAG / LLM Data Poisoning. Stored XSS for the AI era. Write into"/>
          <p:cNvSpPr txBox="1"/>
          <p:nvPr/>
        </p:nvSpPr>
        <p:spPr>
          <a:xfrm>
            <a:off x="457200" y="365760"/>
            <a:ext cx="731520" cy="914400"/>
          </a:xfrm>
          <a:prstGeom prst="rect">
            <a:avLst/>
          </a:prstGeom>
          <a:noFill/>
        </p:spPr>
        <p:txBody>
          <a:bodyPr wrap="square" anchor="t">
            <a:spAutoFit/>
          </a:bodyPr>
          <a:lstStyle/>
          <a:p>
            <a:pPr algn="l"/>
            <a:r>
              <a:rPr sz="5400" b="0">
                <a:solidFill>
                  <a:srgbClr val="FF6B35"/>
                </a:solidFill>
                <a:latin typeface="Calibri"/>
              </a:rPr>
              <a:t>⚠</a:t>
            </a:r>
          </a:p>
        </p:txBody>
      </p:sp>
      <p:sp>
        <p:nvSpPr>
          <p:cNvPr id="3" name="TextBox 2"/>
          <p:cNvSpPr txBox="1"/>
          <p:nvPr/>
        </p:nvSpPr>
        <p:spPr>
          <a:xfrm>
            <a:off x="1280160" y="411480"/>
            <a:ext cx="10424160" cy="1005840"/>
          </a:xfrm>
          <a:prstGeom prst="rect">
            <a:avLst/>
          </a:prstGeom>
          <a:noFill/>
        </p:spPr>
        <p:txBody>
          <a:bodyPr wrap="square" anchor="t">
            <a:spAutoFit/>
          </a:bodyPr>
          <a:lstStyle/>
          <a:p>
            <a:pPr algn="l"/>
            <a:r>
              <a:rPr sz="4200" b="1">
                <a:solidFill>
                  <a:srgbClr val="FF6B35"/>
                </a:solidFill>
                <a:latin typeface="Calibri"/>
              </a:rPr>
              <a:t>RAG / LLM Data Poisoning</a:t>
            </a:r>
          </a:p>
        </p:txBody>
      </p:sp>
      <p:sp>
        <p:nvSpPr>
          <p:cNvPr id="4" name="Rectangle 3"/>
          <p:cNvSpPr/>
          <p:nvPr/>
        </p:nvSpPr>
        <p:spPr>
          <a:xfrm>
            <a:off x="457200" y="1417320"/>
            <a:ext cx="18288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11247120" cy="822960"/>
          </a:xfrm>
          <a:prstGeom prst="rect">
            <a:avLst/>
          </a:prstGeom>
          <a:noFill/>
        </p:spPr>
        <p:txBody>
          <a:bodyPr wrap="square" anchor="t">
            <a:spAutoFit/>
          </a:bodyPr>
          <a:lstStyle/>
          <a:p>
            <a:pPr algn="l"/>
            <a:r>
              <a:rPr sz="2400" b="0">
                <a:solidFill>
                  <a:srgbClr val="00D4FF"/>
                </a:solidFill>
                <a:latin typeface="Calibri"/>
              </a:rPr>
              <a:t>Stored XSS for the AI era. Write into the knowledge base → LLM quotes it.</a:t>
            </a:r>
          </a:p>
        </p:txBody>
      </p:sp>
      <p:sp>
        <p:nvSpPr>
          <p:cNvPr id="6" name="TextBox 5"/>
          <p:cNvSpPr txBox="1"/>
          <p:nvPr/>
        </p:nvSpPr>
        <p:spPr>
          <a:xfrm>
            <a:off x="640080" y="2606040"/>
            <a:ext cx="10972800" cy="3291840"/>
          </a:xfrm>
          <a:prstGeom prst="rect">
            <a:avLst/>
          </a:prstGeom>
          <a:noFill/>
        </p:spPr>
        <p:txBody>
          <a:bodyPr wrap="square">
            <a:spAutoFit/>
          </a:bodyPr>
          <a:lstStyle/>
          <a:p>
            <a:pPr algn="l">
              <a:lnSpc>
                <a:spcPct val="140000"/>
              </a:lnSpc>
            </a:pPr>
            <a:r>
              <a:rPr sz="2300" b="1">
                <a:solidFill>
                  <a:srgbClr val="00D4FF"/>
                </a:solidFill>
                <a:latin typeface="Calibri"/>
              </a:rPr>
              <a:t>● </a:t>
            </a:r>
            <a:r>
              <a:rPr sz="2300">
                <a:solidFill>
                  <a:srgbClr val="FFFFFF"/>
                </a:solidFill>
                <a:latin typeface="Calibri"/>
              </a:rPr>
              <a:t>Poisoned support article: 'To reset, send your password to...'</a:t>
            </a:r>
          </a:p>
          <a:p>
            <a:pPr algn="l">
              <a:lnSpc>
                <a:spcPct val="140000"/>
              </a:lnSpc>
            </a:pPr>
            <a:r>
              <a:rPr sz="2300" b="1">
                <a:solidFill>
                  <a:srgbClr val="00D4FF"/>
                </a:solidFill>
                <a:latin typeface="Calibri"/>
              </a:rPr>
              <a:t>● </a:t>
            </a:r>
            <a:r>
              <a:rPr sz="2300">
                <a:solidFill>
                  <a:srgbClr val="FFFFFF"/>
                </a:solidFill>
                <a:latin typeface="Calibri"/>
              </a:rPr>
              <a:t>Poisoned internal doc: 'Company policy is to wire transfer to...'</a:t>
            </a:r>
          </a:p>
          <a:p>
            <a:pPr algn="l">
              <a:lnSpc>
                <a:spcPct val="140000"/>
              </a:lnSpc>
            </a:pPr>
            <a:r>
              <a:rPr sz="2300" b="1">
                <a:solidFill>
                  <a:srgbClr val="00D4FF"/>
                </a:solidFill>
                <a:latin typeface="Calibri"/>
              </a:rPr>
              <a:t>● </a:t>
            </a:r>
            <a:r>
              <a:rPr sz="2300">
                <a:solidFill>
                  <a:srgbClr val="FFFFFF"/>
                </a:solidFill>
                <a:latin typeface="Calibri"/>
              </a:rPr>
              <a:t>Prompt injection embedded in retrieved documents.</a:t>
            </a:r>
          </a:p>
          <a:p>
            <a:pPr algn="l">
              <a:lnSpc>
                <a:spcPct val="140000"/>
              </a:lnSpc>
            </a:pPr>
            <a:r>
              <a:rPr sz="2300" b="1">
                <a:solidFill>
                  <a:srgbClr val="00D4FF"/>
                </a:solidFill>
                <a:latin typeface="Calibri"/>
              </a:rPr>
              <a:t>● </a:t>
            </a:r>
            <a:r>
              <a:rPr sz="2300">
                <a:solidFill>
                  <a:srgbClr val="FFFFFF"/>
                </a:solidFill>
                <a:latin typeface="Calibri"/>
              </a:rPr>
              <a:t>Defense: strict write ACLs, provenance tags, human-in-the-loop.</a:t>
            </a:r>
          </a:p>
        </p:txBody>
      </p:sp>
      <p:sp>
        <p:nvSpPr>
          <p:cNvPr id="7" name="TextBox 6"/>
          <p:cNvSpPr txBox="1"/>
          <p:nvPr/>
        </p:nvSpPr>
        <p:spPr>
          <a:xfrm>
            <a:off x="457200" y="5989320"/>
            <a:ext cx="11247120" cy="365760"/>
          </a:xfrm>
          <a:prstGeom prst="rect">
            <a:avLst/>
          </a:prstGeom>
          <a:noFill/>
        </p:spPr>
        <p:txBody>
          <a:bodyPr wrap="square" anchor="t">
            <a:spAutoFit/>
          </a:bodyPr>
          <a:lstStyle/>
          <a:p>
            <a:pPr algn="ctr"/>
            <a:r>
              <a:rPr sz="1600" b="0">
                <a:solidFill>
                  <a:srgbClr val="CCCCD6"/>
                </a:solidFill>
                <a:latin typeface="Calibri"/>
              </a:rPr>
              <a:t>OWASP 2017 stored-XSS principle — substitute 'admin' with 'LLM'.</a:t>
            </a:r>
          </a:p>
        </p:txBody>
      </p:sp>
      <p:sp>
        <p:nvSpPr>
          <p:cNvPr id="8" name="TextBox 7"/>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9" name="TextBox 8"/>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36 / 44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Attack category: Insider Threats &amp; DB-to-DB Lateral Movement. Databases aren't endpoints. They're nodes in a graph. Key points: Over-permissioned service accounts. Engineers with prod read. | DBAs with no audit trail. | Oracle DB_LINK, SQL Server linked servers, Postgres FDW. | Stored credentials → compromise A, hop to B, hop to C." title="Attack category: Insider Threats &amp; DB-to-DB Lateral Movement. Databases aren't e"/>
          <p:cNvSpPr txBox="1"/>
          <p:nvPr/>
        </p:nvSpPr>
        <p:spPr>
          <a:xfrm>
            <a:off x="457200" y="365760"/>
            <a:ext cx="731520" cy="914400"/>
          </a:xfrm>
          <a:prstGeom prst="rect">
            <a:avLst/>
          </a:prstGeom>
          <a:noFill/>
        </p:spPr>
        <p:txBody>
          <a:bodyPr wrap="square" anchor="t">
            <a:spAutoFit/>
          </a:bodyPr>
          <a:lstStyle/>
          <a:p>
            <a:pPr algn="l"/>
            <a:r>
              <a:rPr sz="5400" b="0">
                <a:solidFill>
                  <a:srgbClr val="FF6B35"/>
                </a:solidFill>
                <a:latin typeface="Calibri"/>
              </a:rPr>
              <a:t>⚠</a:t>
            </a:r>
          </a:p>
        </p:txBody>
      </p:sp>
      <p:sp>
        <p:nvSpPr>
          <p:cNvPr id="3" name="TextBox 2"/>
          <p:cNvSpPr txBox="1"/>
          <p:nvPr/>
        </p:nvSpPr>
        <p:spPr>
          <a:xfrm>
            <a:off x="1280160" y="411480"/>
            <a:ext cx="10424160" cy="1005840"/>
          </a:xfrm>
          <a:prstGeom prst="rect">
            <a:avLst/>
          </a:prstGeom>
          <a:noFill/>
        </p:spPr>
        <p:txBody>
          <a:bodyPr wrap="square" anchor="t">
            <a:spAutoFit/>
          </a:bodyPr>
          <a:lstStyle/>
          <a:p>
            <a:pPr algn="l"/>
            <a:r>
              <a:rPr sz="4200" b="1">
                <a:solidFill>
                  <a:srgbClr val="FF6B35"/>
                </a:solidFill>
                <a:latin typeface="Calibri"/>
              </a:rPr>
              <a:t>Insider-Bedrohungen &amp; DB-to-DB Lateral Movement</a:t>
            </a:r>
          </a:p>
        </p:txBody>
      </p:sp>
      <p:sp>
        <p:nvSpPr>
          <p:cNvPr id="4" name="Rectangle 3"/>
          <p:cNvSpPr/>
          <p:nvPr/>
        </p:nvSpPr>
        <p:spPr>
          <a:xfrm>
            <a:off x="457200" y="1417320"/>
            <a:ext cx="18288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11247120" cy="822960"/>
          </a:xfrm>
          <a:prstGeom prst="rect">
            <a:avLst/>
          </a:prstGeom>
          <a:noFill/>
        </p:spPr>
        <p:txBody>
          <a:bodyPr wrap="square" anchor="t">
            <a:spAutoFit/>
          </a:bodyPr>
          <a:lstStyle/>
          <a:p>
            <a:pPr algn="l"/>
            <a:r>
              <a:rPr sz="2400" b="0">
                <a:solidFill>
                  <a:srgbClr val="00D4FF"/>
                </a:solidFill>
                <a:latin typeface="Calibri"/>
              </a:rPr>
              <a:t>Databases aren't endpoints. They're nodes in a graph.</a:t>
            </a:r>
          </a:p>
        </p:txBody>
      </p:sp>
      <p:sp>
        <p:nvSpPr>
          <p:cNvPr id="6" name="TextBox 5"/>
          <p:cNvSpPr txBox="1"/>
          <p:nvPr/>
        </p:nvSpPr>
        <p:spPr>
          <a:xfrm>
            <a:off x="640080" y="2606040"/>
            <a:ext cx="10972800" cy="3291840"/>
          </a:xfrm>
          <a:prstGeom prst="rect">
            <a:avLst/>
          </a:prstGeom>
          <a:noFill/>
        </p:spPr>
        <p:txBody>
          <a:bodyPr wrap="square">
            <a:spAutoFit/>
          </a:bodyPr>
          <a:lstStyle/>
          <a:p>
            <a:pPr algn="l">
              <a:lnSpc>
                <a:spcPct val="140000"/>
              </a:lnSpc>
            </a:pPr>
            <a:r>
              <a:rPr sz="2300" b="1">
                <a:solidFill>
                  <a:srgbClr val="00D4FF"/>
                </a:solidFill>
                <a:latin typeface="Calibri"/>
              </a:rPr>
              <a:t>● Überprivilegierte Dienstkonten. Engineers with prod read.</a:t>
            </a:r>
            <a:r>
              <a:rPr sz="2300">
                <a:solidFill>
                  <a:srgbClr val="FFFFFF"/>
                </a:solidFill>
                <a:latin typeface="Calibri"/>
              </a:rPr>
              <a:t/>
            </a:r>
          </a:p>
          <a:p>
            <a:pPr algn="l">
              <a:lnSpc>
                <a:spcPct val="140000"/>
              </a:lnSpc>
            </a:pPr>
            <a:r>
              <a:rPr sz="2300" b="1">
                <a:solidFill>
                  <a:srgbClr val="00D4FF"/>
                </a:solidFill>
                <a:latin typeface="Calibri"/>
              </a:rPr>
              <a:t>● </a:t>
            </a:r>
            <a:r>
              <a:rPr sz="2300">
                <a:solidFill>
                  <a:srgbClr val="FFFFFF"/>
                </a:solidFill>
                <a:latin typeface="Calibri"/>
              </a:rPr>
              <a:t>DBAs with no audit trail.</a:t>
            </a:r>
          </a:p>
          <a:p>
            <a:pPr algn="l">
              <a:lnSpc>
                <a:spcPct val="140000"/>
              </a:lnSpc>
            </a:pPr>
            <a:r>
              <a:rPr sz="2300" b="1">
                <a:solidFill>
                  <a:srgbClr val="00D4FF"/>
                </a:solidFill>
                <a:latin typeface="Calibri"/>
              </a:rPr>
              <a:t>● </a:t>
            </a:r>
            <a:r>
              <a:rPr sz="2300">
                <a:solidFill>
                  <a:srgbClr val="FFFFFF"/>
                </a:solidFill>
                <a:latin typeface="Calibri"/>
              </a:rPr>
              <a:t>Oracle DB_LINK, SQL Server linked servers, Postgres FDW.</a:t>
            </a:r>
          </a:p>
          <a:p>
            <a:pPr algn="l">
              <a:lnSpc>
                <a:spcPct val="140000"/>
              </a:lnSpc>
            </a:pPr>
            <a:r>
              <a:rPr sz="2300" b="1">
                <a:solidFill>
                  <a:srgbClr val="00D4FF"/>
                </a:solidFill>
                <a:latin typeface="Calibri"/>
              </a:rPr>
              <a:t>● </a:t>
            </a:r>
            <a:r>
              <a:rPr sz="2300">
                <a:solidFill>
                  <a:srgbClr val="FFFFFF"/>
                </a:solidFill>
                <a:latin typeface="Calibri"/>
              </a:rPr>
              <a:t>Stored credentials → compromise A, hop to B, hop to C.</a:t>
            </a:r>
          </a:p>
        </p:txBody>
      </p:sp>
      <p:sp>
        <p:nvSpPr>
          <p:cNvPr id="7" name="TextBox 6"/>
          <p:cNvSpPr txBox="1"/>
          <p:nvPr/>
        </p:nvSpPr>
        <p:spPr>
          <a:xfrm>
            <a:off x="457200" y="5989320"/>
            <a:ext cx="11247120" cy="365760"/>
          </a:xfrm>
          <a:prstGeom prst="rect">
            <a:avLst/>
          </a:prstGeom>
          <a:noFill/>
        </p:spPr>
        <p:txBody>
          <a:bodyPr wrap="square" anchor="t">
            <a:spAutoFit/>
          </a:bodyPr>
          <a:lstStyle/>
          <a:p>
            <a:pPr algn="ctr"/>
            <a:r>
              <a:rPr sz="1600" b="0">
                <a:solidFill>
                  <a:srgbClr val="CCCCD6"/>
                </a:solidFill>
                <a:latin typeface="Calibri"/>
              </a:rPr>
              <a:t>Web App Hacker's Handbook: poorly protected audit logs = a gold mine.</a:t>
            </a:r>
          </a:p>
        </p:txBody>
      </p:sp>
      <p:sp>
        <p:nvSpPr>
          <p:cNvPr id="8" name="TextBox 7"/>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9" name="TextBox 8"/>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37 / 44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Attack category: Backup &amp; Snapshot Exposure. Same data as prod, half the love. Key points: Unencrypted DB backups on shares readable by Domain Users. | Cloud snapshots shared cross-account, never un-shared. | Off-site backups to vendors whose posture you never checked. | Backups are last resort. Apply identify-authN-authZ-audit." title="Attack category: Backup &amp; Snapshot Exposure. Same data as prod, half the love. K"/>
          <p:cNvSpPr txBox="1"/>
          <p:nvPr/>
        </p:nvSpPr>
        <p:spPr>
          <a:xfrm>
            <a:off x="457200" y="365760"/>
            <a:ext cx="731520" cy="914400"/>
          </a:xfrm>
          <a:prstGeom prst="rect">
            <a:avLst/>
          </a:prstGeom>
          <a:noFill/>
        </p:spPr>
        <p:txBody>
          <a:bodyPr wrap="square" anchor="t">
            <a:spAutoFit/>
          </a:bodyPr>
          <a:lstStyle/>
          <a:p>
            <a:pPr algn="l"/>
            <a:r>
              <a:rPr sz="5400" b="0">
                <a:solidFill>
                  <a:srgbClr val="FF6B35"/>
                </a:solidFill>
                <a:latin typeface="Calibri"/>
              </a:rPr>
              <a:t>⚠</a:t>
            </a:r>
          </a:p>
        </p:txBody>
      </p:sp>
      <p:sp>
        <p:nvSpPr>
          <p:cNvPr id="3" name="TextBox 2"/>
          <p:cNvSpPr txBox="1"/>
          <p:nvPr/>
        </p:nvSpPr>
        <p:spPr>
          <a:xfrm>
            <a:off x="1280160" y="411480"/>
            <a:ext cx="10424160" cy="1005840"/>
          </a:xfrm>
          <a:prstGeom prst="rect">
            <a:avLst/>
          </a:prstGeom>
          <a:noFill/>
        </p:spPr>
        <p:txBody>
          <a:bodyPr wrap="square" anchor="t">
            <a:spAutoFit/>
          </a:bodyPr>
          <a:lstStyle/>
          <a:p>
            <a:pPr algn="l"/>
            <a:r>
              <a:rPr sz="4200" b="1">
                <a:solidFill>
                  <a:srgbClr val="FF6B35"/>
                </a:solidFill>
                <a:latin typeface="Calibri"/>
              </a:rPr>
              <a:t>Backup- und Snapshot-Exposition</a:t>
            </a:r>
          </a:p>
        </p:txBody>
      </p:sp>
      <p:sp>
        <p:nvSpPr>
          <p:cNvPr id="4" name="Rectangle 3"/>
          <p:cNvSpPr/>
          <p:nvPr/>
        </p:nvSpPr>
        <p:spPr>
          <a:xfrm>
            <a:off x="457200" y="1417320"/>
            <a:ext cx="18288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0200"/>
            <a:ext cx="11247120" cy="822960"/>
          </a:xfrm>
          <a:prstGeom prst="rect">
            <a:avLst/>
          </a:prstGeom>
          <a:noFill/>
        </p:spPr>
        <p:txBody>
          <a:bodyPr wrap="square" anchor="t">
            <a:spAutoFit/>
          </a:bodyPr>
          <a:lstStyle/>
          <a:p>
            <a:pPr algn="l"/>
            <a:r>
              <a:rPr sz="2400" b="0">
                <a:solidFill>
                  <a:srgbClr val="00D4FF"/>
                </a:solidFill>
                <a:latin typeface="Calibri"/>
              </a:rPr>
              <a:t>Same data as prod, half the love.</a:t>
            </a:r>
          </a:p>
        </p:txBody>
      </p:sp>
      <p:sp>
        <p:nvSpPr>
          <p:cNvPr id="6" name="TextBox 5"/>
          <p:cNvSpPr txBox="1"/>
          <p:nvPr/>
        </p:nvSpPr>
        <p:spPr>
          <a:xfrm>
            <a:off x="640080" y="2606040"/>
            <a:ext cx="10972800" cy="3291840"/>
          </a:xfrm>
          <a:prstGeom prst="rect">
            <a:avLst/>
          </a:prstGeom>
          <a:noFill/>
        </p:spPr>
        <p:txBody>
          <a:bodyPr wrap="square">
            <a:spAutoFit/>
          </a:bodyPr>
          <a:lstStyle/>
          <a:p>
            <a:pPr algn="l">
              <a:lnSpc>
                <a:spcPct val="140000"/>
              </a:lnSpc>
            </a:pPr>
            <a:r>
              <a:rPr sz="2300" b="1">
                <a:solidFill>
                  <a:srgbClr val="00D4FF"/>
                </a:solidFill>
                <a:latin typeface="Calibri"/>
              </a:rPr>
              <a:t>● </a:t>
            </a:r>
            <a:r>
              <a:rPr sz="2300">
                <a:solidFill>
                  <a:srgbClr val="FFFFFF"/>
                </a:solidFill>
                <a:latin typeface="Calibri"/>
              </a:rPr>
              <a:t>Unencrypted DB backups on shares readable by Domain Users.</a:t>
            </a:r>
          </a:p>
          <a:p>
            <a:pPr algn="l">
              <a:lnSpc>
                <a:spcPct val="140000"/>
              </a:lnSpc>
            </a:pPr>
            <a:r>
              <a:rPr sz="2300" b="1">
                <a:solidFill>
                  <a:srgbClr val="00D4FF"/>
                </a:solidFill>
                <a:latin typeface="Calibri"/>
              </a:rPr>
              <a:t>● </a:t>
            </a:r>
            <a:r>
              <a:rPr sz="2300">
                <a:solidFill>
                  <a:srgbClr val="FFFFFF"/>
                </a:solidFill>
                <a:latin typeface="Calibri"/>
              </a:rPr>
              <a:t>Cloud snapshots shared cross-account, never un-shared.</a:t>
            </a:r>
          </a:p>
          <a:p>
            <a:pPr algn="l">
              <a:lnSpc>
                <a:spcPct val="140000"/>
              </a:lnSpc>
            </a:pPr>
            <a:r>
              <a:rPr sz="2300" b="1">
                <a:solidFill>
                  <a:srgbClr val="00D4FF"/>
                </a:solidFill>
                <a:latin typeface="Calibri"/>
              </a:rPr>
              <a:t>● </a:t>
            </a:r>
            <a:r>
              <a:rPr sz="2300">
                <a:solidFill>
                  <a:srgbClr val="FFFFFF"/>
                </a:solidFill>
                <a:latin typeface="Calibri"/>
              </a:rPr>
              <a:t>Off-site backups to vendors whose posture you never checked.</a:t>
            </a:r>
          </a:p>
          <a:p>
            <a:pPr algn="l">
              <a:lnSpc>
                <a:spcPct val="140000"/>
              </a:lnSpc>
            </a:pPr>
            <a:r>
              <a:rPr sz="2300" b="1">
                <a:solidFill>
                  <a:srgbClr val="00D4FF"/>
                </a:solidFill>
                <a:latin typeface="Calibri"/>
              </a:rPr>
              <a:t>● </a:t>
            </a:r>
            <a:r>
              <a:rPr sz="2300">
                <a:solidFill>
                  <a:srgbClr val="FFFFFF"/>
                </a:solidFill>
                <a:latin typeface="Calibri"/>
              </a:rPr>
              <a:t>Backups are last resort. Apply identify-authN-authZ-audit.</a:t>
            </a:r>
          </a:p>
        </p:txBody>
      </p:sp>
      <p:sp>
        <p:nvSpPr>
          <p:cNvPr id="7" name="TextBox 6"/>
          <p:cNvSpPr txBox="1"/>
          <p:nvPr/>
        </p:nvSpPr>
        <p:spPr>
          <a:xfrm>
            <a:off x="457200" y="5989320"/>
            <a:ext cx="11247120" cy="365760"/>
          </a:xfrm>
          <a:prstGeom prst="rect">
            <a:avLst/>
          </a:prstGeom>
          <a:noFill/>
        </p:spPr>
        <p:txBody>
          <a:bodyPr wrap="square" anchor="t">
            <a:spAutoFit/>
          </a:bodyPr>
          <a:lstStyle/>
          <a:p>
            <a:pPr algn="ctr"/>
            <a:r>
              <a:rPr sz="1600" b="0">
                <a:solidFill>
                  <a:srgbClr val="CCCCD6"/>
                </a:solidFill>
                <a:latin typeface="Calibri"/>
              </a:rPr>
              <a:t>Schneier: identify, authenticate, authorize, audit — same model.</a:t>
            </a:r>
          </a:p>
        </p:txBody>
      </p:sp>
      <p:sp>
        <p:nvSpPr>
          <p:cNvPr id="8" name="TextBox 7"/>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9" name="TextBox 8"/>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38 / 44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Recap of the mental map: definition, ten families, cloud shared responsibility, markdown as a database, and the expanded attack surface." title="Recap of the mental map: definition, ten families, cloud shared responsibility, "/>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Your Mental Map</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0"/>
            <a:ext cx="10972800" cy="4114800"/>
          </a:xfrm>
          <a:prstGeom prst="rect">
            <a:avLst/>
          </a:prstGeom>
          <a:noFill/>
        </p:spPr>
        <p:txBody>
          <a:bodyPr wrap="square">
            <a:spAutoFit/>
          </a:bodyPr>
          <a:lstStyle/>
          <a:p>
            <a:pPr algn="l">
              <a:lnSpc>
                <a:spcPct val="155000"/>
              </a:lnSpc>
            </a:pPr>
            <a:r>
              <a:rPr sz="2800" b="1">
                <a:solidFill>
                  <a:srgbClr val="00D4FF"/>
                </a:solidFill>
                <a:latin typeface="Calibri"/>
              </a:rPr>
              <a:t>✓ </a:t>
            </a:r>
            <a:r>
              <a:rPr sz="2800">
                <a:solidFill>
                  <a:srgbClr val="FFFFFF"/>
                </a:solidFill>
                <a:latin typeface="Calibri"/>
              </a:rPr>
              <a:t>A database = organized storage + a way to ask questions.</a:t>
            </a:r>
          </a:p>
          <a:p>
            <a:pPr algn="l">
              <a:lnSpc>
                <a:spcPct val="155000"/>
              </a:lnSpc>
            </a:pPr>
            <a:r>
              <a:rPr sz="2800" b="1">
                <a:solidFill>
                  <a:srgbClr val="00D4FF"/>
                </a:solidFill>
                <a:latin typeface="Calibri"/>
              </a:rPr>
              <a:t>✓ </a:t>
            </a:r>
            <a:r>
              <a:rPr sz="2800">
                <a:solidFill>
                  <a:srgbClr val="FFFFFF"/>
                </a:solidFill>
                <a:latin typeface="Calibri"/>
              </a:rPr>
              <a:t>Ten families, each with its own gotcha.</a:t>
            </a:r>
          </a:p>
          <a:p>
            <a:pPr algn="l">
              <a:lnSpc>
                <a:spcPct val="155000"/>
              </a:lnSpc>
            </a:pPr>
            <a:r>
              <a:rPr sz="2800" b="1">
                <a:solidFill>
                  <a:srgbClr val="00D4FF"/>
                </a:solidFill>
                <a:latin typeface="Calibri"/>
              </a:rPr>
              <a:t>✓ </a:t>
            </a:r>
            <a:r>
              <a:rPr sz="2800">
                <a:solidFill>
                  <a:srgbClr val="FFFFFF"/>
                </a:solidFill>
                <a:latin typeface="Calibri"/>
              </a:rPr>
              <a:t>Cloud = shared responsibility. You own config &amp; data.</a:t>
            </a:r>
          </a:p>
          <a:p>
            <a:pPr algn="l">
              <a:lnSpc>
                <a:spcPct val="155000"/>
              </a:lnSpc>
            </a:pPr>
            <a:r>
              <a:rPr sz="2800" b="1">
                <a:solidFill>
                  <a:srgbClr val="00D4FF"/>
                </a:solidFill>
                <a:latin typeface="Calibri"/>
              </a:rPr>
              <a:t>✓ </a:t>
            </a:r>
            <a:r>
              <a:rPr sz="2800">
                <a:solidFill>
                  <a:srgbClr val="FFFFFF"/>
                </a:solidFill>
                <a:latin typeface="Calibri"/>
              </a:rPr>
              <a:t>Markdown is a database for LLMs. RAG poisoning is real.</a:t>
            </a:r>
          </a:p>
          <a:p>
            <a:pPr algn="l">
              <a:lnSpc>
                <a:spcPct val="155000"/>
              </a:lnSpc>
            </a:pPr>
            <a:r>
              <a:rPr sz="2800" b="1">
                <a:solidFill>
                  <a:srgbClr val="00D4FF"/>
                </a:solidFill>
                <a:latin typeface="Calibri"/>
              </a:rPr>
              <a:t>✓ </a:t>
            </a:r>
            <a:r>
              <a:rPr sz="2800">
                <a:solidFill>
                  <a:srgbClr val="FFFFFF"/>
                </a:solidFill>
                <a:latin typeface="Calibri"/>
              </a:rPr>
              <a:t>SQLi got fixed. The attack surface expanded.</a:t>
            </a:r>
          </a:p>
        </p:txBody>
      </p:sp>
      <p:sp>
        <p:nvSpPr>
          <p:cNvPr id="5" name="TextBox 4"/>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6" name="TextBox 5"/>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39 / 44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Five concrete next steps: install PostgreSQL, do PortSwigger SQLi labs, browse Shodan/Censys legally, read breach reports, list your org's databases." title="Five concrete next steps: install PostgreSQL, do PortSwigger SQLi labs, browse S"/>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What to Do Next Week</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783080"/>
            <a:ext cx="914400" cy="685800"/>
          </a:xfrm>
          <a:prstGeom prst="rect">
            <a:avLst/>
          </a:prstGeom>
          <a:noFill/>
        </p:spPr>
        <p:txBody>
          <a:bodyPr wrap="square" anchor="t">
            <a:spAutoFit/>
          </a:bodyPr>
          <a:lstStyle/>
          <a:p>
            <a:pPr algn="l"/>
            <a:r>
              <a:rPr sz="3600" b="1">
                <a:solidFill>
                  <a:srgbClr val="00FF41"/>
                </a:solidFill>
                <a:latin typeface="Calibri"/>
              </a:rPr>
              <a:t>1.</a:t>
            </a:r>
          </a:p>
        </p:txBody>
      </p:sp>
      <p:sp>
        <p:nvSpPr>
          <p:cNvPr id="5" name="TextBox 4"/>
          <p:cNvSpPr txBox="1"/>
          <p:nvPr/>
        </p:nvSpPr>
        <p:spPr>
          <a:xfrm>
            <a:off x="1554480" y="1828800"/>
            <a:ext cx="10241280" cy="685800"/>
          </a:xfrm>
          <a:prstGeom prst="rect">
            <a:avLst/>
          </a:prstGeom>
          <a:noFill/>
        </p:spPr>
        <p:txBody>
          <a:bodyPr wrap="square" anchor="t">
            <a:spAutoFit/>
          </a:bodyPr>
          <a:lstStyle/>
          <a:p>
            <a:pPr algn="l"/>
            <a:r>
              <a:rPr sz="2600" b="0">
                <a:solidFill>
                  <a:srgbClr val="FFFFFF"/>
                </a:solidFill>
                <a:latin typeface="Calibri"/>
              </a:rPr>
              <a:t>PostgreSQL lokal installieren. Write a SELECT.</a:t>
            </a:r>
          </a:p>
        </p:txBody>
      </p:sp>
      <p:sp>
        <p:nvSpPr>
          <p:cNvPr id="6" name="TextBox 5"/>
          <p:cNvSpPr txBox="1"/>
          <p:nvPr/>
        </p:nvSpPr>
        <p:spPr>
          <a:xfrm>
            <a:off x="548640" y="2606040"/>
            <a:ext cx="914400" cy="685800"/>
          </a:xfrm>
          <a:prstGeom prst="rect">
            <a:avLst/>
          </a:prstGeom>
          <a:noFill/>
        </p:spPr>
        <p:txBody>
          <a:bodyPr wrap="square" anchor="t">
            <a:spAutoFit/>
          </a:bodyPr>
          <a:lstStyle/>
          <a:p>
            <a:pPr algn="l"/>
            <a:r>
              <a:rPr sz="3600" b="1">
                <a:solidFill>
                  <a:srgbClr val="00FF41"/>
                </a:solidFill>
                <a:latin typeface="Calibri"/>
              </a:rPr>
              <a:t>2.</a:t>
            </a:r>
          </a:p>
        </p:txBody>
      </p:sp>
      <p:sp>
        <p:nvSpPr>
          <p:cNvPr id="7" name="TextBox 6"/>
          <p:cNvSpPr txBox="1"/>
          <p:nvPr/>
        </p:nvSpPr>
        <p:spPr>
          <a:xfrm>
            <a:off x="1554480" y="2651760"/>
            <a:ext cx="10241280" cy="685800"/>
          </a:xfrm>
          <a:prstGeom prst="rect">
            <a:avLst/>
          </a:prstGeom>
          <a:noFill/>
        </p:spPr>
        <p:txBody>
          <a:bodyPr wrap="square" anchor="t">
            <a:spAutoFit/>
          </a:bodyPr>
          <a:lstStyle/>
          <a:p>
            <a:pPr algn="l"/>
            <a:r>
              <a:rPr sz="2600" b="0">
                <a:solidFill>
                  <a:srgbClr val="FFFFFF"/>
                </a:solidFill>
                <a:latin typeface="Calibri"/>
              </a:rPr>
              <a:t>Do the PortSwigger SQL injection labs (free).</a:t>
            </a:r>
          </a:p>
        </p:txBody>
      </p:sp>
      <p:sp>
        <p:nvSpPr>
          <p:cNvPr id="8" name="TextBox 7"/>
          <p:cNvSpPr txBox="1"/>
          <p:nvPr/>
        </p:nvSpPr>
        <p:spPr>
          <a:xfrm>
            <a:off x="548640" y="3429000"/>
            <a:ext cx="914400" cy="685800"/>
          </a:xfrm>
          <a:prstGeom prst="rect">
            <a:avLst/>
          </a:prstGeom>
          <a:noFill/>
        </p:spPr>
        <p:txBody>
          <a:bodyPr wrap="square" anchor="t">
            <a:spAutoFit/>
          </a:bodyPr>
          <a:lstStyle/>
          <a:p>
            <a:pPr algn="l"/>
            <a:r>
              <a:rPr sz="3600" b="1">
                <a:solidFill>
                  <a:srgbClr val="00FF41"/>
                </a:solidFill>
                <a:latin typeface="Calibri"/>
              </a:rPr>
              <a:t>3.</a:t>
            </a:r>
          </a:p>
        </p:txBody>
      </p:sp>
      <p:sp>
        <p:nvSpPr>
          <p:cNvPr id="9" name="TextBox 8"/>
          <p:cNvSpPr txBox="1"/>
          <p:nvPr/>
        </p:nvSpPr>
        <p:spPr>
          <a:xfrm>
            <a:off x="1554480" y="3474720"/>
            <a:ext cx="10241280" cy="685800"/>
          </a:xfrm>
          <a:prstGeom prst="rect">
            <a:avLst/>
          </a:prstGeom>
          <a:noFill/>
        </p:spPr>
        <p:txBody>
          <a:bodyPr wrap="square" anchor="t">
            <a:spAutoFit/>
          </a:bodyPr>
          <a:lstStyle/>
          <a:p>
            <a:pPr algn="l"/>
            <a:r>
              <a:rPr sz="2600" b="0">
                <a:solidFill>
                  <a:srgbClr val="FFFFFF"/>
                </a:solidFill>
                <a:latin typeface="Calibri"/>
              </a:rPr>
              <a:t>Browse Shodan / Censys — only systems you own.</a:t>
            </a:r>
          </a:p>
        </p:txBody>
      </p:sp>
      <p:sp>
        <p:nvSpPr>
          <p:cNvPr id="10" name="TextBox 9"/>
          <p:cNvSpPr txBox="1"/>
          <p:nvPr/>
        </p:nvSpPr>
        <p:spPr>
          <a:xfrm>
            <a:off x="548640" y="4251960"/>
            <a:ext cx="914400" cy="685800"/>
          </a:xfrm>
          <a:prstGeom prst="rect">
            <a:avLst/>
          </a:prstGeom>
          <a:noFill/>
        </p:spPr>
        <p:txBody>
          <a:bodyPr wrap="square" anchor="t">
            <a:spAutoFit/>
          </a:bodyPr>
          <a:lstStyle/>
          <a:p>
            <a:pPr algn="l"/>
            <a:r>
              <a:rPr sz="3600" b="1">
                <a:solidFill>
                  <a:srgbClr val="00FF41"/>
                </a:solidFill>
                <a:latin typeface="Calibri"/>
              </a:rPr>
              <a:t>4.</a:t>
            </a:r>
          </a:p>
        </p:txBody>
      </p:sp>
      <p:sp>
        <p:nvSpPr>
          <p:cNvPr id="11" name="TextBox 10"/>
          <p:cNvSpPr txBox="1"/>
          <p:nvPr/>
        </p:nvSpPr>
        <p:spPr>
          <a:xfrm>
            <a:off x="1554480" y="4297680"/>
            <a:ext cx="10241280" cy="685800"/>
          </a:xfrm>
          <a:prstGeom prst="rect">
            <a:avLst/>
          </a:prstGeom>
          <a:noFill/>
        </p:spPr>
        <p:txBody>
          <a:bodyPr wrap="square" anchor="t">
            <a:spAutoFit/>
          </a:bodyPr>
          <a:lstStyle/>
          <a:p>
            <a:pPr algn="l"/>
            <a:r>
              <a:rPr sz="2600" b="0">
                <a:solidFill>
                  <a:srgbClr val="FFFFFF"/>
                </a:solidFill>
                <a:latin typeface="Calibri"/>
              </a:rPr>
              <a:t>Read a breach report — Capital One, Equifax, MOVEit.</a:t>
            </a:r>
          </a:p>
        </p:txBody>
      </p:sp>
      <p:sp>
        <p:nvSpPr>
          <p:cNvPr id="12" name="TextBox 11"/>
          <p:cNvSpPr txBox="1"/>
          <p:nvPr/>
        </p:nvSpPr>
        <p:spPr>
          <a:xfrm>
            <a:off x="548640" y="5074920"/>
            <a:ext cx="914400" cy="685800"/>
          </a:xfrm>
          <a:prstGeom prst="rect">
            <a:avLst/>
          </a:prstGeom>
          <a:noFill/>
        </p:spPr>
        <p:txBody>
          <a:bodyPr wrap="square" anchor="t">
            <a:spAutoFit/>
          </a:bodyPr>
          <a:lstStyle/>
          <a:p>
            <a:pPr algn="l"/>
            <a:r>
              <a:rPr sz="3600" b="1">
                <a:solidFill>
                  <a:srgbClr val="00FF41"/>
                </a:solidFill>
                <a:latin typeface="Calibri"/>
              </a:rPr>
              <a:t>5.</a:t>
            </a:r>
          </a:p>
        </p:txBody>
      </p:sp>
      <p:sp>
        <p:nvSpPr>
          <p:cNvPr id="13" name="TextBox 12"/>
          <p:cNvSpPr txBox="1"/>
          <p:nvPr/>
        </p:nvSpPr>
        <p:spPr>
          <a:xfrm>
            <a:off x="1554480" y="5120640"/>
            <a:ext cx="10241280" cy="685800"/>
          </a:xfrm>
          <a:prstGeom prst="rect">
            <a:avLst/>
          </a:prstGeom>
          <a:noFill/>
        </p:spPr>
        <p:txBody>
          <a:bodyPr wrap="square" anchor="t">
            <a:spAutoFit/>
          </a:bodyPr>
          <a:lstStyle/>
          <a:p>
            <a:pPr algn="l"/>
            <a:r>
              <a:rPr sz="2600" b="0">
                <a:solidFill>
                  <a:srgbClr val="FFFFFF"/>
                </a:solidFill>
                <a:latin typeface="Calibri"/>
              </a:rPr>
              <a:t>Find out what databases YOUR org actually runs.</a:t>
            </a:r>
          </a:p>
        </p:txBody>
      </p:sp>
      <p:sp>
        <p:nvSpPr>
          <p:cNvPr id="14" name="TextBox 13"/>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15" name="TextBox 14"/>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40 / 44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Resource list: PortSwigger Web Security Academy, SQLBolt, Use The Index Luke, DB-Engines, and the OWASP Top 10." title="Resource list: PortSwigger Web Security Academy, SQLBolt, Use The Index Luke, DB"/>
          <p:cNvSpPr txBox="1"/>
          <p:nvPr/>
        </p:nvSpPr>
        <p:spPr>
          <a:xfrm>
            <a:off x="457200" y="320040"/>
            <a:ext cx="11247120" cy="1005840"/>
          </a:xfrm>
          <a:prstGeom prst="rect">
            <a:avLst/>
          </a:prstGeom>
          <a:noFill/>
        </p:spPr>
        <p:txBody>
          <a:bodyPr wrap="square" anchor="t">
            <a:spAutoFit/>
          </a:bodyPr>
          <a:lstStyle/>
          <a:p>
            <a:pPr algn="l"/>
            <a:r>
              <a:rPr sz="4200" b="1">
                <a:solidFill>
                  <a:srgbClr val="00FF41"/>
                </a:solidFill>
                <a:latin typeface="Calibri"/>
              </a:rPr>
              <a:t>Ressourcen Worth Bookmarking</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457200" cy="640080"/>
          </a:xfrm>
          <a:prstGeom prst="rect">
            <a:avLst/>
          </a:prstGeom>
          <a:noFill/>
        </p:spPr>
        <p:txBody>
          <a:bodyPr wrap="square" anchor="t">
            <a:spAutoFit/>
          </a:bodyPr>
          <a:lstStyle/>
          <a:p>
            <a:pPr algn="l"/>
            <a:r>
              <a:rPr sz="2800" b="0">
                <a:solidFill>
                  <a:srgbClr val="00FF41"/>
                </a:solidFill>
                <a:latin typeface="Calibri"/>
              </a:rPr>
              <a:t>◆</a:t>
            </a:r>
          </a:p>
        </p:txBody>
      </p:sp>
      <p:sp>
        <p:nvSpPr>
          <p:cNvPr id="5" name="TextBox 4"/>
          <p:cNvSpPr txBox="1"/>
          <p:nvPr/>
        </p:nvSpPr>
        <p:spPr>
          <a:xfrm>
            <a:off x="1097280" y="1828800"/>
            <a:ext cx="5943600" cy="640080"/>
          </a:xfrm>
          <a:prstGeom prst="rect">
            <a:avLst/>
          </a:prstGeom>
          <a:noFill/>
        </p:spPr>
        <p:txBody>
          <a:bodyPr wrap="square" anchor="t">
            <a:spAutoFit/>
          </a:bodyPr>
          <a:lstStyle/>
          <a:p>
            <a:pPr algn="l"/>
            <a:r>
              <a:rPr sz="2600" b="1">
                <a:solidFill>
                  <a:srgbClr val="FFFFFF"/>
                </a:solidFill>
                <a:latin typeface="Calibri"/>
              </a:rPr>
              <a:t>PortSwigger Web Security Academy</a:t>
            </a:r>
          </a:p>
        </p:txBody>
      </p:sp>
      <p:sp>
        <p:nvSpPr>
          <p:cNvPr id="6" name="TextBox 5"/>
          <p:cNvSpPr txBox="1"/>
          <p:nvPr/>
        </p:nvSpPr>
        <p:spPr>
          <a:xfrm>
            <a:off x="7040880" y="1828800"/>
            <a:ext cx="4937760" cy="640080"/>
          </a:xfrm>
          <a:prstGeom prst="rect">
            <a:avLst/>
          </a:prstGeom>
          <a:noFill/>
        </p:spPr>
        <p:txBody>
          <a:bodyPr wrap="square" anchor="t">
            <a:spAutoFit/>
          </a:bodyPr>
          <a:lstStyle/>
          <a:p>
            <a:pPr algn="l"/>
            <a:r>
              <a:rPr sz="2200" b="0">
                <a:solidFill>
                  <a:srgbClr val="00D4FF"/>
                </a:solidFill>
                <a:latin typeface="Calibri"/>
              </a:rPr>
              <a:t>portswigger.net/web-security</a:t>
            </a:r>
          </a:p>
        </p:txBody>
      </p:sp>
      <p:sp>
        <p:nvSpPr>
          <p:cNvPr id="7" name="TextBox 6"/>
          <p:cNvSpPr txBox="1"/>
          <p:nvPr/>
        </p:nvSpPr>
        <p:spPr>
          <a:xfrm>
            <a:off x="548640" y="2606040"/>
            <a:ext cx="457200" cy="640080"/>
          </a:xfrm>
          <a:prstGeom prst="rect">
            <a:avLst/>
          </a:prstGeom>
          <a:noFill/>
        </p:spPr>
        <p:txBody>
          <a:bodyPr wrap="square" anchor="t">
            <a:spAutoFit/>
          </a:bodyPr>
          <a:lstStyle/>
          <a:p>
            <a:pPr algn="l"/>
            <a:r>
              <a:rPr sz="2800" b="0">
                <a:solidFill>
                  <a:srgbClr val="00FF41"/>
                </a:solidFill>
                <a:latin typeface="Calibri"/>
              </a:rPr>
              <a:t>◆</a:t>
            </a:r>
          </a:p>
        </p:txBody>
      </p:sp>
      <p:sp>
        <p:nvSpPr>
          <p:cNvPr id="8" name="TextBox 7"/>
          <p:cNvSpPr txBox="1"/>
          <p:nvPr/>
        </p:nvSpPr>
        <p:spPr>
          <a:xfrm>
            <a:off x="1097280" y="2606040"/>
            <a:ext cx="5943600" cy="640080"/>
          </a:xfrm>
          <a:prstGeom prst="rect">
            <a:avLst/>
          </a:prstGeom>
          <a:noFill/>
        </p:spPr>
        <p:txBody>
          <a:bodyPr wrap="square" anchor="t">
            <a:spAutoFit/>
          </a:bodyPr>
          <a:lstStyle/>
          <a:p>
            <a:pPr algn="l"/>
            <a:r>
              <a:rPr sz="2600" b="1">
                <a:solidFill>
                  <a:srgbClr val="FFFFFF"/>
                </a:solidFill>
                <a:latin typeface="Calibri"/>
              </a:rPr>
              <a:t>SQLBolt</a:t>
            </a:r>
          </a:p>
        </p:txBody>
      </p:sp>
      <p:sp>
        <p:nvSpPr>
          <p:cNvPr id="9" name="TextBox 8"/>
          <p:cNvSpPr txBox="1"/>
          <p:nvPr/>
        </p:nvSpPr>
        <p:spPr>
          <a:xfrm>
            <a:off x="7040880" y="2606040"/>
            <a:ext cx="4937760" cy="640080"/>
          </a:xfrm>
          <a:prstGeom prst="rect">
            <a:avLst/>
          </a:prstGeom>
          <a:noFill/>
        </p:spPr>
        <p:txBody>
          <a:bodyPr wrap="square" anchor="t">
            <a:spAutoFit/>
          </a:bodyPr>
          <a:lstStyle/>
          <a:p>
            <a:pPr algn="l"/>
            <a:r>
              <a:rPr sz="2200" b="0">
                <a:solidFill>
                  <a:srgbClr val="00D4FF"/>
                </a:solidFill>
                <a:latin typeface="Calibri"/>
              </a:rPr>
              <a:t>sqlbolt.com</a:t>
            </a:r>
          </a:p>
        </p:txBody>
      </p:sp>
      <p:sp>
        <p:nvSpPr>
          <p:cNvPr id="10" name="TextBox 9"/>
          <p:cNvSpPr txBox="1"/>
          <p:nvPr/>
        </p:nvSpPr>
        <p:spPr>
          <a:xfrm>
            <a:off x="548640" y="3383280"/>
            <a:ext cx="457200" cy="640080"/>
          </a:xfrm>
          <a:prstGeom prst="rect">
            <a:avLst/>
          </a:prstGeom>
          <a:noFill/>
        </p:spPr>
        <p:txBody>
          <a:bodyPr wrap="square" anchor="t">
            <a:spAutoFit/>
          </a:bodyPr>
          <a:lstStyle/>
          <a:p>
            <a:pPr algn="l"/>
            <a:r>
              <a:rPr sz="2800" b="0">
                <a:solidFill>
                  <a:srgbClr val="00FF41"/>
                </a:solidFill>
                <a:latin typeface="Calibri"/>
              </a:rPr>
              <a:t>◆</a:t>
            </a:r>
          </a:p>
        </p:txBody>
      </p:sp>
      <p:sp>
        <p:nvSpPr>
          <p:cNvPr id="11" name="TextBox 10"/>
          <p:cNvSpPr txBox="1"/>
          <p:nvPr/>
        </p:nvSpPr>
        <p:spPr>
          <a:xfrm>
            <a:off x="1097280" y="3383280"/>
            <a:ext cx="5943600" cy="640080"/>
          </a:xfrm>
          <a:prstGeom prst="rect">
            <a:avLst/>
          </a:prstGeom>
          <a:noFill/>
        </p:spPr>
        <p:txBody>
          <a:bodyPr wrap="square" anchor="t">
            <a:spAutoFit/>
          </a:bodyPr>
          <a:lstStyle/>
          <a:p>
            <a:pPr algn="l"/>
            <a:r>
              <a:rPr sz="2600" b="1">
                <a:solidFill>
                  <a:srgbClr val="FFFFFF"/>
                </a:solidFill>
                <a:latin typeface="Calibri"/>
              </a:rPr>
              <a:t>Use The Index, Luke</a:t>
            </a:r>
          </a:p>
        </p:txBody>
      </p:sp>
      <p:sp>
        <p:nvSpPr>
          <p:cNvPr id="12" name="TextBox 11"/>
          <p:cNvSpPr txBox="1"/>
          <p:nvPr/>
        </p:nvSpPr>
        <p:spPr>
          <a:xfrm>
            <a:off x="7040880" y="3383280"/>
            <a:ext cx="4937760" cy="640080"/>
          </a:xfrm>
          <a:prstGeom prst="rect">
            <a:avLst/>
          </a:prstGeom>
          <a:noFill/>
        </p:spPr>
        <p:txBody>
          <a:bodyPr wrap="square" anchor="t">
            <a:spAutoFit/>
          </a:bodyPr>
          <a:lstStyle/>
          <a:p>
            <a:pPr algn="l"/>
            <a:r>
              <a:rPr sz="2200" b="0">
                <a:solidFill>
                  <a:srgbClr val="00D4FF"/>
                </a:solidFill>
                <a:latin typeface="Calibri"/>
              </a:rPr>
              <a:t>use-the-index-luke.com</a:t>
            </a:r>
          </a:p>
        </p:txBody>
      </p:sp>
      <p:sp>
        <p:nvSpPr>
          <p:cNvPr id="13" name="TextBox 12"/>
          <p:cNvSpPr txBox="1"/>
          <p:nvPr/>
        </p:nvSpPr>
        <p:spPr>
          <a:xfrm>
            <a:off x="548640" y="4160520"/>
            <a:ext cx="457200" cy="640080"/>
          </a:xfrm>
          <a:prstGeom prst="rect">
            <a:avLst/>
          </a:prstGeom>
          <a:noFill/>
        </p:spPr>
        <p:txBody>
          <a:bodyPr wrap="square" anchor="t">
            <a:spAutoFit/>
          </a:bodyPr>
          <a:lstStyle/>
          <a:p>
            <a:pPr algn="l"/>
            <a:r>
              <a:rPr sz="2800" b="0">
                <a:solidFill>
                  <a:srgbClr val="00FF41"/>
                </a:solidFill>
                <a:latin typeface="Calibri"/>
              </a:rPr>
              <a:t>◆</a:t>
            </a:r>
          </a:p>
        </p:txBody>
      </p:sp>
      <p:sp>
        <p:nvSpPr>
          <p:cNvPr id="14" name="TextBox 13"/>
          <p:cNvSpPr txBox="1"/>
          <p:nvPr/>
        </p:nvSpPr>
        <p:spPr>
          <a:xfrm>
            <a:off x="1097280" y="4160520"/>
            <a:ext cx="5943600" cy="640080"/>
          </a:xfrm>
          <a:prstGeom prst="rect">
            <a:avLst/>
          </a:prstGeom>
          <a:noFill/>
        </p:spPr>
        <p:txBody>
          <a:bodyPr wrap="square" anchor="t">
            <a:spAutoFit/>
          </a:bodyPr>
          <a:lstStyle/>
          <a:p>
            <a:pPr algn="l"/>
            <a:r>
              <a:rPr sz="2600" b="1">
                <a:solidFill>
                  <a:srgbClr val="FFFFFF"/>
                </a:solidFill>
                <a:latin typeface="Calibri"/>
              </a:rPr>
              <a:t>DB-Engines Ranking</a:t>
            </a:r>
          </a:p>
        </p:txBody>
      </p:sp>
      <p:sp>
        <p:nvSpPr>
          <p:cNvPr id="15" name="TextBox 14"/>
          <p:cNvSpPr txBox="1"/>
          <p:nvPr/>
        </p:nvSpPr>
        <p:spPr>
          <a:xfrm>
            <a:off x="7040880" y="4160520"/>
            <a:ext cx="4937760" cy="640080"/>
          </a:xfrm>
          <a:prstGeom prst="rect">
            <a:avLst/>
          </a:prstGeom>
          <a:noFill/>
        </p:spPr>
        <p:txBody>
          <a:bodyPr wrap="square" anchor="t">
            <a:spAutoFit/>
          </a:bodyPr>
          <a:lstStyle/>
          <a:p>
            <a:pPr algn="l"/>
            <a:r>
              <a:rPr sz="2200" b="0">
                <a:solidFill>
                  <a:srgbClr val="00D4FF"/>
                </a:solidFill>
                <a:latin typeface="Calibri"/>
              </a:rPr>
              <a:t>db-engines.com</a:t>
            </a:r>
          </a:p>
        </p:txBody>
      </p:sp>
      <p:sp>
        <p:nvSpPr>
          <p:cNvPr id="16" name="TextBox 15"/>
          <p:cNvSpPr txBox="1"/>
          <p:nvPr/>
        </p:nvSpPr>
        <p:spPr>
          <a:xfrm>
            <a:off x="548640" y="4937760"/>
            <a:ext cx="457200" cy="640080"/>
          </a:xfrm>
          <a:prstGeom prst="rect">
            <a:avLst/>
          </a:prstGeom>
          <a:noFill/>
        </p:spPr>
        <p:txBody>
          <a:bodyPr wrap="square" anchor="t">
            <a:spAutoFit/>
          </a:bodyPr>
          <a:lstStyle/>
          <a:p>
            <a:pPr algn="l"/>
            <a:r>
              <a:rPr sz="2800" b="0">
                <a:solidFill>
                  <a:srgbClr val="00FF41"/>
                </a:solidFill>
                <a:latin typeface="Calibri"/>
              </a:rPr>
              <a:t>◆</a:t>
            </a:r>
          </a:p>
        </p:txBody>
      </p:sp>
      <p:sp>
        <p:nvSpPr>
          <p:cNvPr id="17" name="TextBox 16"/>
          <p:cNvSpPr txBox="1"/>
          <p:nvPr/>
        </p:nvSpPr>
        <p:spPr>
          <a:xfrm>
            <a:off x="1097280" y="4937760"/>
            <a:ext cx="5943600" cy="640080"/>
          </a:xfrm>
          <a:prstGeom prst="rect">
            <a:avLst/>
          </a:prstGeom>
          <a:noFill/>
        </p:spPr>
        <p:txBody>
          <a:bodyPr wrap="square" anchor="t">
            <a:spAutoFit/>
          </a:bodyPr>
          <a:lstStyle/>
          <a:p>
            <a:pPr algn="l"/>
            <a:r>
              <a:rPr sz="2600" b="1">
                <a:solidFill>
                  <a:srgbClr val="FFFFFF"/>
                </a:solidFill>
                <a:latin typeface="Calibri"/>
              </a:rPr>
              <a:t>OWASP Top 10</a:t>
            </a:r>
          </a:p>
        </p:txBody>
      </p:sp>
      <p:sp>
        <p:nvSpPr>
          <p:cNvPr id="18" name="TextBox 17"/>
          <p:cNvSpPr txBox="1"/>
          <p:nvPr/>
        </p:nvSpPr>
        <p:spPr>
          <a:xfrm>
            <a:off x="7040880" y="4937760"/>
            <a:ext cx="4937760" cy="640080"/>
          </a:xfrm>
          <a:prstGeom prst="rect">
            <a:avLst/>
          </a:prstGeom>
          <a:noFill/>
        </p:spPr>
        <p:txBody>
          <a:bodyPr wrap="square" anchor="t">
            <a:spAutoFit/>
          </a:bodyPr>
          <a:lstStyle/>
          <a:p>
            <a:pPr algn="l"/>
            <a:r>
              <a:rPr sz="2200" b="0">
                <a:solidFill>
                  <a:srgbClr val="00D4FF"/>
                </a:solidFill>
                <a:latin typeface="Calibri"/>
              </a:rPr>
              <a:t>owasp.org/Top10/</a:t>
            </a:r>
          </a:p>
        </p:txBody>
      </p:sp>
      <p:sp>
        <p:nvSpPr>
          <p:cNvPr id="19" name="TextBox 18"/>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20" name="TextBox 19"/>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41 / 44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Closing slide: Databases are where the money is. Literally. Now you know where to look. Ronin 48." title="Closing slide: Databases are where the money is. Literally. Now you know where t"/>
          <p:cNvSpPr txBox="1"/>
          <p:nvPr/>
        </p:nvSpPr>
        <p:spPr>
          <a:xfrm>
            <a:off x="457200" y="1371600"/>
            <a:ext cx="11247120" cy="1371600"/>
          </a:xfrm>
          <a:prstGeom prst="rect">
            <a:avLst/>
          </a:prstGeom>
          <a:noFill/>
        </p:spPr>
        <p:txBody>
          <a:bodyPr wrap="square" anchor="t">
            <a:spAutoFit/>
          </a:bodyPr>
          <a:lstStyle/>
          <a:p>
            <a:pPr algn="ctr"/>
            <a:r>
              <a:rPr sz="5800" b="1">
                <a:solidFill>
                  <a:srgbClr val="FFFFFF"/>
                </a:solidFill>
                <a:latin typeface="Calibri"/>
              </a:rPr>
              <a:t>Databases are where</a:t>
            </a:r>
          </a:p>
        </p:txBody>
      </p:sp>
      <p:sp>
        <p:nvSpPr>
          <p:cNvPr id="3" name="TextBox 2"/>
          <p:cNvSpPr txBox="1"/>
          <p:nvPr/>
        </p:nvSpPr>
        <p:spPr>
          <a:xfrm>
            <a:off x="457200" y="2377440"/>
            <a:ext cx="11247120" cy="1371600"/>
          </a:xfrm>
          <a:prstGeom prst="rect">
            <a:avLst/>
          </a:prstGeom>
          <a:noFill/>
        </p:spPr>
        <p:txBody>
          <a:bodyPr wrap="square" anchor="t">
            <a:spAutoFit/>
          </a:bodyPr>
          <a:lstStyle/>
          <a:p>
            <a:pPr algn="ctr"/>
            <a:r>
              <a:rPr sz="5800" b="1">
                <a:solidFill>
                  <a:srgbClr val="00FF41"/>
                </a:solidFill>
                <a:latin typeface="Calibri"/>
              </a:rPr>
              <a:t>the money is. Literally.</a:t>
            </a:r>
          </a:p>
        </p:txBody>
      </p:sp>
      <p:sp>
        <p:nvSpPr>
          <p:cNvPr id="4" name="Rectangle 3"/>
          <p:cNvSpPr/>
          <p:nvPr/>
        </p:nvSpPr>
        <p:spPr>
          <a:xfrm>
            <a:off x="4724704" y="4023360"/>
            <a:ext cx="274320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297680"/>
            <a:ext cx="11247120" cy="914400"/>
          </a:xfrm>
          <a:prstGeom prst="rect">
            <a:avLst/>
          </a:prstGeom>
          <a:noFill/>
        </p:spPr>
        <p:txBody>
          <a:bodyPr wrap="square" anchor="t">
            <a:spAutoFit/>
          </a:bodyPr>
          <a:lstStyle/>
          <a:p>
            <a:pPr algn="ctr"/>
            <a:r>
              <a:rPr sz="4200" b="0">
                <a:solidFill>
                  <a:srgbClr val="00D4FF"/>
                </a:solidFill>
                <a:latin typeface="Calibri"/>
              </a:rPr>
              <a:t>Now you know where to look.</a:t>
            </a:r>
          </a:p>
        </p:txBody>
      </p:sp>
      <p:sp>
        <p:nvSpPr>
          <p:cNvPr id="6" name="TextBox 5"/>
          <p:cNvSpPr txBox="1"/>
          <p:nvPr/>
        </p:nvSpPr>
        <p:spPr>
          <a:xfrm>
            <a:off x="457200" y="5669280"/>
            <a:ext cx="11247120" cy="548640"/>
          </a:xfrm>
          <a:prstGeom prst="rect">
            <a:avLst/>
          </a:prstGeom>
          <a:noFill/>
        </p:spPr>
        <p:txBody>
          <a:bodyPr wrap="square" anchor="t">
            <a:spAutoFit/>
          </a:bodyPr>
          <a:lstStyle/>
          <a:p>
            <a:pPr algn="ctr"/>
            <a:r>
              <a:rPr sz="2800" b="1">
                <a:solidFill>
                  <a:srgbClr val="CCCCD6"/>
                </a:solidFill>
                <a:latin typeface="Calibri"/>
              </a:rPr>
              <a:t>RONIN 48</a:t>
            </a:r>
          </a:p>
        </p:txBody>
      </p:sp>
      <p:sp>
        <p:nvSpPr>
          <p:cNvPr id="7" name="TextBox 6"/>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42 / 44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Questions and answers slide." title="Questions and answers slide."/>
          <p:cNvSpPr txBox="1"/>
          <p:nvPr/>
        </p:nvSpPr>
        <p:spPr>
          <a:xfrm>
            <a:off x="457200" y="2286000"/>
            <a:ext cx="11247120" cy="1828800"/>
          </a:xfrm>
          <a:prstGeom prst="rect">
            <a:avLst/>
          </a:prstGeom>
          <a:noFill/>
        </p:spPr>
        <p:txBody>
          <a:bodyPr wrap="square" anchor="t">
            <a:spAutoFit/>
          </a:bodyPr>
          <a:lstStyle/>
          <a:p>
            <a:pPr algn="ctr"/>
            <a:r>
              <a:rPr sz="18000" b="1">
                <a:solidFill>
                  <a:srgbClr val="00FF41"/>
                </a:solidFill>
                <a:latin typeface="Calibri"/>
              </a:rPr>
              <a:t>Q &amp; A</a:t>
            </a:r>
          </a:p>
        </p:txBody>
      </p:sp>
      <p:sp>
        <p:nvSpPr>
          <p:cNvPr id="3" name="TextBox 2"/>
          <p:cNvSpPr txBox="1"/>
          <p:nvPr/>
        </p:nvSpPr>
        <p:spPr>
          <a:xfrm>
            <a:off x="457200" y="4754880"/>
            <a:ext cx="11247120" cy="548640"/>
          </a:xfrm>
          <a:prstGeom prst="rect">
            <a:avLst/>
          </a:prstGeom>
          <a:noFill/>
        </p:spPr>
        <p:txBody>
          <a:bodyPr wrap="square" anchor="t">
            <a:spAutoFit/>
          </a:bodyPr>
          <a:lstStyle/>
          <a:p>
            <a:pPr algn="ctr"/>
            <a:r>
              <a:rPr sz="3600" b="0">
                <a:solidFill>
                  <a:srgbClr val="FFFFFF"/>
                </a:solidFill>
                <a:latin typeface="Calibri"/>
              </a:rPr>
              <a:t>Hit me.</a:t>
            </a:r>
          </a:p>
        </p:txBody>
      </p:sp>
      <p:sp>
        <p:nvSpPr>
          <p:cNvPr id="4" name="TextBox 3"/>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descr="References list of all books cited throughout the talk, including Beaulieu's Learning SQL, Clarke's SQL Injection Attacks and Defense, Schneier's Secrets and Lies, and others." title="References list of all books cited throughout the talk, including Beaulieu's Lea"/>
          <p:cNvSpPr txBox="1"/>
          <p:nvPr/>
        </p:nvSpPr>
        <p:spPr>
          <a:xfrm>
            <a:off x="457200" y="320040"/>
            <a:ext cx="11247120" cy="1005840"/>
          </a:xfrm>
          <a:prstGeom prst="rect">
            <a:avLst/>
          </a:prstGeom>
          <a:noFill/>
        </p:spPr>
        <p:txBody>
          <a:bodyPr wrap="square" anchor="t">
            <a:spAutoFit/>
          </a:bodyPr>
          <a:lstStyle/>
          <a:p>
            <a:pPr algn="l"/>
            <a:r>
              <a:rPr sz="3800" b="1">
                <a:solidFill>
                  <a:srgbClr val="00FF41"/>
                </a:solidFill>
                <a:latin typeface="Calibri"/>
              </a:rPr>
              <a:t>Referenzen — Books Cited</a:t>
            </a:r>
          </a:p>
        </p:txBody>
      </p:sp>
      <p:sp>
        <p:nvSpPr>
          <p:cNvPr id="3" name="Rectangle 2"/>
          <p:cNvSpPr/>
          <p:nvPr/>
        </p:nvSpPr>
        <p:spPr>
          <a:xfrm>
            <a:off x="457200" y="1325880"/>
            <a:ext cx="1828800" cy="54864"/>
          </a:xfrm>
          <a:prstGeom prst="rect">
            <a:avLst/>
          </a:prstGeom>
          <a:solidFill>
            <a:srgbClr val="00FF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91640"/>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5" name="TextBox 4"/>
          <p:cNvSpPr txBox="1"/>
          <p:nvPr/>
        </p:nvSpPr>
        <p:spPr>
          <a:xfrm>
            <a:off x="777240" y="1664208"/>
            <a:ext cx="10972800" cy="320040"/>
          </a:xfrm>
          <a:prstGeom prst="rect">
            <a:avLst/>
          </a:prstGeom>
          <a:noFill/>
        </p:spPr>
        <p:txBody>
          <a:bodyPr wrap="square" anchor="t">
            <a:spAutoFit/>
          </a:bodyPr>
          <a:lstStyle/>
          <a:p>
            <a:pPr algn="l"/>
            <a:r>
              <a:rPr sz="1600" b="0">
                <a:solidFill>
                  <a:srgbClr val="FFFFFF"/>
                </a:solidFill>
                <a:latin typeface="Calibri"/>
              </a:rPr>
              <a:t>Beaulieu, A. — Learning SQL, 2nd Edition (O'Reilly)</a:t>
            </a:r>
          </a:p>
        </p:txBody>
      </p:sp>
      <p:sp>
        <p:nvSpPr>
          <p:cNvPr id="6" name="TextBox 5"/>
          <p:cNvSpPr txBox="1"/>
          <p:nvPr/>
        </p:nvSpPr>
        <p:spPr>
          <a:xfrm>
            <a:off x="457200" y="2002536"/>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7" name="TextBox 6"/>
          <p:cNvSpPr txBox="1"/>
          <p:nvPr/>
        </p:nvSpPr>
        <p:spPr>
          <a:xfrm>
            <a:off x="777240" y="1975104"/>
            <a:ext cx="10972800" cy="320040"/>
          </a:xfrm>
          <a:prstGeom prst="rect">
            <a:avLst/>
          </a:prstGeom>
          <a:noFill/>
        </p:spPr>
        <p:txBody>
          <a:bodyPr wrap="square" anchor="t">
            <a:spAutoFit/>
          </a:bodyPr>
          <a:lstStyle/>
          <a:p>
            <a:pPr algn="l"/>
            <a:r>
              <a:rPr sz="1600" b="0">
                <a:solidFill>
                  <a:srgbClr val="FFFFFF"/>
                </a:solidFill>
                <a:latin typeface="Calibri"/>
              </a:rPr>
              <a:t>Clarke, J. et al. — SQL Injection Attacks and Defense (Syngress)</a:t>
            </a:r>
          </a:p>
        </p:txBody>
      </p:sp>
      <p:sp>
        <p:nvSpPr>
          <p:cNvPr id="8" name="TextBox 7"/>
          <p:cNvSpPr txBox="1"/>
          <p:nvPr/>
        </p:nvSpPr>
        <p:spPr>
          <a:xfrm>
            <a:off x="457200" y="2313432"/>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9" name="TextBox 8"/>
          <p:cNvSpPr txBox="1"/>
          <p:nvPr/>
        </p:nvSpPr>
        <p:spPr>
          <a:xfrm>
            <a:off x="777240" y="2286000"/>
            <a:ext cx="10972800" cy="320040"/>
          </a:xfrm>
          <a:prstGeom prst="rect">
            <a:avLst/>
          </a:prstGeom>
          <a:noFill/>
        </p:spPr>
        <p:txBody>
          <a:bodyPr wrap="square" anchor="t">
            <a:spAutoFit/>
          </a:bodyPr>
          <a:lstStyle/>
          <a:p>
            <a:pPr algn="l"/>
            <a:r>
              <a:rPr sz="1600" b="0">
                <a:solidFill>
                  <a:srgbClr val="FFFFFF"/>
                </a:solidFill>
                <a:latin typeface="Calibri"/>
              </a:rPr>
              <a:t>Crowther, P. — Concise Guide to Databases (Springer, 2013)</a:t>
            </a:r>
          </a:p>
        </p:txBody>
      </p:sp>
      <p:sp>
        <p:nvSpPr>
          <p:cNvPr id="10" name="TextBox 9"/>
          <p:cNvSpPr txBox="1"/>
          <p:nvPr/>
        </p:nvSpPr>
        <p:spPr>
          <a:xfrm>
            <a:off x="457200" y="2624328"/>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11" name="TextBox 10"/>
          <p:cNvSpPr txBox="1"/>
          <p:nvPr/>
        </p:nvSpPr>
        <p:spPr>
          <a:xfrm>
            <a:off x="777240" y="2596896"/>
            <a:ext cx="10972800" cy="320040"/>
          </a:xfrm>
          <a:prstGeom prst="rect">
            <a:avLst/>
          </a:prstGeom>
          <a:noFill/>
        </p:spPr>
        <p:txBody>
          <a:bodyPr wrap="square" anchor="t">
            <a:spAutoFit/>
          </a:bodyPr>
          <a:lstStyle/>
          <a:p>
            <a:pPr algn="l"/>
            <a:r>
              <a:rPr sz="1600" b="0">
                <a:solidFill>
                  <a:srgbClr val="FFFFFF"/>
                </a:solidFill>
                <a:latin typeface="Calibri"/>
              </a:rPr>
              <a:t>DeBarros, A. — Practical SQL (No Starch Press)</a:t>
            </a:r>
          </a:p>
        </p:txBody>
      </p:sp>
      <p:sp>
        <p:nvSpPr>
          <p:cNvPr id="12" name="TextBox 11"/>
          <p:cNvSpPr txBox="1"/>
          <p:nvPr/>
        </p:nvSpPr>
        <p:spPr>
          <a:xfrm>
            <a:off x="457200" y="2935224"/>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13" name="TextBox 12"/>
          <p:cNvSpPr txBox="1"/>
          <p:nvPr/>
        </p:nvSpPr>
        <p:spPr>
          <a:xfrm>
            <a:off x="777240" y="2907792"/>
            <a:ext cx="10972800" cy="320040"/>
          </a:xfrm>
          <a:prstGeom prst="rect">
            <a:avLst/>
          </a:prstGeom>
          <a:noFill/>
        </p:spPr>
        <p:txBody>
          <a:bodyPr wrap="square" anchor="t">
            <a:spAutoFit/>
          </a:bodyPr>
          <a:lstStyle/>
          <a:p>
            <a:pPr algn="l"/>
            <a:r>
              <a:rPr sz="1600" b="0">
                <a:solidFill>
                  <a:srgbClr val="FFFFFF"/>
                </a:solidFill>
                <a:latin typeface="Calibri"/>
              </a:rPr>
              <a:t>Diogenes &amp; Ozkaya — Cybersecurity Attack and Defense Strategies (Packt)</a:t>
            </a:r>
          </a:p>
        </p:txBody>
      </p:sp>
      <p:sp>
        <p:nvSpPr>
          <p:cNvPr id="14" name="TextBox 13"/>
          <p:cNvSpPr txBox="1"/>
          <p:nvPr/>
        </p:nvSpPr>
        <p:spPr>
          <a:xfrm>
            <a:off x="457200" y="3246120"/>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15" name="TextBox 14"/>
          <p:cNvSpPr txBox="1"/>
          <p:nvPr/>
        </p:nvSpPr>
        <p:spPr>
          <a:xfrm>
            <a:off x="777240" y="3218688"/>
            <a:ext cx="10972800" cy="320040"/>
          </a:xfrm>
          <a:prstGeom prst="rect">
            <a:avLst/>
          </a:prstGeom>
          <a:noFill/>
        </p:spPr>
        <p:txBody>
          <a:bodyPr wrap="square" anchor="t">
            <a:spAutoFit/>
          </a:bodyPr>
          <a:lstStyle/>
          <a:p>
            <a:pPr algn="l"/>
            <a:r>
              <a:rPr sz="1600" b="0">
                <a:solidFill>
                  <a:srgbClr val="FFFFFF"/>
                </a:solidFill>
                <a:latin typeface="Calibri"/>
              </a:rPr>
              <a:t>Janca, T. — Alice and Bob Learn Application Security (Wiley)</a:t>
            </a:r>
          </a:p>
        </p:txBody>
      </p:sp>
      <p:sp>
        <p:nvSpPr>
          <p:cNvPr id="16" name="TextBox 15"/>
          <p:cNvSpPr txBox="1"/>
          <p:nvPr/>
        </p:nvSpPr>
        <p:spPr>
          <a:xfrm>
            <a:off x="457200" y="3557016"/>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17" name="TextBox 16"/>
          <p:cNvSpPr txBox="1"/>
          <p:nvPr/>
        </p:nvSpPr>
        <p:spPr>
          <a:xfrm>
            <a:off x="777240" y="3529584"/>
            <a:ext cx="10972800" cy="320040"/>
          </a:xfrm>
          <a:prstGeom prst="rect">
            <a:avLst/>
          </a:prstGeom>
          <a:noFill/>
        </p:spPr>
        <p:txBody>
          <a:bodyPr wrap="square" anchor="t">
            <a:spAutoFit/>
          </a:bodyPr>
          <a:lstStyle/>
          <a:p>
            <a:pPr algn="l"/>
            <a:r>
              <a:rPr sz="1600" b="0">
                <a:solidFill>
                  <a:srgbClr val="FFFFFF"/>
                </a:solidFill>
                <a:latin typeface="Calibri"/>
              </a:rPr>
              <a:t>Mishra &amp; Singh — PostgreSQL Development Essentials (Packt)</a:t>
            </a:r>
          </a:p>
        </p:txBody>
      </p:sp>
      <p:sp>
        <p:nvSpPr>
          <p:cNvPr id="18" name="TextBox 17"/>
          <p:cNvSpPr txBox="1"/>
          <p:nvPr/>
        </p:nvSpPr>
        <p:spPr>
          <a:xfrm>
            <a:off x="457200" y="3867912"/>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19" name="TextBox 18"/>
          <p:cNvSpPr txBox="1"/>
          <p:nvPr/>
        </p:nvSpPr>
        <p:spPr>
          <a:xfrm>
            <a:off x="777240" y="3840480"/>
            <a:ext cx="10972800" cy="320040"/>
          </a:xfrm>
          <a:prstGeom prst="rect">
            <a:avLst/>
          </a:prstGeom>
          <a:noFill/>
        </p:spPr>
        <p:txBody>
          <a:bodyPr wrap="square" anchor="t">
            <a:spAutoFit/>
          </a:bodyPr>
          <a:lstStyle/>
          <a:p>
            <a:pPr algn="l"/>
            <a:r>
              <a:rPr sz="1600" b="0">
                <a:solidFill>
                  <a:srgbClr val="FFFFFF"/>
                </a:solidFill>
                <a:latin typeface="Calibri"/>
              </a:rPr>
              <a:t>MongoDB Cookbook (Packt)  •  10gen — Top 5 NoSQL Considerations</a:t>
            </a:r>
          </a:p>
        </p:txBody>
      </p:sp>
      <p:sp>
        <p:nvSpPr>
          <p:cNvPr id="20" name="TextBox 19"/>
          <p:cNvSpPr txBox="1"/>
          <p:nvPr/>
        </p:nvSpPr>
        <p:spPr>
          <a:xfrm>
            <a:off x="457200" y="4178808"/>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21" name="TextBox 20"/>
          <p:cNvSpPr txBox="1"/>
          <p:nvPr/>
        </p:nvSpPr>
        <p:spPr>
          <a:xfrm>
            <a:off x="777240" y="4151376"/>
            <a:ext cx="10972800" cy="320040"/>
          </a:xfrm>
          <a:prstGeom prst="rect">
            <a:avLst/>
          </a:prstGeom>
          <a:noFill/>
        </p:spPr>
        <p:txBody>
          <a:bodyPr wrap="square" anchor="t">
            <a:spAutoFit/>
          </a:bodyPr>
          <a:lstStyle/>
          <a:p>
            <a:pPr algn="l"/>
            <a:r>
              <a:rPr sz="1600" b="0">
                <a:solidFill>
                  <a:srgbClr val="FFFFFF"/>
                </a:solidFill>
                <a:latin typeface="Calibri"/>
              </a:rPr>
              <a:t>OWASP Top 10 — 2017 Edition</a:t>
            </a:r>
          </a:p>
        </p:txBody>
      </p:sp>
      <p:sp>
        <p:nvSpPr>
          <p:cNvPr id="22" name="TextBox 21"/>
          <p:cNvSpPr txBox="1"/>
          <p:nvPr/>
        </p:nvSpPr>
        <p:spPr>
          <a:xfrm>
            <a:off x="457200" y="4489704"/>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23" name="TextBox 22"/>
          <p:cNvSpPr txBox="1"/>
          <p:nvPr/>
        </p:nvSpPr>
        <p:spPr>
          <a:xfrm>
            <a:off x="777240" y="4462272"/>
            <a:ext cx="10972800" cy="320040"/>
          </a:xfrm>
          <a:prstGeom prst="rect">
            <a:avLst/>
          </a:prstGeom>
          <a:noFill/>
        </p:spPr>
        <p:txBody>
          <a:bodyPr wrap="square" anchor="t">
            <a:spAutoFit/>
          </a:bodyPr>
          <a:lstStyle/>
          <a:p>
            <a:pPr algn="l"/>
            <a:r>
              <a:rPr sz="1600" b="0">
                <a:solidFill>
                  <a:srgbClr val="FFFFFF"/>
                </a:solidFill>
                <a:latin typeface="Calibri"/>
              </a:rPr>
              <a:t>Sharma, M. — Cosmos DB for MongoDB Developers (Apress, 2018)</a:t>
            </a:r>
          </a:p>
        </p:txBody>
      </p:sp>
      <p:sp>
        <p:nvSpPr>
          <p:cNvPr id="24" name="TextBox 23"/>
          <p:cNvSpPr txBox="1"/>
          <p:nvPr/>
        </p:nvSpPr>
        <p:spPr>
          <a:xfrm>
            <a:off x="457200" y="4800600"/>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25" name="TextBox 24"/>
          <p:cNvSpPr txBox="1"/>
          <p:nvPr/>
        </p:nvSpPr>
        <p:spPr>
          <a:xfrm>
            <a:off x="777240" y="4773168"/>
            <a:ext cx="10972800" cy="320040"/>
          </a:xfrm>
          <a:prstGeom prst="rect">
            <a:avLst/>
          </a:prstGeom>
          <a:noFill/>
        </p:spPr>
        <p:txBody>
          <a:bodyPr wrap="square" anchor="t">
            <a:spAutoFit/>
          </a:bodyPr>
          <a:lstStyle/>
          <a:p>
            <a:pPr algn="l"/>
            <a:r>
              <a:rPr sz="1600" b="0">
                <a:solidFill>
                  <a:srgbClr val="FFFFFF"/>
                </a:solidFill>
                <a:latin typeface="Calibri"/>
              </a:rPr>
              <a:t>Schneier, B. — Secrets and Lies (Wiley)</a:t>
            </a:r>
          </a:p>
        </p:txBody>
      </p:sp>
      <p:sp>
        <p:nvSpPr>
          <p:cNvPr id="26" name="TextBox 25"/>
          <p:cNvSpPr txBox="1"/>
          <p:nvPr/>
        </p:nvSpPr>
        <p:spPr>
          <a:xfrm>
            <a:off x="457200" y="5111496"/>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27" name="TextBox 26"/>
          <p:cNvSpPr txBox="1"/>
          <p:nvPr/>
        </p:nvSpPr>
        <p:spPr>
          <a:xfrm>
            <a:off x="777240" y="5084064"/>
            <a:ext cx="10972800" cy="320040"/>
          </a:xfrm>
          <a:prstGeom prst="rect">
            <a:avLst/>
          </a:prstGeom>
          <a:noFill/>
        </p:spPr>
        <p:txBody>
          <a:bodyPr wrap="square" anchor="t">
            <a:spAutoFit/>
          </a:bodyPr>
          <a:lstStyle/>
          <a:p>
            <a:pPr algn="l"/>
            <a:r>
              <a:rPr sz="1600" b="0">
                <a:solidFill>
                  <a:srgbClr val="FFFFFF"/>
                </a:solidFill>
                <a:latin typeface="Calibri"/>
              </a:rPr>
              <a:t>Stuttard &amp; Pinto — Web Application Hacker's Handbook, 2nd Ed.</a:t>
            </a:r>
          </a:p>
        </p:txBody>
      </p:sp>
      <p:sp>
        <p:nvSpPr>
          <p:cNvPr id="28" name="TextBox 27"/>
          <p:cNvSpPr txBox="1"/>
          <p:nvPr/>
        </p:nvSpPr>
        <p:spPr>
          <a:xfrm>
            <a:off x="457200" y="5422392"/>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29" name="TextBox 28"/>
          <p:cNvSpPr txBox="1"/>
          <p:nvPr/>
        </p:nvSpPr>
        <p:spPr>
          <a:xfrm>
            <a:off x="777240" y="5394959"/>
            <a:ext cx="10972800" cy="320040"/>
          </a:xfrm>
          <a:prstGeom prst="rect">
            <a:avLst/>
          </a:prstGeom>
          <a:noFill/>
        </p:spPr>
        <p:txBody>
          <a:bodyPr wrap="square" anchor="t">
            <a:spAutoFit/>
          </a:bodyPr>
          <a:lstStyle/>
          <a:p>
            <a:pPr algn="l"/>
            <a:r>
              <a:rPr sz="1600" b="0">
                <a:solidFill>
                  <a:srgbClr val="FFFFFF"/>
                </a:solidFill>
                <a:latin typeface="Calibri"/>
              </a:rPr>
              <a:t>Shostack, A. — Threat Modeling: Designing for Security (Wiley)</a:t>
            </a:r>
          </a:p>
        </p:txBody>
      </p:sp>
      <p:sp>
        <p:nvSpPr>
          <p:cNvPr id="30" name="TextBox 29"/>
          <p:cNvSpPr txBox="1"/>
          <p:nvPr/>
        </p:nvSpPr>
        <p:spPr>
          <a:xfrm>
            <a:off x="457200" y="5733288"/>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31" name="TextBox 30"/>
          <p:cNvSpPr txBox="1"/>
          <p:nvPr/>
        </p:nvSpPr>
        <p:spPr>
          <a:xfrm>
            <a:off x="777240" y="5705855"/>
            <a:ext cx="10972800" cy="320040"/>
          </a:xfrm>
          <a:prstGeom prst="rect">
            <a:avLst/>
          </a:prstGeom>
          <a:noFill/>
        </p:spPr>
        <p:txBody>
          <a:bodyPr wrap="square" anchor="t">
            <a:spAutoFit/>
          </a:bodyPr>
          <a:lstStyle/>
          <a:p>
            <a:pPr algn="l"/>
            <a:r>
              <a:rPr sz="1600" b="0">
                <a:solidFill>
                  <a:srgbClr val="FFFFFF"/>
                </a:solidFill>
                <a:latin typeface="Calibri"/>
              </a:rPr>
              <a:t>AWS Administration: The Definitive Guide (Packt)</a:t>
            </a:r>
          </a:p>
        </p:txBody>
      </p:sp>
      <p:sp>
        <p:nvSpPr>
          <p:cNvPr id="32" name="TextBox 31"/>
          <p:cNvSpPr txBox="1"/>
          <p:nvPr/>
        </p:nvSpPr>
        <p:spPr>
          <a:xfrm>
            <a:off x="457200" y="6044184"/>
            <a:ext cx="274320" cy="274320"/>
          </a:xfrm>
          <a:prstGeom prst="rect">
            <a:avLst/>
          </a:prstGeom>
          <a:noFill/>
        </p:spPr>
        <p:txBody>
          <a:bodyPr wrap="square" anchor="t">
            <a:spAutoFit/>
          </a:bodyPr>
          <a:lstStyle/>
          <a:p>
            <a:pPr algn="l"/>
            <a:r>
              <a:rPr sz="1400" b="0">
                <a:solidFill>
                  <a:srgbClr val="00D4FF"/>
                </a:solidFill>
                <a:latin typeface="Calibri"/>
              </a:rPr>
              <a:t>■</a:t>
            </a:r>
          </a:p>
        </p:txBody>
      </p:sp>
      <p:sp>
        <p:nvSpPr>
          <p:cNvPr id="33" name="TextBox 32"/>
          <p:cNvSpPr txBox="1"/>
          <p:nvPr/>
        </p:nvSpPr>
        <p:spPr>
          <a:xfrm>
            <a:off x="777240" y="6016752"/>
            <a:ext cx="10972800" cy="320040"/>
          </a:xfrm>
          <a:prstGeom prst="rect">
            <a:avLst/>
          </a:prstGeom>
          <a:noFill/>
        </p:spPr>
        <p:txBody>
          <a:bodyPr wrap="square" anchor="t">
            <a:spAutoFit/>
          </a:bodyPr>
          <a:lstStyle/>
          <a:p>
            <a:pPr algn="l"/>
            <a:r>
              <a:rPr sz="1600" b="0">
                <a:solidFill>
                  <a:srgbClr val="FFFFFF"/>
                </a:solidFill>
                <a:latin typeface="Calibri"/>
              </a:rPr>
              <a:t>Fundamentals of Azure, 2nd Edition (Microsoft Press)</a:t>
            </a:r>
          </a:p>
        </p:txBody>
      </p:sp>
      <p:sp>
        <p:nvSpPr>
          <p:cNvPr id="34" name="TextBox 33"/>
          <p:cNvSpPr txBox="1"/>
          <p:nvPr/>
        </p:nvSpPr>
        <p:spPr>
          <a:xfrm>
            <a:off x="365760" y="6446520"/>
            <a:ext cx="11430000" cy="320040"/>
          </a:xfrm>
          <a:prstGeom prst="rect">
            <a:avLst/>
          </a:prstGeom>
          <a:noFill/>
        </p:spPr>
        <p:txBody>
          <a:bodyPr wrap="square" anchor="t">
            <a:spAutoFit/>
          </a:bodyPr>
          <a:lstStyle/>
          <a:p>
            <a:pPr algn="l"/>
            <a:r>
              <a:rPr sz="1400" b="0">
                <a:solidFill>
                  <a:srgbClr val="CCCCD6"/>
                </a:solidFill>
                <a:latin typeface="Calibri"/>
              </a:rPr>
              <a:t>Ronin 48  |  Datenbanken für Hacker</a:t>
            </a:r>
          </a:p>
        </p:txBody>
      </p:sp>
      <p:sp>
        <p:nvSpPr>
          <p:cNvPr id="35" name="TextBox 34"/>
          <p:cNvSpPr txBox="1"/>
          <p:nvPr/>
        </p:nvSpPr>
        <p:spPr>
          <a:xfrm>
            <a:off x="10972800" y="6446520"/>
            <a:ext cx="1097280" cy="320040"/>
          </a:xfrm>
          <a:prstGeom prst="rect">
            <a:avLst/>
          </a:prstGeom>
          <a:noFill/>
        </p:spPr>
        <p:txBody>
          <a:bodyPr wrap="square" anchor="t">
            <a:spAutoFit/>
          </a:bodyPr>
          <a:lstStyle/>
          <a:p>
            <a:pPr algn="r"/>
            <a:r>
              <a:rPr sz="1400" b="0">
                <a:solidFill>
                  <a:srgbClr val="CCCCD6"/>
                </a:solidFill>
                <a:latin typeface="Calibri"/>
              </a:rPr>
              <a:t>44 / 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