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BASES DE DATOS</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para hackers</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Charla independiente de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minutos</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No se requiere título</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900" b="0" u="none" strike="noStrike">
                <a:solidFill>
                  <a:srgbClr val="FFFFFF"/>
                </a:solidFill>
                <a:effectLst/>
                <a:uFillTx/>
                <a:latin typeface="Calibri"/>
              </a:rPr>
              <a:t>Estudiante de posgrado,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9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800" b="1" u="none" strike="noStrike">
                <a:solidFill>
                  <a:srgbClr val="FFFFFF"/>
                </a:solidFill>
                <a:effectLst/>
                <a:uFillTx/>
                <a:latin typeface="Calibri"/>
              </a:rPr>
              <a:t>Toda filtración de la que alguna vez</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800" b="1" u="none" strike="noStrike">
                <a:solidFill>
                  <a:srgbClr val="FFFFFF"/>
                </a:solidFill>
                <a:effectLst/>
                <a:uFillTx/>
                <a:latin typeface="Calibri"/>
              </a:rPr>
              <a:t>hayas leído termina en una</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BASE DE DATOS*</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Las joyas de la corona</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BÓVEDA DE DATOS</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No tu aplicación de una sola página.</a:t>
            </a:r>
            <a:endParaRPr lang="en-US" sz="3000" b="0" u="none" strike="noStrike">
              <a:solidFill>
                <a:srgbClr val="FFFFFF"/>
              </a:solidFill>
              <a:effectLst/>
              <a:uFillTx/>
              <a:latin typeface="Arial"/>
            </a:endParaRPr>
          </a:p>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No tu firewall.</a:t>
            </a:r>
            <a:endParaRPr lang="en-US" sz="3000" b="0" u="none" strike="noStrike">
              <a:solidFill>
                <a:srgbClr val="FFFFFF"/>
              </a:solidFill>
              <a:effectLst/>
              <a:uFillTx/>
              <a:latin typeface="Arial"/>
            </a:endParaRPr>
          </a:p>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No tus microservicios.</a:t>
            </a:r>
            <a:endParaRPr lang="en-US" sz="3000" b="0" u="none" strike="noStrike">
              <a:solidFill>
                <a:srgbClr val="FFFFFF"/>
              </a:solidFill>
              <a:effectLst/>
              <a:uFillTx/>
              <a:latin typeface="Arial"/>
            </a:endParaRPr>
          </a:p>
          <a:p>
            <a:pPr defTabSz="457200">
              <a:lnSpc>
                <a:spcPct val="140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LOS DATOS. Siempre los datos.</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¿Qué es una base de datos?</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FFFFFF"/>
                </a:solidFill>
                <a:effectLst/>
                <a:uFillTx/>
                <a:latin typeface="Calibri"/>
              </a:rPr>
              <a:t>Almacenamiento organizado  +  una forma de hacer preguntas.</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Eso es todo. Todo lo demás es detalle.</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Archivador  =  almacenamiento  +  tus ojos como consulta.</a:t>
            </a:r>
            <a:endParaRPr lang="en-US" sz="2600" b="0" u="none" strike="noStrike">
              <a:solidFill>
                <a:srgbClr val="FFFFFF"/>
              </a:solidFill>
              <a:effectLst/>
              <a:uFillTx/>
              <a:latin typeface="Arial"/>
            </a:endParaRPr>
          </a:p>
          <a:p>
            <a:pPr defTabSz="457200">
              <a:lnSpc>
                <a:spcPct val="15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Excel + Ctrl-F  =  almacenamiento  +  buscar y reemplazar como consulta.</a:t>
            </a:r>
            <a:endParaRPr lang="en-US" sz="2600" b="0" u="none" strike="noStrike">
              <a:solidFill>
                <a:srgbClr val="FFFFFF"/>
              </a:solidFill>
              <a:effectLst/>
              <a:uFillTx/>
              <a:latin typeface="Arial"/>
            </a:endParaRPr>
          </a:p>
          <a:p>
            <a:pPr defTabSz="457200">
              <a:lnSpc>
                <a:spcPct val="150000"/>
              </a:lnSpc>
            </a:pPr>
            <a:r>
              <a:rPr lang="en-US" sz="2150" b="1" u="none" strike="noStrike">
                <a:solidFill>
                  <a:srgbClr val="00D4FF"/>
                </a:solidFill>
                <a:effectLst/>
                <a:uFillTx/>
                <a:latin typeface="Calibri"/>
              </a:rPr>
              <a:t>▶ </a:t>
            </a:r>
            <a:r>
              <a:rPr lang="en-US" sz="2150" b="0" u="none" strike="noStrike">
                <a:solidFill>
                  <a:srgbClr val="FFFFFF"/>
                </a:solidFill>
                <a:effectLst/>
                <a:uFillTx/>
                <a:latin typeface="Calibri"/>
              </a:rPr>
              <a:t>Una BD real agrega:  escala, velocidad, concurrencia, un lenguaje formal.</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Las seis palabras que necesitas</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TABLA</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una pestaña de hoja de cálculo</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FILA</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registro (un cliente, una alerta)</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COLUMNA</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un atributo (correo, IP, total)</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CONSULTA</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la pregunta que estás haciendo</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ESQUEMA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la forma de los datos</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ÍNDICE</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50" b="0" u="none" strike="noStrike">
                <a:solidFill>
                  <a:srgbClr val="FFFFFF"/>
                </a:solidFill>
                <a:effectLst/>
                <a:uFillTx/>
                <a:latin typeface="Calibri"/>
              </a:rPr>
              <a:t>el marcador que hace que las búsquedas sean rápidas</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Crear  •  Leer  •  Actualizar  •  Eliminar</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000" b="1" u="none" strike="noStrike">
                <a:solidFill>
                  <a:srgbClr val="00FF41"/>
                </a:solidFill>
                <a:effectLst/>
                <a:uFillTx/>
                <a:latin typeface="Calibri"/>
              </a:rPr>
              <a:t>Recorrido histórico — Fósiles que verás en producción</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Archivos planos</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permisos del sistema de archivos = único control de acceso</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1" u="none" strike="noStrike">
                <a:solidFill>
                  <a:srgbClr val="00D4FF"/>
                </a:solidFill>
                <a:effectLst/>
                <a:uFillTx/>
                <a:latin typeface="Calibri"/>
              </a:rPr>
              <a:t>Finales de los 1960s</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Jerárquica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era del mainframe, modelo de amenaza físico</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En red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00" b="0" u="none" strike="noStrike">
                <a:solidFill>
                  <a:srgbClr val="CCCCD6"/>
                </a:solidFill>
                <a:effectLst/>
                <a:uFillTx/>
                <a:latin typeface="Calibri"/>
              </a:rPr>
              <a:t>todavía funcionando en la trastienda de tu banco</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Relacional de Codd</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50" b="0" u="none" strike="noStrike">
                <a:solidFill>
                  <a:srgbClr val="CCCCD6"/>
                </a:solidFill>
                <a:effectLst/>
                <a:uFillTx/>
                <a:latin typeface="Calibri"/>
              </a:rPr>
              <a:t>GRANT, roles — control de acceso dentro de la BD</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las bases de datos se conectan en red → problema de autenticación</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Cliente-servidor,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la inyección SQL se vuelve un problema</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Auge de NoSQL</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"descartaron los fundamentos" — incl. la seguridad</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Nube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responsabilidad compartida, configuraciones erróneas del cliente</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Vectorial / sin servidor</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00" b="0" u="none" strike="noStrike">
                <a:solidFill>
                  <a:srgbClr val="CCCCD6"/>
                </a:solidFill>
                <a:effectLst/>
                <a:uFillTx/>
                <a:latin typeface="Calibri"/>
              </a:rPr>
              <a:t>envenenamiento de datos, inyección de prompts</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Diez familias de bases de datos</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Relacional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Documental</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Clave-Valor</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diccionario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Familia de columnas</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columna ancha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Grafo</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nodos+aristas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Búsqueda</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texto completo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Series temporales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métricas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Vectorial</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Embebida/Borde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en la 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Lago de datos</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esquema en lectura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Relacional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Relaciones claras, se requiere consistencia — finanzas, datos regulados.</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Inyección SQL cuando los desarrolladores concatenan la entrada del usuario en las consultas.</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Almacenes de documentos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Datos naturalmente anidados; la forma cambia con el tiempo.</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Inyección NoSQL mediante operadores de consulta ($ne, $gt, $where). Sin autenticación por defecto.</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Almacenes clave-valor</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Cachés, almacenes de sesión, limitadores de tasa, tablas de clasificación.</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Redis sin autenticación por defecto + CONFIG SET → escribir claves SSH en disco.</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Familia de columnas</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Escala masiva en muchas máquinas; no se necesitan joins complejos.</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Los clústeres confían entre sí en los puertos de gossip — la red de gestión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Bases de datos de grafos</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Redes sociales, detección de fraude, análisis de IAM (p. ej.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Lenguajes de consulta como Cypher también son inyectables. NoSQLi no es solo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Motores de búsqueda</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Búsqueda de logs, columnas vertebrales de SIEM, búsqueda en sitios de comercio electrónico.</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Históricamente sin autenticación integrada — miles de millones de registros expuestos en Shodan.</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Series temporales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Métricas, observabilidad, telemetría de IoT.</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Generalmente dentro del perímetro, a menudo sin autenticación.</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Bases de datos vectoriales</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motores de recomendación, búsqueda semántica.</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Envenenamiento de datos — cuela un documento y el LLM lo cita como verdad.</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Embebida / Borde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Almacenamiento en la app — navegadores, teléfonos, todo avión moderno.</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La BD es un archivo — el ataque es 'robar el archivo'. Mundo del pentesting móvil.</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Lagos de datos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PRODUCTOS</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USAR CUANDO</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Esquema en lectura en lugar de esquema en escritura. Volcar ahora, consultar después.</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TRAMPA DE SEGURIDAD</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Enormes repositorios de S3 + IAM permisivo, sin obligación de cifrado en reposo.</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Servicios de BD en la nube — El panorama general</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(grafo)</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(almacén de objetos)</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(próximamente)</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(camaleón)</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modo grafo</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Hoja de referencia de BD en la nube</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CATEGORÍA</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Relacional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FFFFFF"/>
                </a:solidFill>
                <a:effectLst/>
                <a:uFillTx/>
                <a:latin typeface="Calibri"/>
              </a:rPr>
              <a:t>Documental/NoSQL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Almacén de datos</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Caché</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Grafo</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grafo</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Series temporales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50" b="1" u="none" strike="noStrike">
                <a:solidFill>
                  <a:srgbClr val="FFFFFF"/>
                </a:solidFill>
                <a:effectLst/>
                <a:uFillTx/>
                <a:latin typeface="Calibri"/>
              </a:rPr>
              <a:t>Almacenamiento de objetos</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100" b="1" u="none" strike="noStrike">
                <a:solidFill>
                  <a:srgbClr val="00FF41"/>
                </a:solidFill>
                <a:effectLst/>
                <a:uFillTx/>
                <a:latin typeface="Calibri"/>
              </a:rPr>
              <a:t>Modelo de responsabilidad compartida</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50" b="1" u="none" strike="noStrike">
                <a:solidFill>
                  <a:srgbClr val="00FF41"/>
                </a:solidFill>
                <a:effectLst/>
                <a:uFillTx/>
                <a:latin typeface="Calibri"/>
              </a:rPr>
              <a:t>✓  EL PROVEEDOR DE NUBE ES DUEÑO DE</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Hipervisor y hardware</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Parches del motor de BD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Seguridad física</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Red subyacente</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TÚ ERES DUEÑO DE</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Configuración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Políticas de acceso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Los datos en sí</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Decisiones de cifrado</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Casi toda filtración de BD en la nube = configuración errónea del cliente.</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400" b="1" u="none" strike="noStrike">
                <a:solidFill>
                  <a:srgbClr val="00FF41"/>
                </a:solidFill>
                <a:effectLst/>
                <a:uFillTx/>
                <a:latin typeface="Calibri"/>
              </a:rPr>
              <a:t>Puertos comunes de BD — Memorízalos a fuego</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Cualquiera de estos expuesto a internet = un hallazgo. Siempre*</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150" b="1" u="none" strike="noStrike">
                <a:solidFill>
                  <a:srgbClr val="00FF41"/>
                </a:solidFill>
                <a:effectLst/>
                <a:uFillTx/>
                <a:latin typeface="Calibri"/>
              </a:rPr>
              <a:t>Tus notas ahora son una base de datos</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Los archivos markdown ahora son</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la base de datos de la que lee un LLM.</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950" b="0" u="none" strike="noStrike">
                <a:solidFill>
                  <a:srgbClr val="00D4FF"/>
                </a:solidFill>
                <a:effectLst/>
                <a:uFillTx/>
                <a:latin typeface="Calibri"/>
              </a:rPr>
              <a:t>Bóvedas de Obsidian  •  Exportaciones de wiki  •  Notas de reuniones  •  Documentos de GitHub</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Embebido → BD vectorial → contexto del LLM → respuesta al usuario</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000" b="1" u="none" strike="noStrike">
                <a:solidFill>
                  <a:srgbClr val="00FF41"/>
                </a:solidFill>
                <a:effectLst/>
                <a:uFillTx/>
                <a:latin typeface="Calibri"/>
              </a:rPr>
              <a:t>Pipeline de RAG — ¿Dónde está el límite de confianza?</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archivos .md</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Embebedor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BD vectorial</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Prompt del LLM</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Respuesta</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50" b="1" u="none" strike="noStrike">
                <a:solidFill>
                  <a:srgbClr val="FF6B35"/>
                </a:solidFill>
                <a:effectLst/>
                <a:uFillTx/>
                <a:latin typeface="Calibri"/>
              </a:rPr>
              <a:t>⚠ LÍMITE DE CONFIANZA</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Si cualquiera puede editar esos archivos .md, cualquiera puede plantar</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contenido que la IA citará como autoritativo.</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La conclusión</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1" u="none" strike="noStrike">
                <a:solidFill>
                  <a:srgbClr val="00FF41"/>
                </a:solidFill>
                <a:effectLst/>
                <a:uFillTx/>
                <a:latin typeface="Calibri"/>
              </a:rPr>
              <a:t>Trata el markdown como una base de datos.</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Porque para el LLM, lo es.</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Control de acceso en la carpeta de documentos.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Revisión de código en los cambios .md.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Seguimiento de diferencias en la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SEGURIDAD</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Qué está siendo atacado realmente en 2026*</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Escuela:  "Hola, le habla la escuela de su hijo. Estamos teniendo</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algunos problemas con la computadora."</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Mamá:    "Ay, no — ¿rompió algo?"</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Escuela:  "¿De verdad llamó a su hijo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El mecanismo: concatenación de cadenas en las consultas.</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La superficie de ataque se ha</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750" b="1" u="none" strike="noStrike">
                <a:solidFill>
                  <a:srgbClr val="FF6B35"/>
                </a:solidFill>
                <a:effectLst/>
                <a:uFillTx/>
                <a:latin typeface="Calibri"/>
              </a:rPr>
              <a:t>EXPANDIDO, no reducido.</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500" b="0" u="none" strike="noStrike">
                <a:solidFill>
                  <a:srgbClr val="00D4FF"/>
                </a:solidFill>
                <a:effectLst/>
                <a:uFillTx/>
                <a:latin typeface="Calibri"/>
              </a:rPr>
              <a:t>La inyección SQL se solucionó. Once nuevas categorías tomaron su lugar.</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Inyección NoSQL</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Consultas JSON de MongoDB + entrada de usuario sin procesar = SQLi renacido.</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Evasión de inicio de sesión: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te permite inyectar JavaScript directamente en la BD.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N1QL de Couchbase tiene sabor SQL — aplican los patrones clásicos de SQLi.</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Principio: CUALQUIER intérprete puede ser inyectado, no solo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'Consultas dinámicas... usadas directamente en el intérprete.'</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300" b="1" u="none" strike="noStrike">
                <a:solidFill>
                  <a:srgbClr val="FF6B35"/>
                </a:solidFill>
                <a:effectLst/>
                <a:uFillTx/>
                <a:latin typeface="Calibri"/>
              </a:rPr>
              <a:t>Bases de datos expuestas y mal configuradas</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y Censys están llenos de bases de datos que no deberían estar ahí.</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enlazado a 0.0.0.0 sin autenticación.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Clústeres de Elasticsearch totalmente abiertos. Redis sin contraseña.</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pg_hba.conf de Postgres configurado como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Ataques Meow (2020): bots borraron miles de BD abiertas por diversión.</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Tarea pendiente: averigua qué tiene tu organización enlazado a interfaces públicas. Hoy.</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050" b="1" u="none" strike="noStrike">
                <a:solidFill>
                  <a:srgbClr val="FF6B35"/>
                </a:solidFill>
                <a:effectLst/>
                <a:uFillTx/>
                <a:latin typeface="Calibri"/>
              </a:rPr>
              <a:t>Configuraciones erróneas en la nube</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En la nube, el fallo rara vez es el motor. Es la política a su alrededor.</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Buckets S3 públicos llenos de volcados de BD (Accenture, Verizon, etc.).</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 engañó a un WAF para filtrar sus credenciales IAM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con s3:* sobre * porque 'funcionó la primera vez'.</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Grupos de seguridad: 0.0.0.0/0 en el puerto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Admin de AWS: 'Deshazte de la cuenta Root, usa IAM donde sea necesario.'</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Escalada de privilegios: BD → SO</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Las cuentas de base de datos pueden convertirse en acceso shell. Tres jugadas clásicas.</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ejecuta comandos shell como el proceso de la BD.</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canaliza la salida a una shell.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carga un archivo UDF .so → sys_exec en el SO.</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Patrón: cada función privilegiada de la BD es parte de la superficie de ataque.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750" b="1" u="none" strike="noStrike">
                <a:solidFill>
                  <a:srgbClr val="FF6B35"/>
                </a:solidFill>
                <a:effectLst/>
                <a:uFillTx/>
                <a:latin typeface="Calibri"/>
              </a:rPr>
              <a:t>Brechas de seguridad en lagos de datos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Todo termina en S3 — incluyendo cosas que no querías poner ahí.</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 IAM permisivo se filtra de los roles de cómputo a las personas.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Sin obligación de cifrado en reposo en las claves de los buckets.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Sin validación del lado de escritura — cualquiera puede soltar datos envenenados.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Primera pregunta: ¿QUIÉN puede escribir en el lago? ¿QUIÉN puede leer?</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50" b="1" u="none" strike="noStrike">
                <a:solidFill>
                  <a:srgbClr val="FF6B35"/>
                </a:solidFill>
                <a:effectLst/>
                <a:uFillTx/>
                <a:latin typeface="Calibri"/>
              </a:rPr>
              <a:t>Al ransomware le encantan las bases de datos</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La BD es lo que el negocio necesita recuperar — máxima ventaja.</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Cifra la base de datos en producción.</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Cifra las COPIAS DE SEGURIDAD (de lo contrario el cliente simplemente restaura).</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Exfiltra una copia primero — extorsiona con divulgación aunque restauren.</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Defensa: copias de seguridad sin conexión, inmutables + restauraciones probadas.</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el parche salió 59 días antes.</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Ataques de credenciales</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Credenciales por defecto y cadenas de conexión filtradas — dos fallos viejos y persistentes.</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sin contraseña por defecto durante años.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sin autenticación en el nivel gratuito — también durante años.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Escaneo de secretos previo al commit — corrígelo esta semana.</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credenciales robadas = vector preferido del crimen organizado.</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300" b="1" u="none" strike="noStrike">
                <a:solidFill>
                  <a:srgbClr val="FF6B35"/>
                </a:solidFill>
                <a:effectLst/>
                <a:uFillTx/>
                <a:latin typeface="Calibri"/>
              </a:rPr>
              <a:t>Cadena de suministro — Las bibliotecas de BD en las que confías</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Tu controlador de BD vino de npm/PyPI/Maven. Igual que el de todos los demás.</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Paquetes npm maliciosos que se hacen pasar por ORM / controladores.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Imágenes troyanizadas de Docker Hub para bases de datos populares.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Extensiones de PostgreSQL / complementos de MySQL comprometidos.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Las extensiones se ejecutan con privilegios de la BD — usualmente muchos.</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'Las amenazas tienden a agruparse en torno a los límites de confianza.'</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750" b="1" u="none" strike="noStrike">
                <a:solidFill>
                  <a:srgbClr val="FF6B35"/>
                </a:solidFill>
                <a:effectLst/>
                <a:uFillTx/>
                <a:latin typeface="Calibri"/>
              </a:rPr>
              <a:t>Envenenamiento de datos de RAG / LLM</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XSS almacenado para la era de la IA. Escribe en la base de conocimiento → el LLM lo cita.</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Artículo de soporte envenenado: 'Para restablecer, envía tu contraseña a...'</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Documento interno envenenado: 'La política de la empresa es transferir por banco a...'</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Inyección de prompts embebida en los documentos recuperados.</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Defensa: ACL de escritura estrictas, etiquetas de procedencia, humano en el bucle.</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Principio de XSS almacenado de OWASP 2025 — sustituye 'admin' por 'LLM'.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50" b="1" u="none" strike="noStrike">
                <a:solidFill>
                  <a:srgbClr val="FF6B35"/>
                </a:solidFill>
                <a:effectLst/>
                <a:uFillTx/>
                <a:latin typeface="Calibri"/>
              </a:rPr>
              <a:t>Amenazas internas y movimiento lateral de BD a BD</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Las bases de datos no son endpoints. Son nodos en un grafo.</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Cuentas de servicio con permisos excesivos. Ingenieros con lectura en producción.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 sin registro de auditoría.</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DB_LINK de Oracle, servidores vinculados de SQL Server, FDW de Postgres.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Credenciales almacenadas → compromete A, salta a B, salta a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logs de auditoría mal protegidos = una mina de oro.</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000" b="1" u="none" strike="noStrike">
                <a:solidFill>
                  <a:srgbClr val="FF6B35"/>
                </a:solidFill>
                <a:effectLst/>
                <a:uFillTx/>
                <a:latin typeface="Calibri"/>
              </a:rPr>
              <a:t>Exposición de copias de seguridad e instantáneas</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Los mismos datos que producción, la mitad del cariño.</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Copias de seguridad de BD sin cifrar en recursos compartidos legibles por Domain Users.</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Instantáneas en la nube compartidas entre cuentas, nunca dejadas de compartir.</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Copias de seguridad externas con proveedores cuya postura nunca verificaste.</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Las copias de seguridad son el último recurso. Aplica identificar-autenticar-autorizar-auditar.</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identificar, autenticar, autorizar, auditar — el mismo modelo.</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Tu mapa mental</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000" b="1" u="none" strike="noStrike">
                <a:solidFill>
                  <a:srgbClr val="00D4FF"/>
                </a:solidFill>
                <a:effectLst/>
                <a:uFillTx/>
                <a:latin typeface="Calibri"/>
              </a:rPr>
              <a:t>✓ </a:t>
            </a:r>
            <a:r>
              <a:rPr lang="en-US" sz="2000" b="0" u="none" strike="noStrike">
                <a:solidFill>
                  <a:srgbClr val="FFFFFF"/>
                </a:solidFill>
                <a:effectLst/>
                <a:uFillTx/>
                <a:latin typeface="Calibri"/>
              </a:rPr>
              <a:t>Una base de datos = almacenamiento organizado + una forma de hacer preguntas.</a:t>
            </a:r>
            <a:endParaRPr lang="en-US" sz="2800" b="0" u="none" strike="noStrike">
              <a:solidFill>
                <a:srgbClr val="FFFFFF"/>
              </a:solidFill>
              <a:effectLst/>
              <a:uFillTx/>
              <a:latin typeface="Arial"/>
            </a:endParaRPr>
          </a:p>
          <a:p>
            <a:pPr defTabSz="457200">
              <a:lnSpc>
                <a:spcPct val="155000"/>
              </a:lnSpc>
            </a:pPr>
            <a:r>
              <a:rPr lang="en-US" sz="2000" b="1" u="none" strike="noStrike">
                <a:solidFill>
                  <a:srgbClr val="00D4FF"/>
                </a:solidFill>
                <a:effectLst/>
                <a:uFillTx/>
                <a:latin typeface="Calibri"/>
              </a:rPr>
              <a:t>✓ </a:t>
            </a:r>
            <a:r>
              <a:rPr lang="en-US" sz="2000" b="0" u="none" strike="noStrike">
                <a:solidFill>
                  <a:srgbClr val="FFFFFF"/>
                </a:solidFill>
                <a:effectLst/>
                <a:uFillTx/>
                <a:latin typeface="Calibri"/>
              </a:rPr>
              <a:t>Diez familias, cada una con su propia trampa.</a:t>
            </a:r>
            <a:endParaRPr lang="en-US" sz="2800" b="0" u="none" strike="noStrike">
              <a:solidFill>
                <a:srgbClr val="FFFFFF"/>
              </a:solidFill>
              <a:effectLst/>
              <a:uFillTx/>
              <a:latin typeface="Arial"/>
            </a:endParaRPr>
          </a:p>
          <a:p>
            <a:pPr defTabSz="457200">
              <a:lnSpc>
                <a:spcPct val="155000"/>
              </a:lnSpc>
            </a:pPr>
            <a:r>
              <a:rPr lang="en-US" sz="2000" b="1" u="none" strike="noStrike">
                <a:solidFill>
                  <a:srgbClr val="00D4FF"/>
                </a:solidFill>
                <a:effectLst/>
                <a:uFillTx/>
                <a:latin typeface="Calibri"/>
              </a:rPr>
              <a:t>✓ </a:t>
            </a:r>
            <a:r>
              <a:rPr lang="en-US" sz="2000" b="0" u="none" strike="noStrike">
                <a:solidFill>
                  <a:srgbClr val="FFFFFF"/>
                </a:solidFill>
                <a:effectLst/>
                <a:uFillTx/>
                <a:latin typeface="Calibri"/>
              </a:rPr>
              <a:t>Nube = responsabilidad compartida. Tú eres dueño de la configuración y los datos.</a:t>
            </a:r>
            <a:endParaRPr lang="en-US" sz="2800" b="0" u="none" strike="noStrike">
              <a:solidFill>
                <a:srgbClr val="FFFFFF"/>
              </a:solidFill>
              <a:effectLst/>
              <a:uFillTx/>
              <a:latin typeface="Arial"/>
            </a:endParaRPr>
          </a:p>
          <a:p>
            <a:pPr defTabSz="457200">
              <a:lnSpc>
                <a:spcPct val="155000"/>
              </a:lnSpc>
            </a:pPr>
            <a:r>
              <a:rPr lang="en-US" sz="2000" b="1" u="none" strike="noStrike">
                <a:solidFill>
                  <a:srgbClr val="00D4FF"/>
                </a:solidFill>
                <a:effectLst/>
                <a:uFillTx/>
                <a:latin typeface="Calibri"/>
              </a:rPr>
              <a:t>✓ </a:t>
            </a:r>
            <a:r>
              <a:rPr lang="en-US" sz="2000" b="0" u="none" strike="noStrike">
                <a:solidFill>
                  <a:srgbClr val="FFFFFF"/>
                </a:solidFill>
                <a:effectLst/>
                <a:uFillTx/>
                <a:latin typeface="Calibri"/>
              </a:rPr>
              <a:t>El markdown es una base de datos para los LLM. El envenenamiento de RAG es real.</a:t>
            </a:r>
            <a:endParaRPr lang="en-US" sz="2800" b="0" u="none" strike="noStrike">
              <a:solidFill>
                <a:srgbClr val="FFFFFF"/>
              </a:solidFill>
              <a:effectLst/>
              <a:uFillTx/>
              <a:latin typeface="Arial"/>
            </a:endParaRPr>
          </a:p>
          <a:p>
            <a:pPr defTabSz="457200">
              <a:lnSpc>
                <a:spcPct val="155000"/>
              </a:lnSpc>
            </a:pPr>
            <a:r>
              <a:rPr lang="en-US" sz="2000" b="1" u="none" strike="noStrike">
                <a:solidFill>
                  <a:srgbClr val="00D4FF"/>
                </a:solidFill>
                <a:effectLst/>
                <a:uFillTx/>
                <a:latin typeface="Calibri"/>
              </a:rPr>
              <a:t>✓ </a:t>
            </a:r>
            <a:r>
              <a:rPr lang="en-US" sz="2000" b="0" u="none" strike="noStrike">
                <a:solidFill>
                  <a:srgbClr val="FFFFFF"/>
                </a:solidFill>
                <a:effectLst/>
                <a:uFillTx/>
                <a:latin typeface="Calibri"/>
              </a:rPr>
              <a:t>El SQLi se solucionó. La superficie de ataque se expandió.</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Qué hacer la próxima semana</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Instala PostgreSQL localmente. Escribe un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Haz los laboratorios de inyección SQL de PortSwigger (gratis).</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Explora Shodan / Censys — solo sistemas que poseas.</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Lee un informe de filtración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Averigua qué bases de datos ejecuta realmente TU organización.</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Recursos que vale la pena guardar</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700" b="1" u="none" strike="noStrike">
                <a:solidFill>
                  <a:srgbClr val="FFFFFF"/>
                </a:solidFill>
                <a:effectLst/>
                <a:uFillTx/>
                <a:latin typeface="Calibri"/>
              </a:rPr>
              <a:t>“Las bases de datos son donde</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700" b="1" u="none" strike="noStrike">
                <a:solidFill>
                  <a:srgbClr val="00FF41"/>
                </a:solidFill>
                <a:effectLst/>
                <a:uFillTx/>
                <a:latin typeface="Calibri"/>
              </a:rPr>
              <a:t>está el dinero. Literalmente.”</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Ahora ya sabes dónde buscar.</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750" b="1" u="none" strike="noStrike">
                <a:solidFill>
                  <a:srgbClr val="CCCCD6"/>
                </a:solidFill>
                <a:effectLst/>
                <a:uFillTx/>
                <a:latin typeface="Calibri"/>
              </a:rPr>
              <a:t>~Larry Ellison (Probablemente)</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Referencias — Obras citadas</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Edición 2025</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100" b="1" u="none" strike="noStrike">
                <a:solidFill>
                  <a:srgbClr val="00FF41"/>
                </a:solidFill>
                <a:effectLst/>
                <a:uFillTx/>
                <a:latin typeface="Calibri"/>
              </a:rPr>
              <a:t>Preguntas y respuestas*</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Miradas ausentes</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Bases de datos para hackers</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