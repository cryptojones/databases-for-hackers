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7D68741-070C-4AE3-AD19-11384171AC7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1143000" y="685800"/>
            <a:ext cx="4571640" cy="3428640"/>
          </a:xfrm>
          <a:prstGeom prst="rect">
            <a:avLst/>
          </a:prstGeom>
          <a:ln w="0">
            <a:noFill/>
          </a:ln>
        </p:spPr>
      </p:sp>
      <p:sp>
        <p:nvSpPr>
          <p:cNvPr id="6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This is a 45-minute talk for new security analysts. No computer-science background required. There's a script, slides, and a recording — nothing to memorize.</a:t>
            </a:r>
            <a:endParaRPr lang="en-US" sz="2000" b="0" u="none" strike="noStrike">
              <a:solidFill>
                <a:srgbClr val="000000"/>
              </a:solidFill>
              <a:effectLst/>
              <a:uFillTx/>
              <a:latin typeface="Arial"/>
            </a:endParaRPr>
          </a:p>
        </p:txBody>
      </p:sp>
      <p:sp>
        <p:nvSpPr>
          <p:cNvPr id="67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E1352F-AE15-4FB6-9A2D-D4F624A013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1143000" y="685800"/>
            <a:ext cx="4571640" cy="3428640"/>
          </a:xfrm>
          <a:prstGeom prst="rect">
            <a:avLst/>
          </a:prstGeom>
          <a:ln w="0">
            <a:noFill/>
          </a:ln>
        </p:spPr>
      </p:sp>
      <p:sp>
        <p:nvSpPr>
          <p:cNvPr id="6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yourself. Aaron K. Clark, Ronin 48. Brief pause, let the audience settle.</a:t>
            </a:r>
            <a:endParaRPr lang="en-US" sz="2000" b="0" u="none" strike="noStrike">
              <a:solidFill>
                <a:srgbClr val="000000"/>
              </a:solidFill>
              <a:effectLst/>
              <a:uFillTx/>
              <a:latin typeface="Arial"/>
            </a:endParaRPr>
          </a:p>
        </p:txBody>
      </p:sp>
      <p:sp>
        <p:nvSpPr>
          <p:cNvPr id="67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EEF7A2-6551-4F71-83DA-1861A6CB79E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1143000" y="685800"/>
            <a:ext cx="4571640" cy="3428640"/>
          </a:xfrm>
          <a:prstGeom prst="rect">
            <a:avLst/>
          </a:prstGeom>
          <a:ln w="0">
            <a:noFill/>
          </a:ln>
        </p:spPr>
      </p:sp>
      <p:sp>
        <p:nvSpPr>
          <p:cNvPr id="6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Equifax, Capital One, MOVEit, SolarWinds, T-Mobile, LinkedIn, OPM, Marriott — every one of those breaches ended at a database. Attackers care about data, not architecture diagrams. </a:t>
            </a:r>
            <a:br>
              <a:rPr sz="2000"/>
            </a:br>
            <a:br>
              <a:rPr sz="2000"/>
            </a:br>
            <a:r>
              <a:rPr lang="en-US" sz="2000" b="0" u="none" strike="noStrike">
                <a:solidFill>
                  <a:srgbClr val="000000"/>
                </a:solidFill>
                <a:effectLst/>
                <a:uFillTx/>
                <a:latin typeface="Arial"/>
              </a:rPr>
              <a:t>* Except where it didn’t</a:t>
            </a:r>
            <a:endParaRPr lang="en-US" sz="2000" b="0" u="none" strike="noStrike">
              <a:solidFill>
                <a:srgbClr val="000000"/>
              </a:solidFill>
              <a:effectLst/>
              <a:uFillTx/>
              <a:latin typeface="Arial"/>
            </a:endParaRPr>
          </a:p>
        </p:txBody>
      </p:sp>
      <p:sp>
        <p:nvSpPr>
          <p:cNvPr id="68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63972C-0984-4E8A-A148-C8688852C7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640" cy="3428640"/>
          </a:xfrm>
          <a:prstGeom prst="rect">
            <a:avLst/>
          </a:prstGeom>
          <a:ln w="0">
            <a:noFill/>
          </a:ln>
        </p:spPr>
      </p:sp>
      <p:sp>
        <p:nvSpPr>
          <p:cNvPr id="6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Attackers don't care about your beautiful SPA or your microservices diagram. They care about the data — the crown jewels — because that's what converts into money, leverage, or headlines.</a:t>
            </a:r>
            <a:endParaRPr lang="en-US" sz="2000" b="0" u="none" strike="noStrike">
              <a:solidFill>
                <a:srgbClr val="000000"/>
              </a:solidFill>
              <a:effectLst/>
              <a:uFillTx/>
              <a:latin typeface="Arial"/>
            </a:endParaRPr>
          </a:p>
        </p:txBody>
      </p:sp>
      <p:sp>
        <p:nvSpPr>
          <p:cNvPr id="68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CA42F3E-B692-43D2-8F9A-E2F0F74411C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640" cy="3428640"/>
          </a:xfrm>
          <a:prstGeom prst="rect">
            <a:avLst/>
          </a:prstGeom>
          <a:ln w="0">
            <a:noFill/>
          </a:ln>
        </p:spPr>
      </p:sp>
      <p:sp>
        <p:nvSpPr>
          <p:cNvPr id="6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Strip the jargon: organized storage plus a query language. If you've used Ctrl-F in Excel, you've used a database. Real databases add scale, speed, concurrency, and a formal query language.</a:t>
            </a:r>
            <a:endParaRPr lang="en-US" sz="2000" b="0" u="none" strike="noStrike">
              <a:solidFill>
                <a:srgbClr val="000000"/>
              </a:solidFill>
              <a:effectLst/>
              <a:uFillTx/>
              <a:latin typeface="Arial"/>
            </a:endParaRPr>
          </a:p>
        </p:txBody>
      </p:sp>
      <p:sp>
        <p:nvSpPr>
          <p:cNvPr id="68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3085B2-6AD0-4680-B019-05D1B1CA1C7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640" cy="3428640"/>
          </a:xfrm>
          <a:prstGeom prst="rect">
            <a:avLst/>
          </a:prstGeom>
          <a:ln w="0">
            <a:noFill/>
          </a:ln>
        </p:spPr>
      </p:sp>
      <p:sp>
        <p:nvSpPr>
          <p:cNvPr id="6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Memorize these six words and you can hold a real conversation with a DBA. Table is a tab, row is a record, column is an attribute, query is a question, schema is the shape, index is the bookmark. CRUD covers every action: create, read, update, delete.</a:t>
            </a:r>
            <a:endParaRPr lang="en-US" sz="2000" b="0" u="none" strike="noStrike">
              <a:solidFill>
                <a:srgbClr val="000000"/>
              </a:solidFill>
              <a:effectLst/>
              <a:uFillTx/>
              <a:latin typeface="Arial"/>
            </a:endParaRPr>
          </a:p>
        </p:txBody>
      </p:sp>
      <p:sp>
        <p:nvSpPr>
          <p:cNvPr id="68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D71965-AC47-4220-99FB-2E0429DD71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640" cy="3428640"/>
          </a:xfrm>
          <a:prstGeom prst="rect">
            <a:avLst/>
          </a:prstGeom>
          <a:ln w="0">
            <a:noFill/>
          </a:ln>
        </p:spPr>
      </p:sp>
      <p:sp>
        <p:nvSpPr>
          <p:cNvPr id="6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weird thing you'll see in a real environment is a fossil from one of these eras. Knowing which era something comes from is a real superpower in incident response and pentesting.</a:t>
            </a:r>
            <a:endParaRPr lang="en-US" sz="2000" b="0" u="none" strike="noStrike">
              <a:solidFill>
                <a:srgbClr val="000000"/>
              </a:solidFill>
              <a:effectLst/>
              <a:uFillTx/>
              <a:latin typeface="Arial"/>
            </a:endParaRPr>
          </a:p>
        </p:txBody>
      </p:sp>
      <p:sp>
        <p:nvSpPr>
          <p:cNvPr id="69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F4F706-402B-4506-8469-0C9D97D42C1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640" cy="3428640"/>
          </a:xfrm>
          <a:prstGeom prst="rect">
            <a:avLst/>
          </a:prstGeom>
          <a:ln w="0">
            <a:noFill/>
          </a:ln>
        </p:spPr>
      </p:sp>
      <p:sp>
        <p:nvSpPr>
          <p:cNvPr id="6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Ten families you'll meet in the wild. For each: what it stores, what it's for, key products, and the security gotcha.</a:t>
            </a:r>
            <a:endParaRPr lang="en-US" sz="2000" b="0" u="none" strike="noStrike">
              <a:solidFill>
                <a:srgbClr val="000000"/>
              </a:solidFill>
              <a:effectLst/>
              <a:uFillTx/>
              <a:latin typeface="Arial"/>
            </a:endParaRPr>
          </a:p>
        </p:txBody>
      </p:sp>
      <p:sp>
        <p:nvSpPr>
          <p:cNvPr id="69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B219C9-ED69-4663-B568-C458999B68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640" cy="3428640"/>
          </a:xfrm>
          <a:prstGeom prst="rect">
            <a:avLst/>
          </a:prstGeom>
          <a:ln w="0">
            <a:noFill/>
          </a:ln>
        </p:spPr>
      </p:sp>
      <p:sp>
        <p:nvSpPr>
          <p:cNvPr id="6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 Relational / SQL. Products include PostgreSQL  •  MySQL/MariaDB  •  SQL Server  •  Oracle. Clear relationships, consistency required — finance, regulated data. Security gotcha: SQL injection when developers concatenate user input into queries.</a:t>
            </a:r>
            <a:endParaRPr lang="en-US" sz="2000" b="0" u="none" strike="noStrike">
              <a:solidFill>
                <a:srgbClr val="000000"/>
              </a:solidFill>
              <a:effectLst/>
              <a:uFillTx/>
              <a:latin typeface="Arial"/>
            </a:endParaRPr>
          </a:p>
        </p:txBody>
      </p:sp>
      <p:sp>
        <p:nvSpPr>
          <p:cNvPr id="69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47FC2-2234-49D1-B8B2-6A98C64806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640" cy="3428640"/>
          </a:xfrm>
          <a:prstGeom prst="rect">
            <a:avLst/>
          </a:prstGeom>
          <a:ln w="0">
            <a:noFill/>
          </a:ln>
        </p:spPr>
      </p:sp>
      <p:sp>
        <p:nvSpPr>
          <p:cNvPr id="7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2: Document Stores. Products include MongoDB  •  Couchbase  •  Firestore. Naturally nested data; the shape changes over time. Security gotcha: NoSQL injection via query operators ($ne, $gt, $where). Default no-auth.</a:t>
            </a:r>
            <a:endParaRPr lang="en-US" sz="2000" b="0" u="none" strike="noStrike">
              <a:solidFill>
                <a:srgbClr val="000000"/>
              </a:solidFill>
              <a:effectLst/>
              <a:uFillTx/>
              <a:latin typeface="Arial"/>
            </a:endParaRPr>
          </a:p>
        </p:txBody>
      </p:sp>
      <p:sp>
        <p:nvSpPr>
          <p:cNvPr id="70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722488-A93E-41A1-8FBC-E82B81520A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1143000" y="685800"/>
            <a:ext cx="4571640" cy="3428640"/>
          </a:xfrm>
          <a:prstGeom prst="rect">
            <a:avLst/>
          </a:prstGeom>
          <a:ln w="0">
            <a:noFill/>
          </a:ln>
        </p:spPr>
      </p:sp>
      <p:sp>
        <p:nvSpPr>
          <p:cNvPr id="7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3: Key-Value Stores. Products include Redis  •  Memcached  •  DynamoDB. Caches, session stores, rate limiters, leaderboards. Security gotcha: Default no-auth Redis + CONFIG SET → writing SSH keys to disk.</a:t>
            </a:r>
            <a:endParaRPr lang="en-US" sz="2000" b="0" u="none" strike="noStrike">
              <a:solidFill>
                <a:srgbClr val="000000"/>
              </a:solidFill>
              <a:effectLst/>
              <a:uFillTx/>
              <a:latin typeface="Arial"/>
            </a:endParaRPr>
          </a:p>
        </p:txBody>
      </p:sp>
      <p:sp>
        <p:nvSpPr>
          <p:cNvPr id="70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A296E8-F0D1-499F-9EDD-8D848FA8A7C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1143000" y="685800"/>
            <a:ext cx="4571640" cy="3428640"/>
          </a:xfrm>
          <a:prstGeom prst="rect">
            <a:avLst/>
          </a:prstGeom>
          <a:ln w="0">
            <a:noFill/>
          </a:ln>
        </p:spPr>
      </p:sp>
      <p:sp>
        <p:nvSpPr>
          <p:cNvPr id="7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4: Column-Family. Products include Apache Cassandra  •  HBase  •  ScyllaDB. Massive scale across many machines; no complex joins needed. Security gotcha: Clusters trust each other on gossip ports — mgmt network = root.</a:t>
            </a:r>
            <a:endParaRPr lang="en-US" sz="2000" b="0" u="none" strike="noStrike">
              <a:solidFill>
                <a:srgbClr val="000000"/>
              </a:solidFill>
              <a:effectLst/>
              <a:uFillTx/>
              <a:latin typeface="Arial"/>
            </a:endParaRPr>
          </a:p>
        </p:txBody>
      </p:sp>
      <p:sp>
        <p:nvSpPr>
          <p:cNvPr id="70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7A863D0-B30E-4FEC-9A1D-B82090AD8A4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1143000" y="685800"/>
            <a:ext cx="4571640" cy="3428640"/>
          </a:xfrm>
          <a:prstGeom prst="rect">
            <a:avLst/>
          </a:prstGeom>
          <a:ln w="0">
            <a:noFill/>
          </a:ln>
        </p:spPr>
      </p:sp>
      <p:sp>
        <p:nvSpPr>
          <p:cNvPr id="7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5: Graph Databases. Products include Neo4j  •  Amazon Neptune  •  ArangoDB. Social networks, fraud detection, IAM analysis (e.g. BloodHound). Security gotcha: Query languages like Cypher are injectable too. NoSQLi isn't just Mongo.</a:t>
            </a:r>
            <a:endParaRPr lang="en-US" sz="2000" b="0" u="none" strike="noStrike">
              <a:solidFill>
                <a:srgbClr val="000000"/>
              </a:solidFill>
              <a:effectLst/>
              <a:uFillTx/>
              <a:latin typeface="Arial"/>
            </a:endParaRPr>
          </a:p>
        </p:txBody>
      </p:sp>
      <p:sp>
        <p:nvSpPr>
          <p:cNvPr id="71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AECD6E-E4FB-4F3A-B4B8-D918A888D7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1143000" y="685800"/>
            <a:ext cx="4571640" cy="3428640"/>
          </a:xfrm>
          <a:prstGeom prst="rect">
            <a:avLst/>
          </a:prstGeom>
          <a:ln w="0">
            <a:noFill/>
          </a:ln>
        </p:spPr>
      </p:sp>
      <p:sp>
        <p:nvSpPr>
          <p:cNvPr id="7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6: Search Engines. Products include Elasticsearch  •  OpenSearch  •  Solr. Log search, SIEM backbones, e-commerce site search. Security gotcha: No built-in auth historically — billions of records exposed on Shodan.</a:t>
            </a:r>
            <a:endParaRPr lang="en-US" sz="2000" b="0" u="none" strike="noStrike">
              <a:solidFill>
                <a:srgbClr val="000000"/>
              </a:solidFill>
              <a:effectLst/>
              <a:uFillTx/>
              <a:latin typeface="Arial"/>
            </a:endParaRPr>
          </a:p>
        </p:txBody>
      </p:sp>
      <p:sp>
        <p:nvSpPr>
          <p:cNvPr id="71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65A6C1-FC86-46A8-B12C-80D3769A1EA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1143000" y="685800"/>
            <a:ext cx="4571640" cy="3428640"/>
          </a:xfrm>
          <a:prstGeom prst="rect">
            <a:avLst/>
          </a:prstGeom>
          <a:ln w="0">
            <a:noFill/>
          </a:ln>
        </p:spPr>
      </p:sp>
      <p:sp>
        <p:nvSpPr>
          <p:cNvPr id="7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7: Time-Series. Products include InfluxDB  •  TimescaleDB  •  Prometheus. Metrics, observability, IoT telemetry. Security gotcha: Usually inside the perimeter, often unauthenticated.</a:t>
            </a:r>
            <a:endParaRPr lang="en-US" sz="2000" b="0" u="none" strike="noStrike">
              <a:solidFill>
                <a:srgbClr val="000000"/>
              </a:solidFill>
              <a:effectLst/>
              <a:uFillTx/>
              <a:latin typeface="Arial"/>
            </a:endParaRPr>
          </a:p>
        </p:txBody>
      </p:sp>
      <p:sp>
        <p:nvSpPr>
          <p:cNvPr id="71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4500C33-800C-43BF-A9C0-CDCEEC11A3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1143000" y="685800"/>
            <a:ext cx="4571640" cy="3428640"/>
          </a:xfrm>
          <a:prstGeom prst="rect">
            <a:avLst/>
          </a:prstGeom>
          <a:ln w="0">
            <a:noFill/>
          </a:ln>
        </p:spPr>
      </p:sp>
      <p:sp>
        <p:nvSpPr>
          <p:cNvPr id="7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8: Vector Databases. Products include Pinecone  •  Milvus  •  Weaviate  •  pgvector. RAG, recommendation engines, semantic search. Security gotcha: Data poisoning — sneak in a doc, the LLM quotes it as truth.</a:t>
            </a:r>
            <a:endParaRPr lang="en-US" sz="2000" b="0" u="none" strike="noStrike">
              <a:solidFill>
                <a:srgbClr val="000000"/>
              </a:solidFill>
              <a:effectLst/>
              <a:uFillTx/>
              <a:latin typeface="Arial"/>
            </a:endParaRPr>
          </a:p>
        </p:txBody>
      </p:sp>
      <p:sp>
        <p:nvSpPr>
          <p:cNvPr id="719"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7CBBC2-49BC-4CE4-9F20-2C89647A441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640" cy="3428640"/>
          </a:xfrm>
          <a:prstGeom prst="rect">
            <a:avLst/>
          </a:prstGeom>
          <a:ln w="0">
            <a:noFill/>
          </a:ln>
        </p:spPr>
      </p:sp>
      <p:sp>
        <p:nvSpPr>
          <p:cNvPr id="7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9: Embedded / Edge. Products include SQLite  •  DuckDB  •  LevelDB. In-app storage — browsers, phones, every modern airplane. Security gotcha: DB is a file — attack is 'steal the file'. Mobile pentest world.</a:t>
            </a:r>
            <a:endParaRPr lang="en-US" sz="2000" b="0" u="none" strike="noStrike">
              <a:solidFill>
                <a:srgbClr val="000000"/>
              </a:solidFill>
              <a:effectLst/>
              <a:uFillTx/>
              <a:latin typeface="Arial"/>
            </a:endParaRPr>
          </a:p>
        </p:txBody>
      </p:sp>
      <p:sp>
        <p:nvSpPr>
          <p:cNvPr id="722"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C818390-E5FA-4DE9-8805-1540285BAD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640" cy="3428640"/>
          </a:xfrm>
          <a:prstGeom prst="rect">
            <a:avLst/>
          </a:prstGeom>
          <a:ln w="0">
            <a:noFill/>
          </a:ln>
        </p:spPr>
      </p:sp>
      <p:sp>
        <p:nvSpPr>
          <p:cNvPr id="7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10: Data Lakes / Lakehouses. Products include S3 + Athena  •  Delta Lake  •  Iceberg  •  Snowflake. Schema-on-read instead of schema-on-write. Dump now, query later. Security gotcha: Giant S3 pools + permissive IAM, no encryption-at-rest enforcement.</a:t>
            </a:r>
            <a:endParaRPr lang="en-US" sz="2000" b="0" u="none" strike="noStrike">
              <a:solidFill>
                <a:srgbClr val="000000"/>
              </a:solidFill>
              <a:effectLst/>
              <a:uFillTx/>
              <a:latin typeface="Arial"/>
            </a:endParaRPr>
          </a:p>
        </p:txBody>
      </p:sp>
      <p:sp>
        <p:nvSpPr>
          <p:cNvPr id="725"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482BD9-25C3-445B-A76A-5B58C17901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640" cy="3428640"/>
          </a:xfrm>
          <a:prstGeom prst="rect">
            <a:avLst/>
          </a:prstGeom>
          <a:ln w="0">
            <a:noFill/>
          </a:ln>
        </p:spPr>
      </p:sp>
      <p:sp>
        <p:nvSpPr>
          <p:cNvPr id="7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Know the cloud vendor names — that's how databases appear in alerts, IAM policies, and incident response. AWS RDS/Aurora, GCP Cloud SQL, Azure SQL. Document side: DynamoDB, Firestore, Cosmos DB.</a:t>
            </a:r>
            <a:endParaRPr lang="en-US" sz="2000" b="0" u="none" strike="noStrike">
              <a:solidFill>
                <a:srgbClr val="000000"/>
              </a:solidFill>
              <a:effectLst/>
              <a:uFillTx/>
              <a:latin typeface="Arial"/>
            </a:endParaRPr>
          </a:p>
        </p:txBody>
      </p:sp>
      <p:sp>
        <p:nvSpPr>
          <p:cNvPr id="728"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51E937-AB40-4E5E-BC61-E8434BCF80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640" cy="3428640"/>
          </a:xfrm>
          <a:prstGeom prst="rect">
            <a:avLst/>
          </a:prstGeom>
          <a:ln w="0">
            <a:noFill/>
          </a:ln>
        </p:spPr>
      </p:sp>
      <p:sp>
        <p:nvSpPr>
          <p:cNvPr id="7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Side-by-side table. Memorize the row labels — those are the categories. The vendor columns rotate with the market.</a:t>
            </a:r>
            <a:endParaRPr lang="en-US" sz="2000" b="0" u="none" strike="noStrike">
              <a:solidFill>
                <a:srgbClr val="000000"/>
              </a:solidFill>
              <a:effectLst/>
              <a:uFillTx/>
              <a:latin typeface="Arial"/>
            </a:endParaRPr>
          </a:p>
        </p:txBody>
      </p:sp>
      <p:sp>
        <p:nvSpPr>
          <p:cNvPr id="731"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14DDBB-53E0-469E-B433-5D45616EC05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640" cy="3428640"/>
          </a:xfrm>
          <a:prstGeom prst="rect">
            <a:avLst/>
          </a:prstGeom>
          <a:ln w="0">
            <a:noFill/>
          </a:ln>
        </p:spPr>
      </p:sp>
      <p:sp>
        <p:nvSpPr>
          <p:cNvPr id="7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vendor patches hypervisor and engine. You own config, IAM, and the data. Almost every cloud DB breach is a customer-side misconfiguration — public S3, wide security group, snapshot shared to wrong account.</a:t>
            </a:r>
            <a:endParaRPr lang="en-US" sz="2000" b="0" u="none" strike="noStrike">
              <a:solidFill>
                <a:srgbClr val="000000"/>
              </a:solidFill>
              <a:effectLst/>
              <a:uFillTx/>
              <a:latin typeface="Arial"/>
            </a:endParaRPr>
          </a:p>
        </p:txBody>
      </p:sp>
      <p:sp>
        <p:nvSpPr>
          <p:cNvPr id="734"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78ED2F-D546-4142-950D-3EC2423A67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640" cy="3428640"/>
          </a:xfrm>
          <a:prstGeom prst="rect">
            <a:avLst/>
          </a:prstGeom>
          <a:ln w="0">
            <a:noFill/>
          </a:ln>
        </p:spPr>
      </p:sp>
      <p:sp>
        <p:nvSpPr>
          <p:cNvPr id="7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SOC analysts use these every day. Pentesters scan for them every day. If you see any of these exposed to the internet in a real environment, that's a finding.</a:t>
            </a:r>
            <a:endParaRPr lang="en-US" sz="2000" b="0" u="none" strike="noStrike">
              <a:solidFill>
                <a:srgbClr val="000000"/>
              </a:solidFill>
              <a:effectLst/>
              <a:uFillTx/>
              <a:latin typeface="Arial"/>
            </a:endParaRPr>
          </a:p>
        </p:txBody>
      </p:sp>
      <p:sp>
        <p:nvSpPr>
          <p:cNvPr id="737"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5702B6-EEA3-480B-92CD-409423D7B1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640" cy="3428640"/>
          </a:xfrm>
          <a:prstGeom prst="rect">
            <a:avLst/>
          </a:prstGeom>
          <a:ln w="0">
            <a:noFill/>
          </a:ln>
        </p:spPr>
      </p:sp>
      <p:sp>
        <p:nvSpPr>
          <p:cNvPr id="7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Markdown files are a database now — literally. Folder of .md files → embedder → vector DB → LLM prompt. This pattern is called RAG.</a:t>
            </a:r>
            <a:endParaRPr lang="en-US" sz="2000" b="0" u="none" strike="noStrike">
              <a:solidFill>
                <a:srgbClr val="000000"/>
              </a:solidFill>
              <a:effectLst/>
              <a:uFillTx/>
              <a:latin typeface="Arial"/>
            </a:endParaRPr>
          </a:p>
        </p:txBody>
      </p:sp>
      <p:sp>
        <p:nvSpPr>
          <p:cNvPr id="740"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09F91F-7AF8-429D-8850-C5E25E78AF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640" cy="3428640"/>
          </a:xfrm>
          <a:prstGeom prst="rect">
            <a:avLst/>
          </a:prstGeom>
          <a:ln w="0">
            <a:noFill/>
          </a:ln>
        </p:spPr>
      </p:sp>
      <p:sp>
        <p:nvSpPr>
          <p:cNvPr id="7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Trust boundary is between whoever writes markdown and the embedder. Anyone who can edit those files can plant content the LLM will quote.</a:t>
            </a:r>
            <a:endParaRPr lang="en-US" sz="2000" b="0" u="none" strike="noStrike">
              <a:solidFill>
                <a:srgbClr val="000000"/>
              </a:solidFill>
              <a:effectLst/>
              <a:uFillTx/>
              <a:latin typeface="Arial"/>
            </a:endParaRPr>
          </a:p>
        </p:txBody>
      </p:sp>
      <p:sp>
        <p:nvSpPr>
          <p:cNvPr id="743"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BBC146-01C7-4455-8D7A-6D9B6423C13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640" cy="3428640"/>
          </a:xfrm>
          <a:prstGeom prst="rect">
            <a:avLst/>
          </a:prstGeom>
          <a:ln w="0">
            <a:noFill/>
          </a:ln>
        </p:spPr>
      </p:sp>
      <p:sp>
        <p:nvSpPr>
          <p:cNvPr id="7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your org is doing any kind of internal AI assistant, the markdown files feeding it are infrastructure. Treat them like infrastructure.</a:t>
            </a:r>
            <a:endParaRPr lang="en-US" sz="2000" b="0" u="none" strike="noStrike">
              <a:solidFill>
                <a:srgbClr val="000000"/>
              </a:solidFill>
              <a:effectLst/>
              <a:uFillTx/>
              <a:latin typeface="Arial"/>
            </a:endParaRPr>
          </a:p>
        </p:txBody>
      </p:sp>
      <p:sp>
        <p:nvSpPr>
          <p:cNvPr id="746"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99AB81-F463-4ECE-BADF-3EC60FDF43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640" cy="3428640"/>
          </a:xfrm>
          <a:prstGeom prst="rect">
            <a:avLst/>
          </a:prstGeom>
          <a:ln w="0">
            <a:noFill/>
          </a:ln>
        </p:spPr>
      </p:sp>
      <p:sp>
        <p:nvSpPr>
          <p:cNvPr id="7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divider: SECURITY — What's actually getting hit in 2026</a:t>
            </a:r>
            <a:endParaRPr lang="en-US" sz="2000" b="0" u="none" strike="noStrike">
              <a:solidFill>
                <a:srgbClr val="000000"/>
              </a:solidFill>
              <a:effectLst/>
              <a:uFillTx/>
              <a:latin typeface="Arial"/>
            </a:endParaRPr>
          </a:p>
        </p:txBody>
      </p:sp>
      <p:sp>
        <p:nvSpPr>
          <p:cNvPr id="749"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CBBF95-5D12-476F-9F77-4EC9F8DC0B4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640" cy="3428640"/>
          </a:xfrm>
          <a:prstGeom prst="rect">
            <a:avLst/>
          </a:prstGeom>
          <a:ln w="0">
            <a:noFill/>
          </a:ln>
        </p:spPr>
      </p:sp>
      <p:sp>
        <p:nvSpPr>
          <p:cNvPr id="7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famous database attack of all time. xkcd #327. Mom names her kid Robert'); DROP TABLE Students;-- and the school's database disappears because someone built a query by gluing strings. Fix is parameterized queries.</a:t>
            </a:r>
            <a:endParaRPr lang="en-US" sz="2000" b="0" u="none" strike="noStrike">
              <a:solidFill>
                <a:srgbClr val="000000"/>
              </a:solidFill>
              <a:effectLst/>
              <a:uFillTx/>
              <a:latin typeface="Arial"/>
            </a:endParaRPr>
          </a:p>
        </p:txBody>
      </p:sp>
      <p:sp>
        <p:nvSpPr>
          <p:cNvPr id="752"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F060F0-AA9B-4352-A15A-0DD56FCDB42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640" cy="3428640"/>
          </a:xfrm>
          <a:prstGeom prst="rect">
            <a:avLst/>
          </a:prstGeom>
          <a:ln w="0">
            <a:noFill/>
          </a:ln>
        </p:spPr>
      </p:sp>
      <p:sp>
        <p:nvSpPr>
          <p:cNvPr id="7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SQL injection is a success story — parameterized queries fixed it. But the attack surface didn't shrink, it expanded into new shapes.</a:t>
            </a:r>
            <a:endParaRPr lang="en-US" sz="2000" b="0" u="none" strike="noStrike">
              <a:solidFill>
                <a:srgbClr val="000000"/>
              </a:solidFill>
              <a:effectLst/>
              <a:uFillTx/>
              <a:latin typeface="Arial"/>
            </a:endParaRPr>
          </a:p>
        </p:txBody>
      </p:sp>
      <p:sp>
        <p:nvSpPr>
          <p:cNvPr id="755"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F2106A-BDF7-46A1-8E10-09CAA59042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640" cy="3428640"/>
          </a:xfrm>
          <a:prstGeom prst="rect">
            <a:avLst/>
          </a:prstGeom>
          <a:ln w="0">
            <a:noFill/>
          </a:ln>
        </p:spPr>
      </p:sp>
      <p:sp>
        <p:nvSpPr>
          <p:cNvPr id="7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NoSQL Injection. MongoDB JSON queries + raw user input = SQLi reborn.  Login bypass: { username: 'alice', password: { $ne: 'x' } }  $where lets you inject JavaScript straight into the DB.  Couchbase N1QL is SQL-flavored — classic SQLi patterns apply.  Principle: ANY interpreter can be injected, not just SQL.</a:t>
            </a:r>
            <a:endParaRPr lang="en-US" sz="2000" b="0" u="none" strike="noStrike">
              <a:solidFill>
                <a:srgbClr val="000000"/>
              </a:solidFill>
              <a:effectLst/>
              <a:uFillTx/>
              <a:latin typeface="Arial"/>
            </a:endParaRPr>
          </a:p>
        </p:txBody>
      </p:sp>
      <p:sp>
        <p:nvSpPr>
          <p:cNvPr id="758"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13CF6D-E3CC-4C91-BB61-857F039D5C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640" cy="3428640"/>
          </a:xfrm>
          <a:prstGeom prst="rect">
            <a:avLst/>
          </a:prstGeom>
          <a:ln w="0">
            <a:noFill/>
          </a:ln>
        </p:spPr>
      </p:sp>
      <p:sp>
        <p:nvSpPr>
          <p:cNvPr id="7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Exposed &amp; Misconfigured Databases. Shodan and Censys are full of databases that should not be there.  MongoDB bound to 0.0.0.0 with no auth.  Elasticsearch clusters wide open. Redis with no password.  Postgres pg_hba.conf set to 'host all all 0.0.0.0/0 trust'.  Meow attacks (2020): bots wiped thousands of open DBs for fun.</a:t>
            </a:r>
            <a:endParaRPr lang="en-US" sz="2000" b="0" u="none" strike="noStrike">
              <a:solidFill>
                <a:srgbClr val="000000"/>
              </a:solidFill>
              <a:effectLst/>
              <a:uFillTx/>
              <a:latin typeface="Arial"/>
            </a:endParaRPr>
          </a:p>
        </p:txBody>
      </p:sp>
      <p:sp>
        <p:nvSpPr>
          <p:cNvPr id="761"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14A9EA-BC2F-44A5-A1B7-D0C477DE50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640" cy="3428640"/>
          </a:xfrm>
          <a:prstGeom prst="rect">
            <a:avLst/>
          </a:prstGeom>
          <a:ln w="0">
            <a:noFill/>
          </a:ln>
        </p:spPr>
      </p:sp>
      <p:sp>
        <p:nvSpPr>
          <p:cNvPr id="7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Misconfigurations.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endParaRPr lang="en-US" sz="2000" b="0" u="none" strike="noStrike">
              <a:solidFill>
                <a:srgbClr val="000000"/>
              </a:solidFill>
              <a:effectLst/>
              <a:uFillTx/>
              <a:latin typeface="Arial"/>
            </a:endParaRPr>
          </a:p>
        </p:txBody>
      </p:sp>
      <p:sp>
        <p:nvSpPr>
          <p:cNvPr id="764"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CBB130-6887-4D3E-91E0-9561BD97F97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640" cy="3428640"/>
          </a:xfrm>
          <a:prstGeom prst="rect">
            <a:avLst/>
          </a:prstGeom>
          <a:ln w="0">
            <a:noFill/>
          </a:ln>
        </p:spPr>
      </p:sp>
      <p:sp>
        <p:nvSpPr>
          <p:cNvPr id="7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Privilege Escalation: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endParaRPr lang="en-US" sz="2000" b="0" u="none" strike="noStrike">
              <a:solidFill>
                <a:srgbClr val="000000"/>
              </a:solidFill>
              <a:effectLst/>
              <a:uFillTx/>
              <a:latin typeface="Arial"/>
            </a:endParaRPr>
          </a:p>
        </p:txBody>
      </p:sp>
      <p:sp>
        <p:nvSpPr>
          <p:cNvPr id="767"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053435-AB42-4381-A58A-2176026FB6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640" cy="3428640"/>
          </a:xfrm>
          <a:prstGeom prst="rect">
            <a:avLst/>
          </a:prstGeom>
          <a:ln w="0">
            <a:noFill/>
          </a:ln>
        </p:spPr>
      </p:sp>
      <p:sp>
        <p:nvSpPr>
          <p:cNvPr id="7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Data Lake Security Gaps.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endParaRPr lang="en-US" sz="2000" b="0" u="none" strike="noStrike">
              <a:solidFill>
                <a:srgbClr val="000000"/>
              </a:solidFill>
              <a:effectLst/>
              <a:uFillTx/>
              <a:latin typeface="Arial"/>
            </a:endParaRPr>
          </a:p>
        </p:txBody>
      </p:sp>
      <p:sp>
        <p:nvSpPr>
          <p:cNvPr id="770"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C1B3C1-4D54-435F-911C-D4ABC6AE5B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640" cy="3428640"/>
          </a:xfrm>
          <a:prstGeom prst="rect">
            <a:avLst/>
          </a:prstGeom>
          <a:ln w="0">
            <a:noFill/>
          </a:ln>
        </p:spPr>
      </p:sp>
      <p:sp>
        <p:nvSpPr>
          <p:cNvPr id="7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endParaRPr lang="en-US" sz="2000" b="0" u="none" strike="noStrike">
              <a:solidFill>
                <a:srgbClr val="000000"/>
              </a:solidFill>
              <a:effectLst/>
              <a:uFillTx/>
              <a:latin typeface="Arial"/>
            </a:endParaRPr>
          </a:p>
        </p:txBody>
      </p:sp>
      <p:sp>
        <p:nvSpPr>
          <p:cNvPr id="773"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FE2354-ED73-459D-BC3D-9F3FC30FDD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640" cy="3428640"/>
          </a:xfrm>
          <a:prstGeom prst="rect">
            <a:avLst/>
          </a:prstGeom>
          <a:ln w="0">
            <a:noFill/>
          </a:ln>
        </p:spPr>
      </p:sp>
      <p:sp>
        <p:nvSpPr>
          <p:cNvPr id="7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Credential Attacks. Default creds and leaked connection strings — two old, durable bugs.  Redis: no password by default for years.  Elastic: no auth in the free tier — also for years.  Connection strings (postgres://user:pass@host) committed to Git.  Pre-commit secret scanning — fix this week.</a:t>
            </a:r>
            <a:endParaRPr lang="en-US" sz="2000" b="0" u="none" strike="noStrike">
              <a:solidFill>
                <a:srgbClr val="000000"/>
              </a:solidFill>
              <a:effectLst/>
              <a:uFillTx/>
              <a:latin typeface="Arial"/>
            </a:endParaRPr>
          </a:p>
        </p:txBody>
      </p:sp>
      <p:sp>
        <p:nvSpPr>
          <p:cNvPr id="776"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317AD9-5830-4F78-839E-A4E2738C77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640" cy="3428640"/>
          </a:xfrm>
          <a:prstGeom prst="rect">
            <a:avLst/>
          </a:prstGeom>
          <a:ln w="0">
            <a:noFill/>
          </a:ln>
        </p:spPr>
      </p:sp>
      <p:sp>
        <p:nvSpPr>
          <p:cNvPr id="7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endParaRPr lang="en-US" sz="2000" b="0" u="none" strike="noStrike">
              <a:solidFill>
                <a:srgbClr val="000000"/>
              </a:solidFill>
              <a:effectLst/>
              <a:uFillTx/>
              <a:latin typeface="Arial"/>
            </a:endParaRPr>
          </a:p>
        </p:txBody>
      </p:sp>
      <p:sp>
        <p:nvSpPr>
          <p:cNvPr id="779"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FD9980-AF43-4E65-B484-98B1E2AD72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640" cy="3428640"/>
          </a:xfrm>
          <a:prstGeom prst="rect">
            <a:avLst/>
          </a:prstGeom>
          <a:ln w="0">
            <a:noFill/>
          </a:ln>
        </p:spPr>
      </p:sp>
      <p:sp>
        <p:nvSpPr>
          <p:cNvPr id="7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endParaRPr lang="en-US" sz="2000" b="0" u="none" strike="noStrike">
              <a:solidFill>
                <a:srgbClr val="000000"/>
              </a:solidFill>
              <a:effectLst/>
              <a:uFillTx/>
              <a:latin typeface="Arial"/>
            </a:endParaRPr>
          </a:p>
        </p:txBody>
      </p:sp>
      <p:sp>
        <p:nvSpPr>
          <p:cNvPr id="782"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13E76A-4F00-4D84-A61A-5BDDF63D751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640" cy="3428640"/>
          </a:xfrm>
          <a:prstGeom prst="rect">
            <a:avLst/>
          </a:prstGeom>
          <a:ln w="0">
            <a:noFill/>
          </a:ln>
        </p:spPr>
      </p:sp>
      <p:sp>
        <p:nvSpPr>
          <p:cNvPr id="7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Insider Threats &amp; DB-to-DB Lateral Movement. Databases aren't endpoints. They're nodes in a graph.  Over-permissioned service accounts. Engineers with prod read.  DBAs with no audit trail.  Oracle DB_LINK, SQL Server linked servers, Postgres FDW.  Stored credentials → compromise A, hop to B, hop to C.</a:t>
            </a:r>
            <a:endParaRPr lang="en-US" sz="2000" b="0" u="none" strike="noStrike">
              <a:solidFill>
                <a:srgbClr val="000000"/>
              </a:solidFill>
              <a:effectLst/>
              <a:uFillTx/>
              <a:latin typeface="Arial"/>
            </a:endParaRPr>
          </a:p>
        </p:txBody>
      </p:sp>
      <p:sp>
        <p:nvSpPr>
          <p:cNvPr id="785"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D5ACF6D-C176-4605-9956-196272BAC8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640" cy="3428640"/>
          </a:xfrm>
          <a:prstGeom prst="rect">
            <a:avLst/>
          </a:prstGeom>
          <a:ln w="0">
            <a:noFill/>
          </a:ln>
        </p:spPr>
      </p:sp>
      <p:sp>
        <p:nvSpPr>
          <p:cNvPr id="7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&amp; Snapshot Exposure. Same data as prod, half the love.  Unencrypted DB backups on shares readable by Domain Users.  Cloud snapshots shared cross-account, never un-shared.  Off-site backups to vendors whose posture you never checked.  Backups are last resort. Apply identify-authN-authZ-audit.</a:t>
            </a:r>
            <a:endParaRPr lang="en-US" sz="2000" b="0" u="none" strike="noStrike">
              <a:solidFill>
                <a:srgbClr val="000000"/>
              </a:solidFill>
              <a:effectLst/>
              <a:uFillTx/>
              <a:latin typeface="Arial"/>
            </a:endParaRPr>
          </a:p>
        </p:txBody>
      </p:sp>
      <p:sp>
        <p:nvSpPr>
          <p:cNvPr id="788"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D936D3-ADB3-4A6A-AB7C-E4D68629B4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640" cy="3428640"/>
          </a:xfrm>
          <a:prstGeom prst="rect">
            <a:avLst/>
          </a:prstGeom>
          <a:ln w="0">
            <a:noFill/>
          </a:ln>
        </p:spPr>
      </p:sp>
      <p:sp>
        <p:nvSpPr>
          <p:cNvPr id="7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Recap. Database is storage + questions. Ten families. Cloud is shared responsibility. Markdown is a database for LLMs. SQLi got fixed but the surface expanded.</a:t>
            </a:r>
            <a:endParaRPr lang="en-US" sz="2000" b="0" u="none" strike="noStrike">
              <a:solidFill>
                <a:srgbClr val="000000"/>
              </a:solidFill>
              <a:effectLst/>
              <a:uFillTx/>
              <a:latin typeface="Arial"/>
            </a:endParaRPr>
          </a:p>
        </p:txBody>
      </p:sp>
      <p:sp>
        <p:nvSpPr>
          <p:cNvPr id="791"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B4DE6A-D90B-4591-B0D1-ADF241B22F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640" cy="3428640"/>
          </a:xfrm>
          <a:prstGeom prst="rect">
            <a:avLst/>
          </a:prstGeom>
          <a:ln w="0">
            <a:noFill/>
          </a:ln>
        </p:spPr>
      </p:sp>
      <p:sp>
        <p:nvSpPr>
          <p:cNvPr id="7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concrete next-week actions. Install Postgres. PortSwigger labs. Browse Shodan legally. Read a breach report. List your org's DBs.</a:t>
            </a:r>
            <a:endParaRPr lang="en-US" sz="2000" b="0" u="none" strike="noStrike">
              <a:solidFill>
                <a:srgbClr val="000000"/>
              </a:solidFill>
              <a:effectLst/>
              <a:uFillTx/>
              <a:latin typeface="Arial"/>
            </a:endParaRPr>
          </a:p>
        </p:txBody>
      </p:sp>
      <p:sp>
        <p:nvSpPr>
          <p:cNvPr id="794"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7A93D3-EDA2-4325-92C2-C804C842FBB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640" cy="3428640"/>
          </a:xfrm>
          <a:prstGeom prst="rect">
            <a:avLst/>
          </a:prstGeom>
          <a:ln w="0">
            <a:noFill/>
          </a:ln>
        </p:spPr>
      </p:sp>
      <p:sp>
        <p:nvSpPr>
          <p:cNvPr id="7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PortSwigger for SQLi labs. SQLBolt for learning SQL. Use The Index, Luke for deep DB internals. DB-Engines for popularity rankings. OWASP Top 10 for the canonical web vuln list.</a:t>
            </a:r>
            <a:endParaRPr lang="en-US" sz="2000" b="0" u="none" strike="noStrike">
              <a:solidFill>
                <a:srgbClr val="000000"/>
              </a:solidFill>
              <a:effectLst/>
              <a:uFillTx/>
              <a:latin typeface="Arial"/>
            </a:endParaRPr>
          </a:p>
        </p:txBody>
      </p:sp>
      <p:sp>
        <p:nvSpPr>
          <p:cNvPr id="797"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0B38DE-DF95-42F1-98E6-6B22CD48F3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640" cy="3428640"/>
          </a:xfrm>
          <a:prstGeom prst="rect">
            <a:avLst/>
          </a:prstGeom>
          <a:ln w="0">
            <a:noFill/>
          </a:ln>
        </p:spPr>
      </p:sp>
      <p:sp>
        <p:nvSpPr>
          <p:cNvPr id="7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Closing. Willie Sutton said he robbed banks because that's where the money was. In 2026, the money is in databases.</a:t>
            </a:r>
            <a:endParaRPr lang="en-US" sz="2000" b="0" u="none" strike="noStrike">
              <a:solidFill>
                <a:srgbClr val="000000"/>
              </a:solidFill>
              <a:effectLst/>
              <a:uFillTx/>
              <a:latin typeface="Arial"/>
            </a:endParaRPr>
          </a:p>
        </p:txBody>
      </p:sp>
      <p:sp>
        <p:nvSpPr>
          <p:cNvPr id="800"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537C0A-B6AD-43BC-9712-4F7C5B98A24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640" cy="3428640"/>
          </a:xfrm>
          <a:prstGeom prst="rect">
            <a:avLst/>
          </a:prstGeom>
          <a:ln w="0">
            <a:noFill/>
          </a:ln>
        </p:spPr>
      </p:sp>
      <p:sp>
        <p:nvSpPr>
          <p:cNvPr id="8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All books cited throughout the talk. Worth picking any of these up — they're the durable references.</a:t>
            </a:r>
            <a:endParaRPr lang="en-US" sz="2000" b="0" u="none" strike="noStrike">
              <a:solidFill>
                <a:srgbClr val="000000"/>
              </a:solidFill>
              <a:effectLst/>
              <a:uFillTx/>
              <a:latin typeface="Arial"/>
            </a:endParaRPr>
          </a:p>
        </p:txBody>
      </p:sp>
      <p:sp>
        <p:nvSpPr>
          <p:cNvPr id="803"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F3B69F-F765-4B16-A63E-7C87CA6FB7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640" cy="3428640"/>
          </a:xfrm>
          <a:prstGeom prst="rect">
            <a:avLst/>
          </a:prstGeom>
          <a:ln w="0">
            <a:noFill/>
          </a:ln>
        </p:spPr>
      </p:sp>
      <p:sp>
        <p:nvSpPr>
          <p:cNvPr id="8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the floor for five minutes of questions.</a:t>
            </a:r>
            <a:endParaRPr lang="en-US" sz="2000" b="0" u="none" strike="noStrike">
              <a:solidFill>
                <a:srgbClr val="000000"/>
              </a:solidFill>
              <a:effectLst/>
              <a:uFillTx/>
              <a:latin typeface="Arial"/>
            </a:endParaRPr>
          </a:p>
        </p:txBody>
      </p:sp>
      <p:sp>
        <p:nvSpPr>
          <p:cNvPr id="806"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9EFEC3-B900-46E9-BB49-EC29641DEE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457F1F4-BBD6-452C-8ADB-1AA8D707A4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152F58-772C-4B56-A91A-FF0DF293E66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D5D44B-8F25-4232-A3AB-6DD794CB798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8692A-667E-4307-A8C8-4CB3F9B3B8D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37269C-A5F5-4C3C-96D3-E136C7AF3F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84BFB3-9243-47D8-80C6-1ABFDC64E4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3C5852-CA9B-46D5-8837-AFC5D07FDE1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8851FB-3E8F-4394-B220-DA477E3E93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B7C714-D336-47DC-880C-4337074E09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F94C652-D21B-4E2A-8F57-28FEC59E44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337B5A-8161-474B-983B-CB7F5964406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9.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7" name="TextBox 1" descr="Title slide: Databases for Hackers — A Ronin 48 stand-up talk." title="Title slide: Databases for Hackers — A Ronin 48 stand-up talk."/>
          <p:cNvSpPr/>
          <p:nvPr/>
        </p:nvSpPr>
        <p:spPr>
          <a:xfrm>
            <a:off x="457200" y="21031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BASES DE DATOS</a:t>
            </a:r>
            <a:endParaRPr lang="en-US" sz="8400" b="0" u="none" strike="noStrike">
              <a:solidFill>
                <a:srgbClr val="FFFFFF"/>
              </a:solidFill>
              <a:effectLst/>
              <a:uFillTx/>
              <a:latin typeface="Arial"/>
            </a:endParaRPr>
          </a:p>
        </p:txBody>
      </p:sp>
      <p:sp>
        <p:nvSpPr>
          <p:cNvPr id="68" name="TextBox 2"/>
          <p:cNvSpPr/>
          <p:nvPr/>
        </p:nvSpPr>
        <p:spPr>
          <a:xfrm>
            <a:off x="457200" y="3108960"/>
            <a:ext cx="11246760" cy="1004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6000" b="1" u="none" strike="noStrike">
                <a:solidFill>
                  <a:srgbClr val="FFFFFF"/>
                </a:solidFill>
                <a:effectLst/>
                <a:uFillTx/>
                <a:latin typeface="Calibri"/>
              </a:rPr>
              <a:t>para hackers</a:t>
            </a:r>
            <a:endParaRPr lang="en-US" sz="6000" b="0" u="none" strike="noStrike">
              <a:solidFill>
                <a:srgbClr val="FFFFFF"/>
              </a:solidFill>
              <a:effectLst/>
              <a:uFillTx/>
              <a:latin typeface="Arial"/>
            </a:endParaRPr>
          </a:p>
        </p:txBody>
      </p:sp>
      <p:sp>
        <p:nvSpPr>
          <p:cNvPr id="69" name="Rectangle 3"/>
          <p:cNvSpPr/>
          <p:nvPr/>
        </p:nvSpPr>
        <p:spPr>
          <a:xfrm>
            <a:off x="5181840" y="4297680"/>
            <a:ext cx="18284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0" name="TextBox 4"/>
          <p:cNvSpPr/>
          <p:nvPr/>
        </p:nvSpPr>
        <p:spPr>
          <a:xfrm>
            <a:off x="457200" y="4480560"/>
            <a:ext cx="1124676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00D4FF"/>
                </a:solidFill>
                <a:effectLst/>
                <a:uFillTx/>
                <a:latin typeface="Calibri"/>
              </a:rPr>
              <a:t>Charla independiente de CryptoJones</a:t>
            </a:r>
            <a:endParaRPr lang="en-US" sz="3200" b="0" u="none" strike="noStrike">
              <a:solidFill>
                <a:srgbClr val="FFFFFF"/>
              </a:solidFill>
              <a:effectLst/>
              <a:uFillTx/>
              <a:latin typeface="Arial"/>
            </a:endParaRPr>
          </a:p>
        </p:txBody>
      </p:sp>
      <p:sp>
        <p:nvSpPr>
          <p:cNvPr id="71" name="TextBox 5"/>
          <p:cNvSpPr/>
          <p:nvPr/>
        </p:nvSpPr>
        <p:spPr>
          <a:xfrm>
            <a:off x="457200" y="5120640"/>
            <a:ext cx="11246760" cy="516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CCCCD6"/>
                </a:solidFill>
                <a:effectLst/>
                <a:uFillTx/>
                <a:latin typeface="Calibri"/>
                <a:ea typeface="Arial Unicode MS"/>
              </a:rPr>
              <a:t>45 minutos</a:t>
            </a:r>
            <a:r>
              <a:rPr lang="en-US" sz="2800" b="1" u="none" strike="noStrike">
                <a:solidFill>
                  <a:srgbClr val="00FF41"/>
                </a:solidFill>
                <a:effectLst/>
                <a:uFillTx/>
                <a:latin typeface="Calibri"/>
                <a:ea typeface="Arial Unicode MS"/>
              </a:rPr>
              <a:t>*</a:t>
            </a:r>
            <a:r>
              <a:rPr lang="en-US" sz="2400" b="0" u="none" strike="noStrike">
                <a:solidFill>
                  <a:srgbClr val="CCCCD6"/>
                </a:solidFill>
                <a:effectLst/>
                <a:uFillTx/>
                <a:latin typeface="Calibri"/>
              </a:rPr>
              <a:t>  •  No se requiere título</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2" name="TextBox 1"/>
          <p:cNvSpPr/>
          <p:nvPr/>
        </p:nvSpPr>
        <p:spPr>
          <a:xfrm>
            <a:off x="-1143000" y="2057400"/>
            <a:ext cx="944532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Aaron K. Clark</a:t>
            </a:r>
            <a:endParaRPr lang="en-US" sz="5400" b="0" u="none" strike="noStrike">
              <a:solidFill>
                <a:srgbClr val="FFFFFF"/>
              </a:solidFill>
              <a:effectLst/>
              <a:uFillTx/>
              <a:latin typeface="Arial"/>
            </a:endParaRPr>
          </a:p>
        </p:txBody>
      </p:sp>
      <p:sp>
        <p:nvSpPr>
          <p:cNvPr id="73" name="TextBox 2"/>
          <p:cNvSpPr/>
          <p:nvPr/>
        </p:nvSpPr>
        <p:spPr>
          <a:xfrm>
            <a:off x="-758520" y="3018600"/>
            <a:ext cx="944532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Estudiante de posgrado, Eastern University*</a:t>
            </a:r>
            <a:endParaRPr lang="en-US" sz="3600" b="0" u="none" strike="noStrike">
              <a:solidFill>
                <a:srgbClr val="FFFFFF"/>
              </a:solidFill>
              <a:effectLst/>
              <a:uFillTx/>
              <a:latin typeface="Arial"/>
            </a:endParaRPr>
          </a:p>
        </p:txBody>
      </p:sp>
      <p:pic>
        <p:nvPicPr>
          <p:cNvPr id="74" name=""/>
          <p:cNvPicPr/>
          <p:nvPr/>
        </p:nvPicPr>
        <p:blipFill>
          <a:blip r:embed="rId1"/>
          <a:stretch/>
        </p:blipFill>
        <p:spPr>
          <a:xfrm>
            <a:off x="228600" y="6172200"/>
            <a:ext cx="457200" cy="457200"/>
          </a:xfrm>
          <a:prstGeom prst="rect">
            <a:avLst/>
          </a:prstGeom>
          <a:noFill/>
          <a:ln w="0">
            <a:noFill/>
          </a:ln>
        </p:spPr>
      </p:pic>
      <p:pic>
        <p:nvPicPr>
          <p:cNvPr id="75" name=""/>
          <p:cNvPicPr/>
          <p:nvPr/>
        </p:nvPicPr>
        <p:blipFill>
          <a:blip r:embed="rId2"/>
          <a:stretch/>
        </p:blipFill>
        <p:spPr>
          <a:xfrm>
            <a:off x="228600" y="228600"/>
            <a:ext cx="1371600" cy="1371600"/>
          </a:xfrm>
          <a:prstGeom prst="rect">
            <a:avLst/>
          </a:prstGeom>
          <a:noFill/>
          <a:ln w="0">
            <a:noFill/>
          </a:ln>
        </p:spPr>
      </p:pic>
      <p:pic>
        <p:nvPicPr>
          <p:cNvPr id="76" name=""/>
          <p:cNvPicPr/>
          <p:nvPr/>
        </p:nvPicPr>
        <p:blipFill>
          <a:blip r:embed="rId3"/>
          <a:stretch/>
        </p:blipFill>
        <p:spPr>
          <a:xfrm>
            <a:off x="9372600" y="228600"/>
            <a:ext cx="2514600" cy="914400"/>
          </a:xfrm>
          <a:prstGeom prst="rect">
            <a:avLst/>
          </a:prstGeom>
          <a:noFill/>
          <a:ln w="0">
            <a:noFill/>
          </a:ln>
        </p:spPr>
      </p:pic>
      <p:sp>
        <p:nvSpPr>
          <p:cNvPr id="77" name=""/>
          <p:cNvSpPr txBox="1"/>
          <p:nvPr/>
        </p:nvSpPr>
        <p:spPr>
          <a:xfrm>
            <a:off x="768240" y="6208200"/>
            <a:ext cx="3346560" cy="41112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github.com/CryptoJones</a:t>
            </a:r>
            <a:endParaRPr lang="en-US" sz="2400" b="0" u="none" strike="noStrike">
              <a:solidFill>
                <a:srgbClr val="FFFFFF"/>
              </a:solidFill>
              <a:effectLst/>
              <a:uFillTx/>
              <a:latin typeface="Arial"/>
            </a:endParaRPr>
          </a:p>
        </p:txBody>
      </p:sp>
      <p:pic>
        <p:nvPicPr>
          <p:cNvPr id="78" name=""/>
          <p:cNvPicPr/>
          <p:nvPr/>
        </p:nvPicPr>
        <p:blipFill>
          <a:blip r:embed="rId4"/>
          <a:stretch/>
        </p:blipFill>
        <p:spPr>
          <a:xfrm>
            <a:off x="7086600" y="6172200"/>
            <a:ext cx="399960" cy="457200"/>
          </a:xfrm>
          <a:prstGeom prst="rect">
            <a:avLst/>
          </a:prstGeom>
          <a:noFill/>
          <a:ln w="0">
            <a:noFill/>
          </a:ln>
        </p:spPr>
      </p:pic>
      <p:sp>
        <p:nvSpPr>
          <p:cNvPr id="79" name=""/>
          <p:cNvSpPr txBox="1"/>
          <p:nvPr/>
        </p:nvSpPr>
        <p:spPr>
          <a:xfrm>
            <a:off x="7590240" y="6208200"/>
            <a:ext cx="4224960" cy="39528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CryptoJones@infosec.exchange</a:t>
            </a:r>
            <a:endParaRPr lang="en-US" sz="2400" b="0" u="none" strike="noStrike">
              <a:solidFill>
                <a:srgbClr val="FFFFFF"/>
              </a:solidFill>
              <a:effectLst/>
              <a:uFillTx/>
              <a:latin typeface="Arial"/>
            </a:endParaRPr>
          </a:p>
        </p:txBody>
      </p:sp>
      <p:sp>
        <p:nvSpPr>
          <p:cNvPr id="80" name="TextBox 45"/>
          <p:cNvSpPr/>
          <p:nvPr/>
        </p:nvSpPr>
        <p:spPr>
          <a:xfrm>
            <a:off x="-457200" y="3704400"/>
            <a:ext cx="845820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1" u="none" strike="noStrike">
                <a:solidFill>
                  <a:srgbClr val="00FF41"/>
                </a:solidFill>
                <a:effectLst/>
                <a:uFillTx/>
                <a:latin typeface="Calibri"/>
              </a:rPr>
              <a:t>cryptojones@owasp.org</a:t>
            </a:r>
            <a:endParaRPr lang="en-US" sz="3600" b="0" u="none" strike="noStrike">
              <a:solidFill>
                <a:srgbClr val="FFFFFF"/>
              </a:solidFill>
              <a:effectLst/>
              <a:uFillTx/>
              <a:latin typeface="Arial"/>
            </a:endParaRPr>
          </a:p>
        </p:txBody>
      </p:sp>
      <p:pic>
        <p:nvPicPr>
          <p:cNvPr id="81" name=""/>
          <p:cNvPicPr/>
          <p:nvPr/>
        </p:nvPicPr>
        <p:blipFill>
          <a:blip r:embed="rId5"/>
          <a:stretch/>
        </p:blipFill>
        <p:spPr>
          <a:xfrm>
            <a:off x="8458200" y="2057400"/>
            <a:ext cx="3200400" cy="2971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2" name="TextBox 1" descr="Headline slide: Every breach you have ever read about ends at a database." title="Headline slide: Every breach you have ever read about ends at a database."/>
          <p:cNvSpPr/>
          <p:nvPr/>
        </p:nvSpPr>
        <p:spPr>
          <a:xfrm>
            <a:off x="457200" y="182880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Toda filtración de la que alguna vez</a:t>
            </a:r>
            <a:endParaRPr lang="en-US" sz="5600" b="0" u="none" strike="noStrike">
              <a:solidFill>
                <a:srgbClr val="FFFFFF"/>
              </a:solidFill>
              <a:effectLst/>
              <a:uFillTx/>
              <a:latin typeface="Arial"/>
            </a:endParaRPr>
          </a:p>
        </p:txBody>
      </p:sp>
      <p:sp>
        <p:nvSpPr>
          <p:cNvPr id="83" name="TextBox 2"/>
          <p:cNvSpPr/>
          <p:nvPr/>
        </p:nvSpPr>
        <p:spPr>
          <a:xfrm>
            <a:off x="457200" y="283464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hayas leído termina en una</a:t>
            </a:r>
            <a:endParaRPr lang="en-US" sz="5600" b="0" u="none" strike="noStrike">
              <a:solidFill>
                <a:srgbClr val="FFFFFF"/>
              </a:solidFill>
              <a:effectLst/>
              <a:uFillTx/>
              <a:latin typeface="Arial"/>
            </a:endParaRPr>
          </a:p>
        </p:txBody>
      </p:sp>
      <p:sp>
        <p:nvSpPr>
          <p:cNvPr id="84" name="TextBox 3"/>
          <p:cNvSpPr/>
          <p:nvPr/>
        </p:nvSpPr>
        <p:spPr>
          <a:xfrm>
            <a:off x="457200" y="3840480"/>
            <a:ext cx="11246760" cy="1370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BASE DE DATOS*</a:t>
            </a:r>
            <a:endParaRPr lang="en-US" sz="8400" b="0" u="none" strike="noStrike">
              <a:solidFill>
                <a:srgbClr val="FFFFFF"/>
              </a:solidFill>
              <a:effectLst/>
              <a:uFillTx/>
              <a:latin typeface="Arial"/>
            </a:endParaRPr>
          </a:p>
        </p:txBody>
      </p:sp>
      <p:sp>
        <p:nvSpPr>
          <p:cNvPr id="85"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86"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7" name="TextBox 1" descr="A stylized vault icon next to four bullets explaining that attackers target the data, not the surrounding application or infrastructure." title="A stylized vault icon next to four bullets explaining that attackers target the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Las joyas de la corona</a:t>
            </a:r>
            <a:endParaRPr lang="en-US" sz="4200" b="0" u="none" strike="noStrike">
              <a:solidFill>
                <a:srgbClr val="FFFFFF"/>
              </a:solidFill>
              <a:effectLst/>
              <a:uFillTx/>
              <a:latin typeface="Arial"/>
            </a:endParaRPr>
          </a:p>
        </p:txBody>
      </p:sp>
      <p:sp>
        <p:nvSpPr>
          <p:cNvPr id="8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9" name="Rounded Rectangle 3"/>
          <p:cNvSpPr/>
          <p:nvPr/>
        </p:nvSpPr>
        <p:spPr>
          <a:xfrm>
            <a:off x="1371600" y="1828800"/>
            <a:ext cx="4114440" cy="3840120"/>
          </a:xfrm>
          <a:prstGeom prst="roundRect">
            <a:avLst>
              <a:gd name="adj" fmla="val 16667"/>
            </a:avLst>
          </a:prstGeom>
          <a:solidFill>
            <a:srgbClr val="2A2A44"/>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Oval 4"/>
          <p:cNvSpPr/>
          <p:nvPr/>
        </p:nvSpPr>
        <p:spPr>
          <a:xfrm>
            <a:off x="2971800" y="3291840"/>
            <a:ext cx="914040" cy="914040"/>
          </a:xfrm>
          <a:prstGeom prst="ellipse">
            <a:avLst/>
          </a:prstGeom>
          <a:solidFill>
            <a:srgbClr val="00FF4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5"/>
          <p:cNvSpPr/>
          <p:nvPr/>
        </p:nvSpPr>
        <p:spPr>
          <a:xfrm>
            <a:off x="1371600" y="5577840"/>
            <a:ext cx="41144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1" u="none" strike="noStrike">
                <a:solidFill>
                  <a:srgbClr val="00FF41"/>
                </a:solidFill>
                <a:effectLst/>
                <a:uFillTx/>
                <a:latin typeface="Calibri"/>
              </a:rPr>
              <a:t>BÓVEDA DE DATOS</a:t>
            </a:r>
            <a:endParaRPr lang="en-US" sz="2400" b="0" u="none" strike="noStrike">
              <a:solidFill>
                <a:srgbClr val="FFFFFF"/>
              </a:solidFill>
              <a:effectLst/>
              <a:uFillTx/>
              <a:latin typeface="Arial"/>
            </a:endParaRPr>
          </a:p>
        </p:txBody>
      </p:sp>
      <p:sp>
        <p:nvSpPr>
          <p:cNvPr id="92" name="TextBox 6"/>
          <p:cNvSpPr/>
          <p:nvPr/>
        </p:nvSpPr>
        <p:spPr>
          <a:xfrm>
            <a:off x="5943600" y="2011680"/>
            <a:ext cx="5943240" cy="384012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No tu aplicación de una sola página.</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No tu firewall.</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No tus microservicios.</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LOS DATOS. Siempre los datos.</a:t>
            </a:r>
            <a:endParaRPr lang="en-US" sz="3000" b="0" u="none" strike="noStrike">
              <a:solidFill>
                <a:srgbClr val="FFFFFF"/>
              </a:solidFill>
              <a:effectLst/>
              <a:uFillTx/>
              <a:latin typeface="Arial"/>
            </a:endParaRPr>
          </a:p>
        </p:txBody>
      </p:sp>
      <p:sp>
        <p:nvSpPr>
          <p:cNvPr id="9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9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5" name="TextBox 1" descr="Definition slide: A database is organized storage plus a way to ask questions, illustrated with filing-cabinet and Excel analogies." title="Definition slide: A database is organized storage plus a way to ask questions, i"/>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¿Qué es una base de datos?</a:t>
            </a:r>
            <a:endParaRPr lang="en-US" sz="4200" b="0" u="none" strike="noStrike">
              <a:solidFill>
                <a:srgbClr val="FFFFFF"/>
              </a:solidFill>
              <a:effectLst/>
              <a:uFillTx/>
              <a:latin typeface="Arial"/>
            </a:endParaRPr>
          </a:p>
        </p:txBody>
      </p:sp>
      <p:sp>
        <p:nvSpPr>
          <p:cNvPr id="9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7"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000" b="1" u="none" strike="noStrike">
                <a:solidFill>
                  <a:srgbClr val="FFFFFF"/>
                </a:solidFill>
                <a:effectLst/>
                <a:uFillTx/>
                <a:latin typeface="Calibri"/>
              </a:rPr>
              <a:t>Almacenamiento organizado  +  una forma de hacer preguntas.</a:t>
            </a:r>
            <a:endParaRPr lang="en-US" sz="4000" b="0" u="none" strike="noStrike">
              <a:solidFill>
                <a:srgbClr val="FFFFFF"/>
              </a:solidFill>
              <a:effectLst/>
              <a:uFillTx/>
              <a:latin typeface="Arial"/>
            </a:endParaRPr>
          </a:p>
        </p:txBody>
      </p:sp>
      <p:sp>
        <p:nvSpPr>
          <p:cNvPr id="98" name="TextBox 4"/>
          <p:cNvSpPr/>
          <p:nvPr/>
        </p:nvSpPr>
        <p:spPr>
          <a:xfrm>
            <a:off x="457200" y="2926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Eso es todo. Todo lo demás es detalle.</a:t>
            </a:r>
            <a:endParaRPr lang="en-US" sz="2600" b="0" u="none" strike="noStrike">
              <a:solidFill>
                <a:srgbClr val="FFFFFF"/>
              </a:solidFill>
              <a:effectLst/>
              <a:uFillTx/>
              <a:latin typeface="Arial"/>
            </a:endParaRPr>
          </a:p>
        </p:txBody>
      </p:sp>
      <p:sp>
        <p:nvSpPr>
          <p:cNvPr id="99" name="TextBox 5"/>
          <p:cNvSpPr/>
          <p:nvPr/>
        </p:nvSpPr>
        <p:spPr>
          <a:xfrm>
            <a:off x="914400" y="3931920"/>
            <a:ext cx="10332360" cy="22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Archivador  =  almacenamiento  +  tus ojos como consulta.</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Excel + Ctrl-F  =  almacenamiento  +  buscar y reemplazar como consulta.</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Una BD real agrega:  escala, velocidad, concurrencia, un lenguaje formal.</a:t>
            </a:r>
            <a:endParaRPr lang="en-US" sz="2600" b="0" u="none" strike="noStrike">
              <a:solidFill>
                <a:srgbClr val="FFFFFF"/>
              </a:solidFill>
              <a:effectLst/>
              <a:uFillTx/>
              <a:latin typeface="Arial"/>
            </a:endParaRPr>
          </a:p>
        </p:txBody>
      </p:sp>
      <p:sp>
        <p:nvSpPr>
          <p:cNvPr id="100"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101"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2" name="TextBox 1" descr="Vocabulary slide listing six core database terms: table, row, column, query, schema, index — plus the CRUD verbs." title="Vocabulary slide listing six core database terms: table, row, column, query, sc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Las seis palabras que necesitas</a:t>
            </a:r>
            <a:endParaRPr lang="en-US" sz="4200" b="0" u="none" strike="noStrike">
              <a:solidFill>
                <a:srgbClr val="FFFFFF"/>
              </a:solidFill>
              <a:effectLst/>
              <a:uFillTx/>
              <a:latin typeface="Arial"/>
            </a:endParaRPr>
          </a:p>
        </p:txBody>
      </p:sp>
      <p:sp>
        <p:nvSpPr>
          <p:cNvPr id="103"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4" name="TextBox 3"/>
          <p:cNvSpPr/>
          <p:nvPr/>
        </p:nvSpPr>
        <p:spPr>
          <a:xfrm>
            <a:off x="731520" y="1691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TABLA</a:t>
            </a:r>
            <a:endParaRPr lang="en-US" sz="3200" b="0" u="none" strike="noStrike">
              <a:solidFill>
                <a:srgbClr val="FFFFFF"/>
              </a:solidFill>
              <a:effectLst/>
              <a:uFillTx/>
              <a:latin typeface="Arial"/>
            </a:endParaRPr>
          </a:p>
        </p:txBody>
      </p:sp>
      <p:sp>
        <p:nvSpPr>
          <p:cNvPr id="105" name="TextBox 4"/>
          <p:cNvSpPr/>
          <p:nvPr/>
        </p:nvSpPr>
        <p:spPr>
          <a:xfrm>
            <a:off x="3931920" y="1691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6" name="TextBox 5"/>
          <p:cNvSpPr/>
          <p:nvPr/>
        </p:nvSpPr>
        <p:spPr>
          <a:xfrm>
            <a:off x="4480560" y="1691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una pestaña de hoja de cálculo</a:t>
            </a:r>
            <a:endParaRPr lang="en-US" sz="2800" b="0" u="none" strike="noStrike">
              <a:solidFill>
                <a:srgbClr val="FFFFFF"/>
              </a:solidFill>
              <a:effectLst/>
              <a:uFillTx/>
              <a:latin typeface="Arial"/>
            </a:endParaRPr>
          </a:p>
        </p:txBody>
      </p:sp>
      <p:sp>
        <p:nvSpPr>
          <p:cNvPr id="107" name="TextBox 6"/>
          <p:cNvSpPr/>
          <p:nvPr/>
        </p:nvSpPr>
        <p:spPr>
          <a:xfrm>
            <a:off x="731520" y="2404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FILA</a:t>
            </a:r>
            <a:endParaRPr lang="en-US" sz="3200" b="0" u="none" strike="noStrike">
              <a:solidFill>
                <a:srgbClr val="FFFFFF"/>
              </a:solidFill>
              <a:effectLst/>
              <a:uFillTx/>
              <a:latin typeface="Arial"/>
            </a:endParaRPr>
          </a:p>
        </p:txBody>
      </p:sp>
      <p:sp>
        <p:nvSpPr>
          <p:cNvPr id="108" name="TextBox 7"/>
          <p:cNvSpPr/>
          <p:nvPr/>
        </p:nvSpPr>
        <p:spPr>
          <a:xfrm>
            <a:off x="3931920" y="2404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9" name="TextBox 8"/>
          <p:cNvSpPr/>
          <p:nvPr/>
        </p:nvSpPr>
        <p:spPr>
          <a:xfrm>
            <a:off x="4480560" y="2404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un registro (un cliente, una alerta)</a:t>
            </a:r>
            <a:endParaRPr lang="en-US" sz="2800" b="0" u="none" strike="noStrike">
              <a:solidFill>
                <a:srgbClr val="FFFFFF"/>
              </a:solidFill>
              <a:effectLst/>
              <a:uFillTx/>
              <a:latin typeface="Arial"/>
            </a:endParaRPr>
          </a:p>
        </p:txBody>
      </p:sp>
      <p:sp>
        <p:nvSpPr>
          <p:cNvPr id="110" name="TextBox 9"/>
          <p:cNvSpPr/>
          <p:nvPr/>
        </p:nvSpPr>
        <p:spPr>
          <a:xfrm>
            <a:off x="731520" y="311796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COLUMNA</a:t>
            </a:r>
            <a:endParaRPr lang="en-US" sz="3200" b="0" u="none" strike="noStrike">
              <a:solidFill>
                <a:srgbClr val="FFFFFF"/>
              </a:solidFill>
              <a:effectLst/>
              <a:uFillTx/>
              <a:latin typeface="Arial"/>
            </a:endParaRPr>
          </a:p>
        </p:txBody>
      </p:sp>
      <p:sp>
        <p:nvSpPr>
          <p:cNvPr id="111" name="TextBox 10"/>
          <p:cNvSpPr/>
          <p:nvPr/>
        </p:nvSpPr>
        <p:spPr>
          <a:xfrm>
            <a:off x="3931920" y="311796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2" name="TextBox 11"/>
          <p:cNvSpPr/>
          <p:nvPr/>
        </p:nvSpPr>
        <p:spPr>
          <a:xfrm>
            <a:off x="4480560" y="311796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un atributo (correo, IP, total)</a:t>
            </a:r>
            <a:endParaRPr lang="en-US" sz="2800" b="0" u="none" strike="noStrike">
              <a:solidFill>
                <a:srgbClr val="FFFFFF"/>
              </a:solidFill>
              <a:effectLst/>
              <a:uFillTx/>
              <a:latin typeface="Arial"/>
            </a:endParaRPr>
          </a:p>
        </p:txBody>
      </p:sp>
      <p:sp>
        <p:nvSpPr>
          <p:cNvPr id="113" name="TextBox 12"/>
          <p:cNvSpPr/>
          <p:nvPr/>
        </p:nvSpPr>
        <p:spPr>
          <a:xfrm>
            <a:off x="731520" y="383148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CONSULTA</a:t>
            </a:r>
            <a:endParaRPr lang="en-US" sz="3200" b="0" u="none" strike="noStrike">
              <a:solidFill>
                <a:srgbClr val="FFFFFF"/>
              </a:solidFill>
              <a:effectLst/>
              <a:uFillTx/>
              <a:latin typeface="Arial"/>
            </a:endParaRPr>
          </a:p>
        </p:txBody>
      </p:sp>
      <p:sp>
        <p:nvSpPr>
          <p:cNvPr id="114" name="TextBox 13"/>
          <p:cNvSpPr/>
          <p:nvPr/>
        </p:nvSpPr>
        <p:spPr>
          <a:xfrm>
            <a:off x="3931920" y="383148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5" name="TextBox 14"/>
          <p:cNvSpPr/>
          <p:nvPr/>
        </p:nvSpPr>
        <p:spPr>
          <a:xfrm>
            <a:off x="4480560" y="383148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la pregunta que estás haciendo</a:t>
            </a:r>
            <a:endParaRPr lang="en-US" sz="2800" b="0" u="none" strike="noStrike">
              <a:solidFill>
                <a:srgbClr val="FFFFFF"/>
              </a:solidFill>
              <a:effectLst/>
              <a:uFillTx/>
              <a:latin typeface="Arial"/>
            </a:endParaRPr>
          </a:p>
        </p:txBody>
      </p:sp>
      <p:sp>
        <p:nvSpPr>
          <p:cNvPr id="116" name="TextBox 15"/>
          <p:cNvSpPr/>
          <p:nvPr/>
        </p:nvSpPr>
        <p:spPr>
          <a:xfrm>
            <a:off x="731520" y="4544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ESQUEMA</a:t>
            </a:r>
            <a:endParaRPr lang="en-US" sz="3200" b="0" u="none" strike="noStrike">
              <a:solidFill>
                <a:srgbClr val="FFFFFF"/>
              </a:solidFill>
              <a:effectLst/>
              <a:uFillTx/>
              <a:latin typeface="Arial"/>
            </a:endParaRPr>
          </a:p>
        </p:txBody>
      </p:sp>
      <p:sp>
        <p:nvSpPr>
          <p:cNvPr id="117" name="TextBox 16"/>
          <p:cNvSpPr/>
          <p:nvPr/>
        </p:nvSpPr>
        <p:spPr>
          <a:xfrm>
            <a:off x="3931920" y="4544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8" name="TextBox 17"/>
          <p:cNvSpPr/>
          <p:nvPr/>
        </p:nvSpPr>
        <p:spPr>
          <a:xfrm>
            <a:off x="4480560" y="4544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la forma de los datos</a:t>
            </a:r>
            <a:endParaRPr lang="en-US" sz="2800" b="0" u="none" strike="noStrike">
              <a:solidFill>
                <a:srgbClr val="FFFFFF"/>
              </a:solidFill>
              <a:effectLst/>
              <a:uFillTx/>
              <a:latin typeface="Arial"/>
            </a:endParaRPr>
          </a:p>
        </p:txBody>
      </p:sp>
      <p:sp>
        <p:nvSpPr>
          <p:cNvPr id="119" name="TextBox 18"/>
          <p:cNvSpPr/>
          <p:nvPr/>
        </p:nvSpPr>
        <p:spPr>
          <a:xfrm>
            <a:off x="731520" y="5257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ÍNDICE</a:t>
            </a:r>
            <a:endParaRPr lang="en-US" sz="3200" b="0" u="none" strike="noStrike">
              <a:solidFill>
                <a:srgbClr val="FFFFFF"/>
              </a:solidFill>
              <a:effectLst/>
              <a:uFillTx/>
              <a:latin typeface="Arial"/>
            </a:endParaRPr>
          </a:p>
        </p:txBody>
      </p:sp>
      <p:sp>
        <p:nvSpPr>
          <p:cNvPr id="120" name="TextBox 19"/>
          <p:cNvSpPr/>
          <p:nvPr/>
        </p:nvSpPr>
        <p:spPr>
          <a:xfrm>
            <a:off x="3931920" y="5257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21" name="TextBox 20"/>
          <p:cNvSpPr/>
          <p:nvPr/>
        </p:nvSpPr>
        <p:spPr>
          <a:xfrm>
            <a:off x="4480560" y="5257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el marcador que hace que las búsquedas sean rápidas</a:t>
            </a:r>
            <a:endParaRPr lang="en-US" sz="2800" b="0" u="none" strike="noStrike">
              <a:solidFill>
                <a:srgbClr val="FFFFFF"/>
              </a:solidFill>
              <a:effectLst/>
              <a:uFillTx/>
              <a:latin typeface="Arial"/>
            </a:endParaRPr>
          </a:p>
        </p:txBody>
      </p:sp>
      <p:sp>
        <p:nvSpPr>
          <p:cNvPr id="122" name="TextBox 21"/>
          <p:cNvSpPr/>
          <p:nvPr/>
        </p:nvSpPr>
        <p:spPr>
          <a:xfrm>
            <a:off x="457200" y="59893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6B35"/>
                </a:solidFill>
                <a:effectLst/>
                <a:uFillTx/>
                <a:latin typeface="Calibri"/>
              </a:rPr>
              <a:t>+  CRUD  =  Crear  •  Leer  •  Actualizar  •  Eliminar</a:t>
            </a:r>
            <a:endParaRPr lang="en-US" sz="2600" b="0" u="none" strike="noStrike">
              <a:solidFill>
                <a:srgbClr val="FFFFFF"/>
              </a:solidFill>
              <a:effectLst/>
              <a:uFillTx/>
              <a:latin typeface="Arial"/>
            </a:endParaRPr>
          </a:p>
        </p:txBody>
      </p:sp>
      <p:sp>
        <p:nvSpPr>
          <p:cNvPr id="123" name="TextBox 2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124" name="TextBox 2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5" name="TextBox 1" descr="Timeline of database eras from 1960s flat files to 2020s vector databases, each annotated with its security implication." title="Timeline of database eras from 1960s flat files to 2020s vector databases, each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Recorrido histórico — Fósiles que verás en producción</a:t>
            </a:r>
            <a:endParaRPr lang="en-US" sz="4200" b="0" u="none" strike="noStrike">
              <a:solidFill>
                <a:srgbClr val="FFFFFF"/>
              </a:solidFill>
              <a:effectLst/>
              <a:uFillTx/>
              <a:latin typeface="Arial"/>
            </a:endParaRPr>
          </a:p>
        </p:txBody>
      </p:sp>
      <p:sp>
        <p:nvSpPr>
          <p:cNvPr id="12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7" name="TextBox 3"/>
          <p:cNvSpPr/>
          <p:nvPr/>
        </p:nvSpPr>
        <p:spPr>
          <a:xfrm>
            <a:off x="457200" y="16002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1960s</a:t>
            </a:r>
            <a:endParaRPr lang="en-US" sz="2200" b="0" u="none" strike="noStrike">
              <a:solidFill>
                <a:srgbClr val="FFFFFF"/>
              </a:solidFill>
              <a:effectLst/>
              <a:uFillTx/>
              <a:latin typeface="Arial"/>
            </a:endParaRPr>
          </a:p>
        </p:txBody>
      </p:sp>
      <p:sp>
        <p:nvSpPr>
          <p:cNvPr id="128" name="TextBox 4"/>
          <p:cNvSpPr/>
          <p:nvPr/>
        </p:nvSpPr>
        <p:spPr>
          <a:xfrm>
            <a:off x="2286000" y="16002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Archivos planos</a:t>
            </a:r>
            <a:endParaRPr lang="en-US" sz="2200" b="0" u="none" strike="noStrike">
              <a:solidFill>
                <a:srgbClr val="FFFFFF"/>
              </a:solidFill>
              <a:effectLst/>
              <a:uFillTx/>
              <a:latin typeface="Arial"/>
            </a:endParaRPr>
          </a:p>
        </p:txBody>
      </p:sp>
      <p:sp>
        <p:nvSpPr>
          <p:cNvPr id="129" name="TextBox 5"/>
          <p:cNvSpPr/>
          <p:nvPr/>
        </p:nvSpPr>
        <p:spPr>
          <a:xfrm>
            <a:off x="5943600" y="16002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0" name="TextBox 6"/>
          <p:cNvSpPr/>
          <p:nvPr/>
        </p:nvSpPr>
        <p:spPr>
          <a:xfrm>
            <a:off x="6309360" y="16002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permisos del sistema de archivos = único control de acceso</a:t>
            </a:r>
            <a:endParaRPr lang="en-US" sz="2000" b="0" u="none" strike="noStrike">
              <a:solidFill>
                <a:srgbClr val="FFFFFF"/>
              </a:solidFill>
              <a:effectLst/>
              <a:uFillTx/>
              <a:latin typeface="Arial"/>
            </a:endParaRPr>
          </a:p>
        </p:txBody>
      </p:sp>
      <p:sp>
        <p:nvSpPr>
          <p:cNvPr id="131" name="TextBox 7"/>
          <p:cNvSpPr/>
          <p:nvPr/>
        </p:nvSpPr>
        <p:spPr>
          <a:xfrm>
            <a:off x="457200" y="21121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Finales de los 1960s</a:t>
            </a:r>
            <a:endParaRPr lang="en-US" sz="2200" b="0" u="none" strike="noStrike">
              <a:solidFill>
                <a:srgbClr val="FFFFFF"/>
              </a:solidFill>
              <a:effectLst/>
              <a:uFillTx/>
              <a:latin typeface="Arial"/>
            </a:endParaRPr>
          </a:p>
        </p:txBody>
      </p:sp>
      <p:sp>
        <p:nvSpPr>
          <p:cNvPr id="132" name="TextBox 8"/>
          <p:cNvSpPr/>
          <p:nvPr/>
        </p:nvSpPr>
        <p:spPr>
          <a:xfrm>
            <a:off x="2286000" y="21121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Jerárquica (IMS)</a:t>
            </a:r>
            <a:endParaRPr lang="en-US" sz="2200" b="0" u="none" strike="noStrike">
              <a:solidFill>
                <a:srgbClr val="FFFFFF"/>
              </a:solidFill>
              <a:effectLst/>
              <a:uFillTx/>
              <a:latin typeface="Arial"/>
            </a:endParaRPr>
          </a:p>
        </p:txBody>
      </p:sp>
      <p:sp>
        <p:nvSpPr>
          <p:cNvPr id="133" name="TextBox 9"/>
          <p:cNvSpPr/>
          <p:nvPr/>
        </p:nvSpPr>
        <p:spPr>
          <a:xfrm>
            <a:off x="5943600" y="21121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4" name="TextBox 10"/>
          <p:cNvSpPr/>
          <p:nvPr/>
        </p:nvSpPr>
        <p:spPr>
          <a:xfrm>
            <a:off x="6309360" y="21121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era del mainframe, modelo de amenaza físico</a:t>
            </a:r>
            <a:endParaRPr lang="en-US" sz="2000" b="0" u="none" strike="noStrike">
              <a:solidFill>
                <a:srgbClr val="FFFFFF"/>
              </a:solidFill>
              <a:effectLst/>
              <a:uFillTx/>
              <a:latin typeface="Arial"/>
            </a:endParaRPr>
          </a:p>
        </p:txBody>
      </p:sp>
      <p:sp>
        <p:nvSpPr>
          <p:cNvPr id="135" name="TextBox 11"/>
          <p:cNvSpPr/>
          <p:nvPr/>
        </p:nvSpPr>
        <p:spPr>
          <a:xfrm>
            <a:off x="457200" y="26244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1970s</a:t>
            </a:r>
            <a:endParaRPr lang="en-US" sz="2200" b="0" u="none" strike="noStrike">
              <a:solidFill>
                <a:srgbClr val="FFFFFF"/>
              </a:solidFill>
              <a:effectLst/>
              <a:uFillTx/>
              <a:latin typeface="Arial"/>
            </a:endParaRPr>
          </a:p>
        </p:txBody>
      </p:sp>
      <p:sp>
        <p:nvSpPr>
          <p:cNvPr id="136" name="TextBox 12"/>
          <p:cNvSpPr/>
          <p:nvPr/>
        </p:nvSpPr>
        <p:spPr>
          <a:xfrm>
            <a:off x="2286000" y="26244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En red / CODASYL</a:t>
            </a:r>
            <a:endParaRPr lang="en-US" sz="2200" b="0" u="none" strike="noStrike">
              <a:solidFill>
                <a:srgbClr val="FFFFFF"/>
              </a:solidFill>
              <a:effectLst/>
              <a:uFillTx/>
              <a:latin typeface="Arial"/>
            </a:endParaRPr>
          </a:p>
        </p:txBody>
      </p:sp>
      <p:sp>
        <p:nvSpPr>
          <p:cNvPr id="137" name="TextBox 13"/>
          <p:cNvSpPr/>
          <p:nvPr/>
        </p:nvSpPr>
        <p:spPr>
          <a:xfrm>
            <a:off x="5943600" y="26244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8" name="TextBox 14"/>
          <p:cNvSpPr/>
          <p:nvPr/>
        </p:nvSpPr>
        <p:spPr>
          <a:xfrm>
            <a:off x="6309360" y="26244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todavía funcionando en la trastienda de tu banco</a:t>
            </a:r>
            <a:endParaRPr lang="en-US" sz="2000" b="0" u="none" strike="noStrike">
              <a:solidFill>
                <a:srgbClr val="FFFFFF"/>
              </a:solidFill>
              <a:effectLst/>
              <a:uFillTx/>
              <a:latin typeface="Arial"/>
            </a:endParaRPr>
          </a:p>
        </p:txBody>
      </p:sp>
      <p:sp>
        <p:nvSpPr>
          <p:cNvPr id="139" name="TextBox 15"/>
          <p:cNvSpPr/>
          <p:nvPr/>
        </p:nvSpPr>
        <p:spPr>
          <a:xfrm>
            <a:off x="457200" y="31363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a:t>
            </a:r>
            <a:endParaRPr lang="en-US" sz="2200" b="0" u="none" strike="noStrike">
              <a:solidFill>
                <a:srgbClr val="FFFFFF"/>
              </a:solidFill>
              <a:effectLst/>
              <a:uFillTx/>
              <a:latin typeface="Arial"/>
            </a:endParaRPr>
          </a:p>
        </p:txBody>
      </p:sp>
      <p:sp>
        <p:nvSpPr>
          <p:cNvPr id="140" name="TextBox 16"/>
          <p:cNvSpPr/>
          <p:nvPr/>
        </p:nvSpPr>
        <p:spPr>
          <a:xfrm>
            <a:off x="2286000" y="31363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Relacional de Codd</a:t>
            </a:r>
            <a:endParaRPr lang="en-US" sz="2200" b="0" u="none" strike="noStrike">
              <a:solidFill>
                <a:srgbClr val="FFFFFF"/>
              </a:solidFill>
              <a:effectLst/>
              <a:uFillTx/>
              <a:latin typeface="Arial"/>
            </a:endParaRPr>
          </a:p>
        </p:txBody>
      </p:sp>
      <p:sp>
        <p:nvSpPr>
          <p:cNvPr id="141" name="TextBox 17"/>
          <p:cNvSpPr/>
          <p:nvPr/>
        </p:nvSpPr>
        <p:spPr>
          <a:xfrm>
            <a:off x="5943600" y="31363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2" name="TextBox 18"/>
          <p:cNvSpPr/>
          <p:nvPr/>
        </p:nvSpPr>
        <p:spPr>
          <a:xfrm>
            <a:off x="6309360" y="31363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GRANT, roles — control de acceso dentro de la BD</a:t>
            </a:r>
            <a:endParaRPr lang="en-US" sz="2000" b="0" u="none" strike="noStrike">
              <a:solidFill>
                <a:srgbClr val="FFFFFF"/>
              </a:solidFill>
              <a:effectLst/>
              <a:uFillTx/>
              <a:latin typeface="Arial"/>
            </a:endParaRPr>
          </a:p>
        </p:txBody>
      </p:sp>
      <p:sp>
        <p:nvSpPr>
          <p:cNvPr id="143" name="TextBox 19"/>
          <p:cNvSpPr/>
          <p:nvPr/>
        </p:nvSpPr>
        <p:spPr>
          <a:xfrm>
            <a:off x="457200" y="36486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1980s</a:t>
            </a:r>
            <a:endParaRPr lang="en-US" sz="2200" b="0" u="none" strike="noStrike">
              <a:solidFill>
                <a:srgbClr val="FFFFFF"/>
              </a:solidFill>
              <a:effectLst/>
              <a:uFillTx/>
              <a:latin typeface="Arial"/>
            </a:endParaRPr>
          </a:p>
        </p:txBody>
      </p:sp>
      <p:sp>
        <p:nvSpPr>
          <p:cNvPr id="144" name="TextBox 20"/>
          <p:cNvSpPr/>
          <p:nvPr/>
        </p:nvSpPr>
        <p:spPr>
          <a:xfrm>
            <a:off x="2286000" y="36486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Oracle, DB2, SQL Svr</a:t>
            </a:r>
            <a:endParaRPr lang="en-US" sz="2200" b="0" u="none" strike="noStrike">
              <a:solidFill>
                <a:srgbClr val="FFFFFF"/>
              </a:solidFill>
              <a:effectLst/>
              <a:uFillTx/>
              <a:latin typeface="Arial"/>
            </a:endParaRPr>
          </a:p>
        </p:txBody>
      </p:sp>
      <p:sp>
        <p:nvSpPr>
          <p:cNvPr id="145" name="TextBox 21"/>
          <p:cNvSpPr/>
          <p:nvPr/>
        </p:nvSpPr>
        <p:spPr>
          <a:xfrm>
            <a:off x="5943600" y="36486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6" name="TextBox 22"/>
          <p:cNvSpPr/>
          <p:nvPr/>
        </p:nvSpPr>
        <p:spPr>
          <a:xfrm>
            <a:off x="6309360" y="36486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las bases de datos se conectan en red → problema de autenticación</a:t>
            </a:r>
            <a:endParaRPr lang="en-US" sz="2000" b="0" u="none" strike="noStrike">
              <a:solidFill>
                <a:srgbClr val="FFFFFF"/>
              </a:solidFill>
              <a:effectLst/>
              <a:uFillTx/>
              <a:latin typeface="Arial"/>
            </a:endParaRPr>
          </a:p>
        </p:txBody>
      </p:sp>
      <p:sp>
        <p:nvSpPr>
          <p:cNvPr id="147" name="TextBox 23"/>
          <p:cNvSpPr/>
          <p:nvPr/>
        </p:nvSpPr>
        <p:spPr>
          <a:xfrm>
            <a:off x="457200" y="41605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1990s</a:t>
            </a:r>
            <a:endParaRPr lang="en-US" sz="2200" b="0" u="none" strike="noStrike">
              <a:solidFill>
                <a:srgbClr val="FFFFFF"/>
              </a:solidFill>
              <a:effectLst/>
              <a:uFillTx/>
              <a:latin typeface="Arial"/>
            </a:endParaRPr>
          </a:p>
        </p:txBody>
      </p:sp>
      <p:sp>
        <p:nvSpPr>
          <p:cNvPr id="148" name="TextBox 24"/>
          <p:cNvSpPr/>
          <p:nvPr/>
        </p:nvSpPr>
        <p:spPr>
          <a:xfrm>
            <a:off x="2286000" y="41605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Cliente-servidor, OSS</a:t>
            </a:r>
            <a:endParaRPr lang="en-US" sz="2200" b="0" u="none" strike="noStrike">
              <a:solidFill>
                <a:srgbClr val="FFFFFF"/>
              </a:solidFill>
              <a:effectLst/>
              <a:uFillTx/>
              <a:latin typeface="Arial"/>
            </a:endParaRPr>
          </a:p>
        </p:txBody>
      </p:sp>
      <p:sp>
        <p:nvSpPr>
          <p:cNvPr id="149" name="TextBox 25"/>
          <p:cNvSpPr/>
          <p:nvPr/>
        </p:nvSpPr>
        <p:spPr>
          <a:xfrm>
            <a:off x="5943600" y="41605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0" name="TextBox 26"/>
          <p:cNvSpPr/>
          <p:nvPr/>
        </p:nvSpPr>
        <p:spPr>
          <a:xfrm>
            <a:off x="6309360" y="41605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la inyección SQL se vuelve un problema</a:t>
            </a:r>
            <a:endParaRPr lang="en-US" sz="2000" b="0" u="none" strike="noStrike">
              <a:solidFill>
                <a:srgbClr val="FFFFFF"/>
              </a:solidFill>
              <a:effectLst/>
              <a:uFillTx/>
              <a:latin typeface="Arial"/>
            </a:endParaRPr>
          </a:p>
        </p:txBody>
      </p:sp>
      <p:sp>
        <p:nvSpPr>
          <p:cNvPr id="151" name="TextBox 27"/>
          <p:cNvSpPr/>
          <p:nvPr/>
        </p:nvSpPr>
        <p:spPr>
          <a:xfrm>
            <a:off x="457200" y="46724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2000s</a:t>
            </a:r>
            <a:endParaRPr lang="en-US" sz="2200" b="0" u="none" strike="noStrike">
              <a:solidFill>
                <a:srgbClr val="FFFFFF"/>
              </a:solidFill>
              <a:effectLst/>
              <a:uFillTx/>
              <a:latin typeface="Arial"/>
            </a:endParaRPr>
          </a:p>
        </p:txBody>
      </p:sp>
      <p:sp>
        <p:nvSpPr>
          <p:cNvPr id="152" name="TextBox 28"/>
          <p:cNvSpPr/>
          <p:nvPr/>
        </p:nvSpPr>
        <p:spPr>
          <a:xfrm>
            <a:off x="2286000" y="46724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Auge de NoSQL</a:t>
            </a:r>
            <a:endParaRPr lang="en-US" sz="2200" b="0" u="none" strike="noStrike">
              <a:solidFill>
                <a:srgbClr val="FFFFFF"/>
              </a:solidFill>
              <a:effectLst/>
              <a:uFillTx/>
              <a:latin typeface="Arial"/>
            </a:endParaRPr>
          </a:p>
        </p:txBody>
      </p:sp>
      <p:sp>
        <p:nvSpPr>
          <p:cNvPr id="153" name="TextBox 29"/>
          <p:cNvSpPr/>
          <p:nvPr/>
        </p:nvSpPr>
        <p:spPr>
          <a:xfrm>
            <a:off x="5943600" y="46724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4" name="TextBox 30"/>
          <p:cNvSpPr/>
          <p:nvPr/>
        </p:nvSpPr>
        <p:spPr>
          <a:xfrm>
            <a:off x="6309360" y="46724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"descartaron los fundamentos" — incl. la seguridad</a:t>
            </a:r>
            <a:endParaRPr lang="en-US" sz="2000" b="0" u="none" strike="noStrike">
              <a:solidFill>
                <a:srgbClr val="FFFFFF"/>
              </a:solidFill>
              <a:effectLst/>
              <a:uFillTx/>
              <a:latin typeface="Arial"/>
            </a:endParaRPr>
          </a:p>
        </p:txBody>
      </p:sp>
      <p:sp>
        <p:nvSpPr>
          <p:cNvPr id="155" name="TextBox 31"/>
          <p:cNvSpPr/>
          <p:nvPr/>
        </p:nvSpPr>
        <p:spPr>
          <a:xfrm>
            <a:off x="457200" y="51847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2010s</a:t>
            </a:r>
            <a:endParaRPr lang="en-US" sz="2200" b="0" u="none" strike="noStrike">
              <a:solidFill>
                <a:srgbClr val="FFFFFF"/>
              </a:solidFill>
              <a:effectLst/>
              <a:uFillTx/>
              <a:latin typeface="Arial"/>
            </a:endParaRPr>
          </a:p>
        </p:txBody>
      </p:sp>
      <p:sp>
        <p:nvSpPr>
          <p:cNvPr id="156" name="TextBox 32"/>
          <p:cNvSpPr/>
          <p:nvPr/>
        </p:nvSpPr>
        <p:spPr>
          <a:xfrm>
            <a:off x="2286000" y="51847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Nube / NewSQL</a:t>
            </a:r>
            <a:endParaRPr lang="en-US" sz="2200" b="0" u="none" strike="noStrike">
              <a:solidFill>
                <a:srgbClr val="FFFFFF"/>
              </a:solidFill>
              <a:effectLst/>
              <a:uFillTx/>
              <a:latin typeface="Arial"/>
            </a:endParaRPr>
          </a:p>
        </p:txBody>
      </p:sp>
      <p:sp>
        <p:nvSpPr>
          <p:cNvPr id="157" name="TextBox 33"/>
          <p:cNvSpPr/>
          <p:nvPr/>
        </p:nvSpPr>
        <p:spPr>
          <a:xfrm>
            <a:off x="5943600" y="51847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8" name="TextBox 34"/>
          <p:cNvSpPr/>
          <p:nvPr/>
        </p:nvSpPr>
        <p:spPr>
          <a:xfrm>
            <a:off x="6309360" y="51847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responsabilidad compartida, configuraciones erróneas del cliente</a:t>
            </a:r>
            <a:endParaRPr lang="en-US" sz="2000" b="0" u="none" strike="noStrike">
              <a:solidFill>
                <a:srgbClr val="FFFFFF"/>
              </a:solidFill>
              <a:effectLst/>
              <a:uFillTx/>
              <a:latin typeface="Arial"/>
            </a:endParaRPr>
          </a:p>
        </p:txBody>
      </p:sp>
      <p:sp>
        <p:nvSpPr>
          <p:cNvPr id="159" name="TextBox 35"/>
          <p:cNvSpPr/>
          <p:nvPr/>
        </p:nvSpPr>
        <p:spPr>
          <a:xfrm>
            <a:off x="457200" y="56966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2020s</a:t>
            </a:r>
            <a:endParaRPr lang="en-US" sz="2200" b="0" u="none" strike="noStrike">
              <a:solidFill>
                <a:srgbClr val="FFFFFF"/>
              </a:solidFill>
              <a:effectLst/>
              <a:uFillTx/>
              <a:latin typeface="Arial"/>
            </a:endParaRPr>
          </a:p>
        </p:txBody>
      </p:sp>
      <p:sp>
        <p:nvSpPr>
          <p:cNvPr id="160" name="TextBox 36"/>
          <p:cNvSpPr/>
          <p:nvPr/>
        </p:nvSpPr>
        <p:spPr>
          <a:xfrm>
            <a:off x="2286000" y="56966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Vectorial / sin servidor</a:t>
            </a:r>
            <a:endParaRPr lang="en-US" sz="2200" b="0" u="none" strike="noStrike">
              <a:solidFill>
                <a:srgbClr val="FFFFFF"/>
              </a:solidFill>
              <a:effectLst/>
              <a:uFillTx/>
              <a:latin typeface="Arial"/>
            </a:endParaRPr>
          </a:p>
        </p:txBody>
      </p:sp>
      <p:sp>
        <p:nvSpPr>
          <p:cNvPr id="161" name="TextBox 37"/>
          <p:cNvSpPr/>
          <p:nvPr/>
        </p:nvSpPr>
        <p:spPr>
          <a:xfrm>
            <a:off x="5943600" y="56966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62" name="TextBox 38"/>
          <p:cNvSpPr/>
          <p:nvPr/>
        </p:nvSpPr>
        <p:spPr>
          <a:xfrm>
            <a:off x="6309360" y="56966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envenenamiento de datos, inyección de prompts</a:t>
            </a:r>
            <a:endParaRPr lang="en-US" sz="2000" b="0" u="none" strike="noStrike">
              <a:solidFill>
                <a:srgbClr val="FFFFFF"/>
              </a:solidFill>
              <a:effectLst/>
              <a:uFillTx/>
              <a:latin typeface="Arial"/>
            </a:endParaRPr>
          </a:p>
        </p:txBody>
      </p:sp>
      <p:sp>
        <p:nvSpPr>
          <p:cNvPr id="163"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164"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65" name="TextBox 1" descr="Grid of the ten database families with example products: relational, document, key-value, column-family, graph, search, time-series, vector, embedded, and data lake." title="Grid of the ten database families with example products: relational, document, k"/>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Diez familias de bases de datos</a:t>
            </a:r>
            <a:endParaRPr lang="en-US" sz="4200" b="0" u="none" strike="noStrike">
              <a:solidFill>
                <a:srgbClr val="FFFFFF"/>
              </a:solidFill>
              <a:effectLst/>
              <a:uFillTx/>
              <a:latin typeface="Arial"/>
            </a:endParaRPr>
          </a:p>
        </p:txBody>
      </p:sp>
      <p:sp>
        <p:nvSpPr>
          <p:cNvPr id="16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7" name="Rounded Rectangle 3"/>
          <p:cNvSpPr/>
          <p:nvPr/>
        </p:nvSpPr>
        <p:spPr>
          <a:xfrm>
            <a:off x="54864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4"/>
          <p:cNvSpPr/>
          <p:nvPr/>
        </p:nvSpPr>
        <p:spPr>
          <a:xfrm>
            <a:off x="68580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a:t>
            </a:r>
            <a:endParaRPr lang="en-US" sz="2200" b="0" u="none" strike="noStrike">
              <a:solidFill>
                <a:srgbClr val="FFFFFF"/>
              </a:solidFill>
              <a:effectLst/>
              <a:uFillTx/>
              <a:latin typeface="Arial"/>
            </a:endParaRPr>
          </a:p>
        </p:txBody>
      </p:sp>
      <p:sp>
        <p:nvSpPr>
          <p:cNvPr id="169" name="TextBox 5"/>
          <p:cNvSpPr/>
          <p:nvPr/>
        </p:nvSpPr>
        <p:spPr>
          <a:xfrm>
            <a:off x="173736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Relacional</a:t>
            </a:r>
            <a:endParaRPr lang="en-US" sz="2200" b="0" u="none" strike="noStrike">
              <a:solidFill>
                <a:srgbClr val="FFFFFF"/>
              </a:solidFill>
              <a:effectLst/>
              <a:uFillTx/>
              <a:latin typeface="Arial"/>
            </a:endParaRPr>
          </a:p>
        </p:txBody>
      </p:sp>
      <p:sp>
        <p:nvSpPr>
          <p:cNvPr id="170" name="TextBox 6"/>
          <p:cNvSpPr/>
          <p:nvPr/>
        </p:nvSpPr>
        <p:spPr>
          <a:xfrm>
            <a:off x="173736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SQL  •  PostgreSQL, MySQL</a:t>
            </a:r>
            <a:endParaRPr lang="en-US" sz="1800" b="0" u="none" strike="noStrike">
              <a:solidFill>
                <a:srgbClr val="FFFFFF"/>
              </a:solidFill>
              <a:effectLst/>
              <a:uFillTx/>
              <a:latin typeface="Arial"/>
            </a:endParaRPr>
          </a:p>
        </p:txBody>
      </p:sp>
      <p:sp>
        <p:nvSpPr>
          <p:cNvPr id="171" name="Rounded Rectangle 7"/>
          <p:cNvSpPr/>
          <p:nvPr/>
        </p:nvSpPr>
        <p:spPr>
          <a:xfrm>
            <a:off x="621792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8"/>
          <p:cNvSpPr/>
          <p:nvPr/>
        </p:nvSpPr>
        <p:spPr>
          <a:xfrm>
            <a:off x="635508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2.</a:t>
            </a:r>
            <a:endParaRPr lang="en-US" sz="2200" b="0" u="none" strike="noStrike">
              <a:solidFill>
                <a:srgbClr val="FFFFFF"/>
              </a:solidFill>
              <a:effectLst/>
              <a:uFillTx/>
              <a:latin typeface="Arial"/>
            </a:endParaRPr>
          </a:p>
        </p:txBody>
      </p:sp>
      <p:sp>
        <p:nvSpPr>
          <p:cNvPr id="173" name="TextBox 9"/>
          <p:cNvSpPr/>
          <p:nvPr/>
        </p:nvSpPr>
        <p:spPr>
          <a:xfrm>
            <a:off x="740664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Documental</a:t>
            </a:r>
            <a:endParaRPr lang="en-US" sz="2200" b="0" u="none" strike="noStrike">
              <a:solidFill>
                <a:srgbClr val="FFFFFF"/>
              </a:solidFill>
              <a:effectLst/>
              <a:uFillTx/>
              <a:latin typeface="Arial"/>
            </a:endParaRPr>
          </a:p>
        </p:txBody>
      </p:sp>
      <p:sp>
        <p:nvSpPr>
          <p:cNvPr id="174" name="TextBox 10"/>
          <p:cNvSpPr/>
          <p:nvPr/>
        </p:nvSpPr>
        <p:spPr>
          <a:xfrm>
            <a:off x="740664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JSON  •  MongoDB, Firestore</a:t>
            </a:r>
            <a:endParaRPr lang="en-US" sz="1800" b="0" u="none" strike="noStrike">
              <a:solidFill>
                <a:srgbClr val="FFFFFF"/>
              </a:solidFill>
              <a:effectLst/>
              <a:uFillTx/>
              <a:latin typeface="Arial"/>
            </a:endParaRPr>
          </a:p>
        </p:txBody>
      </p:sp>
      <p:sp>
        <p:nvSpPr>
          <p:cNvPr id="175" name="Rounded Rectangle 11"/>
          <p:cNvSpPr/>
          <p:nvPr/>
        </p:nvSpPr>
        <p:spPr>
          <a:xfrm>
            <a:off x="54864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TextBox 12"/>
          <p:cNvSpPr/>
          <p:nvPr/>
        </p:nvSpPr>
        <p:spPr>
          <a:xfrm>
            <a:off x="68580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3.</a:t>
            </a:r>
            <a:endParaRPr lang="en-US" sz="2200" b="0" u="none" strike="noStrike">
              <a:solidFill>
                <a:srgbClr val="FFFFFF"/>
              </a:solidFill>
              <a:effectLst/>
              <a:uFillTx/>
              <a:latin typeface="Arial"/>
            </a:endParaRPr>
          </a:p>
        </p:txBody>
      </p:sp>
      <p:sp>
        <p:nvSpPr>
          <p:cNvPr id="177" name="TextBox 13"/>
          <p:cNvSpPr/>
          <p:nvPr/>
        </p:nvSpPr>
        <p:spPr>
          <a:xfrm>
            <a:off x="173736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Clave-Valor</a:t>
            </a:r>
            <a:endParaRPr lang="en-US" sz="2200" b="0" u="none" strike="noStrike">
              <a:solidFill>
                <a:srgbClr val="FFFFFF"/>
              </a:solidFill>
              <a:effectLst/>
              <a:uFillTx/>
              <a:latin typeface="Arial"/>
            </a:endParaRPr>
          </a:p>
        </p:txBody>
      </p:sp>
      <p:sp>
        <p:nvSpPr>
          <p:cNvPr id="178" name="TextBox 14"/>
          <p:cNvSpPr/>
          <p:nvPr/>
        </p:nvSpPr>
        <p:spPr>
          <a:xfrm>
            <a:off x="173736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diccionario  •  Redis, DynamoDB</a:t>
            </a:r>
            <a:endParaRPr lang="en-US" sz="1800" b="0" u="none" strike="noStrike">
              <a:solidFill>
                <a:srgbClr val="FFFFFF"/>
              </a:solidFill>
              <a:effectLst/>
              <a:uFillTx/>
              <a:latin typeface="Arial"/>
            </a:endParaRPr>
          </a:p>
        </p:txBody>
      </p:sp>
      <p:sp>
        <p:nvSpPr>
          <p:cNvPr id="179" name="Rounded Rectangle 15"/>
          <p:cNvSpPr/>
          <p:nvPr/>
        </p:nvSpPr>
        <p:spPr>
          <a:xfrm>
            <a:off x="621792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 name="TextBox 16"/>
          <p:cNvSpPr/>
          <p:nvPr/>
        </p:nvSpPr>
        <p:spPr>
          <a:xfrm>
            <a:off x="635508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4.</a:t>
            </a:r>
            <a:endParaRPr lang="en-US" sz="2200" b="0" u="none" strike="noStrike">
              <a:solidFill>
                <a:srgbClr val="FFFFFF"/>
              </a:solidFill>
              <a:effectLst/>
              <a:uFillTx/>
              <a:latin typeface="Arial"/>
            </a:endParaRPr>
          </a:p>
        </p:txBody>
      </p:sp>
      <p:sp>
        <p:nvSpPr>
          <p:cNvPr id="181" name="TextBox 17"/>
          <p:cNvSpPr/>
          <p:nvPr/>
        </p:nvSpPr>
        <p:spPr>
          <a:xfrm>
            <a:off x="740664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Familia de columnas</a:t>
            </a:r>
            <a:endParaRPr lang="en-US" sz="2200" b="0" u="none" strike="noStrike">
              <a:solidFill>
                <a:srgbClr val="FFFFFF"/>
              </a:solidFill>
              <a:effectLst/>
              <a:uFillTx/>
              <a:latin typeface="Arial"/>
            </a:endParaRPr>
          </a:p>
        </p:txBody>
      </p:sp>
      <p:sp>
        <p:nvSpPr>
          <p:cNvPr id="182" name="TextBox 18"/>
          <p:cNvSpPr/>
          <p:nvPr/>
        </p:nvSpPr>
        <p:spPr>
          <a:xfrm>
            <a:off x="740664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columna ancha  •  Cassandra, HBase</a:t>
            </a:r>
            <a:endParaRPr lang="en-US" sz="1800" b="0" u="none" strike="noStrike">
              <a:solidFill>
                <a:srgbClr val="FFFFFF"/>
              </a:solidFill>
              <a:effectLst/>
              <a:uFillTx/>
              <a:latin typeface="Arial"/>
            </a:endParaRPr>
          </a:p>
        </p:txBody>
      </p:sp>
      <p:sp>
        <p:nvSpPr>
          <p:cNvPr id="183" name="Rounded Rectangle 19"/>
          <p:cNvSpPr/>
          <p:nvPr/>
        </p:nvSpPr>
        <p:spPr>
          <a:xfrm>
            <a:off x="54864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extBox 20"/>
          <p:cNvSpPr/>
          <p:nvPr/>
        </p:nvSpPr>
        <p:spPr>
          <a:xfrm>
            <a:off x="68580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5.</a:t>
            </a:r>
            <a:endParaRPr lang="en-US" sz="2200" b="0" u="none" strike="noStrike">
              <a:solidFill>
                <a:srgbClr val="FFFFFF"/>
              </a:solidFill>
              <a:effectLst/>
              <a:uFillTx/>
              <a:latin typeface="Arial"/>
            </a:endParaRPr>
          </a:p>
        </p:txBody>
      </p:sp>
      <p:sp>
        <p:nvSpPr>
          <p:cNvPr id="185" name="TextBox 21"/>
          <p:cNvSpPr/>
          <p:nvPr/>
        </p:nvSpPr>
        <p:spPr>
          <a:xfrm>
            <a:off x="173736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Grafo</a:t>
            </a:r>
            <a:endParaRPr lang="en-US" sz="2200" b="0" u="none" strike="noStrike">
              <a:solidFill>
                <a:srgbClr val="FFFFFF"/>
              </a:solidFill>
              <a:effectLst/>
              <a:uFillTx/>
              <a:latin typeface="Arial"/>
            </a:endParaRPr>
          </a:p>
        </p:txBody>
      </p:sp>
      <p:sp>
        <p:nvSpPr>
          <p:cNvPr id="186" name="TextBox 22"/>
          <p:cNvSpPr/>
          <p:nvPr/>
        </p:nvSpPr>
        <p:spPr>
          <a:xfrm>
            <a:off x="173736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nodos+aristas  •  Neo4j, Neptune</a:t>
            </a:r>
            <a:endParaRPr lang="en-US" sz="1800" b="0" u="none" strike="noStrike">
              <a:solidFill>
                <a:srgbClr val="FFFFFF"/>
              </a:solidFill>
              <a:effectLst/>
              <a:uFillTx/>
              <a:latin typeface="Arial"/>
            </a:endParaRPr>
          </a:p>
        </p:txBody>
      </p:sp>
      <p:sp>
        <p:nvSpPr>
          <p:cNvPr id="187" name="Rounded Rectangle 23"/>
          <p:cNvSpPr/>
          <p:nvPr/>
        </p:nvSpPr>
        <p:spPr>
          <a:xfrm>
            <a:off x="621792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8" name="TextBox 24"/>
          <p:cNvSpPr/>
          <p:nvPr/>
        </p:nvSpPr>
        <p:spPr>
          <a:xfrm>
            <a:off x="635508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6.</a:t>
            </a:r>
            <a:endParaRPr lang="en-US" sz="2200" b="0" u="none" strike="noStrike">
              <a:solidFill>
                <a:srgbClr val="FFFFFF"/>
              </a:solidFill>
              <a:effectLst/>
              <a:uFillTx/>
              <a:latin typeface="Arial"/>
            </a:endParaRPr>
          </a:p>
        </p:txBody>
      </p:sp>
      <p:sp>
        <p:nvSpPr>
          <p:cNvPr id="189" name="TextBox 25"/>
          <p:cNvSpPr/>
          <p:nvPr/>
        </p:nvSpPr>
        <p:spPr>
          <a:xfrm>
            <a:off x="740664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Búsqueda</a:t>
            </a:r>
            <a:endParaRPr lang="en-US" sz="2200" b="0" u="none" strike="noStrike">
              <a:solidFill>
                <a:srgbClr val="FFFFFF"/>
              </a:solidFill>
              <a:effectLst/>
              <a:uFillTx/>
              <a:latin typeface="Arial"/>
            </a:endParaRPr>
          </a:p>
        </p:txBody>
      </p:sp>
      <p:sp>
        <p:nvSpPr>
          <p:cNvPr id="190" name="TextBox 26"/>
          <p:cNvSpPr/>
          <p:nvPr/>
        </p:nvSpPr>
        <p:spPr>
          <a:xfrm>
            <a:off x="740664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texto completo  •  Elastic, OpenSearch</a:t>
            </a:r>
            <a:endParaRPr lang="en-US" sz="1800" b="0" u="none" strike="noStrike">
              <a:solidFill>
                <a:srgbClr val="FFFFFF"/>
              </a:solidFill>
              <a:effectLst/>
              <a:uFillTx/>
              <a:latin typeface="Arial"/>
            </a:endParaRPr>
          </a:p>
        </p:txBody>
      </p:sp>
      <p:sp>
        <p:nvSpPr>
          <p:cNvPr id="191" name="Rounded Rectangle 27"/>
          <p:cNvSpPr/>
          <p:nvPr/>
        </p:nvSpPr>
        <p:spPr>
          <a:xfrm>
            <a:off x="54864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28"/>
          <p:cNvSpPr/>
          <p:nvPr/>
        </p:nvSpPr>
        <p:spPr>
          <a:xfrm>
            <a:off x="68580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7.</a:t>
            </a:r>
            <a:endParaRPr lang="en-US" sz="2200" b="0" u="none" strike="noStrike">
              <a:solidFill>
                <a:srgbClr val="FFFFFF"/>
              </a:solidFill>
              <a:effectLst/>
              <a:uFillTx/>
              <a:latin typeface="Arial"/>
            </a:endParaRPr>
          </a:p>
        </p:txBody>
      </p:sp>
      <p:sp>
        <p:nvSpPr>
          <p:cNvPr id="193" name="TextBox 29"/>
          <p:cNvSpPr/>
          <p:nvPr/>
        </p:nvSpPr>
        <p:spPr>
          <a:xfrm>
            <a:off x="173736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Series temporales</a:t>
            </a:r>
            <a:endParaRPr lang="en-US" sz="2200" b="0" u="none" strike="noStrike">
              <a:solidFill>
                <a:srgbClr val="FFFFFF"/>
              </a:solidFill>
              <a:effectLst/>
              <a:uFillTx/>
              <a:latin typeface="Arial"/>
            </a:endParaRPr>
          </a:p>
        </p:txBody>
      </p:sp>
      <p:sp>
        <p:nvSpPr>
          <p:cNvPr id="194" name="TextBox 30"/>
          <p:cNvSpPr/>
          <p:nvPr/>
        </p:nvSpPr>
        <p:spPr>
          <a:xfrm>
            <a:off x="173736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métricas  •  Influx, Prometheus</a:t>
            </a:r>
            <a:endParaRPr lang="en-US" sz="1800" b="0" u="none" strike="noStrike">
              <a:solidFill>
                <a:srgbClr val="FFFFFF"/>
              </a:solidFill>
              <a:effectLst/>
              <a:uFillTx/>
              <a:latin typeface="Arial"/>
            </a:endParaRPr>
          </a:p>
        </p:txBody>
      </p:sp>
      <p:sp>
        <p:nvSpPr>
          <p:cNvPr id="195" name="Rounded Rectangle 31"/>
          <p:cNvSpPr/>
          <p:nvPr/>
        </p:nvSpPr>
        <p:spPr>
          <a:xfrm>
            <a:off x="621792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32"/>
          <p:cNvSpPr/>
          <p:nvPr/>
        </p:nvSpPr>
        <p:spPr>
          <a:xfrm>
            <a:off x="635508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8.</a:t>
            </a:r>
            <a:endParaRPr lang="en-US" sz="2200" b="0" u="none" strike="noStrike">
              <a:solidFill>
                <a:srgbClr val="FFFFFF"/>
              </a:solidFill>
              <a:effectLst/>
              <a:uFillTx/>
              <a:latin typeface="Arial"/>
            </a:endParaRPr>
          </a:p>
        </p:txBody>
      </p:sp>
      <p:sp>
        <p:nvSpPr>
          <p:cNvPr id="197" name="TextBox 33"/>
          <p:cNvSpPr/>
          <p:nvPr/>
        </p:nvSpPr>
        <p:spPr>
          <a:xfrm>
            <a:off x="740664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Vectorial</a:t>
            </a:r>
            <a:endParaRPr lang="en-US" sz="2200" b="0" u="none" strike="noStrike">
              <a:solidFill>
                <a:srgbClr val="FFFFFF"/>
              </a:solidFill>
              <a:effectLst/>
              <a:uFillTx/>
              <a:latin typeface="Arial"/>
            </a:endParaRPr>
          </a:p>
        </p:txBody>
      </p:sp>
      <p:sp>
        <p:nvSpPr>
          <p:cNvPr id="198" name="TextBox 34"/>
          <p:cNvSpPr/>
          <p:nvPr/>
        </p:nvSpPr>
        <p:spPr>
          <a:xfrm>
            <a:off x="740664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embeddings  •  Pinecone, pgvector</a:t>
            </a:r>
            <a:endParaRPr lang="en-US" sz="1800" b="0" u="none" strike="noStrike">
              <a:solidFill>
                <a:srgbClr val="FFFFFF"/>
              </a:solidFill>
              <a:effectLst/>
              <a:uFillTx/>
              <a:latin typeface="Arial"/>
            </a:endParaRPr>
          </a:p>
        </p:txBody>
      </p:sp>
      <p:sp>
        <p:nvSpPr>
          <p:cNvPr id="199" name="Rounded Rectangle 35"/>
          <p:cNvSpPr/>
          <p:nvPr/>
        </p:nvSpPr>
        <p:spPr>
          <a:xfrm>
            <a:off x="54864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36"/>
          <p:cNvSpPr/>
          <p:nvPr/>
        </p:nvSpPr>
        <p:spPr>
          <a:xfrm>
            <a:off x="68580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9.</a:t>
            </a:r>
            <a:endParaRPr lang="en-US" sz="2200" b="0" u="none" strike="noStrike">
              <a:solidFill>
                <a:srgbClr val="FFFFFF"/>
              </a:solidFill>
              <a:effectLst/>
              <a:uFillTx/>
              <a:latin typeface="Arial"/>
            </a:endParaRPr>
          </a:p>
        </p:txBody>
      </p:sp>
      <p:sp>
        <p:nvSpPr>
          <p:cNvPr id="201" name="TextBox 37"/>
          <p:cNvSpPr/>
          <p:nvPr/>
        </p:nvSpPr>
        <p:spPr>
          <a:xfrm>
            <a:off x="173736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Embebida/Borde</a:t>
            </a:r>
            <a:endParaRPr lang="en-US" sz="2200" b="0" u="none" strike="noStrike">
              <a:solidFill>
                <a:srgbClr val="FFFFFF"/>
              </a:solidFill>
              <a:effectLst/>
              <a:uFillTx/>
              <a:latin typeface="Arial"/>
            </a:endParaRPr>
          </a:p>
        </p:txBody>
      </p:sp>
      <p:sp>
        <p:nvSpPr>
          <p:cNvPr id="202" name="TextBox 38"/>
          <p:cNvSpPr/>
          <p:nvPr/>
        </p:nvSpPr>
        <p:spPr>
          <a:xfrm>
            <a:off x="173736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en la app  •  SQLite, DuckDB</a:t>
            </a:r>
            <a:endParaRPr lang="en-US" sz="1800" b="0" u="none" strike="noStrike">
              <a:solidFill>
                <a:srgbClr val="FFFFFF"/>
              </a:solidFill>
              <a:effectLst/>
              <a:uFillTx/>
              <a:latin typeface="Arial"/>
            </a:endParaRPr>
          </a:p>
        </p:txBody>
      </p:sp>
      <p:sp>
        <p:nvSpPr>
          <p:cNvPr id="203" name="Rounded Rectangle 39"/>
          <p:cNvSpPr/>
          <p:nvPr/>
        </p:nvSpPr>
        <p:spPr>
          <a:xfrm>
            <a:off x="621792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TextBox 40"/>
          <p:cNvSpPr/>
          <p:nvPr/>
        </p:nvSpPr>
        <p:spPr>
          <a:xfrm>
            <a:off x="635508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10.</a:t>
            </a:r>
            <a:endParaRPr lang="en-US" sz="2200" b="0" u="none" strike="noStrike">
              <a:solidFill>
                <a:srgbClr val="FFFFFF"/>
              </a:solidFill>
              <a:effectLst/>
              <a:uFillTx/>
              <a:latin typeface="Arial"/>
            </a:endParaRPr>
          </a:p>
        </p:txBody>
      </p:sp>
      <p:sp>
        <p:nvSpPr>
          <p:cNvPr id="205" name="TextBox 41"/>
          <p:cNvSpPr/>
          <p:nvPr/>
        </p:nvSpPr>
        <p:spPr>
          <a:xfrm>
            <a:off x="740664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Lago de datos</a:t>
            </a:r>
            <a:endParaRPr lang="en-US" sz="2200" b="0" u="none" strike="noStrike">
              <a:solidFill>
                <a:srgbClr val="FFFFFF"/>
              </a:solidFill>
              <a:effectLst/>
              <a:uFillTx/>
              <a:latin typeface="Arial"/>
            </a:endParaRPr>
          </a:p>
        </p:txBody>
      </p:sp>
      <p:sp>
        <p:nvSpPr>
          <p:cNvPr id="206" name="TextBox 42"/>
          <p:cNvSpPr/>
          <p:nvPr/>
        </p:nvSpPr>
        <p:spPr>
          <a:xfrm>
            <a:off x="740664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esquema en lectura  •  S3+Athena, Iceberg</a:t>
            </a:r>
            <a:endParaRPr lang="en-US" sz="1800" b="0" u="none" strike="noStrike">
              <a:solidFill>
                <a:srgbClr val="FFFFFF"/>
              </a:solidFill>
              <a:effectLst/>
              <a:uFillTx/>
              <a:latin typeface="Arial"/>
            </a:endParaRPr>
          </a:p>
        </p:txBody>
      </p:sp>
      <p:sp>
        <p:nvSpPr>
          <p:cNvPr id="207" name="TextBox 4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08" name="TextBox 4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9"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0"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a:t>
            </a:r>
            <a:endParaRPr lang="en-US" sz="4400" b="0" u="none" strike="noStrike">
              <a:solidFill>
                <a:srgbClr val="FFFFFF"/>
              </a:solidFill>
              <a:effectLst/>
              <a:uFillTx/>
              <a:latin typeface="Arial"/>
            </a:endParaRPr>
          </a:p>
        </p:txBody>
      </p:sp>
      <p:sp>
        <p:nvSpPr>
          <p:cNvPr id="211"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Relacional / SQL</a:t>
            </a:r>
            <a:endParaRPr lang="en-US" sz="4600" b="0" u="none" strike="noStrike">
              <a:solidFill>
                <a:srgbClr val="FFFFFF"/>
              </a:solidFill>
              <a:effectLst/>
              <a:uFillTx/>
              <a:latin typeface="Arial"/>
            </a:endParaRPr>
          </a:p>
        </p:txBody>
      </p:sp>
      <p:sp>
        <p:nvSpPr>
          <p:cNvPr id="212"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3"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14"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PostgreSQL  •  MySQL/MariaDB  •  SQL Server  •  Oracle</a:t>
            </a:r>
            <a:endParaRPr lang="en-US" sz="2800" b="0" u="none" strike="noStrike">
              <a:solidFill>
                <a:srgbClr val="FFFFFF"/>
              </a:solidFill>
              <a:effectLst/>
              <a:uFillTx/>
              <a:latin typeface="Arial"/>
            </a:endParaRPr>
          </a:p>
        </p:txBody>
      </p:sp>
      <p:sp>
        <p:nvSpPr>
          <p:cNvPr id="215"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16"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Relaciones claras, se requiere consistencia — finanzas, datos regulados.</a:t>
            </a:r>
            <a:endParaRPr lang="en-US" sz="2400" b="0" u="none" strike="noStrike">
              <a:solidFill>
                <a:srgbClr val="FFFFFF"/>
              </a:solidFill>
              <a:effectLst/>
              <a:uFillTx/>
              <a:latin typeface="Arial"/>
            </a:endParaRPr>
          </a:p>
        </p:txBody>
      </p:sp>
      <p:sp>
        <p:nvSpPr>
          <p:cNvPr id="217"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19"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Inyección SQL cuando los desarrolladores concatenan la entrada del usuario en las consultas.</a:t>
            </a:r>
            <a:endParaRPr lang="en-US" sz="2400" b="0" u="none" strike="noStrike">
              <a:solidFill>
                <a:srgbClr val="FFFFFF"/>
              </a:solidFill>
              <a:effectLst/>
              <a:uFillTx/>
              <a:latin typeface="Arial"/>
            </a:endParaRPr>
          </a:p>
        </p:txBody>
      </p:sp>
      <p:sp>
        <p:nvSpPr>
          <p:cNvPr id="220"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21"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2</a:t>
            </a:r>
            <a:endParaRPr lang="en-US" sz="4400" b="0" u="none" strike="noStrike">
              <a:solidFill>
                <a:srgbClr val="FFFFFF"/>
              </a:solidFill>
              <a:effectLst/>
              <a:uFillTx/>
              <a:latin typeface="Arial"/>
            </a:endParaRPr>
          </a:p>
        </p:txBody>
      </p:sp>
      <p:sp>
        <p:nvSpPr>
          <p:cNvPr id="224"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Almacenes de documentos</a:t>
            </a:r>
            <a:endParaRPr lang="en-US" sz="4600" b="0" u="none" strike="noStrike">
              <a:solidFill>
                <a:srgbClr val="FFFFFF"/>
              </a:solidFill>
              <a:effectLst/>
              <a:uFillTx/>
              <a:latin typeface="Arial"/>
            </a:endParaRPr>
          </a:p>
        </p:txBody>
      </p:sp>
      <p:sp>
        <p:nvSpPr>
          <p:cNvPr id="225"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6"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27"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MongoDB  •  Couchbase  •  Firestore</a:t>
            </a:r>
            <a:endParaRPr lang="en-US" sz="2800" b="0" u="none" strike="noStrike">
              <a:solidFill>
                <a:srgbClr val="FFFFFF"/>
              </a:solidFill>
              <a:effectLst/>
              <a:uFillTx/>
              <a:latin typeface="Arial"/>
            </a:endParaRPr>
          </a:p>
        </p:txBody>
      </p:sp>
      <p:sp>
        <p:nvSpPr>
          <p:cNvPr id="228"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29"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Datos naturalmente anidados; la forma cambia con el tiempo.</a:t>
            </a:r>
            <a:endParaRPr lang="en-US" sz="2400" b="0" u="none" strike="noStrike">
              <a:solidFill>
                <a:srgbClr val="FFFFFF"/>
              </a:solidFill>
              <a:effectLst/>
              <a:uFillTx/>
              <a:latin typeface="Arial"/>
            </a:endParaRPr>
          </a:p>
        </p:txBody>
      </p:sp>
      <p:sp>
        <p:nvSpPr>
          <p:cNvPr id="230"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32"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Inyección NoSQL mediante operadores de consulta ($ne, $gt, $where). Sin autenticación por defecto.</a:t>
            </a:r>
            <a:endParaRPr lang="en-US" sz="2400" b="0" u="none" strike="noStrike">
              <a:solidFill>
                <a:srgbClr val="FFFFFF"/>
              </a:solidFill>
              <a:effectLst/>
              <a:uFillTx/>
              <a:latin typeface="Arial"/>
            </a:endParaRPr>
          </a:p>
        </p:txBody>
      </p:sp>
      <p:sp>
        <p:nvSpPr>
          <p:cNvPr id="233"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34"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35"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3</a:t>
            </a:r>
            <a:endParaRPr lang="en-US" sz="4400" b="0" u="none" strike="noStrike">
              <a:solidFill>
                <a:srgbClr val="FFFFFF"/>
              </a:solidFill>
              <a:effectLst/>
              <a:uFillTx/>
              <a:latin typeface="Arial"/>
            </a:endParaRPr>
          </a:p>
        </p:txBody>
      </p:sp>
      <p:sp>
        <p:nvSpPr>
          <p:cNvPr id="237"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Almacenes clave-valor</a:t>
            </a:r>
            <a:endParaRPr lang="en-US" sz="4600" b="0" u="none" strike="noStrike">
              <a:solidFill>
                <a:srgbClr val="FFFFFF"/>
              </a:solidFill>
              <a:effectLst/>
              <a:uFillTx/>
              <a:latin typeface="Arial"/>
            </a:endParaRPr>
          </a:p>
        </p:txBody>
      </p:sp>
      <p:sp>
        <p:nvSpPr>
          <p:cNvPr id="238"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9"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40"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Redis  •  Memcached  •  DynamoDB</a:t>
            </a:r>
            <a:endParaRPr lang="en-US" sz="2800" b="0" u="none" strike="noStrike">
              <a:solidFill>
                <a:srgbClr val="FFFFFF"/>
              </a:solidFill>
              <a:effectLst/>
              <a:uFillTx/>
              <a:latin typeface="Arial"/>
            </a:endParaRPr>
          </a:p>
        </p:txBody>
      </p:sp>
      <p:sp>
        <p:nvSpPr>
          <p:cNvPr id="241"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42"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Cachés, almacenes de sesión, limitadores de tasa, tablas de clasificación.</a:t>
            </a:r>
            <a:endParaRPr lang="en-US" sz="2400" b="0" u="none" strike="noStrike">
              <a:solidFill>
                <a:srgbClr val="FFFFFF"/>
              </a:solidFill>
              <a:effectLst/>
              <a:uFillTx/>
              <a:latin typeface="Arial"/>
            </a:endParaRPr>
          </a:p>
        </p:txBody>
      </p:sp>
      <p:sp>
        <p:nvSpPr>
          <p:cNvPr id="243"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45"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Redis sin autenticación por defecto + CONFIG SET → escribir claves SSH en disco.</a:t>
            </a:r>
            <a:endParaRPr lang="en-US" sz="2400" b="0" u="none" strike="noStrike">
              <a:solidFill>
                <a:srgbClr val="FFFFFF"/>
              </a:solidFill>
              <a:effectLst/>
              <a:uFillTx/>
              <a:latin typeface="Arial"/>
            </a:endParaRPr>
          </a:p>
        </p:txBody>
      </p:sp>
      <p:sp>
        <p:nvSpPr>
          <p:cNvPr id="246"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47"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8"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9"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4</a:t>
            </a:r>
            <a:endParaRPr lang="en-US" sz="4400" b="0" u="none" strike="noStrike">
              <a:solidFill>
                <a:srgbClr val="FFFFFF"/>
              </a:solidFill>
              <a:effectLst/>
              <a:uFillTx/>
              <a:latin typeface="Arial"/>
            </a:endParaRPr>
          </a:p>
        </p:txBody>
      </p:sp>
      <p:sp>
        <p:nvSpPr>
          <p:cNvPr id="250"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Familia de columnas</a:t>
            </a:r>
            <a:endParaRPr lang="en-US" sz="4600" b="0" u="none" strike="noStrike">
              <a:solidFill>
                <a:srgbClr val="FFFFFF"/>
              </a:solidFill>
              <a:effectLst/>
              <a:uFillTx/>
              <a:latin typeface="Arial"/>
            </a:endParaRPr>
          </a:p>
        </p:txBody>
      </p:sp>
      <p:sp>
        <p:nvSpPr>
          <p:cNvPr id="251"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2"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53"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Apache Cassandra  •  HBase  •  ScyllaDB</a:t>
            </a:r>
            <a:endParaRPr lang="en-US" sz="2800" b="0" u="none" strike="noStrike">
              <a:solidFill>
                <a:srgbClr val="FFFFFF"/>
              </a:solidFill>
              <a:effectLst/>
              <a:uFillTx/>
              <a:latin typeface="Arial"/>
            </a:endParaRPr>
          </a:p>
        </p:txBody>
      </p:sp>
      <p:sp>
        <p:nvSpPr>
          <p:cNvPr id="254"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55"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Escala masiva en muchas máquinas; no se necesitan joins complejos.</a:t>
            </a:r>
            <a:endParaRPr lang="en-US" sz="2400" b="0" u="none" strike="noStrike">
              <a:solidFill>
                <a:srgbClr val="FFFFFF"/>
              </a:solidFill>
              <a:effectLst/>
              <a:uFillTx/>
              <a:latin typeface="Arial"/>
            </a:endParaRPr>
          </a:p>
        </p:txBody>
      </p:sp>
      <p:sp>
        <p:nvSpPr>
          <p:cNvPr id="256"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58"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Los clústeres confían entre sí en los puertos de gossip — la red de gestión = root.</a:t>
            </a:r>
            <a:endParaRPr lang="en-US" sz="2400" b="0" u="none" strike="noStrike">
              <a:solidFill>
                <a:srgbClr val="FFFFFF"/>
              </a:solidFill>
              <a:effectLst/>
              <a:uFillTx/>
              <a:latin typeface="Arial"/>
            </a:endParaRPr>
          </a:p>
        </p:txBody>
      </p:sp>
      <p:sp>
        <p:nvSpPr>
          <p:cNvPr id="259"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60"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1"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5</a:t>
            </a:r>
            <a:endParaRPr lang="en-US" sz="4400" b="0" u="none" strike="noStrike">
              <a:solidFill>
                <a:srgbClr val="FFFFFF"/>
              </a:solidFill>
              <a:effectLst/>
              <a:uFillTx/>
              <a:latin typeface="Arial"/>
            </a:endParaRPr>
          </a:p>
        </p:txBody>
      </p:sp>
      <p:sp>
        <p:nvSpPr>
          <p:cNvPr id="263"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Bases de datos de grafos</a:t>
            </a:r>
            <a:endParaRPr lang="en-US" sz="4600" b="0" u="none" strike="noStrike">
              <a:solidFill>
                <a:srgbClr val="FFFFFF"/>
              </a:solidFill>
              <a:effectLst/>
              <a:uFillTx/>
              <a:latin typeface="Arial"/>
            </a:endParaRPr>
          </a:p>
        </p:txBody>
      </p:sp>
      <p:sp>
        <p:nvSpPr>
          <p:cNvPr id="264"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5"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66"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Neo4j  •  Amazon Neptune  •  ArangoDB</a:t>
            </a:r>
            <a:endParaRPr lang="en-US" sz="2800" b="0" u="none" strike="noStrike">
              <a:solidFill>
                <a:srgbClr val="FFFFFF"/>
              </a:solidFill>
              <a:effectLst/>
              <a:uFillTx/>
              <a:latin typeface="Arial"/>
            </a:endParaRPr>
          </a:p>
        </p:txBody>
      </p:sp>
      <p:sp>
        <p:nvSpPr>
          <p:cNvPr id="267"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68"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Redes sociales, detección de fraude, análisis de IAM (p. ej. BloodHound).</a:t>
            </a:r>
            <a:endParaRPr lang="en-US" sz="2400" b="0" u="none" strike="noStrike">
              <a:solidFill>
                <a:srgbClr val="FFFFFF"/>
              </a:solidFill>
              <a:effectLst/>
              <a:uFillTx/>
              <a:latin typeface="Arial"/>
            </a:endParaRPr>
          </a:p>
        </p:txBody>
      </p:sp>
      <p:sp>
        <p:nvSpPr>
          <p:cNvPr id="269"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71"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Lenguajes de consulta como Cypher también son inyectables. NoSQLi no es solo Mongo.</a:t>
            </a:r>
            <a:endParaRPr lang="en-US" sz="2400" b="0" u="none" strike="noStrike">
              <a:solidFill>
                <a:srgbClr val="FFFFFF"/>
              </a:solidFill>
              <a:effectLst/>
              <a:uFillTx/>
              <a:latin typeface="Arial"/>
            </a:endParaRPr>
          </a:p>
        </p:txBody>
      </p:sp>
      <p:sp>
        <p:nvSpPr>
          <p:cNvPr id="272"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73"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74"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6</a:t>
            </a:r>
            <a:endParaRPr lang="en-US" sz="4400" b="0" u="none" strike="noStrike">
              <a:solidFill>
                <a:srgbClr val="FFFFFF"/>
              </a:solidFill>
              <a:effectLst/>
              <a:uFillTx/>
              <a:latin typeface="Arial"/>
            </a:endParaRPr>
          </a:p>
        </p:txBody>
      </p:sp>
      <p:sp>
        <p:nvSpPr>
          <p:cNvPr id="276"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Motores de búsqueda</a:t>
            </a:r>
            <a:endParaRPr lang="en-US" sz="4600" b="0" u="none" strike="noStrike">
              <a:solidFill>
                <a:srgbClr val="FFFFFF"/>
              </a:solidFill>
              <a:effectLst/>
              <a:uFillTx/>
              <a:latin typeface="Arial"/>
            </a:endParaRPr>
          </a:p>
        </p:txBody>
      </p:sp>
      <p:sp>
        <p:nvSpPr>
          <p:cNvPr id="277"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78"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79" name="TextBox 6"/>
          <p:cNvSpPr/>
          <p:nvPr/>
        </p:nvSpPr>
        <p:spPr>
          <a:xfrm>
            <a:off x="457200" y="2103120"/>
            <a:ext cx="11246760" cy="51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ea typeface="Arial Unicode MS"/>
              </a:rPr>
              <a:t>Elasticsearch  •  OpenSearch  •  Solr </a:t>
            </a:r>
            <a:endParaRPr lang="en-US" sz="2800" b="0" u="none" strike="noStrike">
              <a:solidFill>
                <a:srgbClr val="FFFFFF"/>
              </a:solidFill>
              <a:effectLst/>
              <a:uFillTx/>
              <a:latin typeface="Arial"/>
            </a:endParaRPr>
          </a:p>
        </p:txBody>
      </p:sp>
      <p:sp>
        <p:nvSpPr>
          <p:cNvPr id="280"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81"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Búsqueda de logs, columnas vertebrales de SIEM, búsqueda en sitios de comercio electrónico.</a:t>
            </a:r>
            <a:endParaRPr lang="en-US" sz="2400" b="0" u="none" strike="noStrike">
              <a:solidFill>
                <a:srgbClr val="FFFFFF"/>
              </a:solidFill>
              <a:effectLst/>
              <a:uFillTx/>
              <a:latin typeface="Arial"/>
            </a:endParaRPr>
          </a:p>
        </p:txBody>
      </p:sp>
      <p:sp>
        <p:nvSpPr>
          <p:cNvPr id="282"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84"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Históricamente sin autenticación integrada — miles de millones de registros expuestos en Shodan.</a:t>
            </a:r>
            <a:endParaRPr lang="en-US" sz="2400" b="0" u="none" strike="noStrike">
              <a:solidFill>
                <a:srgbClr val="FFFFFF"/>
              </a:solidFill>
              <a:effectLst/>
              <a:uFillTx/>
              <a:latin typeface="Arial"/>
            </a:endParaRPr>
          </a:p>
        </p:txBody>
      </p:sp>
      <p:sp>
        <p:nvSpPr>
          <p:cNvPr id="285"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86"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87"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7</a:t>
            </a:r>
            <a:endParaRPr lang="en-US" sz="4400" b="0" u="none" strike="noStrike">
              <a:solidFill>
                <a:srgbClr val="FFFFFF"/>
              </a:solidFill>
              <a:effectLst/>
              <a:uFillTx/>
              <a:latin typeface="Arial"/>
            </a:endParaRPr>
          </a:p>
        </p:txBody>
      </p:sp>
      <p:sp>
        <p:nvSpPr>
          <p:cNvPr id="289"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Series temporales</a:t>
            </a:r>
            <a:endParaRPr lang="en-US" sz="4600" b="0" u="none" strike="noStrike">
              <a:solidFill>
                <a:srgbClr val="FFFFFF"/>
              </a:solidFill>
              <a:effectLst/>
              <a:uFillTx/>
              <a:latin typeface="Arial"/>
            </a:endParaRPr>
          </a:p>
        </p:txBody>
      </p:sp>
      <p:sp>
        <p:nvSpPr>
          <p:cNvPr id="290"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91"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292"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InfluxDB  •  TimescaleDB  •  Prometheus</a:t>
            </a:r>
            <a:endParaRPr lang="en-US" sz="2800" b="0" u="none" strike="noStrike">
              <a:solidFill>
                <a:srgbClr val="FFFFFF"/>
              </a:solidFill>
              <a:effectLst/>
              <a:uFillTx/>
              <a:latin typeface="Arial"/>
            </a:endParaRPr>
          </a:p>
        </p:txBody>
      </p:sp>
      <p:sp>
        <p:nvSpPr>
          <p:cNvPr id="293"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294"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Métricas, observabilidad, telemetría de IoT.</a:t>
            </a:r>
            <a:endParaRPr lang="en-US" sz="2400" b="0" u="none" strike="noStrike">
              <a:solidFill>
                <a:srgbClr val="FFFFFF"/>
              </a:solidFill>
              <a:effectLst/>
              <a:uFillTx/>
              <a:latin typeface="Arial"/>
            </a:endParaRPr>
          </a:p>
        </p:txBody>
      </p:sp>
      <p:sp>
        <p:nvSpPr>
          <p:cNvPr id="295"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297"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Generalmente dentro del perímetro, a menudo sin autenticación.</a:t>
            </a:r>
            <a:endParaRPr lang="en-US" sz="2400" b="0" u="none" strike="noStrike">
              <a:solidFill>
                <a:srgbClr val="FFFFFF"/>
              </a:solidFill>
              <a:effectLst/>
              <a:uFillTx/>
              <a:latin typeface="Arial"/>
            </a:endParaRPr>
          </a:p>
        </p:txBody>
      </p:sp>
      <p:sp>
        <p:nvSpPr>
          <p:cNvPr id="298"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299"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00"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1"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8</a:t>
            </a:r>
            <a:endParaRPr lang="en-US" sz="4400" b="0" u="none" strike="noStrike">
              <a:solidFill>
                <a:srgbClr val="FFFFFF"/>
              </a:solidFill>
              <a:effectLst/>
              <a:uFillTx/>
              <a:latin typeface="Arial"/>
            </a:endParaRPr>
          </a:p>
        </p:txBody>
      </p:sp>
      <p:sp>
        <p:nvSpPr>
          <p:cNvPr id="302"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Bases de datos vectoriales</a:t>
            </a:r>
            <a:endParaRPr lang="en-US" sz="4600" b="0" u="none" strike="noStrike">
              <a:solidFill>
                <a:srgbClr val="FFFFFF"/>
              </a:solidFill>
              <a:effectLst/>
              <a:uFillTx/>
              <a:latin typeface="Arial"/>
            </a:endParaRPr>
          </a:p>
        </p:txBody>
      </p:sp>
      <p:sp>
        <p:nvSpPr>
          <p:cNvPr id="303"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04"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305"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Pinecone  •  Milvus  •  Weaviate  •  pgvector</a:t>
            </a:r>
            <a:endParaRPr lang="en-US" sz="2800" b="0" u="none" strike="noStrike">
              <a:solidFill>
                <a:srgbClr val="FFFFFF"/>
              </a:solidFill>
              <a:effectLst/>
              <a:uFillTx/>
              <a:latin typeface="Arial"/>
            </a:endParaRPr>
          </a:p>
        </p:txBody>
      </p:sp>
      <p:sp>
        <p:nvSpPr>
          <p:cNvPr id="306"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307"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RAG, motores de recomendación, búsqueda semántica.</a:t>
            </a:r>
            <a:endParaRPr lang="en-US" sz="2400" b="0" u="none" strike="noStrike">
              <a:solidFill>
                <a:srgbClr val="FFFFFF"/>
              </a:solidFill>
              <a:effectLst/>
              <a:uFillTx/>
              <a:latin typeface="Arial"/>
            </a:endParaRPr>
          </a:p>
        </p:txBody>
      </p:sp>
      <p:sp>
        <p:nvSpPr>
          <p:cNvPr id="308"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310"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Envenenamiento de datos — cuela un documento y el LLM lo cita como verdad.</a:t>
            </a:r>
            <a:endParaRPr lang="en-US" sz="2400" b="0" u="none" strike="noStrike">
              <a:solidFill>
                <a:srgbClr val="FFFFFF"/>
              </a:solidFill>
              <a:effectLst/>
              <a:uFillTx/>
              <a:latin typeface="Arial"/>
            </a:endParaRPr>
          </a:p>
        </p:txBody>
      </p:sp>
      <p:sp>
        <p:nvSpPr>
          <p:cNvPr id="311"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312"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13"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4"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9</a:t>
            </a:r>
            <a:endParaRPr lang="en-US" sz="4400" b="0" u="none" strike="noStrike">
              <a:solidFill>
                <a:srgbClr val="FFFFFF"/>
              </a:solidFill>
              <a:effectLst/>
              <a:uFillTx/>
              <a:latin typeface="Arial"/>
            </a:endParaRPr>
          </a:p>
        </p:txBody>
      </p:sp>
      <p:sp>
        <p:nvSpPr>
          <p:cNvPr id="315"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Embebida / Borde</a:t>
            </a:r>
            <a:endParaRPr lang="en-US" sz="4600" b="0" u="none" strike="noStrike">
              <a:solidFill>
                <a:srgbClr val="FFFFFF"/>
              </a:solidFill>
              <a:effectLst/>
              <a:uFillTx/>
              <a:latin typeface="Arial"/>
            </a:endParaRPr>
          </a:p>
        </p:txBody>
      </p:sp>
      <p:sp>
        <p:nvSpPr>
          <p:cNvPr id="316"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17"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318"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SQLite  •  DuckDB  •  LevelDB</a:t>
            </a:r>
            <a:endParaRPr lang="en-US" sz="2800" b="0" u="none" strike="noStrike">
              <a:solidFill>
                <a:srgbClr val="FFFFFF"/>
              </a:solidFill>
              <a:effectLst/>
              <a:uFillTx/>
              <a:latin typeface="Arial"/>
            </a:endParaRPr>
          </a:p>
        </p:txBody>
      </p:sp>
      <p:sp>
        <p:nvSpPr>
          <p:cNvPr id="319"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320"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Almacenamiento en la app — navegadores, teléfonos, todo avión moderno.</a:t>
            </a:r>
            <a:endParaRPr lang="en-US" sz="2400" b="0" u="none" strike="noStrike">
              <a:solidFill>
                <a:srgbClr val="FFFFFF"/>
              </a:solidFill>
              <a:effectLst/>
              <a:uFillTx/>
              <a:latin typeface="Arial"/>
            </a:endParaRPr>
          </a:p>
        </p:txBody>
      </p:sp>
      <p:sp>
        <p:nvSpPr>
          <p:cNvPr id="321"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323"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La BD es un archivo — el ataque es 'robar el archivo'. Mundo del pentesting móvil.</a:t>
            </a:r>
            <a:endParaRPr lang="en-US" sz="2400" b="0" u="none" strike="noStrike">
              <a:solidFill>
                <a:srgbClr val="FFFFFF"/>
              </a:solidFill>
              <a:effectLst/>
              <a:uFillTx/>
              <a:latin typeface="Arial"/>
            </a:endParaRPr>
          </a:p>
        </p:txBody>
      </p:sp>
      <p:sp>
        <p:nvSpPr>
          <p:cNvPr id="324"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325"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26"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10</a:t>
            </a:r>
            <a:endParaRPr lang="en-US" sz="4400" b="0" u="none" strike="noStrike">
              <a:solidFill>
                <a:srgbClr val="FFFFFF"/>
              </a:solidFill>
              <a:effectLst/>
              <a:uFillTx/>
              <a:latin typeface="Arial"/>
            </a:endParaRPr>
          </a:p>
        </p:txBody>
      </p:sp>
      <p:sp>
        <p:nvSpPr>
          <p:cNvPr id="328"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Lagos de datos / Lakehouses</a:t>
            </a:r>
            <a:endParaRPr lang="en-US" sz="4600" b="0" u="none" strike="noStrike">
              <a:solidFill>
                <a:srgbClr val="FFFFFF"/>
              </a:solidFill>
              <a:effectLst/>
              <a:uFillTx/>
              <a:latin typeface="Arial"/>
            </a:endParaRPr>
          </a:p>
        </p:txBody>
      </p:sp>
      <p:sp>
        <p:nvSpPr>
          <p:cNvPr id="329"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30"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PRODUCTOS</a:t>
            </a:r>
            <a:endParaRPr lang="en-US" sz="2000" b="0" u="none" strike="noStrike">
              <a:solidFill>
                <a:srgbClr val="FFFFFF"/>
              </a:solidFill>
              <a:effectLst/>
              <a:uFillTx/>
              <a:latin typeface="Arial"/>
            </a:endParaRPr>
          </a:p>
        </p:txBody>
      </p:sp>
      <p:sp>
        <p:nvSpPr>
          <p:cNvPr id="331"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S3 + Athena  •  Delta Lake  •  Iceberg  •  Snowflake</a:t>
            </a:r>
            <a:endParaRPr lang="en-US" sz="2800" b="0" u="none" strike="noStrike">
              <a:solidFill>
                <a:srgbClr val="FFFFFF"/>
              </a:solidFill>
              <a:effectLst/>
              <a:uFillTx/>
              <a:latin typeface="Arial"/>
            </a:endParaRPr>
          </a:p>
        </p:txBody>
      </p:sp>
      <p:sp>
        <p:nvSpPr>
          <p:cNvPr id="332"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USAR CUANDO</a:t>
            </a:r>
            <a:endParaRPr lang="en-US" sz="2000" b="0" u="none" strike="noStrike">
              <a:solidFill>
                <a:srgbClr val="FFFFFF"/>
              </a:solidFill>
              <a:effectLst/>
              <a:uFillTx/>
              <a:latin typeface="Arial"/>
            </a:endParaRPr>
          </a:p>
        </p:txBody>
      </p:sp>
      <p:sp>
        <p:nvSpPr>
          <p:cNvPr id="333"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Esquema en lectura en lugar de esquema en escritura. Volcar ahora, consultar después.</a:t>
            </a:r>
            <a:endParaRPr lang="en-US" sz="2400" b="0" u="none" strike="noStrike">
              <a:solidFill>
                <a:srgbClr val="FFFFFF"/>
              </a:solidFill>
              <a:effectLst/>
              <a:uFillTx/>
              <a:latin typeface="Arial"/>
            </a:endParaRPr>
          </a:p>
        </p:txBody>
      </p:sp>
      <p:sp>
        <p:nvSpPr>
          <p:cNvPr id="334"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TRAMPA DE SEGURIDAD</a:t>
            </a:r>
            <a:endParaRPr lang="en-US" sz="2000" b="0" u="none" strike="noStrike">
              <a:solidFill>
                <a:srgbClr val="FFFFFF"/>
              </a:solidFill>
              <a:effectLst/>
              <a:uFillTx/>
              <a:latin typeface="Arial"/>
            </a:endParaRPr>
          </a:p>
        </p:txBody>
      </p:sp>
      <p:sp>
        <p:nvSpPr>
          <p:cNvPr id="336"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Enormes repositorios de S3 + IAM permisivo, sin obligación de cifrado en reposo.</a:t>
            </a:r>
            <a:endParaRPr lang="en-US" sz="2400" b="0" u="none" strike="noStrike">
              <a:solidFill>
                <a:srgbClr val="FFFFFF"/>
              </a:solidFill>
              <a:effectLst/>
              <a:uFillTx/>
              <a:latin typeface="Arial"/>
            </a:endParaRPr>
          </a:p>
        </p:txBody>
      </p:sp>
      <p:sp>
        <p:nvSpPr>
          <p:cNvPr id="337"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338"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39" name="TextBox 1" descr="Three-column comparison of database services across AWS, GCP, and Azure: relational, document, warehouse, cache, graph, time-series, and object storage." title="Three-column comparison of database services across AWS, GCP, and Azure: relati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Servicios de BD en la nube — El panorama general</a:t>
            </a:r>
            <a:endParaRPr lang="en-US" sz="4200" b="0" u="none" strike="noStrike">
              <a:solidFill>
                <a:srgbClr val="FFFFFF"/>
              </a:solidFill>
              <a:effectLst/>
              <a:uFillTx/>
              <a:latin typeface="Arial"/>
            </a:endParaRPr>
          </a:p>
        </p:txBody>
      </p:sp>
      <p:sp>
        <p:nvSpPr>
          <p:cNvPr id="340"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41" name="Rectangle 3"/>
          <p:cNvSpPr/>
          <p:nvPr/>
        </p:nvSpPr>
        <p:spPr>
          <a:xfrm>
            <a:off x="457200" y="1554480"/>
            <a:ext cx="3748680" cy="63972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TextBox 4"/>
          <p:cNvSpPr/>
          <p:nvPr/>
        </p:nvSpPr>
        <p:spPr>
          <a:xfrm>
            <a:off x="45720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AWS</a:t>
            </a:r>
            <a:endParaRPr lang="en-US" sz="3200" b="0" u="none" strike="noStrike">
              <a:solidFill>
                <a:srgbClr val="FFFFFF"/>
              </a:solidFill>
              <a:effectLst/>
              <a:uFillTx/>
              <a:latin typeface="Arial"/>
            </a:endParaRPr>
          </a:p>
        </p:txBody>
      </p:sp>
      <p:sp>
        <p:nvSpPr>
          <p:cNvPr id="343" name="TextBox 5"/>
          <p:cNvSpPr/>
          <p:nvPr/>
        </p:nvSpPr>
        <p:spPr>
          <a:xfrm>
            <a:off x="54864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RDS, Aurora</a:t>
            </a:r>
            <a:endParaRPr lang="en-US" sz="1800" b="0" u="none" strike="noStrike">
              <a:solidFill>
                <a:srgbClr val="FFFFFF"/>
              </a:solidFill>
              <a:effectLst/>
              <a:uFillTx/>
              <a:latin typeface="Arial"/>
            </a:endParaRPr>
          </a:p>
        </p:txBody>
      </p:sp>
      <p:sp>
        <p:nvSpPr>
          <p:cNvPr id="344" name="TextBox 6"/>
          <p:cNvSpPr/>
          <p:nvPr/>
        </p:nvSpPr>
        <p:spPr>
          <a:xfrm>
            <a:off x="54864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DynamoDB, DocumentDB</a:t>
            </a:r>
            <a:endParaRPr lang="en-US" sz="1800" b="0" u="none" strike="noStrike">
              <a:solidFill>
                <a:srgbClr val="FFFFFF"/>
              </a:solidFill>
              <a:effectLst/>
              <a:uFillTx/>
              <a:latin typeface="Arial"/>
            </a:endParaRPr>
          </a:p>
        </p:txBody>
      </p:sp>
      <p:sp>
        <p:nvSpPr>
          <p:cNvPr id="345" name="TextBox 7"/>
          <p:cNvSpPr/>
          <p:nvPr/>
        </p:nvSpPr>
        <p:spPr>
          <a:xfrm>
            <a:off x="54864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Redshift, S3 + Athena</a:t>
            </a:r>
            <a:endParaRPr lang="en-US" sz="1800" b="0" u="none" strike="noStrike">
              <a:solidFill>
                <a:srgbClr val="FFFFFF"/>
              </a:solidFill>
              <a:effectLst/>
              <a:uFillTx/>
              <a:latin typeface="Arial"/>
            </a:endParaRPr>
          </a:p>
        </p:txBody>
      </p:sp>
      <p:sp>
        <p:nvSpPr>
          <p:cNvPr id="346" name="TextBox 8"/>
          <p:cNvSpPr/>
          <p:nvPr/>
        </p:nvSpPr>
        <p:spPr>
          <a:xfrm>
            <a:off x="54864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ElastiCache</a:t>
            </a:r>
            <a:endParaRPr lang="en-US" sz="1800" b="0" u="none" strike="noStrike">
              <a:solidFill>
                <a:srgbClr val="FFFFFF"/>
              </a:solidFill>
              <a:effectLst/>
              <a:uFillTx/>
              <a:latin typeface="Arial"/>
            </a:endParaRPr>
          </a:p>
        </p:txBody>
      </p:sp>
      <p:sp>
        <p:nvSpPr>
          <p:cNvPr id="347" name="TextBox 9"/>
          <p:cNvSpPr/>
          <p:nvPr/>
        </p:nvSpPr>
        <p:spPr>
          <a:xfrm>
            <a:off x="54864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Neptune (grafo)</a:t>
            </a:r>
            <a:endParaRPr lang="en-US" sz="1800" b="0" u="none" strike="noStrike">
              <a:solidFill>
                <a:srgbClr val="FFFFFF"/>
              </a:solidFill>
              <a:effectLst/>
              <a:uFillTx/>
              <a:latin typeface="Arial"/>
            </a:endParaRPr>
          </a:p>
        </p:txBody>
      </p:sp>
      <p:sp>
        <p:nvSpPr>
          <p:cNvPr id="348" name="TextBox 10"/>
          <p:cNvSpPr/>
          <p:nvPr/>
        </p:nvSpPr>
        <p:spPr>
          <a:xfrm>
            <a:off x="54864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Timestream</a:t>
            </a:r>
            <a:endParaRPr lang="en-US" sz="1800" b="0" u="none" strike="noStrike">
              <a:solidFill>
                <a:srgbClr val="FFFFFF"/>
              </a:solidFill>
              <a:effectLst/>
              <a:uFillTx/>
              <a:latin typeface="Arial"/>
            </a:endParaRPr>
          </a:p>
        </p:txBody>
      </p:sp>
      <p:sp>
        <p:nvSpPr>
          <p:cNvPr id="349" name="TextBox 11"/>
          <p:cNvSpPr/>
          <p:nvPr/>
        </p:nvSpPr>
        <p:spPr>
          <a:xfrm>
            <a:off x="54864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S3 (almacén de objetos)</a:t>
            </a:r>
            <a:endParaRPr lang="en-US" sz="1800" b="0" u="none" strike="noStrike">
              <a:solidFill>
                <a:srgbClr val="FFFFFF"/>
              </a:solidFill>
              <a:effectLst/>
              <a:uFillTx/>
              <a:latin typeface="Arial"/>
            </a:endParaRPr>
          </a:p>
        </p:txBody>
      </p:sp>
      <p:sp>
        <p:nvSpPr>
          <p:cNvPr id="350" name="Rectangle 12"/>
          <p:cNvSpPr/>
          <p:nvPr/>
        </p:nvSpPr>
        <p:spPr>
          <a:xfrm>
            <a:off x="4297680" y="1554480"/>
            <a:ext cx="3748680" cy="639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3"/>
          <p:cNvSpPr/>
          <p:nvPr/>
        </p:nvSpPr>
        <p:spPr>
          <a:xfrm>
            <a:off x="429768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GCP</a:t>
            </a:r>
            <a:endParaRPr lang="en-US" sz="3200" b="0" u="none" strike="noStrike">
              <a:solidFill>
                <a:srgbClr val="FFFFFF"/>
              </a:solidFill>
              <a:effectLst/>
              <a:uFillTx/>
              <a:latin typeface="Arial"/>
            </a:endParaRPr>
          </a:p>
        </p:txBody>
      </p:sp>
      <p:sp>
        <p:nvSpPr>
          <p:cNvPr id="352" name="TextBox 14"/>
          <p:cNvSpPr/>
          <p:nvPr/>
        </p:nvSpPr>
        <p:spPr>
          <a:xfrm>
            <a:off x="438912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SQL, AlloyDB</a:t>
            </a:r>
            <a:endParaRPr lang="en-US" sz="1800" b="0" u="none" strike="noStrike">
              <a:solidFill>
                <a:srgbClr val="FFFFFF"/>
              </a:solidFill>
              <a:effectLst/>
              <a:uFillTx/>
              <a:latin typeface="Arial"/>
            </a:endParaRPr>
          </a:p>
        </p:txBody>
      </p:sp>
      <p:sp>
        <p:nvSpPr>
          <p:cNvPr id="353" name="TextBox 15"/>
          <p:cNvSpPr/>
          <p:nvPr/>
        </p:nvSpPr>
        <p:spPr>
          <a:xfrm>
            <a:off x="438912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Firestore, Bigtable</a:t>
            </a:r>
            <a:endParaRPr lang="en-US" sz="1800" b="0" u="none" strike="noStrike">
              <a:solidFill>
                <a:srgbClr val="FFFFFF"/>
              </a:solidFill>
              <a:effectLst/>
              <a:uFillTx/>
              <a:latin typeface="Arial"/>
            </a:endParaRPr>
          </a:p>
        </p:txBody>
      </p:sp>
      <p:sp>
        <p:nvSpPr>
          <p:cNvPr id="354" name="TextBox 16"/>
          <p:cNvSpPr/>
          <p:nvPr/>
        </p:nvSpPr>
        <p:spPr>
          <a:xfrm>
            <a:off x="438912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BigQuery</a:t>
            </a:r>
            <a:endParaRPr lang="en-US" sz="1800" b="0" u="none" strike="noStrike">
              <a:solidFill>
                <a:srgbClr val="FFFFFF"/>
              </a:solidFill>
              <a:effectLst/>
              <a:uFillTx/>
              <a:latin typeface="Arial"/>
            </a:endParaRPr>
          </a:p>
        </p:txBody>
      </p:sp>
      <p:sp>
        <p:nvSpPr>
          <p:cNvPr id="355" name="TextBox 17"/>
          <p:cNvSpPr/>
          <p:nvPr/>
        </p:nvSpPr>
        <p:spPr>
          <a:xfrm>
            <a:off x="438912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Memorystore</a:t>
            </a:r>
            <a:endParaRPr lang="en-US" sz="1800" b="0" u="none" strike="noStrike">
              <a:solidFill>
                <a:srgbClr val="FFFFFF"/>
              </a:solidFill>
              <a:effectLst/>
              <a:uFillTx/>
              <a:latin typeface="Arial"/>
            </a:endParaRPr>
          </a:p>
        </p:txBody>
      </p:sp>
      <p:sp>
        <p:nvSpPr>
          <p:cNvPr id="356" name="TextBox 18"/>
          <p:cNvSpPr/>
          <p:nvPr/>
        </p:nvSpPr>
        <p:spPr>
          <a:xfrm>
            <a:off x="438912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(próximamente)</a:t>
            </a:r>
            <a:endParaRPr lang="en-US" sz="1800" b="0" u="none" strike="noStrike">
              <a:solidFill>
                <a:srgbClr val="FFFFFF"/>
              </a:solidFill>
              <a:effectLst/>
              <a:uFillTx/>
              <a:latin typeface="Arial"/>
            </a:endParaRPr>
          </a:p>
        </p:txBody>
      </p:sp>
      <p:sp>
        <p:nvSpPr>
          <p:cNvPr id="357" name="TextBox 19"/>
          <p:cNvSpPr/>
          <p:nvPr/>
        </p:nvSpPr>
        <p:spPr>
          <a:xfrm>
            <a:off x="438912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(BYO)</a:t>
            </a:r>
            <a:endParaRPr lang="en-US" sz="1800" b="0" u="none" strike="noStrike">
              <a:solidFill>
                <a:srgbClr val="FFFFFF"/>
              </a:solidFill>
              <a:effectLst/>
              <a:uFillTx/>
              <a:latin typeface="Arial"/>
            </a:endParaRPr>
          </a:p>
        </p:txBody>
      </p:sp>
      <p:sp>
        <p:nvSpPr>
          <p:cNvPr id="358" name="TextBox 20"/>
          <p:cNvSpPr/>
          <p:nvPr/>
        </p:nvSpPr>
        <p:spPr>
          <a:xfrm>
            <a:off x="438912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Storage</a:t>
            </a:r>
            <a:endParaRPr lang="en-US" sz="1800" b="0" u="none" strike="noStrike">
              <a:solidFill>
                <a:srgbClr val="FFFFFF"/>
              </a:solidFill>
              <a:effectLst/>
              <a:uFillTx/>
              <a:latin typeface="Arial"/>
            </a:endParaRPr>
          </a:p>
        </p:txBody>
      </p:sp>
      <p:sp>
        <p:nvSpPr>
          <p:cNvPr id="359" name="Rectangle 21"/>
          <p:cNvSpPr/>
          <p:nvPr/>
        </p:nvSpPr>
        <p:spPr>
          <a:xfrm>
            <a:off x="8138160" y="1554480"/>
            <a:ext cx="3748680" cy="63972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2"/>
          <p:cNvSpPr/>
          <p:nvPr/>
        </p:nvSpPr>
        <p:spPr>
          <a:xfrm>
            <a:off x="813816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Azure</a:t>
            </a:r>
            <a:endParaRPr lang="en-US" sz="3200" b="0" u="none" strike="noStrike">
              <a:solidFill>
                <a:srgbClr val="FFFFFF"/>
              </a:solidFill>
              <a:effectLst/>
              <a:uFillTx/>
              <a:latin typeface="Arial"/>
            </a:endParaRPr>
          </a:p>
        </p:txBody>
      </p:sp>
      <p:sp>
        <p:nvSpPr>
          <p:cNvPr id="361" name="TextBox 23"/>
          <p:cNvSpPr/>
          <p:nvPr/>
        </p:nvSpPr>
        <p:spPr>
          <a:xfrm>
            <a:off x="822960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SQL DB</a:t>
            </a:r>
            <a:endParaRPr lang="en-US" sz="1800" b="0" u="none" strike="noStrike">
              <a:solidFill>
                <a:srgbClr val="FFFFFF"/>
              </a:solidFill>
              <a:effectLst/>
              <a:uFillTx/>
              <a:latin typeface="Arial"/>
            </a:endParaRPr>
          </a:p>
        </p:txBody>
      </p:sp>
      <p:sp>
        <p:nvSpPr>
          <p:cNvPr id="362" name="TextBox 24"/>
          <p:cNvSpPr/>
          <p:nvPr/>
        </p:nvSpPr>
        <p:spPr>
          <a:xfrm>
            <a:off x="822960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(camaleón)</a:t>
            </a:r>
            <a:endParaRPr lang="en-US" sz="1800" b="0" u="none" strike="noStrike">
              <a:solidFill>
                <a:srgbClr val="FFFFFF"/>
              </a:solidFill>
              <a:effectLst/>
              <a:uFillTx/>
              <a:latin typeface="Arial"/>
            </a:endParaRPr>
          </a:p>
        </p:txBody>
      </p:sp>
      <p:sp>
        <p:nvSpPr>
          <p:cNvPr id="363" name="TextBox 25"/>
          <p:cNvSpPr/>
          <p:nvPr/>
        </p:nvSpPr>
        <p:spPr>
          <a:xfrm>
            <a:off x="822960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Synapse Analytics</a:t>
            </a:r>
            <a:endParaRPr lang="en-US" sz="1800" b="0" u="none" strike="noStrike">
              <a:solidFill>
                <a:srgbClr val="FFFFFF"/>
              </a:solidFill>
              <a:effectLst/>
              <a:uFillTx/>
              <a:latin typeface="Arial"/>
            </a:endParaRPr>
          </a:p>
        </p:txBody>
      </p:sp>
      <p:sp>
        <p:nvSpPr>
          <p:cNvPr id="364" name="TextBox 26"/>
          <p:cNvSpPr/>
          <p:nvPr/>
        </p:nvSpPr>
        <p:spPr>
          <a:xfrm>
            <a:off x="822960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Cache for Redis</a:t>
            </a:r>
            <a:endParaRPr lang="en-US" sz="1800" b="0" u="none" strike="noStrike">
              <a:solidFill>
                <a:srgbClr val="FFFFFF"/>
              </a:solidFill>
              <a:effectLst/>
              <a:uFillTx/>
              <a:latin typeface="Arial"/>
            </a:endParaRPr>
          </a:p>
        </p:txBody>
      </p:sp>
      <p:sp>
        <p:nvSpPr>
          <p:cNvPr id="365" name="TextBox 27"/>
          <p:cNvSpPr/>
          <p:nvPr/>
        </p:nvSpPr>
        <p:spPr>
          <a:xfrm>
            <a:off x="822960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modo grafo</a:t>
            </a:r>
            <a:endParaRPr lang="en-US" sz="1800" b="0" u="none" strike="noStrike">
              <a:solidFill>
                <a:srgbClr val="FFFFFF"/>
              </a:solidFill>
              <a:effectLst/>
              <a:uFillTx/>
              <a:latin typeface="Arial"/>
            </a:endParaRPr>
          </a:p>
        </p:txBody>
      </p:sp>
      <p:sp>
        <p:nvSpPr>
          <p:cNvPr id="366" name="TextBox 28"/>
          <p:cNvSpPr/>
          <p:nvPr/>
        </p:nvSpPr>
        <p:spPr>
          <a:xfrm>
            <a:off x="822960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(BYO)</a:t>
            </a:r>
            <a:endParaRPr lang="en-US" sz="1800" b="0" u="none" strike="noStrike">
              <a:solidFill>
                <a:srgbClr val="FFFFFF"/>
              </a:solidFill>
              <a:effectLst/>
              <a:uFillTx/>
              <a:latin typeface="Arial"/>
            </a:endParaRPr>
          </a:p>
        </p:txBody>
      </p:sp>
      <p:sp>
        <p:nvSpPr>
          <p:cNvPr id="367" name="TextBox 29"/>
          <p:cNvSpPr/>
          <p:nvPr/>
        </p:nvSpPr>
        <p:spPr>
          <a:xfrm>
            <a:off x="822960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Blob Storage</a:t>
            </a:r>
            <a:endParaRPr lang="en-US" sz="1800" b="0" u="none" strike="noStrike">
              <a:solidFill>
                <a:srgbClr val="FFFFFF"/>
              </a:solidFill>
              <a:effectLst/>
              <a:uFillTx/>
              <a:latin typeface="Arial"/>
            </a:endParaRPr>
          </a:p>
        </p:txBody>
      </p:sp>
      <p:sp>
        <p:nvSpPr>
          <p:cNvPr id="368" name="TextBox 3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369" name="TextBox 3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70" name="TextBox 1" descr="Cheat-sheet table comparing AWS, GCP, and Azure services across eight database categories." title="Cheat-sheet table comparing AWS, GCP, and Azure services across eight database c"/>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Hoja de referencia de BD en la nube</a:t>
            </a:r>
            <a:endParaRPr lang="en-US" sz="3800" b="0" u="none" strike="noStrike">
              <a:solidFill>
                <a:srgbClr val="FFFFFF"/>
              </a:solidFill>
              <a:effectLst/>
              <a:uFillTx/>
              <a:latin typeface="Arial"/>
            </a:endParaRPr>
          </a:p>
        </p:txBody>
      </p:sp>
      <p:sp>
        <p:nvSpPr>
          <p:cNvPr id="37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72" name="Rectangle 3"/>
          <p:cNvSpPr/>
          <p:nvPr/>
        </p:nvSpPr>
        <p:spPr>
          <a:xfrm>
            <a:off x="457200" y="1600200"/>
            <a:ext cx="11246760" cy="5025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4"/>
          <p:cNvSpPr/>
          <p:nvPr/>
        </p:nvSpPr>
        <p:spPr>
          <a:xfrm>
            <a:off x="548640" y="16459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CATEGORÍA</a:t>
            </a:r>
            <a:endParaRPr lang="en-US" sz="2000" b="0" u="none" strike="noStrike">
              <a:solidFill>
                <a:srgbClr val="FFFFFF"/>
              </a:solidFill>
              <a:effectLst/>
              <a:uFillTx/>
              <a:latin typeface="Arial"/>
            </a:endParaRPr>
          </a:p>
        </p:txBody>
      </p:sp>
      <p:sp>
        <p:nvSpPr>
          <p:cNvPr id="374" name="TextBox 5"/>
          <p:cNvSpPr/>
          <p:nvPr/>
        </p:nvSpPr>
        <p:spPr>
          <a:xfrm>
            <a:off x="329184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AWS</a:t>
            </a:r>
            <a:endParaRPr lang="en-US" sz="2000" b="0" u="none" strike="noStrike">
              <a:solidFill>
                <a:srgbClr val="FFFFFF"/>
              </a:solidFill>
              <a:effectLst/>
              <a:uFillTx/>
              <a:latin typeface="Arial"/>
            </a:endParaRPr>
          </a:p>
        </p:txBody>
      </p:sp>
      <p:sp>
        <p:nvSpPr>
          <p:cNvPr id="375" name="TextBox 6"/>
          <p:cNvSpPr/>
          <p:nvPr/>
        </p:nvSpPr>
        <p:spPr>
          <a:xfrm>
            <a:off x="594360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GCP</a:t>
            </a:r>
            <a:endParaRPr lang="en-US" sz="2000" b="0" u="none" strike="noStrike">
              <a:solidFill>
                <a:srgbClr val="FFFFFF"/>
              </a:solidFill>
              <a:effectLst/>
              <a:uFillTx/>
              <a:latin typeface="Arial"/>
            </a:endParaRPr>
          </a:p>
        </p:txBody>
      </p:sp>
      <p:sp>
        <p:nvSpPr>
          <p:cNvPr id="376" name="TextBox 7"/>
          <p:cNvSpPr/>
          <p:nvPr/>
        </p:nvSpPr>
        <p:spPr>
          <a:xfrm>
            <a:off x="8595360" y="16459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AZURE</a:t>
            </a:r>
            <a:endParaRPr lang="en-US" sz="2000" b="0" u="none" strike="noStrike">
              <a:solidFill>
                <a:srgbClr val="FFFFFF"/>
              </a:solidFill>
              <a:effectLst/>
              <a:uFillTx/>
              <a:latin typeface="Arial"/>
            </a:endParaRPr>
          </a:p>
        </p:txBody>
      </p:sp>
      <p:sp>
        <p:nvSpPr>
          <p:cNvPr id="377" name="TextBox 8"/>
          <p:cNvSpPr/>
          <p:nvPr/>
        </p:nvSpPr>
        <p:spPr>
          <a:xfrm>
            <a:off x="548640" y="21488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Relacional</a:t>
            </a:r>
            <a:endParaRPr lang="en-US" sz="2000" b="0" u="none" strike="noStrike">
              <a:solidFill>
                <a:srgbClr val="FFFFFF"/>
              </a:solidFill>
              <a:effectLst/>
              <a:uFillTx/>
              <a:latin typeface="Arial"/>
            </a:endParaRPr>
          </a:p>
        </p:txBody>
      </p:sp>
      <p:sp>
        <p:nvSpPr>
          <p:cNvPr id="378" name="TextBox 9"/>
          <p:cNvSpPr/>
          <p:nvPr/>
        </p:nvSpPr>
        <p:spPr>
          <a:xfrm>
            <a:off x="329184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RDS / Aurora</a:t>
            </a:r>
            <a:endParaRPr lang="en-US" sz="2000" b="0" u="none" strike="noStrike">
              <a:solidFill>
                <a:srgbClr val="FFFFFF"/>
              </a:solidFill>
              <a:effectLst/>
              <a:uFillTx/>
              <a:latin typeface="Arial"/>
            </a:endParaRPr>
          </a:p>
        </p:txBody>
      </p:sp>
      <p:sp>
        <p:nvSpPr>
          <p:cNvPr id="379" name="TextBox 10"/>
          <p:cNvSpPr/>
          <p:nvPr/>
        </p:nvSpPr>
        <p:spPr>
          <a:xfrm>
            <a:off x="594360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SQL / AlloyDB</a:t>
            </a:r>
            <a:endParaRPr lang="en-US" sz="2000" b="0" u="none" strike="noStrike">
              <a:solidFill>
                <a:srgbClr val="FFFFFF"/>
              </a:solidFill>
              <a:effectLst/>
              <a:uFillTx/>
              <a:latin typeface="Arial"/>
            </a:endParaRPr>
          </a:p>
        </p:txBody>
      </p:sp>
      <p:sp>
        <p:nvSpPr>
          <p:cNvPr id="380" name="TextBox 11"/>
          <p:cNvSpPr/>
          <p:nvPr/>
        </p:nvSpPr>
        <p:spPr>
          <a:xfrm>
            <a:off x="8595360" y="21488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Azure SQL DB</a:t>
            </a:r>
            <a:endParaRPr lang="en-US" sz="2000" b="0" u="none" strike="noStrike">
              <a:solidFill>
                <a:srgbClr val="FFFFFF"/>
              </a:solidFill>
              <a:effectLst/>
              <a:uFillTx/>
              <a:latin typeface="Arial"/>
            </a:endParaRPr>
          </a:p>
        </p:txBody>
      </p:sp>
      <p:sp>
        <p:nvSpPr>
          <p:cNvPr id="381" name="Rectangle 12"/>
          <p:cNvSpPr/>
          <p:nvPr/>
        </p:nvSpPr>
        <p:spPr>
          <a:xfrm>
            <a:off x="457200" y="260604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2" name="TextBox 13"/>
          <p:cNvSpPr/>
          <p:nvPr/>
        </p:nvSpPr>
        <p:spPr>
          <a:xfrm>
            <a:off x="548640" y="26517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Documental/NoSQL</a:t>
            </a:r>
            <a:endParaRPr lang="en-US" sz="2000" b="0" u="none" strike="noStrike">
              <a:solidFill>
                <a:srgbClr val="FFFFFF"/>
              </a:solidFill>
              <a:effectLst/>
              <a:uFillTx/>
              <a:latin typeface="Arial"/>
            </a:endParaRPr>
          </a:p>
        </p:txBody>
      </p:sp>
      <p:sp>
        <p:nvSpPr>
          <p:cNvPr id="383" name="TextBox 14"/>
          <p:cNvSpPr/>
          <p:nvPr/>
        </p:nvSpPr>
        <p:spPr>
          <a:xfrm>
            <a:off x="329184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DynamoDB / DocDB</a:t>
            </a:r>
            <a:endParaRPr lang="en-US" sz="2000" b="0" u="none" strike="noStrike">
              <a:solidFill>
                <a:srgbClr val="FFFFFF"/>
              </a:solidFill>
              <a:effectLst/>
              <a:uFillTx/>
              <a:latin typeface="Arial"/>
            </a:endParaRPr>
          </a:p>
        </p:txBody>
      </p:sp>
      <p:sp>
        <p:nvSpPr>
          <p:cNvPr id="384" name="TextBox 15"/>
          <p:cNvSpPr/>
          <p:nvPr/>
        </p:nvSpPr>
        <p:spPr>
          <a:xfrm>
            <a:off x="594360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Firestore / Bigtable</a:t>
            </a:r>
            <a:endParaRPr lang="en-US" sz="2000" b="0" u="none" strike="noStrike">
              <a:solidFill>
                <a:srgbClr val="FFFFFF"/>
              </a:solidFill>
              <a:effectLst/>
              <a:uFillTx/>
              <a:latin typeface="Arial"/>
            </a:endParaRPr>
          </a:p>
        </p:txBody>
      </p:sp>
      <p:sp>
        <p:nvSpPr>
          <p:cNvPr id="385" name="TextBox 16"/>
          <p:cNvSpPr/>
          <p:nvPr/>
        </p:nvSpPr>
        <p:spPr>
          <a:xfrm>
            <a:off x="8595360" y="26517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a:t>
            </a:r>
            <a:endParaRPr lang="en-US" sz="2000" b="0" u="none" strike="noStrike">
              <a:solidFill>
                <a:srgbClr val="FFFFFF"/>
              </a:solidFill>
              <a:effectLst/>
              <a:uFillTx/>
              <a:latin typeface="Arial"/>
            </a:endParaRPr>
          </a:p>
        </p:txBody>
      </p:sp>
      <p:sp>
        <p:nvSpPr>
          <p:cNvPr id="386" name="TextBox 17"/>
          <p:cNvSpPr/>
          <p:nvPr/>
        </p:nvSpPr>
        <p:spPr>
          <a:xfrm>
            <a:off x="548640" y="315468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Almacén de datos</a:t>
            </a:r>
            <a:endParaRPr lang="en-US" sz="2000" b="0" u="none" strike="noStrike">
              <a:solidFill>
                <a:srgbClr val="FFFFFF"/>
              </a:solidFill>
              <a:effectLst/>
              <a:uFillTx/>
              <a:latin typeface="Arial"/>
            </a:endParaRPr>
          </a:p>
        </p:txBody>
      </p:sp>
      <p:sp>
        <p:nvSpPr>
          <p:cNvPr id="387" name="TextBox 18"/>
          <p:cNvSpPr/>
          <p:nvPr/>
        </p:nvSpPr>
        <p:spPr>
          <a:xfrm>
            <a:off x="329184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Redshift / Athena</a:t>
            </a:r>
            <a:endParaRPr lang="en-US" sz="2000" b="0" u="none" strike="noStrike">
              <a:solidFill>
                <a:srgbClr val="FFFFFF"/>
              </a:solidFill>
              <a:effectLst/>
              <a:uFillTx/>
              <a:latin typeface="Arial"/>
            </a:endParaRPr>
          </a:p>
        </p:txBody>
      </p:sp>
      <p:sp>
        <p:nvSpPr>
          <p:cNvPr id="388" name="TextBox 19"/>
          <p:cNvSpPr/>
          <p:nvPr/>
        </p:nvSpPr>
        <p:spPr>
          <a:xfrm>
            <a:off x="594360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BigQuery</a:t>
            </a:r>
            <a:endParaRPr lang="en-US" sz="2000" b="0" u="none" strike="noStrike">
              <a:solidFill>
                <a:srgbClr val="FFFFFF"/>
              </a:solidFill>
              <a:effectLst/>
              <a:uFillTx/>
              <a:latin typeface="Arial"/>
            </a:endParaRPr>
          </a:p>
        </p:txBody>
      </p:sp>
      <p:sp>
        <p:nvSpPr>
          <p:cNvPr id="389" name="TextBox 20"/>
          <p:cNvSpPr/>
          <p:nvPr/>
        </p:nvSpPr>
        <p:spPr>
          <a:xfrm>
            <a:off x="8595360" y="315468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Synapse</a:t>
            </a:r>
            <a:endParaRPr lang="en-US" sz="2000" b="0" u="none" strike="noStrike">
              <a:solidFill>
                <a:srgbClr val="FFFFFF"/>
              </a:solidFill>
              <a:effectLst/>
              <a:uFillTx/>
              <a:latin typeface="Arial"/>
            </a:endParaRPr>
          </a:p>
        </p:txBody>
      </p:sp>
      <p:sp>
        <p:nvSpPr>
          <p:cNvPr id="390" name="Rectangle 21"/>
          <p:cNvSpPr/>
          <p:nvPr/>
        </p:nvSpPr>
        <p:spPr>
          <a:xfrm>
            <a:off x="457200" y="361188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22"/>
          <p:cNvSpPr/>
          <p:nvPr/>
        </p:nvSpPr>
        <p:spPr>
          <a:xfrm>
            <a:off x="548640" y="365760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Caché</a:t>
            </a:r>
            <a:endParaRPr lang="en-US" sz="2000" b="0" u="none" strike="noStrike">
              <a:solidFill>
                <a:srgbClr val="FFFFFF"/>
              </a:solidFill>
              <a:effectLst/>
              <a:uFillTx/>
              <a:latin typeface="Arial"/>
            </a:endParaRPr>
          </a:p>
        </p:txBody>
      </p:sp>
      <p:sp>
        <p:nvSpPr>
          <p:cNvPr id="392" name="TextBox 23"/>
          <p:cNvSpPr/>
          <p:nvPr/>
        </p:nvSpPr>
        <p:spPr>
          <a:xfrm>
            <a:off x="329184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ElastiCache</a:t>
            </a:r>
            <a:endParaRPr lang="en-US" sz="2000" b="0" u="none" strike="noStrike">
              <a:solidFill>
                <a:srgbClr val="FFFFFF"/>
              </a:solidFill>
              <a:effectLst/>
              <a:uFillTx/>
              <a:latin typeface="Arial"/>
            </a:endParaRPr>
          </a:p>
        </p:txBody>
      </p:sp>
      <p:sp>
        <p:nvSpPr>
          <p:cNvPr id="393" name="TextBox 24"/>
          <p:cNvSpPr/>
          <p:nvPr/>
        </p:nvSpPr>
        <p:spPr>
          <a:xfrm>
            <a:off x="594360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Memorystore</a:t>
            </a:r>
            <a:endParaRPr lang="en-US" sz="2000" b="0" u="none" strike="noStrike">
              <a:solidFill>
                <a:srgbClr val="FFFFFF"/>
              </a:solidFill>
              <a:effectLst/>
              <a:uFillTx/>
              <a:latin typeface="Arial"/>
            </a:endParaRPr>
          </a:p>
        </p:txBody>
      </p:sp>
      <p:sp>
        <p:nvSpPr>
          <p:cNvPr id="394" name="TextBox 25"/>
          <p:cNvSpPr/>
          <p:nvPr/>
        </p:nvSpPr>
        <p:spPr>
          <a:xfrm>
            <a:off x="8595360" y="365760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Cache for Redis</a:t>
            </a:r>
            <a:endParaRPr lang="en-US" sz="2000" b="0" u="none" strike="noStrike">
              <a:solidFill>
                <a:srgbClr val="FFFFFF"/>
              </a:solidFill>
              <a:effectLst/>
              <a:uFillTx/>
              <a:latin typeface="Arial"/>
            </a:endParaRPr>
          </a:p>
        </p:txBody>
      </p:sp>
      <p:sp>
        <p:nvSpPr>
          <p:cNvPr id="395" name="TextBox 26"/>
          <p:cNvSpPr/>
          <p:nvPr/>
        </p:nvSpPr>
        <p:spPr>
          <a:xfrm>
            <a:off x="548640" y="41605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Grafo</a:t>
            </a:r>
            <a:endParaRPr lang="en-US" sz="2000" b="0" u="none" strike="noStrike">
              <a:solidFill>
                <a:srgbClr val="FFFFFF"/>
              </a:solidFill>
              <a:effectLst/>
              <a:uFillTx/>
              <a:latin typeface="Arial"/>
            </a:endParaRPr>
          </a:p>
        </p:txBody>
      </p:sp>
      <p:sp>
        <p:nvSpPr>
          <p:cNvPr id="396" name="TextBox 27"/>
          <p:cNvSpPr/>
          <p:nvPr/>
        </p:nvSpPr>
        <p:spPr>
          <a:xfrm>
            <a:off x="329184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Neptune</a:t>
            </a:r>
            <a:endParaRPr lang="en-US" sz="2000" b="0" u="none" strike="noStrike">
              <a:solidFill>
                <a:srgbClr val="FFFFFF"/>
              </a:solidFill>
              <a:effectLst/>
              <a:uFillTx/>
              <a:latin typeface="Arial"/>
            </a:endParaRPr>
          </a:p>
        </p:txBody>
      </p:sp>
      <p:sp>
        <p:nvSpPr>
          <p:cNvPr id="397" name="TextBox 28"/>
          <p:cNvSpPr/>
          <p:nvPr/>
        </p:nvSpPr>
        <p:spPr>
          <a:xfrm>
            <a:off x="594360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398" name="TextBox 29"/>
          <p:cNvSpPr/>
          <p:nvPr/>
        </p:nvSpPr>
        <p:spPr>
          <a:xfrm>
            <a:off x="8595360" y="41605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 grafo</a:t>
            </a:r>
            <a:endParaRPr lang="en-US" sz="2000" b="0" u="none" strike="noStrike">
              <a:solidFill>
                <a:srgbClr val="FFFFFF"/>
              </a:solidFill>
              <a:effectLst/>
              <a:uFillTx/>
              <a:latin typeface="Arial"/>
            </a:endParaRPr>
          </a:p>
        </p:txBody>
      </p:sp>
      <p:sp>
        <p:nvSpPr>
          <p:cNvPr id="399" name="Rectangle 30"/>
          <p:cNvSpPr/>
          <p:nvPr/>
        </p:nvSpPr>
        <p:spPr>
          <a:xfrm>
            <a:off x="457200" y="461772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0" name="TextBox 31"/>
          <p:cNvSpPr/>
          <p:nvPr/>
        </p:nvSpPr>
        <p:spPr>
          <a:xfrm>
            <a:off x="548640" y="46634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Series temporales</a:t>
            </a:r>
            <a:endParaRPr lang="en-US" sz="2000" b="0" u="none" strike="noStrike">
              <a:solidFill>
                <a:srgbClr val="FFFFFF"/>
              </a:solidFill>
              <a:effectLst/>
              <a:uFillTx/>
              <a:latin typeface="Arial"/>
            </a:endParaRPr>
          </a:p>
        </p:txBody>
      </p:sp>
      <p:sp>
        <p:nvSpPr>
          <p:cNvPr id="401" name="TextBox 32"/>
          <p:cNvSpPr/>
          <p:nvPr/>
        </p:nvSpPr>
        <p:spPr>
          <a:xfrm>
            <a:off x="329184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Timestream</a:t>
            </a:r>
            <a:endParaRPr lang="en-US" sz="2000" b="0" u="none" strike="noStrike">
              <a:solidFill>
                <a:srgbClr val="FFFFFF"/>
              </a:solidFill>
              <a:effectLst/>
              <a:uFillTx/>
              <a:latin typeface="Arial"/>
            </a:endParaRPr>
          </a:p>
        </p:txBody>
      </p:sp>
      <p:sp>
        <p:nvSpPr>
          <p:cNvPr id="402" name="TextBox 33"/>
          <p:cNvSpPr/>
          <p:nvPr/>
        </p:nvSpPr>
        <p:spPr>
          <a:xfrm>
            <a:off x="594360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3" name="TextBox 34"/>
          <p:cNvSpPr/>
          <p:nvPr/>
        </p:nvSpPr>
        <p:spPr>
          <a:xfrm>
            <a:off x="8595360" y="46634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4" name="TextBox 35"/>
          <p:cNvSpPr/>
          <p:nvPr/>
        </p:nvSpPr>
        <p:spPr>
          <a:xfrm>
            <a:off x="548640" y="51663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Almacenamiento de objetos</a:t>
            </a:r>
            <a:endParaRPr lang="en-US" sz="2000" b="0" u="none" strike="noStrike">
              <a:solidFill>
                <a:srgbClr val="FFFFFF"/>
              </a:solidFill>
              <a:effectLst/>
              <a:uFillTx/>
              <a:latin typeface="Arial"/>
            </a:endParaRPr>
          </a:p>
        </p:txBody>
      </p:sp>
      <p:sp>
        <p:nvSpPr>
          <p:cNvPr id="405" name="TextBox 36"/>
          <p:cNvSpPr/>
          <p:nvPr/>
        </p:nvSpPr>
        <p:spPr>
          <a:xfrm>
            <a:off x="329184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S3</a:t>
            </a:r>
            <a:endParaRPr lang="en-US" sz="2000" b="0" u="none" strike="noStrike">
              <a:solidFill>
                <a:srgbClr val="FFFFFF"/>
              </a:solidFill>
              <a:effectLst/>
              <a:uFillTx/>
              <a:latin typeface="Arial"/>
            </a:endParaRPr>
          </a:p>
        </p:txBody>
      </p:sp>
      <p:sp>
        <p:nvSpPr>
          <p:cNvPr id="406" name="TextBox 37"/>
          <p:cNvSpPr/>
          <p:nvPr/>
        </p:nvSpPr>
        <p:spPr>
          <a:xfrm>
            <a:off x="594360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Storage</a:t>
            </a:r>
            <a:endParaRPr lang="en-US" sz="2000" b="0" u="none" strike="noStrike">
              <a:solidFill>
                <a:srgbClr val="FFFFFF"/>
              </a:solidFill>
              <a:effectLst/>
              <a:uFillTx/>
              <a:latin typeface="Arial"/>
            </a:endParaRPr>
          </a:p>
        </p:txBody>
      </p:sp>
      <p:sp>
        <p:nvSpPr>
          <p:cNvPr id="407" name="TextBox 38"/>
          <p:cNvSpPr/>
          <p:nvPr/>
        </p:nvSpPr>
        <p:spPr>
          <a:xfrm>
            <a:off x="8595360" y="51663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Blob Storage</a:t>
            </a:r>
            <a:endParaRPr lang="en-US" sz="2000" b="0" u="none" strike="noStrike">
              <a:solidFill>
                <a:srgbClr val="FFFFFF"/>
              </a:solidFill>
              <a:effectLst/>
              <a:uFillTx/>
              <a:latin typeface="Arial"/>
            </a:endParaRPr>
          </a:p>
        </p:txBody>
      </p:sp>
      <p:sp>
        <p:nvSpPr>
          <p:cNvPr id="408"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09"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10" name="TextBox 1" descr="Two-column diagram contrasting what the cloud vendor owns (hypervisor, engine, hardware) versus what the customer owns (config, IAM, data, encryption)." title="Two-column diagram contrasting what the cloud vendor owns (hypervisor, engine, 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Modelo de responsabilidad compartida</a:t>
            </a:r>
            <a:endParaRPr lang="en-US" sz="4200" b="0" u="none" strike="noStrike">
              <a:solidFill>
                <a:srgbClr val="FFFFFF"/>
              </a:solidFill>
              <a:effectLst/>
              <a:uFillTx/>
              <a:latin typeface="Arial"/>
            </a:endParaRPr>
          </a:p>
        </p:txBody>
      </p:sp>
      <p:sp>
        <p:nvSpPr>
          <p:cNvPr id="4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12" name="Rounded Rectangle 3"/>
          <p:cNvSpPr/>
          <p:nvPr/>
        </p:nvSpPr>
        <p:spPr>
          <a:xfrm>
            <a:off x="457200" y="1828800"/>
            <a:ext cx="5577480" cy="4114440"/>
          </a:xfrm>
          <a:prstGeom prst="roundRect">
            <a:avLst>
              <a:gd name="adj" fmla="val 16667"/>
            </a:avLst>
          </a:prstGeom>
          <a:solidFill>
            <a:srgbClr val="122A18"/>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4"/>
          <p:cNvSpPr/>
          <p:nvPr/>
        </p:nvSpPr>
        <p:spPr>
          <a:xfrm>
            <a:off x="548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00FF41"/>
                </a:solidFill>
                <a:effectLst/>
                <a:uFillTx/>
                <a:latin typeface="Calibri"/>
              </a:rPr>
              <a:t>✓  EL PROVEEDOR DE NUBE ES DUEÑO DE</a:t>
            </a:r>
            <a:endParaRPr lang="en-US" sz="2400" b="0" u="none" strike="noStrike">
              <a:solidFill>
                <a:srgbClr val="FFFFFF"/>
              </a:solidFill>
              <a:effectLst/>
              <a:uFillTx/>
              <a:latin typeface="Arial"/>
            </a:endParaRPr>
          </a:p>
        </p:txBody>
      </p:sp>
      <p:sp>
        <p:nvSpPr>
          <p:cNvPr id="414" name="TextBox 5"/>
          <p:cNvSpPr/>
          <p:nvPr/>
        </p:nvSpPr>
        <p:spPr>
          <a:xfrm>
            <a:off x="640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Hipervisor y hardware</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Parches del motor de BD</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Seguridad física</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Red subyacente</a:t>
            </a:r>
            <a:endParaRPr lang="en-US" sz="2400" b="0" u="none" strike="noStrike">
              <a:solidFill>
                <a:srgbClr val="FFFFFF"/>
              </a:solidFill>
              <a:effectLst/>
              <a:uFillTx/>
              <a:latin typeface="Arial"/>
            </a:endParaRPr>
          </a:p>
        </p:txBody>
      </p:sp>
      <p:sp>
        <p:nvSpPr>
          <p:cNvPr id="415" name="Rounded Rectangle 6"/>
          <p:cNvSpPr/>
          <p:nvPr/>
        </p:nvSpPr>
        <p:spPr>
          <a:xfrm>
            <a:off x="6172200" y="1828800"/>
            <a:ext cx="5577480" cy="4114440"/>
          </a:xfrm>
          <a:prstGeom prst="roundRect">
            <a:avLst>
              <a:gd name="adj" fmla="val 16667"/>
            </a:avLst>
          </a:prstGeom>
          <a:solidFill>
            <a:srgbClr val="3A1F14"/>
          </a:solidFill>
          <a:ln w="3810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6" name="TextBox 7"/>
          <p:cNvSpPr/>
          <p:nvPr/>
        </p:nvSpPr>
        <p:spPr>
          <a:xfrm>
            <a:off x="6263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TÚ ERES DUEÑO DE</a:t>
            </a:r>
            <a:endParaRPr lang="en-US" sz="2400" b="0" u="none" strike="noStrike">
              <a:solidFill>
                <a:srgbClr val="FFFFFF"/>
              </a:solidFill>
              <a:effectLst/>
              <a:uFillTx/>
              <a:latin typeface="Arial"/>
            </a:endParaRPr>
          </a:p>
        </p:txBody>
      </p:sp>
      <p:sp>
        <p:nvSpPr>
          <p:cNvPr id="417" name="TextBox 8"/>
          <p:cNvSpPr/>
          <p:nvPr/>
        </p:nvSpPr>
        <p:spPr>
          <a:xfrm>
            <a:off x="6355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Configuración</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Políticas de acceso (IAM)</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Los datos en sí</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Decisiones de cifrado</a:t>
            </a:r>
            <a:endParaRPr lang="en-US" sz="2400" b="0" u="none" strike="noStrike">
              <a:solidFill>
                <a:srgbClr val="FFFFFF"/>
              </a:solidFill>
              <a:effectLst/>
              <a:uFillTx/>
              <a:latin typeface="Arial"/>
            </a:endParaRPr>
          </a:p>
        </p:txBody>
      </p:sp>
      <p:sp>
        <p:nvSpPr>
          <p:cNvPr id="418" name="TextBox 9"/>
          <p:cNvSpPr/>
          <p:nvPr/>
        </p:nvSpPr>
        <p:spPr>
          <a:xfrm>
            <a:off x="457200" y="603504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Casi toda filtración de BD en la nube = configuración errónea del cliente.</a:t>
            </a:r>
            <a:endParaRPr lang="en-US" sz="2200" b="0" u="none" strike="noStrike">
              <a:solidFill>
                <a:srgbClr val="FFFFFF"/>
              </a:solidFill>
              <a:effectLst/>
              <a:uFillTx/>
              <a:latin typeface="Arial"/>
            </a:endParaRPr>
          </a:p>
        </p:txBody>
      </p:sp>
      <p:sp>
        <p:nvSpPr>
          <p:cNvPr id="419" name="TextBox 1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20" name="TextBox 1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21" name="TextBox 1" descr="Table of common database ports: MySQL 3306, PostgreSQL 5432, MS SQL 1433, MongoDB 27017, Redis 6379, Elasticsearch 9200, Cassandra 9042." title="Table of common database ports: MySQL 3306, PostgreSQL 5432, MS SQL 1433, MongoD"/>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Puertos comunes de BD — Memorízalos a fuego</a:t>
            </a:r>
            <a:endParaRPr lang="en-US" sz="4200" b="0" u="none" strike="noStrike">
              <a:solidFill>
                <a:srgbClr val="FFFFFF"/>
              </a:solidFill>
              <a:effectLst/>
              <a:uFillTx/>
              <a:latin typeface="Arial"/>
            </a:endParaRPr>
          </a:p>
        </p:txBody>
      </p:sp>
      <p:sp>
        <p:nvSpPr>
          <p:cNvPr id="42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23" name="TextBox 3"/>
          <p:cNvSpPr/>
          <p:nvPr/>
        </p:nvSpPr>
        <p:spPr>
          <a:xfrm>
            <a:off x="1371600" y="1645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3306</a:t>
            </a:r>
            <a:endParaRPr lang="en-US" sz="3600" b="0" u="none" strike="noStrike">
              <a:solidFill>
                <a:srgbClr val="FFFFFF"/>
              </a:solidFill>
              <a:effectLst/>
              <a:uFillTx/>
              <a:latin typeface="Arial"/>
            </a:endParaRPr>
          </a:p>
        </p:txBody>
      </p:sp>
      <p:sp>
        <p:nvSpPr>
          <p:cNvPr id="424" name="TextBox 4"/>
          <p:cNvSpPr/>
          <p:nvPr/>
        </p:nvSpPr>
        <p:spPr>
          <a:xfrm>
            <a:off x="3840480" y="1645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5" name="TextBox 5"/>
          <p:cNvSpPr/>
          <p:nvPr/>
        </p:nvSpPr>
        <p:spPr>
          <a:xfrm>
            <a:off x="4480560" y="1645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MySQL / MariaDB</a:t>
            </a:r>
            <a:endParaRPr lang="en-US" sz="3200" b="0" u="none" strike="noStrike">
              <a:solidFill>
                <a:srgbClr val="FFFFFF"/>
              </a:solidFill>
              <a:effectLst/>
              <a:uFillTx/>
              <a:latin typeface="Arial"/>
            </a:endParaRPr>
          </a:p>
        </p:txBody>
      </p:sp>
      <p:sp>
        <p:nvSpPr>
          <p:cNvPr id="426" name="TextBox 6"/>
          <p:cNvSpPr/>
          <p:nvPr/>
        </p:nvSpPr>
        <p:spPr>
          <a:xfrm>
            <a:off x="1371600" y="2212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5432</a:t>
            </a:r>
            <a:endParaRPr lang="en-US" sz="3600" b="0" u="none" strike="noStrike">
              <a:solidFill>
                <a:srgbClr val="FFFFFF"/>
              </a:solidFill>
              <a:effectLst/>
              <a:uFillTx/>
              <a:latin typeface="Arial"/>
            </a:endParaRPr>
          </a:p>
        </p:txBody>
      </p:sp>
      <p:sp>
        <p:nvSpPr>
          <p:cNvPr id="427" name="TextBox 7"/>
          <p:cNvSpPr/>
          <p:nvPr/>
        </p:nvSpPr>
        <p:spPr>
          <a:xfrm>
            <a:off x="3840480" y="2212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8" name="TextBox 8"/>
          <p:cNvSpPr/>
          <p:nvPr/>
        </p:nvSpPr>
        <p:spPr>
          <a:xfrm>
            <a:off x="4480560" y="2212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PostgreSQL</a:t>
            </a:r>
            <a:endParaRPr lang="en-US" sz="3200" b="0" u="none" strike="noStrike">
              <a:solidFill>
                <a:srgbClr val="FFFFFF"/>
              </a:solidFill>
              <a:effectLst/>
              <a:uFillTx/>
              <a:latin typeface="Arial"/>
            </a:endParaRPr>
          </a:p>
        </p:txBody>
      </p:sp>
      <p:sp>
        <p:nvSpPr>
          <p:cNvPr id="429" name="TextBox 9"/>
          <p:cNvSpPr/>
          <p:nvPr/>
        </p:nvSpPr>
        <p:spPr>
          <a:xfrm>
            <a:off x="1371600" y="2779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1433</a:t>
            </a:r>
            <a:endParaRPr lang="en-US" sz="3600" b="0" u="none" strike="noStrike">
              <a:solidFill>
                <a:srgbClr val="FFFFFF"/>
              </a:solidFill>
              <a:effectLst/>
              <a:uFillTx/>
              <a:latin typeface="Arial"/>
            </a:endParaRPr>
          </a:p>
        </p:txBody>
      </p:sp>
      <p:sp>
        <p:nvSpPr>
          <p:cNvPr id="430" name="TextBox 10"/>
          <p:cNvSpPr/>
          <p:nvPr/>
        </p:nvSpPr>
        <p:spPr>
          <a:xfrm>
            <a:off x="3840480" y="2779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1" name="TextBox 11"/>
          <p:cNvSpPr/>
          <p:nvPr/>
        </p:nvSpPr>
        <p:spPr>
          <a:xfrm>
            <a:off x="4480560" y="2779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Microsoft SQL Server</a:t>
            </a:r>
            <a:endParaRPr lang="en-US" sz="3200" b="0" u="none" strike="noStrike">
              <a:solidFill>
                <a:srgbClr val="FFFFFF"/>
              </a:solidFill>
              <a:effectLst/>
              <a:uFillTx/>
              <a:latin typeface="Arial"/>
            </a:endParaRPr>
          </a:p>
        </p:txBody>
      </p:sp>
      <p:sp>
        <p:nvSpPr>
          <p:cNvPr id="432" name="TextBox 12"/>
          <p:cNvSpPr/>
          <p:nvPr/>
        </p:nvSpPr>
        <p:spPr>
          <a:xfrm>
            <a:off x="1371600" y="3346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27017</a:t>
            </a:r>
            <a:endParaRPr lang="en-US" sz="3600" b="0" u="none" strike="noStrike">
              <a:solidFill>
                <a:srgbClr val="FFFFFF"/>
              </a:solidFill>
              <a:effectLst/>
              <a:uFillTx/>
              <a:latin typeface="Arial"/>
            </a:endParaRPr>
          </a:p>
        </p:txBody>
      </p:sp>
      <p:sp>
        <p:nvSpPr>
          <p:cNvPr id="433" name="TextBox 13"/>
          <p:cNvSpPr/>
          <p:nvPr/>
        </p:nvSpPr>
        <p:spPr>
          <a:xfrm>
            <a:off x="3840480" y="3346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4" name="TextBox 14"/>
          <p:cNvSpPr/>
          <p:nvPr/>
        </p:nvSpPr>
        <p:spPr>
          <a:xfrm>
            <a:off x="4480560" y="3346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MongoDB</a:t>
            </a:r>
            <a:endParaRPr lang="en-US" sz="3200" b="0" u="none" strike="noStrike">
              <a:solidFill>
                <a:srgbClr val="FFFFFF"/>
              </a:solidFill>
              <a:effectLst/>
              <a:uFillTx/>
              <a:latin typeface="Arial"/>
            </a:endParaRPr>
          </a:p>
        </p:txBody>
      </p:sp>
      <p:sp>
        <p:nvSpPr>
          <p:cNvPr id="435" name="TextBox 15"/>
          <p:cNvSpPr/>
          <p:nvPr/>
        </p:nvSpPr>
        <p:spPr>
          <a:xfrm>
            <a:off x="1371600" y="3913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6379</a:t>
            </a:r>
            <a:endParaRPr lang="en-US" sz="3600" b="0" u="none" strike="noStrike">
              <a:solidFill>
                <a:srgbClr val="FFFFFF"/>
              </a:solidFill>
              <a:effectLst/>
              <a:uFillTx/>
              <a:latin typeface="Arial"/>
            </a:endParaRPr>
          </a:p>
        </p:txBody>
      </p:sp>
      <p:sp>
        <p:nvSpPr>
          <p:cNvPr id="436" name="TextBox 16"/>
          <p:cNvSpPr/>
          <p:nvPr/>
        </p:nvSpPr>
        <p:spPr>
          <a:xfrm>
            <a:off x="3840480" y="3913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7" name="TextBox 17"/>
          <p:cNvSpPr/>
          <p:nvPr/>
        </p:nvSpPr>
        <p:spPr>
          <a:xfrm>
            <a:off x="4480560" y="3913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Redis</a:t>
            </a:r>
            <a:endParaRPr lang="en-US" sz="3200" b="0" u="none" strike="noStrike">
              <a:solidFill>
                <a:srgbClr val="FFFFFF"/>
              </a:solidFill>
              <a:effectLst/>
              <a:uFillTx/>
              <a:latin typeface="Arial"/>
            </a:endParaRPr>
          </a:p>
        </p:txBody>
      </p:sp>
      <p:sp>
        <p:nvSpPr>
          <p:cNvPr id="438" name="TextBox 18"/>
          <p:cNvSpPr/>
          <p:nvPr/>
        </p:nvSpPr>
        <p:spPr>
          <a:xfrm>
            <a:off x="1371600" y="4480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9200</a:t>
            </a:r>
            <a:endParaRPr lang="en-US" sz="3600" b="0" u="none" strike="noStrike">
              <a:solidFill>
                <a:srgbClr val="FFFFFF"/>
              </a:solidFill>
              <a:effectLst/>
              <a:uFillTx/>
              <a:latin typeface="Arial"/>
            </a:endParaRPr>
          </a:p>
        </p:txBody>
      </p:sp>
      <p:sp>
        <p:nvSpPr>
          <p:cNvPr id="439" name="TextBox 19"/>
          <p:cNvSpPr/>
          <p:nvPr/>
        </p:nvSpPr>
        <p:spPr>
          <a:xfrm>
            <a:off x="3840480" y="4480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0" name="TextBox 20"/>
          <p:cNvSpPr/>
          <p:nvPr/>
        </p:nvSpPr>
        <p:spPr>
          <a:xfrm>
            <a:off x="4480560" y="4480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Elasticsearch</a:t>
            </a:r>
            <a:endParaRPr lang="en-US" sz="3200" b="0" u="none" strike="noStrike">
              <a:solidFill>
                <a:srgbClr val="FFFFFF"/>
              </a:solidFill>
              <a:effectLst/>
              <a:uFillTx/>
              <a:latin typeface="Arial"/>
            </a:endParaRPr>
          </a:p>
        </p:txBody>
      </p:sp>
      <p:sp>
        <p:nvSpPr>
          <p:cNvPr id="441" name="TextBox 21"/>
          <p:cNvSpPr/>
          <p:nvPr/>
        </p:nvSpPr>
        <p:spPr>
          <a:xfrm>
            <a:off x="1371600" y="5047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9042</a:t>
            </a:r>
            <a:endParaRPr lang="en-US" sz="3600" b="0" u="none" strike="noStrike">
              <a:solidFill>
                <a:srgbClr val="FFFFFF"/>
              </a:solidFill>
              <a:effectLst/>
              <a:uFillTx/>
              <a:latin typeface="Arial"/>
            </a:endParaRPr>
          </a:p>
        </p:txBody>
      </p:sp>
      <p:sp>
        <p:nvSpPr>
          <p:cNvPr id="442" name="TextBox 22"/>
          <p:cNvSpPr/>
          <p:nvPr/>
        </p:nvSpPr>
        <p:spPr>
          <a:xfrm>
            <a:off x="3840480" y="5047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3" name="TextBox 23"/>
          <p:cNvSpPr/>
          <p:nvPr/>
        </p:nvSpPr>
        <p:spPr>
          <a:xfrm>
            <a:off x="4480560" y="5047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Cassandra</a:t>
            </a:r>
            <a:endParaRPr lang="en-US" sz="3200" b="0" u="none" strike="noStrike">
              <a:solidFill>
                <a:srgbClr val="FFFFFF"/>
              </a:solidFill>
              <a:effectLst/>
              <a:uFillTx/>
              <a:latin typeface="Arial"/>
            </a:endParaRPr>
          </a:p>
        </p:txBody>
      </p:sp>
      <p:sp>
        <p:nvSpPr>
          <p:cNvPr id="444" name="TextBox 24"/>
          <p:cNvSpPr/>
          <p:nvPr/>
        </p:nvSpPr>
        <p:spPr>
          <a:xfrm>
            <a:off x="457200" y="5989320"/>
            <a:ext cx="1124676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6B35"/>
                </a:solidFill>
                <a:effectLst/>
                <a:uFillTx/>
                <a:latin typeface="Calibri"/>
              </a:rPr>
              <a:t>Cualquiera de estos expuesto a internet = un hallazgo. Siempre*</a:t>
            </a:r>
            <a:endParaRPr lang="en-US" sz="2200" b="0" u="none" strike="noStrike">
              <a:solidFill>
                <a:srgbClr val="FFFFFF"/>
              </a:solidFill>
              <a:effectLst/>
              <a:uFillTx/>
              <a:latin typeface="Arial"/>
            </a:endParaRPr>
          </a:p>
        </p:txBody>
      </p:sp>
      <p:sp>
        <p:nvSpPr>
          <p:cNvPr id="445" name="TextBox 25"/>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46" name="TextBox 2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47" name="TextBox 1" descr="Statement slide: Markdown files are now a database — the kind an LLM reads from via embeddings and RAG." title="Statement slide: Markdown files are now a database — the kind an LLM reads from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Tus notas ahora son una base de datos</a:t>
            </a:r>
            <a:endParaRPr lang="en-US" sz="4200" b="0" u="none" strike="noStrike">
              <a:solidFill>
                <a:srgbClr val="FFFFFF"/>
              </a:solidFill>
              <a:effectLst/>
              <a:uFillTx/>
              <a:latin typeface="Arial"/>
            </a:endParaRPr>
          </a:p>
        </p:txBody>
      </p:sp>
      <p:sp>
        <p:nvSpPr>
          <p:cNvPr id="44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49"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0" u="none" strike="noStrike">
                <a:solidFill>
                  <a:srgbClr val="FFFFFF"/>
                </a:solidFill>
                <a:effectLst/>
                <a:uFillTx/>
                <a:latin typeface="Calibri"/>
              </a:rPr>
              <a:t>Los archivos markdown ahora son</a:t>
            </a:r>
            <a:endParaRPr lang="en-US" sz="4400" b="0" u="none" strike="noStrike">
              <a:solidFill>
                <a:srgbClr val="FFFFFF"/>
              </a:solidFill>
              <a:effectLst/>
              <a:uFillTx/>
              <a:latin typeface="Arial"/>
            </a:endParaRPr>
          </a:p>
        </p:txBody>
      </p:sp>
      <p:sp>
        <p:nvSpPr>
          <p:cNvPr id="450" name="TextBox 4"/>
          <p:cNvSpPr/>
          <p:nvPr/>
        </p:nvSpPr>
        <p:spPr>
          <a:xfrm>
            <a:off x="457200" y="283464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00FF41"/>
                </a:solidFill>
                <a:effectLst/>
                <a:uFillTx/>
                <a:latin typeface="Calibri"/>
              </a:rPr>
              <a:t>la base de datos de la que lee un LLM.</a:t>
            </a:r>
            <a:endParaRPr lang="en-US" sz="4400" b="0" u="none" strike="noStrike">
              <a:solidFill>
                <a:srgbClr val="FFFFFF"/>
              </a:solidFill>
              <a:effectLst/>
              <a:uFillTx/>
              <a:latin typeface="Arial"/>
            </a:endParaRPr>
          </a:p>
        </p:txBody>
      </p:sp>
      <p:sp>
        <p:nvSpPr>
          <p:cNvPr id="451" name="TextBox 5"/>
          <p:cNvSpPr/>
          <p:nvPr/>
        </p:nvSpPr>
        <p:spPr>
          <a:xfrm>
            <a:off x="457200" y="420624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00D4FF"/>
                </a:solidFill>
                <a:effectLst/>
                <a:uFillTx/>
                <a:latin typeface="Calibri"/>
              </a:rPr>
              <a:t>Bóvedas de Obsidian  •  Exportaciones de wiki  •  Notas de reuniones  •  Documentos de GitHub</a:t>
            </a:r>
            <a:endParaRPr lang="en-US" sz="2400" b="0" u="none" strike="noStrike">
              <a:solidFill>
                <a:srgbClr val="FFFFFF"/>
              </a:solidFill>
              <a:effectLst/>
              <a:uFillTx/>
              <a:latin typeface="Arial"/>
            </a:endParaRPr>
          </a:p>
        </p:txBody>
      </p:sp>
      <p:sp>
        <p:nvSpPr>
          <p:cNvPr id="452" name="TextBox 6"/>
          <p:cNvSpPr/>
          <p:nvPr/>
        </p:nvSpPr>
        <p:spPr>
          <a:xfrm>
            <a:off x="457200" y="493776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CCCCD6"/>
                </a:solidFill>
                <a:effectLst/>
                <a:uFillTx/>
                <a:latin typeface="Calibri"/>
              </a:rPr>
              <a:t>Embebido → BD vectorial → contexto del LLM → respuesta al usuario</a:t>
            </a:r>
            <a:endParaRPr lang="en-US" sz="2600" b="0" u="none" strike="noStrike">
              <a:solidFill>
                <a:srgbClr val="FFFFFF"/>
              </a:solidFill>
              <a:effectLst/>
              <a:uFillTx/>
              <a:latin typeface="Arial"/>
            </a:endParaRPr>
          </a:p>
        </p:txBody>
      </p:sp>
      <p:sp>
        <p:nvSpPr>
          <p:cNvPr id="45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5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55" name="TextBox 1" descr="Pipeline diagram: markdown files → embedder → vector DB → LLM prompt → answer. The trust boundary sits between authors and the embedder." title="Pipeline diagram: markdown files → embedder → vector DB → LLM prompt → answer. T"/>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Pipeline de RAG — ¿Dónde está el límite de confianza?</a:t>
            </a:r>
            <a:endParaRPr lang="en-US" sz="3600" b="0" u="none" strike="noStrike">
              <a:solidFill>
                <a:srgbClr val="FFFFFF"/>
              </a:solidFill>
              <a:effectLst/>
              <a:uFillTx/>
              <a:latin typeface="Arial"/>
            </a:endParaRPr>
          </a:p>
        </p:txBody>
      </p:sp>
      <p:sp>
        <p:nvSpPr>
          <p:cNvPr id="45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57" name="Rounded Rectangle 3"/>
          <p:cNvSpPr/>
          <p:nvPr/>
        </p:nvSpPr>
        <p:spPr>
          <a:xfrm>
            <a:off x="457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8" name="TextBox 4"/>
          <p:cNvSpPr/>
          <p:nvPr/>
        </p:nvSpPr>
        <p:spPr>
          <a:xfrm>
            <a:off x="457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archivos .md</a:t>
            </a:r>
            <a:endParaRPr lang="en-US" sz="2200" b="0" u="none" strike="noStrike">
              <a:solidFill>
                <a:srgbClr val="FFFFFF"/>
              </a:solidFill>
              <a:effectLst/>
              <a:uFillTx/>
              <a:latin typeface="Arial"/>
            </a:endParaRPr>
          </a:p>
        </p:txBody>
      </p:sp>
      <p:sp>
        <p:nvSpPr>
          <p:cNvPr id="459" name="TextBox 5"/>
          <p:cNvSpPr/>
          <p:nvPr/>
        </p:nvSpPr>
        <p:spPr>
          <a:xfrm>
            <a:off x="2395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0" name="Rounded Rectangle 6"/>
          <p:cNvSpPr/>
          <p:nvPr/>
        </p:nvSpPr>
        <p:spPr>
          <a:xfrm>
            <a:off x="2743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TextBox 7"/>
          <p:cNvSpPr/>
          <p:nvPr/>
        </p:nvSpPr>
        <p:spPr>
          <a:xfrm>
            <a:off x="2743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Embebedor</a:t>
            </a:r>
            <a:endParaRPr lang="en-US" sz="2200" b="0" u="none" strike="noStrike">
              <a:solidFill>
                <a:srgbClr val="FFFFFF"/>
              </a:solidFill>
              <a:effectLst/>
              <a:uFillTx/>
              <a:latin typeface="Arial"/>
            </a:endParaRPr>
          </a:p>
        </p:txBody>
      </p:sp>
      <p:sp>
        <p:nvSpPr>
          <p:cNvPr id="462" name="TextBox 8"/>
          <p:cNvSpPr/>
          <p:nvPr/>
        </p:nvSpPr>
        <p:spPr>
          <a:xfrm>
            <a:off x="4681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3" name="Rounded Rectangle 9"/>
          <p:cNvSpPr/>
          <p:nvPr/>
        </p:nvSpPr>
        <p:spPr>
          <a:xfrm>
            <a:off x="5029200" y="2377440"/>
            <a:ext cx="1919880" cy="1096920"/>
          </a:xfrm>
          <a:prstGeom prst="roundRect">
            <a:avLst>
              <a:gd name="adj" fmla="val 16667"/>
            </a:avLst>
          </a:prstGeom>
          <a:solidFill>
            <a:srgbClr val="24243E"/>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0"/>
          <p:cNvSpPr/>
          <p:nvPr/>
        </p:nvSpPr>
        <p:spPr>
          <a:xfrm>
            <a:off x="5029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FF41"/>
                </a:solidFill>
                <a:effectLst/>
                <a:uFillTx/>
                <a:latin typeface="Calibri"/>
              </a:rPr>
              <a:t>BD vectorial</a:t>
            </a:r>
            <a:endParaRPr lang="en-US" sz="2200" b="0" u="none" strike="noStrike">
              <a:solidFill>
                <a:srgbClr val="FFFFFF"/>
              </a:solidFill>
              <a:effectLst/>
              <a:uFillTx/>
              <a:latin typeface="Arial"/>
            </a:endParaRPr>
          </a:p>
        </p:txBody>
      </p:sp>
      <p:sp>
        <p:nvSpPr>
          <p:cNvPr id="465" name="TextBox 11"/>
          <p:cNvSpPr/>
          <p:nvPr/>
        </p:nvSpPr>
        <p:spPr>
          <a:xfrm>
            <a:off x="6967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6" name="Rounded Rectangle 12"/>
          <p:cNvSpPr/>
          <p:nvPr/>
        </p:nvSpPr>
        <p:spPr>
          <a:xfrm>
            <a:off x="7315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TextBox 13"/>
          <p:cNvSpPr/>
          <p:nvPr/>
        </p:nvSpPr>
        <p:spPr>
          <a:xfrm>
            <a:off x="7315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Prompt del LLM</a:t>
            </a:r>
            <a:endParaRPr lang="en-US" sz="2200" b="0" u="none" strike="noStrike">
              <a:solidFill>
                <a:srgbClr val="FFFFFF"/>
              </a:solidFill>
              <a:effectLst/>
              <a:uFillTx/>
              <a:latin typeface="Arial"/>
            </a:endParaRPr>
          </a:p>
        </p:txBody>
      </p:sp>
      <p:sp>
        <p:nvSpPr>
          <p:cNvPr id="468" name="TextBox 14"/>
          <p:cNvSpPr/>
          <p:nvPr/>
        </p:nvSpPr>
        <p:spPr>
          <a:xfrm>
            <a:off x="9253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9" name="Rounded Rectangle 15"/>
          <p:cNvSpPr/>
          <p:nvPr/>
        </p:nvSpPr>
        <p:spPr>
          <a:xfrm>
            <a:off x="9601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0" name="TextBox 16"/>
          <p:cNvSpPr/>
          <p:nvPr/>
        </p:nvSpPr>
        <p:spPr>
          <a:xfrm>
            <a:off x="9601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Respuesta</a:t>
            </a:r>
            <a:endParaRPr lang="en-US" sz="2200" b="0" u="none" strike="noStrike">
              <a:solidFill>
                <a:srgbClr val="FFFFFF"/>
              </a:solidFill>
              <a:effectLst/>
              <a:uFillTx/>
              <a:latin typeface="Arial"/>
            </a:endParaRPr>
          </a:p>
        </p:txBody>
      </p:sp>
      <p:sp>
        <p:nvSpPr>
          <p:cNvPr id="471" name="Rectangle 17"/>
          <p:cNvSpPr/>
          <p:nvPr/>
        </p:nvSpPr>
        <p:spPr>
          <a:xfrm>
            <a:off x="2286000" y="2103120"/>
            <a:ext cx="54360" cy="16455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18"/>
          <p:cNvSpPr/>
          <p:nvPr/>
        </p:nvSpPr>
        <p:spPr>
          <a:xfrm>
            <a:off x="731520" y="3840480"/>
            <a:ext cx="27428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1" u="none" strike="noStrike">
                <a:solidFill>
                  <a:srgbClr val="FF6B35"/>
                </a:solidFill>
                <a:effectLst/>
                <a:uFillTx/>
                <a:latin typeface="Calibri"/>
              </a:rPr>
              <a:t>⚠ LÍMITE DE CONFIANZA</a:t>
            </a:r>
            <a:endParaRPr lang="en-US" sz="1800" b="0" u="none" strike="noStrike">
              <a:solidFill>
                <a:srgbClr val="FFFFFF"/>
              </a:solidFill>
              <a:effectLst/>
              <a:uFillTx/>
              <a:latin typeface="Arial"/>
            </a:endParaRPr>
          </a:p>
        </p:txBody>
      </p:sp>
      <p:sp>
        <p:nvSpPr>
          <p:cNvPr id="473" name="TextBox 19"/>
          <p:cNvSpPr/>
          <p:nvPr/>
        </p:nvSpPr>
        <p:spPr>
          <a:xfrm>
            <a:off x="457200" y="48463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FFFF"/>
                </a:solidFill>
                <a:effectLst/>
                <a:uFillTx/>
                <a:latin typeface="Calibri"/>
              </a:rPr>
              <a:t>Si cualquiera puede editar esos archivos .md, cualquiera puede plantar</a:t>
            </a:r>
            <a:endParaRPr lang="en-US" sz="2600" b="0" u="none" strike="noStrike">
              <a:solidFill>
                <a:srgbClr val="FFFFFF"/>
              </a:solidFill>
              <a:effectLst/>
              <a:uFillTx/>
              <a:latin typeface="Arial"/>
            </a:endParaRPr>
          </a:p>
          <a:p>
            <a:pPr algn="ctr" defTabSz="457200">
              <a:lnSpc>
                <a:spcPct val="100000"/>
              </a:lnSpc>
            </a:pPr>
            <a:r>
              <a:rPr lang="en-US" sz="2600" b="1" u="none" strike="noStrike">
                <a:solidFill>
                  <a:srgbClr val="FFFFFF"/>
                </a:solidFill>
                <a:effectLst/>
                <a:uFillTx/>
                <a:latin typeface="Calibri"/>
              </a:rPr>
              <a:t>contenido que la IA citará como autoritativo.</a:t>
            </a:r>
            <a:endParaRPr lang="en-US" sz="2600" b="0" u="none" strike="noStrike">
              <a:solidFill>
                <a:srgbClr val="FFFFFF"/>
              </a:solidFill>
              <a:effectLst/>
              <a:uFillTx/>
              <a:latin typeface="Arial"/>
            </a:endParaRPr>
          </a:p>
        </p:txBody>
      </p:sp>
      <p:sp>
        <p:nvSpPr>
          <p:cNvPr id="474" name="TextBox 2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75" name="TextBox 2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76" name="TextBox 1" descr="Takeaway slide: Treat markdown like a database — because to the LLM, it is. Apply access control, code review, and diff tracking." title="Takeaway slide: Treat markdown like a database — because to the LLM, it is. Appl"/>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La conclusión</a:t>
            </a:r>
            <a:endParaRPr lang="en-US" sz="4200" b="0" u="none" strike="noStrike">
              <a:solidFill>
                <a:srgbClr val="FFFFFF"/>
              </a:solidFill>
              <a:effectLst/>
              <a:uFillTx/>
              <a:latin typeface="Arial"/>
            </a:endParaRPr>
          </a:p>
        </p:txBody>
      </p:sp>
      <p:sp>
        <p:nvSpPr>
          <p:cNvPr id="47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78" name="TextBox 3"/>
          <p:cNvSpPr/>
          <p:nvPr/>
        </p:nvSpPr>
        <p:spPr>
          <a:xfrm>
            <a:off x="457200" y="219456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Trata el markdown como una base de datos.</a:t>
            </a:r>
            <a:endParaRPr lang="en-US" sz="5400" b="0" u="none" strike="noStrike">
              <a:solidFill>
                <a:srgbClr val="FFFFFF"/>
              </a:solidFill>
              <a:effectLst/>
              <a:uFillTx/>
              <a:latin typeface="Arial"/>
            </a:endParaRPr>
          </a:p>
        </p:txBody>
      </p:sp>
      <p:sp>
        <p:nvSpPr>
          <p:cNvPr id="479" name="TextBox 4"/>
          <p:cNvSpPr/>
          <p:nvPr/>
        </p:nvSpPr>
        <p:spPr>
          <a:xfrm>
            <a:off x="457200" y="33832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FFFFFF"/>
                </a:solidFill>
                <a:effectLst/>
                <a:uFillTx/>
                <a:latin typeface="Calibri"/>
              </a:rPr>
              <a:t>Porque para el LLM, lo es.</a:t>
            </a:r>
            <a:endParaRPr lang="en-US" sz="4200" b="0" u="none" strike="noStrike">
              <a:solidFill>
                <a:srgbClr val="FFFFFF"/>
              </a:solidFill>
              <a:effectLst/>
              <a:uFillTx/>
              <a:latin typeface="Arial"/>
            </a:endParaRPr>
          </a:p>
        </p:txBody>
      </p:sp>
      <p:sp>
        <p:nvSpPr>
          <p:cNvPr id="480" name="TextBox 5"/>
          <p:cNvSpPr/>
          <p:nvPr/>
        </p:nvSpPr>
        <p:spPr>
          <a:xfrm>
            <a:off x="1828800" y="4572000"/>
            <a:ext cx="850356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Control de acceso en la carpeta de documentos.</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Revisión de código en los cambios .md.</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Seguimiento de diferencias en la wiki.</a:t>
            </a:r>
            <a:endParaRPr lang="en-US" sz="2400" b="0" u="none" strike="noStrike">
              <a:solidFill>
                <a:srgbClr val="FFFFFF"/>
              </a:solidFill>
              <a:effectLst/>
              <a:uFillTx/>
              <a:latin typeface="Arial"/>
            </a:endParaRPr>
          </a:p>
        </p:txBody>
      </p:sp>
      <p:sp>
        <p:nvSpPr>
          <p:cNvPr id="48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8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3" name="TextBox 1" descr="Section divider: SECURITY. What's actually getting hit in 2026" title="Section divider: SECURITY. What's actually getting hit in 2026"/>
          <p:cNvSpPr/>
          <p:nvPr/>
        </p:nvSpPr>
        <p:spPr>
          <a:xfrm>
            <a:off x="457200" y="2560320"/>
            <a:ext cx="11246760" cy="164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600" b="1" u="none" strike="noStrike">
                <a:solidFill>
                  <a:srgbClr val="00FF41"/>
                </a:solidFill>
                <a:effectLst/>
                <a:uFillTx/>
                <a:latin typeface="Calibri"/>
              </a:rPr>
              <a:t>SEGURIDAD</a:t>
            </a:r>
            <a:endParaRPr lang="en-US" sz="9600" b="0" u="none" strike="noStrike">
              <a:solidFill>
                <a:srgbClr val="FFFFFF"/>
              </a:solidFill>
              <a:effectLst/>
              <a:uFillTx/>
              <a:latin typeface="Arial"/>
            </a:endParaRPr>
          </a:p>
        </p:txBody>
      </p:sp>
      <p:sp>
        <p:nvSpPr>
          <p:cNvPr id="484" name="Rectangle 2"/>
          <p:cNvSpPr/>
          <p:nvPr/>
        </p:nvSpPr>
        <p:spPr>
          <a:xfrm>
            <a:off x="4724640" y="4297680"/>
            <a:ext cx="2742840" cy="9108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5" name="TextBox 3"/>
          <p:cNvSpPr/>
          <p:nvPr/>
        </p:nvSpPr>
        <p:spPr>
          <a:xfrm>
            <a:off x="457200" y="4572000"/>
            <a:ext cx="11246760" cy="578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FFFFFF"/>
                </a:solidFill>
                <a:effectLst/>
                <a:uFillTx/>
                <a:latin typeface="Calibri"/>
              </a:rPr>
              <a:t>Qué está siendo atacado realmente en 2026*</a:t>
            </a:r>
            <a:endParaRPr lang="en-US" sz="3200" b="0" u="none" strike="noStrike">
              <a:solidFill>
                <a:srgbClr val="FFFFFF"/>
              </a:solidFill>
              <a:effectLst/>
              <a:uFillTx/>
              <a:latin typeface="Arial"/>
            </a:endParaRPr>
          </a:p>
        </p:txBody>
      </p:sp>
      <p:sp>
        <p:nvSpPr>
          <p:cNvPr id="486"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87"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8" name="TextBox 1" descr="Reference to xkcd #327 'Exploits of a Mom' (Bobby Tables): a mother names her son Robert'); DROP TABLE Students;-- and the school's student table is dropped. URL: https://xkcd.com/327/" title="Reference to xkcd #327 'Exploits of a Mom' (Bobby Tables): a mother names her s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xkcd #327 — Bobby Tables</a:t>
            </a:r>
            <a:endParaRPr lang="en-US" sz="3800" b="0" u="none" strike="noStrike">
              <a:solidFill>
                <a:srgbClr val="FFFFFF"/>
              </a:solidFill>
              <a:effectLst/>
              <a:uFillTx/>
              <a:latin typeface="Arial"/>
            </a:endParaRPr>
          </a:p>
        </p:txBody>
      </p:sp>
      <p:sp>
        <p:nvSpPr>
          <p:cNvPr id="489"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90" name="Rectangle 3"/>
          <p:cNvSpPr/>
          <p:nvPr/>
        </p:nvSpPr>
        <p:spPr>
          <a:xfrm>
            <a:off x="457200" y="1737360"/>
            <a:ext cx="11246760" cy="3200040"/>
          </a:xfrm>
          <a:prstGeom prst="rect">
            <a:avLst/>
          </a:prstGeom>
          <a:solidFill>
            <a:srgbClr val="24243E"/>
          </a:solidFill>
          <a:ln w="254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TextBox 4"/>
          <p:cNvSpPr/>
          <p:nvPr/>
        </p:nvSpPr>
        <p:spPr>
          <a:xfrm>
            <a:off x="731520" y="192024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Escuela:  "Hola, le habla la escuela de su hijo. Estamos teniendo</a:t>
            </a:r>
            <a:endParaRPr lang="en-US" sz="2400" b="0" u="none" strike="noStrike">
              <a:solidFill>
                <a:srgbClr val="FFFFFF"/>
              </a:solidFill>
              <a:effectLst/>
              <a:uFillTx/>
              <a:latin typeface="Arial"/>
            </a:endParaRPr>
          </a:p>
        </p:txBody>
      </p:sp>
      <p:sp>
        <p:nvSpPr>
          <p:cNvPr id="492" name="TextBox 5"/>
          <p:cNvSpPr/>
          <p:nvPr/>
        </p:nvSpPr>
        <p:spPr>
          <a:xfrm>
            <a:off x="731520" y="251460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         algunos problemas con la computadora."</a:t>
            </a:r>
            <a:endParaRPr lang="en-US" sz="2400" b="0" u="none" strike="noStrike">
              <a:solidFill>
                <a:srgbClr val="FFFFFF"/>
              </a:solidFill>
              <a:effectLst/>
              <a:uFillTx/>
              <a:latin typeface="Arial"/>
            </a:endParaRPr>
          </a:p>
        </p:txBody>
      </p:sp>
      <p:sp>
        <p:nvSpPr>
          <p:cNvPr id="493" name="TextBox 6"/>
          <p:cNvSpPr/>
          <p:nvPr/>
        </p:nvSpPr>
        <p:spPr>
          <a:xfrm>
            <a:off x="731520" y="3154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Mamá:    "Ay, no — ¿rompió algo?"</a:t>
            </a:r>
            <a:endParaRPr lang="en-US" sz="2400" b="0" u="none" strike="noStrike">
              <a:solidFill>
                <a:srgbClr val="FFFFFF"/>
              </a:solidFill>
              <a:effectLst/>
              <a:uFillTx/>
              <a:latin typeface="Arial"/>
            </a:endParaRPr>
          </a:p>
        </p:txBody>
      </p:sp>
      <p:sp>
        <p:nvSpPr>
          <p:cNvPr id="494" name="TextBox 7"/>
          <p:cNvSpPr/>
          <p:nvPr/>
        </p:nvSpPr>
        <p:spPr>
          <a:xfrm>
            <a:off x="731520" y="379476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FF41"/>
                </a:solidFill>
                <a:effectLst/>
                <a:uFillTx/>
                <a:latin typeface="Calibri"/>
              </a:rPr>
              <a:t>Escuela:  "¿De verdad llamó a su hijo  Robert');</a:t>
            </a:r>
            <a:endParaRPr lang="en-US" sz="2400" b="0" u="none" strike="noStrike">
              <a:solidFill>
                <a:srgbClr val="FFFFFF"/>
              </a:solidFill>
              <a:effectLst/>
              <a:uFillTx/>
              <a:latin typeface="Arial"/>
            </a:endParaRPr>
          </a:p>
        </p:txBody>
      </p:sp>
      <p:sp>
        <p:nvSpPr>
          <p:cNvPr id="495" name="TextBox 8"/>
          <p:cNvSpPr/>
          <p:nvPr/>
        </p:nvSpPr>
        <p:spPr>
          <a:xfrm>
            <a:off x="731520" y="4297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DROP TABLE Students;--  ?"</a:t>
            </a:r>
            <a:endParaRPr lang="en-US" sz="2400" b="0" u="none" strike="noStrike">
              <a:solidFill>
                <a:srgbClr val="FFFFFF"/>
              </a:solidFill>
              <a:effectLst/>
              <a:uFillTx/>
              <a:latin typeface="Arial"/>
            </a:endParaRPr>
          </a:p>
        </p:txBody>
      </p:sp>
      <p:sp>
        <p:nvSpPr>
          <p:cNvPr id="496" name="TextBox 9"/>
          <p:cNvSpPr/>
          <p:nvPr/>
        </p:nvSpPr>
        <p:spPr>
          <a:xfrm>
            <a:off x="457200" y="5212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00D4FF"/>
                </a:solidFill>
                <a:effectLst/>
                <a:uFillTx/>
                <a:latin typeface="Calibri"/>
              </a:rPr>
              <a:t>https://xkcd.com/327/</a:t>
            </a:r>
            <a:endParaRPr lang="en-US" sz="2800" b="0" u="none" strike="noStrike">
              <a:solidFill>
                <a:srgbClr val="FFFFFF"/>
              </a:solidFill>
              <a:effectLst/>
              <a:uFillTx/>
              <a:latin typeface="Arial"/>
            </a:endParaRPr>
          </a:p>
        </p:txBody>
      </p:sp>
      <p:sp>
        <p:nvSpPr>
          <p:cNvPr id="497" name="TextBox 10"/>
          <p:cNvSpPr/>
          <p:nvPr/>
        </p:nvSpPr>
        <p:spPr>
          <a:xfrm>
            <a:off x="457200" y="57607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CCCCD6"/>
                </a:solidFill>
                <a:effectLst/>
                <a:uFillTx/>
                <a:latin typeface="Calibri"/>
              </a:rPr>
              <a:t>El mecanismo: concatenación de cadenas en las consultas.</a:t>
            </a:r>
            <a:endParaRPr lang="en-US" sz="2200" b="0" u="none" strike="noStrike">
              <a:solidFill>
                <a:srgbClr val="FFFFFF"/>
              </a:solidFill>
              <a:effectLst/>
              <a:uFillTx/>
              <a:latin typeface="Arial"/>
            </a:endParaRPr>
          </a:p>
        </p:txBody>
      </p:sp>
      <p:sp>
        <p:nvSpPr>
          <p:cNvPr id="498" name="TextBox 11"/>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499" name="TextBox 12"/>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0" name="TextBox 1" descr="Statement slide: The database attack surface has expanded, not shrunk. SQL injection is largely fixed; eleven newer categories now dominate." title="Statement slide: The database attack surface has expanded, not shrunk. SQL injec"/>
          <p:cNvSpPr/>
          <p:nvPr/>
        </p:nvSpPr>
        <p:spPr>
          <a:xfrm>
            <a:off x="457200" y="22860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0" u="none" strike="noStrike">
                <a:solidFill>
                  <a:srgbClr val="FFFFFF"/>
                </a:solidFill>
                <a:effectLst/>
                <a:uFillTx/>
                <a:latin typeface="Calibri"/>
              </a:rPr>
              <a:t>La superficie de ataque se ha</a:t>
            </a:r>
            <a:endParaRPr lang="en-US" sz="5400" b="0" u="none" strike="noStrike">
              <a:solidFill>
                <a:srgbClr val="FFFFFF"/>
              </a:solidFill>
              <a:effectLst/>
              <a:uFillTx/>
              <a:latin typeface="Arial"/>
            </a:endParaRPr>
          </a:p>
        </p:txBody>
      </p:sp>
      <p:sp>
        <p:nvSpPr>
          <p:cNvPr id="501" name="TextBox 2"/>
          <p:cNvSpPr/>
          <p:nvPr/>
        </p:nvSpPr>
        <p:spPr>
          <a:xfrm>
            <a:off x="457200" y="32004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7200" b="1" u="none" strike="noStrike">
                <a:solidFill>
                  <a:srgbClr val="FF6B35"/>
                </a:solidFill>
                <a:effectLst/>
                <a:uFillTx/>
                <a:latin typeface="Calibri"/>
              </a:rPr>
              <a:t>EXPANDIDO, no reducido.</a:t>
            </a:r>
            <a:endParaRPr lang="en-US" sz="7200" b="0" u="none" strike="noStrike">
              <a:solidFill>
                <a:srgbClr val="FFFFFF"/>
              </a:solidFill>
              <a:effectLst/>
              <a:uFillTx/>
              <a:latin typeface="Arial"/>
            </a:endParaRPr>
          </a:p>
        </p:txBody>
      </p:sp>
      <p:sp>
        <p:nvSpPr>
          <p:cNvPr id="502" name="TextBox 3"/>
          <p:cNvSpPr/>
          <p:nvPr/>
        </p:nvSpPr>
        <p:spPr>
          <a:xfrm>
            <a:off x="457200" y="484632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La inyección SQL se solucionó. Once nuevas categorías tomaron su lugar.</a:t>
            </a:r>
            <a:endParaRPr lang="en-US" sz="2600" b="0" u="none" strike="noStrike">
              <a:solidFill>
                <a:srgbClr val="FFFFFF"/>
              </a:solidFill>
              <a:effectLst/>
              <a:uFillTx/>
              <a:latin typeface="Arial"/>
            </a:endParaRPr>
          </a:p>
        </p:txBody>
      </p:sp>
      <p:sp>
        <p:nvSpPr>
          <p:cNvPr id="503"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04"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5"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0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Inyección NoSQL</a:t>
            </a:r>
            <a:endParaRPr lang="en-US" sz="4200" b="0" u="none" strike="noStrike">
              <a:solidFill>
                <a:srgbClr val="FFFFFF"/>
              </a:solidFill>
              <a:effectLst/>
              <a:uFillTx/>
              <a:latin typeface="Arial"/>
            </a:endParaRPr>
          </a:p>
        </p:txBody>
      </p:sp>
      <p:sp>
        <p:nvSpPr>
          <p:cNvPr id="50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0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Consultas JSON de MongoDB + entrada de usuario sin procesar = SQLi renacido.</a:t>
            </a:r>
            <a:endParaRPr lang="en-US" sz="2400" b="0" u="none" strike="noStrike">
              <a:solidFill>
                <a:srgbClr val="FFFFFF"/>
              </a:solidFill>
              <a:effectLst/>
              <a:uFillTx/>
              <a:latin typeface="Arial"/>
            </a:endParaRPr>
          </a:p>
        </p:txBody>
      </p:sp>
      <p:sp>
        <p:nvSpPr>
          <p:cNvPr id="50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Evasión de inicio de sesión: { username: 'alice', password: { $ne: 'x' } }</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$where te permite inyectar JavaScript directamente en la BD.</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N1QL de Couchbase tiene sabor SQL — aplican los patrones clásicos de SQLi.</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Principio: CUALQUIER intérprete puede ser inyectado, no solo SQL.</a:t>
            </a:r>
            <a:endParaRPr lang="en-US" sz="2300" b="0" u="none" strike="noStrike">
              <a:solidFill>
                <a:srgbClr val="FFFFFF"/>
              </a:solidFill>
              <a:effectLst/>
              <a:uFillTx/>
              <a:latin typeface="Arial"/>
            </a:endParaRPr>
          </a:p>
        </p:txBody>
      </p:sp>
      <p:sp>
        <p:nvSpPr>
          <p:cNvPr id="51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Top 10 2025: 'Consultas dinámicas... usadas directamente en el intérprete.'</a:t>
            </a:r>
            <a:endParaRPr lang="en-US" sz="1600" b="0" u="none" strike="noStrike">
              <a:solidFill>
                <a:srgbClr val="FFFFFF"/>
              </a:solidFill>
              <a:effectLst/>
              <a:uFillTx/>
              <a:latin typeface="Arial"/>
            </a:endParaRPr>
          </a:p>
        </p:txBody>
      </p:sp>
      <p:sp>
        <p:nvSpPr>
          <p:cNvPr id="51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1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13"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1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Bases de datos expuestas y mal configuradas</a:t>
            </a:r>
            <a:endParaRPr lang="en-US" sz="4200" b="0" u="none" strike="noStrike">
              <a:solidFill>
                <a:srgbClr val="FFFFFF"/>
              </a:solidFill>
              <a:effectLst/>
              <a:uFillTx/>
              <a:latin typeface="Arial"/>
            </a:endParaRPr>
          </a:p>
        </p:txBody>
      </p:sp>
      <p:sp>
        <p:nvSpPr>
          <p:cNvPr id="51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1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Shodan y Censys están llenos de bases de datos que no deberían estar ahí.</a:t>
            </a:r>
            <a:endParaRPr lang="en-US" sz="2400" b="0" u="none" strike="noStrike">
              <a:solidFill>
                <a:srgbClr val="FFFFFF"/>
              </a:solidFill>
              <a:effectLst/>
              <a:uFillTx/>
              <a:latin typeface="Arial"/>
            </a:endParaRPr>
          </a:p>
        </p:txBody>
      </p:sp>
      <p:sp>
        <p:nvSpPr>
          <p:cNvPr id="51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MongoDB enlazado a 0.0.0.0 sin autenticación.</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Clústeres de Elasticsearch totalmente abiertos. Redis sin contraseña.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pg_hba.conf de Postgres configurado como 'host all all 0.0.0.0/0 trust'.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Ataques Meow (2020): bots borraron miles de BD abiertas por diversión.</a:t>
            </a:r>
            <a:endParaRPr lang="en-US" sz="2300" b="0" u="none" strike="noStrike">
              <a:solidFill>
                <a:srgbClr val="FFFFFF"/>
              </a:solidFill>
              <a:effectLst/>
              <a:uFillTx/>
              <a:latin typeface="Arial"/>
            </a:endParaRPr>
          </a:p>
        </p:txBody>
      </p:sp>
      <p:sp>
        <p:nvSpPr>
          <p:cNvPr id="51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Tarea pendiente: averigua qué tiene tu organización enlazado a interfaces públicas. Hoy.</a:t>
            </a:r>
            <a:endParaRPr lang="en-US" sz="1600" b="0" u="none" strike="noStrike">
              <a:solidFill>
                <a:srgbClr val="FFFFFF"/>
              </a:solidFill>
              <a:effectLst/>
              <a:uFillTx/>
              <a:latin typeface="Arial"/>
            </a:endParaRPr>
          </a:p>
        </p:txBody>
      </p:sp>
      <p:sp>
        <p:nvSpPr>
          <p:cNvPr id="51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2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1"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2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Configuraciones erróneas en la nube</a:t>
            </a:r>
            <a:endParaRPr lang="en-US" sz="4200" b="0" u="none" strike="noStrike">
              <a:solidFill>
                <a:srgbClr val="FFFFFF"/>
              </a:solidFill>
              <a:effectLst/>
              <a:uFillTx/>
              <a:latin typeface="Arial"/>
            </a:endParaRPr>
          </a:p>
        </p:txBody>
      </p:sp>
      <p:sp>
        <p:nvSpPr>
          <p:cNvPr id="52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2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En la nube, el fallo rara vez es el motor. Es la política a su alrededor.</a:t>
            </a:r>
            <a:endParaRPr lang="en-US" sz="2400" b="0" u="none" strike="noStrike">
              <a:solidFill>
                <a:srgbClr val="FFFFFF"/>
              </a:solidFill>
              <a:effectLst/>
              <a:uFillTx/>
              <a:latin typeface="Arial"/>
            </a:endParaRPr>
          </a:p>
        </p:txBody>
      </p:sp>
      <p:sp>
        <p:nvSpPr>
          <p:cNvPr id="52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Buckets S3 públicos llenos de volcados de BD (Accenture, Verizon, etc.).</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Capital One 2019: SSRF engañó a un WAF para filtrar sus credenciales IAM → S3.</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Lambda con s3:* sobre * porque 'funcionó la primera vez'.</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Grupos de seguridad: 0.0.0.0/0 en el puerto 5432.</a:t>
            </a:r>
            <a:endParaRPr lang="en-US" sz="2300" b="0" u="none" strike="noStrike">
              <a:solidFill>
                <a:srgbClr val="FFFFFF"/>
              </a:solidFill>
              <a:effectLst/>
              <a:uFillTx/>
              <a:latin typeface="Arial"/>
            </a:endParaRPr>
          </a:p>
        </p:txBody>
      </p:sp>
      <p:sp>
        <p:nvSpPr>
          <p:cNvPr id="52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Admin de AWS: 'Deshazte de la cuenta Root, usa IAM donde sea necesario.'</a:t>
            </a:r>
            <a:endParaRPr lang="en-US" sz="1600" b="0" u="none" strike="noStrike">
              <a:solidFill>
                <a:srgbClr val="FFFFFF"/>
              </a:solidFill>
              <a:effectLst/>
              <a:uFillTx/>
              <a:latin typeface="Arial"/>
            </a:endParaRPr>
          </a:p>
        </p:txBody>
      </p:sp>
      <p:sp>
        <p:nvSpPr>
          <p:cNvPr id="52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2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9"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Escalada de privilegios: BD → SO</a:t>
            </a:r>
            <a:endParaRPr lang="en-US" sz="4200" b="0" u="none" strike="noStrike">
              <a:solidFill>
                <a:srgbClr val="FFFFFF"/>
              </a:solidFill>
              <a:effectLst/>
              <a:uFillTx/>
              <a:latin typeface="Arial"/>
            </a:endParaRPr>
          </a:p>
        </p:txBody>
      </p:sp>
      <p:sp>
        <p:nvSpPr>
          <p:cNvPr id="53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Las cuentas de base de datos pueden convertirse en acceso shell. Tres jugadas clásicas.</a:t>
            </a:r>
            <a:endParaRPr lang="en-US" sz="2400" b="0" u="none" strike="noStrike">
              <a:solidFill>
                <a:srgbClr val="FFFFFF"/>
              </a:solidFill>
              <a:effectLst/>
              <a:uFillTx/>
              <a:latin typeface="Arial"/>
            </a:endParaRPr>
          </a:p>
        </p:txBody>
      </p:sp>
      <p:sp>
        <p:nvSpPr>
          <p:cNvPr id="53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MS SQL: xp_cmdshell — ejecuta comandos shell como el proceso de la BD.</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PostgreSQL: COPY ... TO PROGRAM — canaliza la salida a una shell.</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MySQL: carga un archivo UDF .so → sys_exec en el SO.</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Patrón: cada función privilegiada de la BD es parte de la superficie de ataque.</a:t>
            </a:r>
            <a:endParaRPr lang="en-US" sz="2300" b="0" u="none" strike="noStrike">
              <a:solidFill>
                <a:srgbClr val="FFFFFF"/>
              </a:solidFill>
              <a:effectLst/>
              <a:uFillTx/>
              <a:latin typeface="Arial"/>
            </a:endParaRPr>
          </a:p>
        </p:txBody>
      </p:sp>
      <p:sp>
        <p:nvSpPr>
          <p:cNvPr id="534"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35"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36"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7"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Brechas de seguridad en lagos de datos</a:t>
            </a:r>
            <a:endParaRPr lang="en-US" sz="4200" b="0" u="none" strike="noStrike">
              <a:solidFill>
                <a:srgbClr val="FFFFFF"/>
              </a:solidFill>
              <a:effectLst/>
              <a:uFillTx/>
              <a:latin typeface="Arial"/>
            </a:endParaRPr>
          </a:p>
        </p:txBody>
      </p:sp>
      <p:sp>
        <p:nvSpPr>
          <p:cNvPr id="538"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9"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Todo termina en S3 — incluyendo cosas que no querías poner ahí.</a:t>
            </a:r>
            <a:endParaRPr lang="en-US" sz="2400" b="0" u="none" strike="noStrike">
              <a:solidFill>
                <a:srgbClr val="FFFFFF"/>
              </a:solidFill>
              <a:effectLst/>
              <a:uFillTx/>
              <a:latin typeface="Arial"/>
            </a:endParaRPr>
          </a:p>
        </p:txBody>
      </p:sp>
      <p:sp>
        <p:nvSpPr>
          <p:cNvPr id="540"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 IAM permisivo se filtra de los roles de cómputo a las personas.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Sin obligación de cifrado en reposo en las claves de los buckets.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Sin validación del lado de escritura — cualquiera puede soltar datos envenenados.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Primera pregunta: ¿QUIÉN puede escribir en el lago? ¿QUIÉN puede leer?</a:t>
            </a:r>
            <a:endParaRPr lang="en-US" sz="2300" b="0" u="none" strike="noStrike">
              <a:solidFill>
                <a:srgbClr val="FFFFFF"/>
              </a:solidFill>
              <a:effectLst/>
              <a:uFillTx/>
              <a:latin typeface="Arial"/>
            </a:endParaRPr>
          </a:p>
        </p:txBody>
      </p:sp>
      <p:sp>
        <p:nvSpPr>
          <p:cNvPr id="54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4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43"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4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Al ransomware le encantan las bases de datos</a:t>
            </a:r>
            <a:endParaRPr lang="en-US" sz="4200" b="0" u="none" strike="noStrike">
              <a:solidFill>
                <a:srgbClr val="FFFFFF"/>
              </a:solidFill>
              <a:effectLst/>
              <a:uFillTx/>
              <a:latin typeface="Arial"/>
            </a:endParaRPr>
          </a:p>
        </p:txBody>
      </p:sp>
      <p:sp>
        <p:nvSpPr>
          <p:cNvPr id="54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4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La BD es lo que el negocio necesita recuperar — máxima ventaja.</a:t>
            </a:r>
            <a:endParaRPr lang="en-US" sz="2400" b="0" u="none" strike="noStrike">
              <a:solidFill>
                <a:srgbClr val="FFFFFF"/>
              </a:solidFill>
              <a:effectLst/>
              <a:uFillTx/>
              <a:latin typeface="Arial"/>
            </a:endParaRPr>
          </a:p>
        </p:txBody>
      </p:sp>
      <p:sp>
        <p:nvSpPr>
          <p:cNvPr id="54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Cifra la base de datos en producción.</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Cifra las COPIAS DE SEGURIDAD (de lo contrario el cliente simplemente restaura).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Exfiltra una copia primero — extorsiona con divulgación aunque restauren.</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Defensa: copias de seguridad sin conexión, inmutables + restauraciones probadas.</a:t>
            </a:r>
            <a:endParaRPr lang="en-US" sz="2300" b="0" u="none" strike="noStrike">
              <a:solidFill>
                <a:srgbClr val="FFFFFF"/>
              </a:solidFill>
              <a:effectLst/>
              <a:uFillTx/>
              <a:latin typeface="Arial"/>
            </a:endParaRPr>
          </a:p>
        </p:txBody>
      </p:sp>
      <p:sp>
        <p:nvSpPr>
          <p:cNvPr id="54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WannaCry — el parche salió 59 días antes.</a:t>
            </a:r>
            <a:endParaRPr lang="en-US" sz="1600" b="0" u="none" strike="noStrike">
              <a:solidFill>
                <a:srgbClr val="FFFFFF"/>
              </a:solidFill>
              <a:effectLst/>
              <a:uFillTx/>
              <a:latin typeface="Arial"/>
            </a:endParaRPr>
          </a:p>
        </p:txBody>
      </p:sp>
      <p:sp>
        <p:nvSpPr>
          <p:cNvPr id="54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5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1"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5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Ataques de credenciales</a:t>
            </a:r>
            <a:endParaRPr lang="en-US" sz="4200" b="0" u="none" strike="noStrike">
              <a:solidFill>
                <a:srgbClr val="FFFFFF"/>
              </a:solidFill>
              <a:effectLst/>
              <a:uFillTx/>
              <a:latin typeface="Arial"/>
            </a:endParaRPr>
          </a:p>
        </p:txBody>
      </p:sp>
      <p:sp>
        <p:nvSpPr>
          <p:cNvPr id="55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5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Credenciales por defecto y cadenas de conexión filtradas — dos fallos viejos y persistentes.</a:t>
            </a:r>
            <a:endParaRPr lang="en-US" sz="2400" b="0" u="none" strike="noStrike">
              <a:solidFill>
                <a:srgbClr val="FFFFFF"/>
              </a:solidFill>
              <a:effectLst/>
              <a:uFillTx/>
              <a:latin typeface="Arial"/>
            </a:endParaRPr>
          </a:p>
        </p:txBody>
      </p:sp>
      <p:sp>
        <p:nvSpPr>
          <p:cNvPr id="55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Redis: sin contraseña por defecto durante años.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 sin autenticación en el nivel gratuito — también durante años.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Connection strings (postgres://user:pass@host) committed to Git.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Escaneo de secretos previo al commit — corrígelo esta semana.</a:t>
            </a:r>
            <a:endParaRPr lang="en-US" sz="2300" b="0" u="none" strike="noStrike">
              <a:solidFill>
                <a:srgbClr val="FFFFFF"/>
              </a:solidFill>
              <a:effectLst/>
              <a:uFillTx/>
              <a:latin typeface="Arial"/>
            </a:endParaRPr>
          </a:p>
        </p:txBody>
      </p:sp>
      <p:sp>
        <p:nvSpPr>
          <p:cNvPr id="55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credenciales robadas = vector preferido del crimen organizado.</a:t>
            </a:r>
            <a:endParaRPr lang="en-US" sz="1600" b="0" u="none" strike="noStrike">
              <a:solidFill>
                <a:srgbClr val="FFFFFF"/>
              </a:solidFill>
              <a:effectLst/>
              <a:uFillTx/>
              <a:latin typeface="Arial"/>
            </a:endParaRPr>
          </a:p>
        </p:txBody>
      </p:sp>
      <p:sp>
        <p:nvSpPr>
          <p:cNvPr id="55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5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9"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Cadena de suministro — Las bibliotecas de BD en las que confías</a:t>
            </a:r>
            <a:endParaRPr lang="en-US" sz="4200" b="0" u="none" strike="noStrike">
              <a:solidFill>
                <a:srgbClr val="FFFFFF"/>
              </a:solidFill>
              <a:effectLst/>
              <a:uFillTx/>
              <a:latin typeface="Arial"/>
            </a:endParaRPr>
          </a:p>
        </p:txBody>
      </p:sp>
      <p:sp>
        <p:nvSpPr>
          <p:cNvPr id="56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6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Tu controlador de BD vino de npm/PyPI/Maven. Igual que el de todos los demás.</a:t>
            </a:r>
            <a:endParaRPr lang="en-US" sz="2400" b="0" u="none" strike="noStrike">
              <a:solidFill>
                <a:srgbClr val="FFFFFF"/>
              </a:solidFill>
              <a:effectLst/>
              <a:uFillTx/>
              <a:latin typeface="Arial"/>
            </a:endParaRPr>
          </a:p>
        </p:txBody>
      </p:sp>
      <p:sp>
        <p:nvSpPr>
          <p:cNvPr id="56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Paquetes npm maliciosos que se hacen pasar por ORM / controladores.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Imágenes troyanizadas de Docker Hub para bases de datos populares.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Extensiones de PostgreSQL / complementos de MySQL comprometidos.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Las extensiones se ejecutan con privilegios de la BD — usualmente muchos.</a:t>
            </a:r>
            <a:endParaRPr lang="en-US" sz="2300" b="0" u="none" strike="noStrike">
              <a:solidFill>
                <a:srgbClr val="FFFFFF"/>
              </a:solidFill>
              <a:effectLst/>
              <a:uFillTx/>
              <a:latin typeface="Arial"/>
            </a:endParaRPr>
          </a:p>
        </p:txBody>
      </p:sp>
      <p:sp>
        <p:nvSpPr>
          <p:cNvPr id="564"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Shostack: 'Las amenazas tienden a agruparse en torno a los límites de confianza.'</a:t>
            </a:r>
            <a:endParaRPr lang="en-US" sz="1600" b="0" u="none" strike="noStrike">
              <a:solidFill>
                <a:srgbClr val="FFFFFF"/>
              </a:solidFill>
              <a:effectLst/>
              <a:uFillTx/>
              <a:latin typeface="Arial"/>
            </a:endParaRPr>
          </a:p>
        </p:txBody>
      </p:sp>
      <p:sp>
        <p:nvSpPr>
          <p:cNvPr id="565"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66"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67"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8"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Envenenamiento de datos de RAG / LLM</a:t>
            </a:r>
            <a:endParaRPr lang="en-US" sz="4200" b="0" u="none" strike="noStrike">
              <a:solidFill>
                <a:srgbClr val="FFFFFF"/>
              </a:solidFill>
              <a:effectLst/>
              <a:uFillTx/>
              <a:latin typeface="Arial"/>
            </a:endParaRPr>
          </a:p>
        </p:txBody>
      </p:sp>
      <p:sp>
        <p:nvSpPr>
          <p:cNvPr id="569"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0"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XSS almacenado para la era de la IA. Escribe en la base de conocimiento → el LLM lo cita.</a:t>
            </a:r>
            <a:endParaRPr lang="en-US" sz="2400" b="0" u="none" strike="noStrike">
              <a:solidFill>
                <a:srgbClr val="FFFFFF"/>
              </a:solidFill>
              <a:effectLst/>
              <a:uFillTx/>
              <a:latin typeface="Arial"/>
            </a:endParaRPr>
          </a:p>
        </p:txBody>
      </p:sp>
      <p:sp>
        <p:nvSpPr>
          <p:cNvPr id="571"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Artículo de soporte envenenado: 'Para restablecer, envía tu contraseña 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Documento interno envenenado: 'La política de la empresa es transferir por banco 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Inyección de prompts embebida en los documentos recuperados.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Defensa: ACL de escritura estrictas, etiquetas de procedencia, humano en el bucle.</a:t>
            </a:r>
            <a:endParaRPr lang="en-US" sz="2300" b="0" u="none" strike="noStrike">
              <a:solidFill>
                <a:srgbClr val="FFFFFF"/>
              </a:solidFill>
              <a:effectLst/>
              <a:uFillTx/>
              <a:latin typeface="Arial"/>
            </a:endParaRPr>
          </a:p>
        </p:txBody>
      </p:sp>
      <p:sp>
        <p:nvSpPr>
          <p:cNvPr id="572"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Principio de XSS almacenado de OWASP 2025 — sustituye 'admin' por 'LLM'.</a:t>
            </a:r>
            <a:endParaRPr lang="en-US" sz="1600" b="0" u="none" strike="noStrike">
              <a:solidFill>
                <a:srgbClr val="FFFFFF"/>
              </a:solidFill>
              <a:effectLst/>
              <a:uFillTx/>
              <a:latin typeface="Arial"/>
            </a:endParaRPr>
          </a:p>
        </p:txBody>
      </p:sp>
      <p:sp>
        <p:nvSpPr>
          <p:cNvPr id="57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7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75"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7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Amenazas internas y movimiento lateral de BD a BD</a:t>
            </a:r>
            <a:endParaRPr lang="en-US" sz="4200" b="0" u="none" strike="noStrike">
              <a:solidFill>
                <a:srgbClr val="FFFFFF"/>
              </a:solidFill>
              <a:effectLst/>
              <a:uFillTx/>
              <a:latin typeface="Arial"/>
            </a:endParaRPr>
          </a:p>
        </p:txBody>
      </p:sp>
      <p:sp>
        <p:nvSpPr>
          <p:cNvPr id="57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Las bases de datos no son endpoints. Son nodos en un grafo.</a:t>
            </a:r>
            <a:endParaRPr lang="en-US" sz="2400" b="0" u="none" strike="noStrike">
              <a:solidFill>
                <a:srgbClr val="FFFFFF"/>
              </a:solidFill>
              <a:effectLst/>
              <a:uFillTx/>
              <a:latin typeface="Arial"/>
            </a:endParaRPr>
          </a:p>
        </p:txBody>
      </p:sp>
      <p:sp>
        <p:nvSpPr>
          <p:cNvPr id="57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Cuentas de servicio con permisos excesivos. Ingenieros con lectura en producción.</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DBA sin registro de auditoría.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DB_LINK de Oracle, servidores vinculados de SQL Server, FDW de Postgres.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Credenciales almacenadas → compromete A, salta a B, salta a C.</a:t>
            </a:r>
            <a:endParaRPr lang="en-US" sz="2300" b="0" u="none" strike="noStrike">
              <a:solidFill>
                <a:srgbClr val="FFFFFF"/>
              </a:solidFill>
              <a:effectLst/>
              <a:uFillTx/>
              <a:latin typeface="Arial"/>
            </a:endParaRPr>
          </a:p>
        </p:txBody>
      </p:sp>
      <p:sp>
        <p:nvSpPr>
          <p:cNvPr id="58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Web App Hacker's Handbook: logs de auditoría mal protegidos = una mina de oro.</a:t>
            </a:r>
            <a:endParaRPr lang="en-US" sz="1600" b="0" u="none" strike="noStrike">
              <a:solidFill>
                <a:srgbClr val="FFFFFF"/>
              </a:solidFill>
              <a:effectLst/>
              <a:uFillTx/>
              <a:latin typeface="Arial"/>
            </a:endParaRPr>
          </a:p>
        </p:txBody>
      </p:sp>
      <p:sp>
        <p:nvSpPr>
          <p:cNvPr id="58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8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83"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8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Exposición de copias de seguridad e instantáneas</a:t>
            </a:r>
            <a:endParaRPr lang="en-US" sz="4200" b="0" u="none" strike="noStrike">
              <a:solidFill>
                <a:srgbClr val="FFFFFF"/>
              </a:solidFill>
              <a:effectLst/>
              <a:uFillTx/>
              <a:latin typeface="Arial"/>
            </a:endParaRPr>
          </a:p>
        </p:txBody>
      </p:sp>
      <p:sp>
        <p:nvSpPr>
          <p:cNvPr id="58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8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Los mismos datos que producción, la mitad del cariño.</a:t>
            </a:r>
            <a:endParaRPr lang="en-US" sz="2400" b="0" u="none" strike="noStrike">
              <a:solidFill>
                <a:srgbClr val="FFFFFF"/>
              </a:solidFill>
              <a:effectLst/>
              <a:uFillTx/>
              <a:latin typeface="Arial"/>
            </a:endParaRPr>
          </a:p>
        </p:txBody>
      </p:sp>
      <p:sp>
        <p:nvSpPr>
          <p:cNvPr id="58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Copias de seguridad de BD sin cifrar en recursos compartidos legibles por Domain Users.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Instantáneas en la nube compartidas entre cuentas, nunca dejadas de compartir.</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Copias de seguridad externas con proveedores cuya postura nunca verificaste.</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Las copias de seguridad son el último recurso. Aplica identificar-autenticar-autorizar-auditar.</a:t>
            </a:r>
            <a:endParaRPr lang="en-US" sz="2300" b="0" u="none" strike="noStrike">
              <a:solidFill>
                <a:srgbClr val="FFFFFF"/>
              </a:solidFill>
              <a:effectLst/>
              <a:uFillTx/>
              <a:latin typeface="Arial"/>
            </a:endParaRPr>
          </a:p>
        </p:txBody>
      </p:sp>
      <p:sp>
        <p:nvSpPr>
          <p:cNvPr id="58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Schneier: identificar, autenticar, autorizar, auditar — el mismo modelo.</a:t>
            </a:r>
            <a:endParaRPr lang="en-US" sz="1600" b="0" u="none" strike="noStrike">
              <a:solidFill>
                <a:srgbClr val="FFFFFF"/>
              </a:solidFill>
              <a:effectLst/>
              <a:uFillTx/>
              <a:latin typeface="Arial"/>
            </a:endParaRPr>
          </a:p>
        </p:txBody>
      </p:sp>
      <p:sp>
        <p:nvSpPr>
          <p:cNvPr id="58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9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1" name="TextBox 1" descr="Recap of the mental map: definition, ten families, cloud shared responsibility, markdown as a database, and the expanded attack surface." title="Recap of the mental map: definition, ten families, cloud shared responsibility,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Tu mapa mental</a:t>
            </a:r>
            <a:endParaRPr lang="en-US" sz="4200" b="0" u="none" strike="noStrike">
              <a:solidFill>
                <a:srgbClr val="FFFFFF"/>
              </a:solidFill>
              <a:effectLst/>
              <a:uFillTx/>
              <a:latin typeface="Arial"/>
            </a:endParaRPr>
          </a:p>
        </p:txBody>
      </p:sp>
      <p:sp>
        <p:nvSpPr>
          <p:cNvPr id="59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3" name="TextBox 3"/>
          <p:cNvSpPr/>
          <p:nvPr/>
        </p:nvSpPr>
        <p:spPr>
          <a:xfrm>
            <a:off x="640080" y="1828800"/>
            <a:ext cx="109724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Una base de datos = almacenamiento organizado + una forma de hacer preguntas.</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Diez familias, cada una con su propia trampa.</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Nube = responsabilidad compartida. Tú eres dueño de la configuración y los datos.</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El markdown es una base de datos para los LLM. El envenenamiento de RAG es real.</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El SQLi se solucionó. La superficie de ataque se expandió.</a:t>
            </a:r>
            <a:endParaRPr lang="en-US" sz="2800" b="0" u="none" strike="noStrike">
              <a:solidFill>
                <a:srgbClr val="FFFFFF"/>
              </a:solidFill>
              <a:effectLst/>
              <a:uFillTx/>
              <a:latin typeface="Arial"/>
            </a:endParaRPr>
          </a:p>
        </p:txBody>
      </p:sp>
      <p:sp>
        <p:nvSpPr>
          <p:cNvPr id="594"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595"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6" name="TextBox 1" descr="Five concrete next steps: install PostgreSQL, do PortSwigger SQLi labs, browse Shodan/Censys legally, read breach reports, list your org's databases." title="Five concrete next steps: install PostgreSQL, do PortSwigger SQLi labs, browse S"/>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Qué hacer la próxima semana</a:t>
            </a:r>
            <a:endParaRPr lang="en-US" sz="4200" b="0" u="none" strike="noStrike">
              <a:solidFill>
                <a:srgbClr val="FFFFFF"/>
              </a:solidFill>
              <a:effectLst/>
              <a:uFillTx/>
              <a:latin typeface="Arial"/>
            </a:endParaRPr>
          </a:p>
        </p:txBody>
      </p:sp>
      <p:sp>
        <p:nvSpPr>
          <p:cNvPr id="59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8" name="TextBox 3"/>
          <p:cNvSpPr/>
          <p:nvPr/>
        </p:nvSpPr>
        <p:spPr>
          <a:xfrm>
            <a:off x="548640" y="178308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1.</a:t>
            </a:r>
            <a:endParaRPr lang="en-US" sz="3600" b="0" u="none" strike="noStrike">
              <a:solidFill>
                <a:srgbClr val="FFFFFF"/>
              </a:solidFill>
              <a:effectLst/>
              <a:uFillTx/>
              <a:latin typeface="Arial"/>
            </a:endParaRPr>
          </a:p>
        </p:txBody>
      </p:sp>
      <p:sp>
        <p:nvSpPr>
          <p:cNvPr id="599" name="TextBox 4"/>
          <p:cNvSpPr/>
          <p:nvPr/>
        </p:nvSpPr>
        <p:spPr>
          <a:xfrm>
            <a:off x="1554480" y="182880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Instala PostgreSQL localmente. Escribe un SELECT.</a:t>
            </a:r>
            <a:endParaRPr lang="en-US" sz="2600" b="0" u="none" strike="noStrike">
              <a:solidFill>
                <a:srgbClr val="FFFFFF"/>
              </a:solidFill>
              <a:effectLst/>
              <a:uFillTx/>
              <a:latin typeface="Arial"/>
            </a:endParaRPr>
          </a:p>
        </p:txBody>
      </p:sp>
      <p:sp>
        <p:nvSpPr>
          <p:cNvPr id="600" name="TextBox 5"/>
          <p:cNvSpPr/>
          <p:nvPr/>
        </p:nvSpPr>
        <p:spPr>
          <a:xfrm>
            <a:off x="548640" y="260604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2.</a:t>
            </a:r>
            <a:endParaRPr lang="en-US" sz="3600" b="0" u="none" strike="noStrike">
              <a:solidFill>
                <a:srgbClr val="FFFFFF"/>
              </a:solidFill>
              <a:effectLst/>
              <a:uFillTx/>
              <a:latin typeface="Arial"/>
            </a:endParaRPr>
          </a:p>
        </p:txBody>
      </p:sp>
      <p:sp>
        <p:nvSpPr>
          <p:cNvPr id="601" name="TextBox 6"/>
          <p:cNvSpPr/>
          <p:nvPr/>
        </p:nvSpPr>
        <p:spPr>
          <a:xfrm>
            <a:off x="1554480" y="265176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Haz los laboratorios de inyección SQL de PortSwigger (gratis).</a:t>
            </a:r>
            <a:endParaRPr lang="en-US" sz="2600" b="0" u="none" strike="noStrike">
              <a:solidFill>
                <a:srgbClr val="FFFFFF"/>
              </a:solidFill>
              <a:effectLst/>
              <a:uFillTx/>
              <a:latin typeface="Arial"/>
            </a:endParaRPr>
          </a:p>
        </p:txBody>
      </p:sp>
      <p:sp>
        <p:nvSpPr>
          <p:cNvPr id="602" name="TextBox 7"/>
          <p:cNvSpPr/>
          <p:nvPr/>
        </p:nvSpPr>
        <p:spPr>
          <a:xfrm>
            <a:off x="548640" y="342900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3.</a:t>
            </a:r>
            <a:endParaRPr lang="en-US" sz="3600" b="0" u="none" strike="noStrike">
              <a:solidFill>
                <a:srgbClr val="FFFFFF"/>
              </a:solidFill>
              <a:effectLst/>
              <a:uFillTx/>
              <a:latin typeface="Arial"/>
            </a:endParaRPr>
          </a:p>
        </p:txBody>
      </p:sp>
      <p:sp>
        <p:nvSpPr>
          <p:cNvPr id="603" name="TextBox 8"/>
          <p:cNvSpPr/>
          <p:nvPr/>
        </p:nvSpPr>
        <p:spPr>
          <a:xfrm>
            <a:off x="1554480" y="347472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Explora Shodan / Censys — solo sistemas que poseas.</a:t>
            </a:r>
            <a:endParaRPr lang="en-US" sz="2600" b="0" u="none" strike="noStrike">
              <a:solidFill>
                <a:srgbClr val="FFFFFF"/>
              </a:solidFill>
              <a:effectLst/>
              <a:uFillTx/>
              <a:latin typeface="Arial"/>
            </a:endParaRPr>
          </a:p>
        </p:txBody>
      </p:sp>
      <p:sp>
        <p:nvSpPr>
          <p:cNvPr id="604" name="TextBox 9"/>
          <p:cNvSpPr/>
          <p:nvPr/>
        </p:nvSpPr>
        <p:spPr>
          <a:xfrm>
            <a:off x="548640" y="425196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4.</a:t>
            </a:r>
            <a:endParaRPr lang="en-US" sz="3600" b="0" u="none" strike="noStrike">
              <a:solidFill>
                <a:srgbClr val="FFFFFF"/>
              </a:solidFill>
              <a:effectLst/>
              <a:uFillTx/>
              <a:latin typeface="Arial"/>
            </a:endParaRPr>
          </a:p>
        </p:txBody>
      </p:sp>
      <p:sp>
        <p:nvSpPr>
          <p:cNvPr id="605" name="TextBox 10"/>
          <p:cNvSpPr/>
          <p:nvPr/>
        </p:nvSpPr>
        <p:spPr>
          <a:xfrm>
            <a:off x="1554480" y="429768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Lee un informe de filtración — Capital One, Equifax, MOVEit.</a:t>
            </a:r>
            <a:endParaRPr lang="en-US" sz="2600" b="0" u="none" strike="noStrike">
              <a:solidFill>
                <a:srgbClr val="FFFFFF"/>
              </a:solidFill>
              <a:effectLst/>
              <a:uFillTx/>
              <a:latin typeface="Arial"/>
            </a:endParaRPr>
          </a:p>
        </p:txBody>
      </p:sp>
      <p:sp>
        <p:nvSpPr>
          <p:cNvPr id="606" name="TextBox 11"/>
          <p:cNvSpPr/>
          <p:nvPr/>
        </p:nvSpPr>
        <p:spPr>
          <a:xfrm>
            <a:off x="548640" y="507492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5.</a:t>
            </a:r>
            <a:endParaRPr lang="en-US" sz="3600" b="0" u="none" strike="noStrike">
              <a:solidFill>
                <a:srgbClr val="FFFFFF"/>
              </a:solidFill>
              <a:effectLst/>
              <a:uFillTx/>
              <a:latin typeface="Arial"/>
            </a:endParaRPr>
          </a:p>
        </p:txBody>
      </p:sp>
      <p:sp>
        <p:nvSpPr>
          <p:cNvPr id="607" name="TextBox 12"/>
          <p:cNvSpPr/>
          <p:nvPr/>
        </p:nvSpPr>
        <p:spPr>
          <a:xfrm>
            <a:off x="1554480" y="512064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Averigua qué bases de datos ejecuta realmente TU organización.</a:t>
            </a:r>
            <a:endParaRPr lang="en-US" sz="2600" b="0" u="none" strike="noStrike">
              <a:solidFill>
                <a:srgbClr val="FFFFFF"/>
              </a:solidFill>
              <a:effectLst/>
              <a:uFillTx/>
              <a:latin typeface="Arial"/>
            </a:endParaRPr>
          </a:p>
        </p:txBody>
      </p:sp>
      <p:sp>
        <p:nvSpPr>
          <p:cNvPr id="608" name="TextBox 1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609" name="TextBox 1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10" name="TextBox 1" descr="Resource list: PortSwigger Web Security Academy, SQLBolt, Use The Index Luke, DB-Engines, and the OWASP Top 10." title="Resource list: PortSwigger Web Security Academy, SQLBolt, Use The Index Luke, DB"/>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Recursos que vale la pena guardar</a:t>
            </a:r>
            <a:endParaRPr lang="en-US" sz="4200" b="0" u="none" strike="noStrike">
              <a:solidFill>
                <a:srgbClr val="FFFFFF"/>
              </a:solidFill>
              <a:effectLst/>
              <a:uFillTx/>
              <a:latin typeface="Arial"/>
            </a:endParaRPr>
          </a:p>
        </p:txBody>
      </p:sp>
      <p:sp>
        <p:nvSpPr>
          <p:cNvPr id="6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12" name="TextBox 3"/>
          <p:cNvSpPr/>
          <p:nvPr/>
        </p:nvSpPr>
        <p:spPr>
          <a:xfrm>
            <a:off x="548640" y="182880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3" name="TextBox 4"/>
          <p:cNvSpPr/>
          <p:nvPr/>
        </p:nvSpPr>
        <p:spPr>
          <a:xfrm>
            <a:off x="1097280" y="182880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PortSwigger Web Security Academy</a:t>
            </a:r>
            <a:endParaRPr lang="en-US" sz="2600" b="0" u="none" strike="noStrike">
              <a:solidFill>
                <a:srgbClr val="FFFFFF"/>
              </a:solidFill>
              <a:effectLst/>
              <a:uFillTx/>
              <a:latin typeface="Arial"/>
            </a:endParaRPr>
          </a:p>
        </p:txBody>
      </p:sp>
      <p:sp>
        <p:nvSpPr>
          <p:cNvPr id="614" name="TextBox 5"/>
          <p:cNvSpPr/>
          <p:nvPr/>
        </p:nvSpPr>
        <p:spPr>
          <a:xfrm>
            <a:off x="7040880" y="182880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portswigger.net/web-security</a:t>
            </a:r>
            <a:endParaRPr lang="en-US" sz="2200" b="0" u="none" strike="noStrike">
              <a:solidFill>
                <a:srgbClr val="FFFFFF"/>
              </a:solidFill>
              <a:effectLst/>
              <a:uFillTx/>
              <a:latin typeface="Arial"/>
            </a:endParaRPr>
          </a:p>
        </p:txBody>
      </p:sp>
      <p:sp>
        <p:nvSpPr>
          <p:cNvPr id="615" name="TextBox 6"/>
          <p:cNvSpPr/>
          <p:nvPr/>
        </p:nvSpPr>
        <p:spPr>
          <a:xfrm>
            <a:off x="548640" y="260604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6" name="TextBox 7"/>
          <p:cNvSpPr/>
          <p:nvPr/>
        </p:nvSpPr>
        <p:spPr>
          <a:xfrm>
            <a:off x="1097280" y="260604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SQLBolt</a:t>
            </a:r>
            <a:endParaRPr lang="en-US" sz="2600" b="0" u="none" strike="noStrike">
              <a:solidFill>
                <a:srgbClr val="FFFFFF"/>
              </a:solidFill>
              <a:effectLst/>
              <a:uFillTx/>
              <a:latin typeface="Arial"/>
            </a:endParaRPr>
          </a:p>
        </p:txBody>
      </p:sp>
      <p:sp>
        <p:nvSpPr>
          <p:cNvPr id="617" name="TextBox 8"/>
          <p:cNvSpPr/>
          <p:nvPr/>
        </p:nvSpPr>
        <p:spPr>
          <a:xfrm>
            <a:off x="7040880" y="260604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sqlbolt.com</a:t>
            </a:r>
            <a:endParaRPr lang="en-US" sz="2200" b="0" u="none" strike="noStrike">
              <a:solidFill>
                <a:srgbClr val="FFFFFF"/>
              </a:solidFill>
              <a:effectLst/>
              <a:uFillTx/>
              <a:latin typeface="Arial"/>
            </a:endParaRPr>
          </a:p>
        </p:txBody>
      </p:sp>
      <p:sp>
        <p:nvSpPr>
          <p:cNvPr id="618" name="TextBox 9"/>
          <p:cNvSpPr/>
          <p:nvPr/>
        </p:nvSpPr>
        <p:spPr>
          <a:xfrm>
            <a:off x="548640" y="338328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9" name="TextBox 10"/>
          <p:cNvSpPr/>
          <p:nvPr/>
        </p:nvSpPr>
        <p:spPr>
          <a:xfrm>
            <a:off x="1097280" y="338328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Use The Index, Luke</a:t>
            </a:r>
            <a:endParaRPr lang="en-US" sz="2600" b="0" u="none" strike="noStrike">
              <a:solidFill>
                <a:srgbClr val="FFFFFF"/>
              </a:solidFill>
              <a:effectLst/>
              <a:uFillTx/>
              <a:latin typeface="Arial"/>
            </a:endParaRPr>
          </a:p>
        </p:txBody>
      </p:sp>
      <p:sp>
        <p:nvSpPr>
          <p:cNvPr id="620" name="TextBox 11"/>
          <p:cNvSpPr/>
          <p:nvPr/>
        </p:nvSpPr>
        <p:spPr>
          <a:xfrm>
            <a:off x="7040880" y="338328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use-the-index-luke.com</a:t>
            </a:r>
            <a:endParaRPr lang="en-US" sz="2200" b="0" u="none" strike="noStrike">
              <a:solidFill>
                <a:srgbClr val="FFFFFF"/>
              </a:solidFill>
              <a:effectLst/>
              <a:uFillTx/>
              <a:latin typeface="Arial"/>
            </a:endParaRPr>
          </a:p>
        </p:txBody>
      </p:sp>
      <p:sp>
        <p:nvSpPr>
          <p:cNvPr id="621" name="TextBox 12"/>
          <p:cNvSpPr/>
          <p:nvPr/>
        </p:nvSpPr>
        <p:spPr>
          <a:xfrm>
            <a:off x="548640" y="416052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2" name="TextBox 13"/>
          <p:cNvSpPr/>
          <p:nvPr/>
        </p:nvSpPr>
        <p:spPr>
          <a:xfrm>
            <a:off x="1097280" y="416052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DB-Engines Ranking</a:t>
            </a:r>
            <a:endParaRPr lang="en-US" sz="2600" b="0" u="none" strike="noStrike">
              <a:solidFill>
                <a:srgbClr val="FFFFFF"/>
              </a:solidFill>
              <a:effectLst/>
              <a:uFillTx/>
              <a:latin typeface="Arial"/>
            </a:endParaRPr>
          </a:p>
        </p:txBody>
      </p:sp>
      <p:sp>
        <p:nvSpPr>
          <p:cNvPr id="623" name="TextBox 14"/>
          <p:cNvSpPr/>
          <p:nvPr/>
        </p:nvSpPr>
        <p:spPr>
          <a:xfrm>
            <a:off x="7040880" y="416052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db-engines.com</a:t>
            </a:r>
            <a:endParaRPr lang="en-US" sz="2200" b="0" u="none" strike="noStrike">
              <a:solidFill>
                <a:srgbClr val="FFFFFF"/>
              </a:solidFill>
              <a:effectLst/>
              <a:uFillTx/>
              <a:latin typeface="Arial"/>
            </a:endParaRPr>
          </a:p>
        </p:txBody>
      </p:sp>
      <p:sp>
        <p:nvSpPr>
          <p:cNvPr id="624" name="TextBox 15"/>
          <p:cNvSpPr/>
          <p:nvPr/>
        </p:nvSpPr>
        <p:spPr>
          <a:xfrm>
            <a:off x="548640" y="493776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5" name="TextBox 16"/>
          <p:cNvSpPr/>
          <p:nvPr/>
        </p:nvSpPr>
        <p:spPr>
          <a:xfrm>
            <a:off x="1097280" y="493776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OWASP Top 10</a:t>
            </a:r>
            <a:endParaRPr lang="en-US" sz="2600" b="0" u="none" strike="noStrike">
              <a:solidFill>
                <a:srgbClr val="FFFFFF"/>
              </a:solidFill>
              <a:effectLst/>
              <a:uFillTx/>
              <a:latin typeface="Arial"/>
            </a:endParaRPr>
          </a:p>
        </p:txBody>
      </p:sp>
      <p:sp>
        <p:nvSpPr>
          <p:cNvPr id="626" name="TextBox 17"/>
          <p:cNvSpPr/>
          <p:nvPr/>
        </p:nvSpPr>
        <p:spPr>
          <a:xfrm>
            <a:off x="7040880" y="493776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owasp.org/Top10/</a:t>
            </a:r>
            <a:endParaRPr lang="en-US" sz="2200" b="0" u="none" strike="noStrike">
              <a:solidFill>
                <a:srgbClr val="FFFFFF"/>
              </a:solidFill>
              <a:effectLst/>
              <a:uFillTx/>
              <a:latin typeface="Arial"/>
            </a:endParaRPr>
          </a:p>
        </p:txBody>
      </p:sp>
      <p:sp>
        <p:nvSpPr>
          <p:cNvPr id="627" name="TextBox 18"/>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628" name="TextBox 19"/>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29" name="TextBox 1" descr="Closing slide: Databases are where the money is. Literally. Now you know where to look. Ronin 48." title="Closing slide: Databases are where the money is. Literally. Now you know where t"/>
          <p:cNvSpPr/>
          <p:nvPr/>
        </p:nvSpPr>
        <p:spPr>
          <a:xfrm>
            <a:off x="457200" y="137160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FFFFFF"/>
                </a:solidFill>
                <a:effectLst/>
                <a:uFillTx/>
                <a:latin typeface="Calibri"/>
              </a:rPr>
              <a:t>“Las bases de datos son donde</a:t>
            </a:r>
            <a:endParaRPr lang="en-US" sz="5800" b="0" u="none" strike="noStrike">
              <a:solidFill>
                <a:srgbClr val="FFFFFF"/>
              </a:solidFill>
              <a:effectLst/>
              <a:uFillTx/>
              <a:latin typeface="Arial"/>
            </a:endParaRPr>
          </a:p>
        </p:txBody>
      </p:sp>
      <p:sp>
        <p:nvSpPr>
          <p:cNvPr id="630" name="TextBox 2"/>
          <p:cNvSpPr/>
          <p:nvPr/>
        </p:nvSpPr>
        <p:spPr>
          <a:xfrm>
            <a:off x="457200" y="237744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00FF41"/>
                </a:solidFill>
                <a:effectLst/>
                <a:uFillTx/>
                <a:latin typeface="Calibri"/>
              </a:rPr>
              <a:t>está el dinero. Literalmente.”</a:t>
            </a:r>
            <a:endParaRPr lang="en-US" sz="5800" b="0" u="none" strike="noStrike">
              <a:solidFill>
                <a:srgbClr val="FFFFFF"/>
              </a:solidFill>
              <a:effectLst/>
              <a:uFillTx/>
              <a:latin typeface="Arial"/>
            </a:endParaRPr>
          </a:p>
        </p:txBody>
      </p:sp>
      <p:sp>
        <p:nvSpPr>
          <p:cNvPr id="631" name="Rectangle 3"/>
          <p:cNvSpPr/>
          <p:nvPr/>
        </p:nvSpPr>
        <p:spPr>
          <a:xfrm>
            <a:off x="7772760" y="4114800"/>
            <a:ext cx="27428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32" name="TextBox 4"/>
          <p:cNvSpPr/>
          <p:nvPr/>
        </p:nvSpPr>
        <p:spPr>
          <a:xfrm>
            <a:off x="-45360" y="571500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00D4FF"/>
                </a:solidFill>
                <a:effectLst/>
                <a:uFillTx/>
                <a:latin typeface="Calibri"/>
              </a:rPr>
              <a:t>Ahora ya sabes dónde buscar.</a:t>
            </a:r>
            <a:endParaRPr lang="en-US" sz="4200" b="0" u="none" strike="noStrike">
              <a:solidFill>
                <a:srgbClr val="FFFFFF"/>
              </a:solidFill>
              <a:effectLst/>
              <a:uFillTx/>
              <a:latin typeface="Arial"/>
            </a:endParaRPr>
          </a:p>
        </p:txBody>
      </p:sp>
      <p:sp>
        <p:nvSpPr>
          <p:cNvPr id="633" name="TextBox 5"/>
          <p:cNvSpPr/>
          <p:nvPr/>
        </p:nvSpPr>
        <p:spPr>
          <a:xfrm>
            <a:off x="7315200" y="3429000"/>
            <a:ext cx="3886200" cy="517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CCCCD6"/>
                </a:solidFill>
                <a:effectLst/>
                <a:uFillTx/>
                <a:latin typeface="Calibri"/>
              </a:rPr>
              <a:t>~Larry Ellison (Probablemente)</a:t>
            </a:r>
            <a:endParaRPr lang="en-US" sz="2800" b="0" u="none" strike="noStrike">
              <a:solidFill>
                <a:srgbClr val="FFFFFF"/>
              </a:solidFill>
              <a:effectLst/>
              <a:uFillTx/>
              <a:latin typeface="Arial"/>
            </a:endParaRPr>
          </a:p>
        </p:txBody>
      </p:sp>
      <p:sp>
        <p:nvSpPr>
          <p:cNvPr id="634" name="TextBox 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35"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p:nvPr/>
        </p:nvSpPr>
        <p:spPr>
          <a:xfrm>
            <a:off x="457200" y="320040"/>
            <a:ext cx="11246760" cy="669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Referencias — Obras citadas</a:t>
            </a:r>
            <a:endParaRPr lang="en-US" sz="3800" b="0" u="none" strike="noStrike">
              <a:solidFill>
                <a:srgbClr val="FFFFFF"/>
              </a:solidFill>
              <a:effectLst/>
              <a:uFillTx/>
              <a:latin typeface="Arial"/>
            </a:endParaRPr>
          </a:p>
        </p:txBody>
      </p:sp>
      <p:sp>
        <p:nvSpPr>
          <p:cNvPr id="63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37" name="TextBox 3"/>
          <p:cNvSpPr/>
          <p:nvPr/>
        </p:nvSpPr>
        <p:spPr>
          <a:xfrm>
            <a:off x="457200" y="169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38" name="TextBox 4"/>
          <p:cNvSpPr/>
          <p:nvPr/>
        </p:nvSpPr>
        <p:spPr>
          <a:xfrm>
            <a:off x="777240" y="16642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Beaulieu, A. — Learning SQL, 2nd Edition (O'Reilly)</a:t>
            </a:r>
            <a:endParaRPr lang="en-US" sz="1600" b="0" u="none" strike="noStrike">
              <a:solidFill>
                <a:srgbClr val="FFFFFF"/>
              </a:solidFill>
              <a:effectLst/>
              <a:uFillTx/>
              <a:latin typeface="Arial"/>
            </a:endParaRPr>
          </a:p>
        </p:txBody>
      </p:sp>
      <p:sp>
        <p:nvSpPr>
          <p:cNvPr id="639" name="TextBox 5"/>
          <p:cNvSpPr/>
          <p:nvPr/>
        </p:nvSpPr>
        <p:spPr>
          <a:xfrm>
            <a:off x="457200" y="20026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0" name="TextBox 6"/>
          <p:cNvSpPr/>
          <p:nvPr/>
        </p:nvSpPr>
        <p:spPr>
          <a:xfrm>
            <a:off x="777240" y="197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Clarke, J. et al. — SQL Injection Attacks and Defense (Syngress)</a:t>
            </a:r>
            <a:endParaRPr lang="en-US" sz="1600" b="0" u="none" strike="noStrike">
              <a:solidFill>
                <a:srgbClr val="FFFFFF"/>
              </a:solidFill>
              <a:effectLst/>
              <a:uFillTx/>
              <a:latin typeface="Arial"/>
            </a:endParaRPr>
          </a:p>
        </p:txBody>
      </p:sp>
      <p:sp>
        <p:nvSpPr>
          <p:cNvPr id="641" name="TextBox 7"/>
          <p:cNvSpPr/>
          <p:nvPr/>
        </p:nvSpPr>
        <p:spPr>
          <a:xfrm>
            <a:off x="457200" y="231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2" name="TextBox 8"/>
          <p:cNvSpPr/>
          <p:nvPr/>
        </p:nvSpPr>
        <p:spPr>
          <a:xfrm>
            <a:off x="777240" y="228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Crowther, P. — Concise Guide to Databases (Springer, 2013)</a:t>
            </a:r>
            <a:endParaRPr lang="en-US" sz="1600" b="0" u="none" strike="noStrike">
              <a:solidFill>
                <a:srgbClr val="FFFFFF"/>
              </a:solidFill>
              <a:effectLst/>
              <a:uFillTx/>
              <a:latin typeface="Arial"/>
            </a:endParaRPr>
          </a:p>
        </p:txBody>
      </p:sp>
      <p:sp>
        <p:nvSpPr>
          <p:cNvPr id="643" name="TextBox 9"/>
          <p:cNvSpPr/>
          <p:nvPr/>
        </p:nvSpPr>
        <p:spPr>
          <a:xfrm>
            <a:off x="457200" y="26244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4" name="TextBox 10"/>
          <p:cNvSpPr/>
          <p:nvPr/>
        </p:nvSpPr>
        <p:spPr>
          <a:xfrm>
            <a:off x="777240" y="25970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DeBarros, A. — Practical SQL (No Starch Press)</a:t>
            </a:r>
            <a:endParaRPr lang="en-US" sz="1600" b="0" u="none" strike="noStrike">
              <a:solidFill>
                <a:srgbClr val="FFFFFF"/>
              </a:solidFill>
              <a:effectLst/>
              <a:uFillTx/>
              <a:latin typeface="Arial"/>
            </a:endParaRPr>
          </a:p>
        </p:txBody>
      </p:sp>
      <p:sp>
        <p:nvSpPr>
          <p:cNvPr id="645" name="TextBox 11"/>
          <p:cNvSpPr/>
          <p:nvPr/>
        </p:nvSpPr>
        <p:spPr>
          <a:xfrm>
            <a:off x="457200" y="29350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6" name="TextBox 12"/>
          <p:cNvSpPr/>
          <p:nvPr/>
        </p:nvSpPr>
        <p:spPr>
          <a:xfrm>
            <a:off x="777240" y="29077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Diogenes &amp; Ozkaya — Cybersecurity Attack and Defense Strategies (Packt)</a:t>
            </a:r>
            <a:endParaRPr lang="en-US" sz="1600" b="0" u="none" strike="noStrike">
              <a:solidFill>
                <a:srgbClr val="FFFFFF"/>
              </a:solidFill>
              <a:effectLst/>
              <a:uFillTx/>
              <a:latin typeface="Arial"/>
            </a:endParaRPr>
          </a:p>
        </p:txBody>
      </p:sp>
      <p:sp>
        <p:nvSpPr>
          <p:cNvPr id="647" name="TextBox 13"/>
          <p:cNvSpPr/>
          <p:nvPr/>
        </p:nvSpPr>
        <p:spPr>
          <a:xfrm>
            <a:off x="457200" y="32461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8" name="TextBox 14"/>
          <p:cNvSpPr/>
          <p:nvPr/>
        </p:nvSpPr>
        <p:spPr>
          <a:xfrm>
            <a:off x="777240" y="32187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Janca, T. — Alice and Bob Learn Application Security (Wiley)</a:t>
            </a:r>
            <a:endParaRPr lang="en-US" sz="1600" b="0" u="none" strike="noStrike">
              <a:solidFill>
                <a:srgbClr val="FFFFFF"/>
              </a:solidFill>
              <a:effectLst/>
              <a:uFillTx/>
              <a:latin typeface="Arial"/>
            </a:endParaRPr>
          </a:p>
        </p:txBody>
      </p:sp>
      <p:sp>
        <p:nvSpPr>
          <p:cNvPr id="649" name="TextBox 15"/>
          <p:cNvSpPr/>
          <p:nvPr/>
        </p:nvSpPr>
        <p:spPr>
          <a:xfrm>
            <a:off x="457200" y="35571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0" name="TextBox 16"/>
          <p:cNvSpPr/>
          <p:nvPr/>
        </p:nvSpPr>
        <p:spPr>
          <a:xfrm>
            <a:off x="777240" y="35294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Mishra &amp; Singh — PostgreSQL Development Essentials (Packt)</a:t>
            </a:r>
            <a:endParaRPr lang="en-US" sz="1600" b="0" u="none" strike="noStrike">
              <a:solidFill>
                <a:srgbClr val="FFFFFF"/>
              </a:solidFill>
              <a:effectLst/>
              <a:uFillTx/>
              <a:latin typeface="Arial"/>
            </a:endParaRPr>
          </a:p>
        </p:txBody>
      </p:sp>
      <p:sp>
        <p:nvSpPr>
          <p:cNvPr id="651" name="TextBox 17"/>
          <p:cNvSpPr/>
          <p:nvPr/>
        </p:nvSpPr>
        <p:spPr>
          <a:xfrm>
            <a:off x="457200" y="38678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2" name="TextBox 18"/>
          <p:cNvSpPr/>
          <p:nvPr/>
        </p:nvSpPr>
        <p:spPr>
          <a:xfrm>
            <a:off x="777240" y="38404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MongoDB Cookbook (Packt)  •  10gen — Top 5 NoSQL Considerations</a:t>
            </a:r>
            <a:endParaRPr lang="en-US" sz="1600" b="0" u="none" strike="noStrike">
              <a:solidFill>
                <a:srgbClr val="FFFFFF"/>
              </a:solidFill>
              <a:effectLst/>
              <a:uFillTx/>
              <a:latin typeface="Arial"/>
            </a:endParaRPr>
          </a:p>
        </p:txBody>
      </p:sp>
      <p:sp>
        <p:nvSpPr>
          <p:cNvPr id="653" name="TextBox 19"/>
          <p:cNvSpPr/>
          <p:nvPr/>
        </p:nvSpPr>
        <p:spPr>
          <a:xfrm>
            <a:off x="457200" y="41788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4" name="TextBox 20"/>
          <p:cNvSpPr/>
          <p:nvPr/>
        </p:nvSpPr>
        <p:spPr>
          <a:xfrm>
            <a:off x="777240" y="41515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OWASP Top 10 — Edición 2025</a:t>
            </a:r>
            <a:endParaRPr lang="en-US" sz="1600" b="0" u="none" strike="noStrike">
              <a:solidFill>
                <a:srgbClr val="FFFFFF"/>
              </a:solidFill>
              <a:effectLst/>
              <a:uFillTx/>
              <a:latin typeface="Arial"/>
            </a:endParaRPr>
          </a:p>
        </p:txBody>
      </p:sp>
      <p:sp>
        <p:nvSpPr>
          <p:cNvPr id="655" name="TextBox 21"/>
          <p:cNvSpPr/>
          <p:nvPr/>
        </p:nvSpPr>
        <p:spPr>
          <a:xfrm>
            <a:off x="457200" y="44895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6" name="TextBox 22"/>
          <p:cNvSpPr/>
          <p:nvPr/>
        </p:nvSpPr>
        <p:spPr>
          <a:xfrm>
            <a:off x="777240" y="44622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Sharma, M. — Cosmos DB for MongoDB Developers (Apress, 2018)</a:t>
            </a:r>
            <a:endParaRPr lang="en-US" sz="1600" b="0" u="none" strike="noStrike">
              <a:solidFill>
                <a:srgbClr val="FFFFFF"/>
              </a:solidFill>
              <a:effectLst/>
              <a:uFillTx/>
              <a:latin typeface="Arial"/>
            </a:endParaRPr>
          </a:p>
        </p:txBody>
      </p:sp>
      <p:sp>
        <p:nvSpPr>
          <p:cNvPr id="657" name="TextBox 23"/>
          <p:cNvSpPr/>
          <p:nvPr/>
        </p:nvSpPr>
        <p:spPr>
          <a:xfrm>
            <a:off x="457200" y="48006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8" name="TextBox 24"/>
          <p:cNvSpPr/>
          <p:nvPr/>
        </p:nvSpPr>
        <p:spPr>
          <a:xfrm>
            <a:off x="777240" y="47732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Schneier, B. — Secrets and Lies (Wiley)</a:t>
            </a:r>
            <a:endParaRPr lang="en-US" sz="1600" b="0" u="none" strike="noStrike">
              <a:solidFill>
                <a:srgbClr val="FFFFFF"/>
              </a:solidFill>
              <a:effectLst/>
              <a:uFillTx/>
              <a:latin typeface="Arial"/>
            </a:endParaRPr>
          </a:p>
        </p:txBody>
      </p:sp>
      <p:sp>
        <p:nvSpPr>
          <p:cNvPr id="659" name="TextBox 25"/>
          <p:cNvSpPr/>
          <p:nvPr/>
        </p:nvSpPr>
        <p:spPr>
          <a:xfrm>
            <a:off x="457200" y="511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0" name="TextBox 26"/>
          <p:cNvSpPr/>
          <p:nvPr/>
        </p:nvSpPr>
        <p:spPr>
          <a:xfrm>
            <a:off x="777240" y="50839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Stuttard &amp; Pinto — Web Application Hacker's Handbook, 2nd Ed.</a:t>
            </a:r>
            <a:endParaRPr lang="en-US" sz="1600" b="0" u="none" strike="noStrike">
              <a:solidFill>
                <a:srgbClr val="FFFFFF"/>
              </a:solidFill>
              <a:effectLst/>
              <a:uFillTx/>
              <a:latin typeface="Arial"/>
            </a:endParaRPr>
          </a:p>
        </p:txBody>
      </p:sp>
      <p:sp>
        <p:nvSpPr>
          <p:cNvPr id="661" name="TextBox 27"/>
          <p:cNvSpPr/>
          <p:nvPr/>
        </p:nvSpPr>
        <p:spPr>
          <a:xfrm>
            <a:off x="457200" y="54223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2" name="TextBox 28"/>
          <p:cNvSpPr/>
          <p:nvPr/>
        </p:nvSpPr>
        <p:spPr>
          <a:xfrm>
            <a:off x="777240" y="539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Shostack, A. — Threat Modeling: Designing for Security (Wiley)</a:t>
            </a:r>
            <a:endParaRPr lang="en-US" sz="1600" b="0" u="none" strike="noStrike">
              <a:solidFill>
                <a:srgbClr val="FFFFFF"/>
              </a:solidFill>
              <a:effectLst/>
              <a:uFillTx/>
              <a:latin typeface="Arial"/>
            </a:endParaRPr>
          </a:p>
        </p:txBody>
      </p:sp>
      <p:sp>
        <p:nvSpPr>
          <p:cNvPr id="663" name="TextBox 29"/>
          <p:cNvSpPr/>
          <p:nvPr/>
        </p:nvSpPr>
        <p:spPr>
          <a:xfrm>
            <a:off x="457200" y="573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4" name="TextBox 30"/>
          <p:cNvSpPr/>
          <p:nvPr/>
        </p:nvSpPr>
        <p:spPr>
          <a:xfrm>
            <a:off x="777240" y="570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AWS Administration: The Definitive Guide (Packt)</a:t>
            </a:r>
            <a:endParaRPr lang="en-US" sz="1600" b="0" u="none" strike="noStrike">
              <a:solidFill>
                <a:srgbClr val="FFFFFF"/>
              </a:solidFill>
              <a:effectLst/>
              <a:uFillTx/>
              <a:latin typeface="Arial"/>
            </a:endParaRPr>
          </a:p>
        </p:txBody>
      </p:sp>
      <p:sp>
        <p:nvSpPr>
          <p:cNvPr id="665" name="TextBox 31"/>
          <p:cNvSpPr/>
          <p:nvPr/>
        </p:nvSpPr>
        <p:spPr>
          <a:xfrm>
            <a:off x="457200" y="60440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6" name="TextBox 32"/>
          <p:cNvSpPr/>
          <p:nvPr/>
        </p:nvSpPr>
        <p:spPr>
          <a:xfrm>
            <a:off x="777240" y="60166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Fundamentals of Azure, 2nd Edition (Microsoft Press)</a:t>
            </a:r>
            <a:endParaRPr lang="en-US" sz="1600" b="0" u="none" strike="noStrike">
              <a:solidFill>
                <a:srgbClr val="FFFFFF"/>
              </a:solidFill>
              <a:effectLst/>
              <a:uFillTx/>
              <a:latin typeface="Arial"/>
            </a:endParaRPr>
          </a:p>
        </p:txBody>
      </p:sp>
      <p:sp>
        <p:nvSpPr>
          <p:cNvPr id="667" name="TextBox 3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
        <p:nvSpPr>
          <p:cNvPr id="668" name="TextBox 34"/>
          <p:cNvSpPr/>
          <p:nvPr/>
        </p:nvSpPr>
        <p:spPr>
          <a:xfrm>
            <a:off x="10972800" y="6446520"/>
            <a:ext cx="1096920" cy="303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69" name="TextBox 1" descr="Questions and answers slide." title="Questions and answers slide."/>
          <p:cNvSpPr/>
          <p:nvPr/>
        </p:nvSpPr>
        <p:spPr>
          <a:xfrm>
            <a:off x="411840" y="1371600"/>
            <a:ext cx="11246760" cy="2832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0" b="1" u="none" strike="noStrike">
                <a:solidFill>
                  <a:srgbClr val="00FF41"/>
                </a:solidFill>
                <a:effectLst/>
                <a:uFillTx/>
                <a:latin typeface="Calibri"/>
              </a:rPr>
              <a:t>Preguntas y respuestas*</a:t>
            </a:r>
            <a:endParaRPr lang="en-US" sz="18000" b="0" u="none" strike="noStrike">
              <a:solidFill>
                <a:srgbClr val="FFFFFF"/>
              </a:solidFill>
              <a:effectLst/>
              <a:uFillTx/>
              <a:latin typeface="Arial"/>
            </a:endParaRPr>
          </a:p>
        </p:txBody>
      </p:sp>
      <p:sp>
        <p:nvSpPr>
          <p:cNvPr id="670" name="TextBox 2"/>
          <p:cNvSpPr/>
          <p:nvPr/>
        </p:nvSpPr>
        <p:spPr>
          <a:xfrm>
            <a:off x="457200" y="4754880"/>
            <a:ext cx="11246760" cy="63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A == Miradas ausentes</a:t>
            </a:r>
            <a:endParaRPr lang="en-US" sz="3600" b="0" u="none" strike="noStrike">
              <a:solidFill>
                <a:srgbClr val="FFFFFF"/>
              </a:solidFill>
              <a:effectLst/>
              <a:uFillTx/>
              <a:latin typeface="Arial"/>
            </a:endParaRPr>
          </a:p>
        </p:txBody>
      </p:sp>
      <p:sp>
        <p:nvSpPr>
          <p:cNvPr id="671" name="TextBox 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Bases de datos para hackers</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2026-06-04T07:38:35Z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